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committees, the rotating savings groups most Pakistani families already use. A committee carries no interest by design. This proposal asks Raqami to hold and move every rupee, while Halqa runs the committee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carry the proposal. The habit exists, carries no interest and moves in cash. Every member banks with Raqami and Raqami moves all the money; Halqa provides the rules and the technology. Raqami gains accounts, deposits and a financing record; members gain safety and a credit history. The request is seven decisions, including a Shariah Board ruling, and a one month pilot.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members each pay Rs 10,000 a month. Each month one of them takes the pot of Rs 120,000. Every member pays in exactly what they take out, so each instalment is an interest free loan between members, repaid by the instalments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estimates range from 34 per cent (Karandaaz) to 41 per cent (Oraan) of Pakistanis, with about Rs 4 trillion estimated to rotate each year. Among savers, 63 per cent keep cash at home, 33 per cent use a committee and only 4 per cent use a bank. Women take part at twice the rate of men.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informal committee one person holds everyone's money and the record is a notebook. Twelve per cent of committee users report losing money to fraud; in 2022 one organiser took about Rs 420 million from 117 committees. Years of paying on time build no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never leaves Raqami. Each instalment is debited from the member's own Raqami account into the circle's account, and the pot goes to the collector's account the same day. Halqa sends the instructions and keeps the records; Raqami executes and confirms each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application for the member: join a circle and pick a turn the member qualifies for, authorise the debit once, receive the pot in the member's own account, and build a credit record. Under the partnership, Raqami's account opening runs inside the application. The screens are the current preview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Salary arrives, the instalment is placed in Raqami's 7 day term deposit and earns a share of profit, and Raqami debits it on the due date and pays the pot the same day. Members paid in cash can deposit it free at Askari Bank branches. When the circle ends, profit returns to members as points, and Saving Pots can hold what comes next. Automatic debit is the one new product Raqami would add.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stated assumptions, 100,000 members bring about Rs 2.5 billion of deposits, more than the Rs 1.58 billion Raqami held at 30 June 2026, and nearly double its 114,452 accounts. Each circle opens 6 to 20 accounts at once. The assumption of Rs 25,000 average balance should be replaced by Raqami's own figures.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Raqami opens the account with its own checks: CNIC and mobile number, NADRA biometric and due diligence. Halqa then checks identity, income and affordability and computes a credit score from 300 to 850. The member sees only the circles and turns open to them. Halqa stores results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Known circles are family, colleagues or neighbours; checks are light and there is no takaful. Circles of strangers, large circles and asset circles carry full checks, automatic debit and takaful. Hyper is a daily circle for daily earners, labelled experimental. Raqami serves residents only, so circles with members abroad are left out. The pilot uses known circles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real risk in a committee is a member who collects early and then stops paying. The member at turn 1 of 12 still owes Rs 110,000; the member at turn 12 owes nothing. Early turns are reserved for credit scores of 650 and above, and every new member starts in the last three turns.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missed payment gets a reminder, up to five retries, then penalties of 2, 5 and 10 per cent, all paid to charity, with falls in the credit score. A member who has not collected cannot cause a loss. For a member who collected and then stopped: contact and a hardship plan, restriction, takaful pays the others, then the guarantee and a civil suit.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member at turn 1 stops paying, each later pot would be Rs 10,000 short. Takaful pays that shortfall, so every other member still receives Rs 120,000. The contribution is about 5.5 per cent of the instalment on circles between strangers, set on a stress case. Raqami already works with EFU for takaful on its cards.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 of the committee has one contract. Instalments are qard, an interest free loan between members. The fee is ujrah, a flat charge for the service, the same for every turn. Money waiting for the due date sits in a mudarabah term deposit. Cover is takaful. Penalties go to charity. Turns may be swapped but never sold, and points are never bought. Raqami's Shariah Board rules on every 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circle between strangers the member pays Rs 11,047 an instalment: Rs 10,000 to the collector, Rs 547 of takaful contribution and a fee of up to Rs 500. The fee is the same for every turn, so it is a charge for the service and never a price for early money. Raqami collects it and shares income with Halqa.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JazzCash launched a committee feature in August 2026, but the pot sits in the organiser's wallet. Oraan charges the first turn up to 21 per cent of the instalment a month, a price for early money. Halqa with Raqami is the only option where an Islamic bank holds the money, every turn pays one flat fee and every payment builds a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Hakbah in Saudi Arabia launched after approval from the Saudi central bank and raised a Series A in 2023. Money Fellows in Egypt started inside the central bank's sandbox and became profitable in 2025. Among 25 earlier attempts, every failure held money without a licence or guaranteed payouts it could not carry.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payments rose from 78 to 92 per cent of retail payments in three years, and savings have not followed. JazzCash's committee launch shows the category is moving now. The Constitution sets 1 January 2028 to end riba, and a committee is an interest free product by design.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and its decision engines have run live since 20 July 2026, closed to the public, with payments in a test environment. Halqa becomes Raqami's service provider under the State Bank's outsourcing framework, and connects through Raqami's open platform. Still to do: incorporation, the agreement and the connection.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eight weeks for the agreement, the Shariah Board ruling, approvals and connection, then one live month with up to 100 known circles and about 1,000 members, then a review and a decision to scale.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decisions are approvals: the partnership, the Shariah Board ruling and the State Bank route. The next two are products: accounts and automatic debits inside the application, and the term deposit for waiting instalments. The last two are commercial: takaful and credit reporting, and the income share with a one month pilot.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is the system; the bank is the machine. Committees run by Halqa, on Raqami accounts, under Raqami's licence and its Shariah Board.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pages for questions on risk, integration, points and turn swaps, Hyper, leaving a circle and unit costs.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risk Raqami would carry, with the control that answers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messages connect Halqa and Raqami. Halqa sends instructions; Raqami executes and confirms; Halqa reconciles its ledger against Raqami's statement every morning. No money passes through Halqa.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Islamic bank the points and turn features are restricted: points are earned and never bought, and turns may be swapped but never sold. Both stay subject to the Shariah Board.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circle for people paid daily. Option 1: 400 members over 50 days, eight collecting each day, Rs 450 a day. Option 2: 390 members over 26 days, fifteen collecting each day, Rs 500 a day. Members paid in cash can deposit at Askari Bank branches. It is labelled experimental.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cancel button. Inside the 24 hour window a member leaves freely. After that the preferred route is a substitute who takes the turn. A group vote allows exit with a fine of one instalment, paid to charity; hardship waives the fine. Money comes back at the end of the circle, without profit.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used in the 25 September model, and how each line changes when Raqami collects the fee and holds the money.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lqa_logo.png"/>
          <p:cNvPicPr>
            <a:picLocks noChangeAspect="1"/>
          </p:cNvPicPr>
          <p:nvPr/>
        </p:nvPicPr>
        <p:blipFill>
          <a:blip r:embed="rId3"/>
          <a:stretch>
            <a:fillRect/>
          </a:stretch>
        </p:blipFill>
        <p:spPr>
          <a:xfrm>
            <a:off x="566928" y="658368"/>
            <a:ext cx="1504709" cy="457200"/>
          </a:xfrm>
          <a:prstGeom prst="rect">
            <a:avLst/>
          </a:prstGeom>
        </p:spPr>
      </p:pic>
      <p:cxnSp>
        <p:nvCxnSpPr>
          <p:cNvPr id="3" name="Connector 2"/>
          <p:cNvCxnSpPr/>
          <p:nvPr/>
        </p:nvCxnSpPr>
        <p:spPr>
          <a:xfrm>
            <a:off x="2350008" y="548640"/>
            <a:ext cx="0" cy="777240"/>
          </a:xfrm>
          <a:prstGeom prst="line">
            <a:avLst/>
          </a:prstGeom>
          <a:ln w="12700">
            <a:solidFill>
              <a:srgbClr val="C9D1C4"/>
            </a:solidFill>
          </a:ln>
        </p:spPr>
      </p:cxnSp>
      <p:sp>
        <p:nvSpPr>
          <p:cNvPr id="4" name="TextBox 3"/>
          <p:cNvSpPr txBox="1"/>
          <p:nvPr/>
        </p:nvSpPr>
        <p:spPr>
          <a:xfrm>
            <a:off x="2624328" y="566928"/>
            <a:ext cx="2926080" cy="548640"/>
          </a:xfrm>
          <a:prstGeom prst="rect">
            <a:avLst/>
          </a:prstGeom>
          <a:noFill/>
        </p:spPr>
        <p:txBody>
          <a:bodyPr wrap="square" lIns="0" rIns="0" tIns="0" bIns="0" anchor="t">
            <a:noAutofit/>
          </a:bodyPr>
          <a:lstStyle/>
          <a:p>
            <a:pPr algn="l">
              <a:lnSpc>
                <a:spcPct val="100000"/>
              </a:lnSpc>
            </a:pPr>
            <a:r>
              <a:rPr sz="1500" b="1" i="0">
                <a:solidFill>
                  <a:srgbClr val="0C1408"/>
                </a:solidFill>
                <a:latin typeface="Arial"/>
              </a:rPr>
              <a:t>Raqami Islamic Digital Bank</a:t>
            </a:r>
          </a:p>
        </p:txBody>
      </p:sp>
      <p:sp>
        <p:nvSpPr>
          <p:cNvPr id="5" name="TextBox 4"/>
          <p:cNvSpPr txBox="1"/>
          <p:nvPr/>
        </p:nvSpPr>
        <p:spPr>
          <a:xfrm>
            <a:off x="566928" y="2057400"/>
            <a:ext cx="6583680" cy="1463040"/>
          </a:xfrm>
          <a:prstGeom prst="rect">
            <a:avLst/>
          </a:prstGeom>
          <a:noFill/>
        </p:spPr>
        <p:txBody>
          <a:bodyPr wrap="square" lIns="0" rIns="0" tIns="0" bIns="0" anchor="t">
            <a:noAutofit/>
          </a:bodyPr>
          <a:lstStyle/>
          <a:p>
            <a:pPr algn="l">
              <a:lnSpc>
                <a:spcPct val="100000"/>
              </a:lnSpc>
            </a:pPr>
            <a:r>
              <a:rPr sz="3600" b="0" i="0">
                <a:solidFill>
                  <a:srgbClr val="0C1408"/>
                </a:solidFill>
                <a:latin typeface="Georgia"/>
              </a:rPr>
              <a:t>Committee savings, held and moved by an Islamic bank</a:t>
            </a:r>
          </a:p>
        </p:txBody>
      </p:sp>
      <p:sp>
        <p:nvSpPr>
          <p:cNvPr id="6" name="TextBox 5"/>
          <p:cNvSpPr txBox="1"/>
          <p:nvPr/>
        </p:nvSpPr>
        <p:spPr>
          <a:xfrm>
            <a:off x="566928" y="3611880"/>
            <a:ext cx="6309360" cy="365760"/>
          </a:xfrm>
          <a:prstGeom prst="rect">
            <a:avLst/>
          </a:prstGeom>
          <a:noFill/>
        </p:spPr>
        <p:txBody>
          <a:bodyPr wrap="square" lIns="0" rIns="0" tIns="0" bIns="0" anchor="t">
            <a:noAutofit/>
          </a:bodyPr>
          <a:lstStyle/>
          <a:p>
            <a:pPr algn="l">
              <a:lnSpc>
                <a:spcPct val="110000"/>
              </a:lnSpc>
            </a:pPr>
            <a:r>
              <a:rPr sz="2000" b="0" i="0">
                <a:solidFill>
                  <a:srgbClr val="41801A"/>
                </a:solidFill>
                <a:latin typeface="Arial"/>
              </a:rPr>
              <a:t>A partnership proposal for Raqami Islamic Digital Bank</a:t>
            </a:r>
          </a:p>
        </p:txBody>
      </p:sp>
      <p:sp>
        <p:nvSpPr>
          <p:cNvPr id="7" name="TextBox 6"/>
          <p:cNvSpPr txBox="1"/>
          <p:nvPr/>
        </p:nvSpPr>
        <p:spPr>
          <a:xfrm>
            <a:off x="566928" y="5074920"/>
            <a:ext cx="5486400"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Taha Amjed, Chairman, Halqa</a:t>
            </a:r>
          </a:p>
        </p:txBody>
      </p:sp>
      <p:sp>
        <p:nvSpPr>
          <p:cNvPr id="8" name="TextBox 7"/>
          <p:cNvSpPr txBox="1"/>
          <p:nvPr/>
        </p:nvSpPr>
        <p:spPr>
          <a:xfrm>
            <a:off x="566928" y="5376672"/>
            <a:ext cx="5486400" cy="27432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October 2026</a:t>
            </a:r>
          </a:p>
        </p:txBody>
      </p:sp>
      <p:sp>
        <p:nvSpPr>
          <p:cNvPr id="9" name="Rectangle 8"/>
          <p:cNvSpPr/>
          <p:nvPr/>
        </p:nvSpPr>
        <p:spPr>
          <a:xfrm>
            <a:off x="7360920" y="0"/>
            <a:ext cx="4830775" cy="6858000"/>
          </a:xfrm>
          <a:prstGeom prst="rect">
            <a:avLst/>
          </a:prstGeom>
          <a:solidFill>
            <a:srgbClr val="6DC72A"/>
          </a:solidFill>
          <a:ln>
            <a:noFill/>
          </a:ln>
        </p:spPr>
        <p:txBody>
          <a:bodyPr rtlCol="0" anchor="ctr" lIns="0" rIns="0"/>
          <a:lstStyle/>
          <a:p>
            <a:pPr algn="ctr"/>
          </a:p>
        </p:txBody>
      </p:sp>
      <p:pic>
        <p:nvPicPr>
          <p:cNvPr id="10" name="Picture 9" descr="screen_home.png"/>
          <p:cNvPicPr>
            <a:picLocks noChangeAspect="1"/>
          </p:cNvPicPr>
          <p:nvPr/>
        </p:nvPicPr>
        <p:blipFill>
          <a:blip r:embed="rId4"/>
          <a:stretch>
            <a:fillRect/>
          </a:stretch>
        </p:blipFill>
        <p:spPr>
          <a:xfrm>
            <a:off x="8468715" y="713232"/>
            <a:ext cx="2612916" cy="548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Summary</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proposes to run Pakistan's committees on Raqami accounts.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a:t>
            </a:r>
          </a:p>
        </p:txBody>
      </p:sp>
      <p:cxnSp>
        <p:nvCxnSpPr>
          <p:cNvPr id="6" name="Connector 5"/>
          <p:cNvCxnSpPr/>
          <p:nvPr/>
        </p:nvCxnSpPr>
        <p:spPr>
          <a:xfrm>
            <a:off x="566928" y="1828800"/>
            <a:ext cx="11057839" cy="0"/>
          </a:xfrm>
          <a:prstGeom prst="line">
            <a:avLst/>
          </a:prstGeom>
          <a:ln w="9525">
            <a:solidFill>
              <a:srgbClr val="D5DCD1"/>
            </a:solidFill>
          </a:ln>
        </p:spPr>
      </p:cxnSp>
      <p:sp>
        <p:nvSpPr>
          <p:cNvPr id="7" name="TextBox 6"/>
          <p:cNvSpPr txBox="1"/>
          <p:nvPr/>
        </p:nvSpPr>
        <p:spPr>
          <a:xfrm>
            <a:off x="566928" y="2011680"/>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habit</a:t>
            </a:r>
          </a:p>
        </p:txBody>
      </p:sp>
      <p:sp>
        <p:nvSpPr>
          <p:cNvPr id="8" name="TextBox 7"/>
          <p:cNvSpPr txBox="1"/>
          <p:nvPr/>
        </p:nvSpPr>
        <p:spPr>
          <a:xfrm>
            <a:off x="2852928" y="2011680"/>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More than a third of Pakistanis save in committees: no interest, all cash, outside any bank.</a:t>
            </a:r>
          </a:p>
        </p:txBody>
      </p:sp>
      <p:cxnSp>
        <p:nvCxnSpPr>
          <p:cNvPr id="9" name="Connector 8"/>
          <p:cNvCxnSpPr/>
          <p:nvPr/>
        </p:nvCxnSpPr>
        <p:spPr>
          <a:xfrm>
            <a:off x="566928" y="2633472"/>
            <a:ext cx="11057839" cy="0"/>
          </a:xfrm>
          <a:prstGeom prst="line">
            <a:avLst/>
          </a:prstGeom>
          <a:ln w="9525">
            <a:solidFill>
              <a:srgbClr val="D5DCD1"/>
            </a:solidFill>
          </a:ln>
        </p:spPr>
      </p:cxnSp>
      <p:sp>
        <p:nvSpPr>
          <p:cNvPr id="10" name="TextBox 9"/>
          <p:cNvSpPr txBox="1"/>
          <p:nvPr/>
        </p:nvSpPr>
        <p:spPr>
          <a:xfrm>
            <a:off x="566928" y="2816352"/>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proposal</a:t>
            </a:r>
          </a:p>
        </p:txBody>
      </p:sp>
      <p:sp>
        <p:nvSpPr>
          <p:cNvPr id="11" name="TextBox 10"/>
          <p:cNvSpPr txBox="1"/>
          <p:nvPr/>
        </p:nvSpPr>
        <p:spPr>
          <a:xfrm>
            <a:off x="2852928" y="2816352"/>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Every member banks with Raqami. Raqami holds and moves every rupee; Halqa runs the committee.</a:t>
            </a:r>
          </a:p>
        </p:txBody>
      </p:sp>
      <p:cxnSp>
        <p:nvCxnSpPr>
          <p:cNvPr id="12" name="Connector 11"/>
          <p:cNvCxnSpPr/>
          <p:nvPr/>
        </p:nvCxnSpPr>
        <p:spPr>
          <a:xfrm>
            <a:off x="566928" y="3438144"/>
            <a:ext cx="11057839" cy="0"/>
          </a:xfrm>
          <a:prstGeom prst="line">
            <a:avLst/>
          </a:prstGeom>
          <a:ln w="9525">
            <a:solidFill>
              <a:srgbClr val="D5DCD1"/>
            </a:solidFill>
          </a:ln>
        </p:spPr>
      </p:cxnSp>
      <p:sp>
        <p:nvSpPr>
          <p:cNvPr id="13" name="TextBox 12"/>
          <p:cNvSpPr txBox="1"/>
          <p:nvPr/>
        </p:nvSpPr>
        <p:spPr>
          <a:xfrm>
            <a:off x="566928" y="3621024"/>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For Raqami</a:t>
            </a:r>
          </a:p>
        </p:txBody>
      </p:sp>
      <p:sp>
        <p:nvSpPr>
          <p:cNvPr id="14" name="TextBox 13"/>
          <p:cNvSpPr txBox="1"/>
          <p:nvPr/>
        </p:nvSpPr>
        <p:spPr>
          <a:xfrm>
            <a:off x="2852928" y="3621024"/>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Accounts opened 6 to 20 at a time, deposits, a product without interest and a repayment record to finance against.</a:t>
            </a:r>
          </a:p>
        </p:txBody>
      </p:sp>
      <p:cxnSp>
        <p:nvCxnSpPr>
          <p:cNvPr id="15" name="Connector 14"/>
          <p:cNvCxnSpPr/>
          <p:nvPr/>
        </p:nvCxnSpPr>
        <p:spPr>
          <a:xfrm>
            <a:off x="566928" y="4242816"/>
            <a:ext cx="11057839" cy="0"/>
          </a:xfrm>
          <a:prstGeom prst="line">
            <a:avLst/>
          </a:prstGeom>
          <a:ln w="9525">
            <a:solidFill>
              <a:srgbClr val="D5DCD1"/>
            </a:solidFill>
          </a:ln>
        </p:spPr>
      </p:cxnSp>
      <p:sp>
        <p:nvSpPr>
          <p:cNvPr id="16" name="TextBox 15"/>
          <p:cNvSpPr txBox="1"/>
          <p:nvPr/>
        </p:nvSpPr>
        <p:spPr>
          <a:xfrm>
            <a:off x="566928" y="4425696"/>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For members</a:t>
            </a:r>
          </a:p>
        </p:txBody>
      </p:sp>
      <p:sp>
        <p:nvSpPr>
          <p:cNvPr id="17" name="TextBox 16"/>
          <p:cNvSpPr txBox="1"/>
          <p:nvPr/>
        </p:nvSpPr>
        <p:spPr>
          <a:xfrm>
            <a:off x="2852928" y="4425696"/>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No organiser holding cash, automatic payment, takaful against default and a credit record.</a:t>
            </a:r>
          </a:p>
        </p:txBody>
      </p:sp>
      <p:cxnSp>
        <p:nvCxnSpPr>
          <p:cNvPr id="18" name="Connector 17"/>
          <p:cNvCxnSpPr/>
          <p:nvPr/>
        </p:nvCxnSpPr>
        <p:spPr>
          <a:xfrm>
            <a:off x="566928" y="5047488"/>
            <a:ext cx="11057839" cy="0"/>
          </a:xfrm>
          <a:prstGeom prst="line">
            <a:avLst/>
          </a:prstGeom>
          <a:ln w="9525">
            <a:solidFill>
              <a:srgbClr val="D5DCD1"/>
            </a:solidFill>
          </a:ln>
        </p:spPr>
      </p:cxnSp>
      <p:sp>
        <p:nvSpPr>
          <p:cNvPr id="19" name="TextBox 18"/>
          <p:cNvSpPr txBox="1"/>
          <p:nvPr/>
        </p:nvSpPr>
        <p:spPr>
          <a:xfrm>
            <a:off x="566928" y="5230368"/>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request</a:t>
            </a:r>
          </a:p>
        </p:txBody>
      </p:sp>
      <p:sp>
        <p:nvSpPr>
          <p:cNvPr id="20" name="TextBox 19"/>
          <p:cNvSpPr txBox="1"/>
          <p:nvPr/>
        </p:nvSpPr>
        <p:spPr>
          <a:xfrm>
            <a:off x="2852928" y="5230368"/>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Seven decisions, including a Shariah Board ruling, then one live month with about 1,000 members.</a:t>
            </a:r>
          </a:p>
        </p:txBody>
      </p:sp>
      <p:cxnSp>
        <p:nvCxnSpPr>
          <p:cNvPr id="21" name="Connector 20"/>
          <p:cNvCxnSpPr/>
          <p:nvPr/>
        </p:nvCxnSpPr>
        <p:spPr>
          <a:xfrm>
            <a:off x="566928" y="5852159"/>
            <a:ext cx="11057839" cy="0"/>
          </a:xfrm>
          <a:prstGeom prst="line">
            <a:avLst/>
          </a:prstGeom>
          <a:ln w="9525">
            <a:solidFill>
              <a:srgbClr val="D5DCD1"/>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How a Committee Works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Everyone pays the same amount each month. Each month, one member takes the whole pot.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3</a:t>
            </a:r>
          </a:p>
        </p:txBody>
      </p:sp>
      <p:sp>
        <p:nvSpPr>
          <p:cNvPr id="6" name="TextBox 5"/>
          <p:cNvSpPr txBox="1"/>
          <p:nvPr/>
        </p:nvSpPr>
        <p:spPr>
          <a:xfrm>
            <a:off x="1344168" y="1764792"/>
            <a:ext cx="356616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Month</a:t>
            </a:r>
          </a:p>
        </p:txBody>
      </p:sp>
      <p:sp>
        <p:nvSpPr>
          <p:cNvPr id="7" name="TextBox 6"/>
          <p:cNvSpPr txBox="1"/>
          <p:nvPr/>
        </p:nvSpPr>
        <p:spPr>
          <a:xfrm>
            <a:off x="13441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a:t>
            </a:r>
          </a:p>
        </p:txBody>
      </p:sp>
      <p:sp>
        <p:nvSpPr>
          <p:cNvPr id="8" name="TextBox 7"/>
          <p:cNvSpPr txBox="1"/>
          <p:nvPr/>
        </p:nvSpPr>
        <p:spPr>
          <a:xfrm>
            <a:off x="16413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a:t>
            </a:r>
          </a:p>
        </p:txBody>
      </p:sp>
      <p:sp>
        <p:nvSpPr>
          <p:cNvPr id="9" name="TextBox 8"/>
          <p:cNvSpPr txBox="1"/>
          <p:nvPr/>
        </p:nvSpPr>
        <p:spPr>
          <a:xfrm>
            <a:off x="193852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3</a:t>
            </a:r>
          </a:p>
        </p:txBody>
      </p:sp>
      <p:sp>
        <p:nvSpPr>
          <p:cNvPr id="10" name="TextBox 9"/>
          <p:cNvSpPr txBox="1"/>
          <p:nvPr/>
        </p:nvSpPr>
        <p:spPr>
          <a:xfrm>
            <a:off x="223570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4</a:t>
            </a:r>
          </a:p>
        </p:txBody>
      </p:sp>
      <p:sp>
        <p:nvSpPr>
          <p:cNvPr id="11" name="TextBox 10"/>
          <p:cNvSpPr txBox="1"/>
          <p:nvPr/>
        </p:nvSpPr>
        <p:spPr>
          <a:xfrm>
            <a:off x="253288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5</a:t>
            </a:r>
          </a:p>
        </p:txBody>
      </p:sp>
      <p:sp>
        <p:nvSpPr>
          <p:cNvPr id="12" name="TextBox 11"/>
          <p:cNvSpPr txBox="1"/>
          <p:nvPr/>
        </p:nvSpPr>
        <p:spPr>
          <a:xfrm>
            <a:off x="28300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6</a:t>
            </a:r>
          </a:p>
        </p:txBody>
      </p:sp>
      <p:sp>
        <p:nvSpPr>
          <p:cNvPr id="13" name="TextBox 12"/>
          <p:cNvSpPr txBox="1"/>
          <p:nvPr/>
        </p:nvSpPr>
        <p:spPr>
          <a:xfrm>
            <a:off x="31272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7</a:t>
            </a:r>
          </a:p>
        </p:txBody>
      </p:sp>
      <p:sp>
        <p:nvSpPr>
          <p:cNvPr id="14" name="TextBox 13"/>
          <p:cNvSpPr txBox="1"/>
          <p:nvPr/>
        </p:nvSpPr>
        <p:spPr>
          <a:xfrm>
            <a:off x="342442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8</a:t>
            </a:r>
          </a:p>
        </p:txBody>
      </p:sp>
      <p:sp>
        <p:nvSpPr>
          <p:cNvPr id="15" name="TextBox 14"/>
          <p:cNvSpPr txBox="1"/>
          <p:nvPr/>
        </p:nvSpPr>
        <p:spPr>
          <a:xfrm>
            <a:off x="372160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9</a:t>
            </a:r>
          </a:p>
        </p:txBody>
      </p:sp>
      <p:sp>
        <p:nvSpPr>
          <p:cNvPr id="16" name="TextBox 15"/>
          <p:cNvSpPr txBox="1"/>
          <p:nvPr/>
        </p:nvSpPr>
        <p:spPr>
          <a:xfrm>
            <a:off x="401878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10</a:t>
            </a:r>
          </a:p>
        </p:txBody>
      </p:sp>
      <p:sp>
        <p:nvSpPr>
          <p:cNvPr id="17" name="TextBox 16"/>
          <p:cNvSpPr txBox="1"/>
          <p:nvPr/>
        </p:nvSpPr>
        <p:spPr>
          <a:xfrm>
            <a:off x="43159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11</a:t>
            </a:r>
          </a:p>
        </p:txBody>
      </p:sp>
      <p:sp>
        <p:nvSpPr>
          <p:cNvPr id="18" name="TextBox 17"/>
          <p:cNvSpPr txBox="1"/>
          <p:nvPr/>
        </p:nvSpPr>
        <p:spPr>
          <a:xfrm>
            <a:off x="46131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12</a:t>
            </a:r>
          </a:p>
        </p:txBody>
      </p:sp>
      <p:sp>
        <p:nvSpPr>
          <p:cNvPr id="19" name="TextBox 18"/>
          <p:cNvSpPr txBox="1"/>
          <p:nvPr/>
        </p:nvSpPr>
        <p:spPr>
          <a:xfrm rot="16200000">
            <a:off x="320040" y="3913632"/>
            <a:ext cx="91440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Member</a:t>
            </a:r>
          </a:p>
        </p:txBody>
      </p:sp>
      <p:sp>
        <p:nvSpPr>
          <p:cNvPr id="20" name="TextBox 19"/>
          <p:cNvSpPr txBox="1"/>
          <p:nvPr/>
        </p:nvSpPr>
        <p:spPr>
          <a:xfrm>
            <a:off x="996695" y="22585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a:t>
            </a:r>
          </a:p>
        </p:txBody>
      </p:sp>
      <p:sp>
        <p:nvSpPr>
          <p:cNvPr id="21" name="Rectangle 20"/>
          <p:cNvSpPr/>
          <p:nvPr/>
        </p:nvSpPr>
        <p:spPr>
          <a:xfrm>
            <a:off x="1344168" y="2258568"/>
            <a:ext cx="246888" cy="246888"/>
          </a:xfrm>
          <a:prstGeom prst="rect">
            <a:avLst/>
          </a:prstGeom>
          <a:solidFill>
            <a:srgbClr val="41801A"/>
          </a:solidFill>
          <a:ln>
            <a:noFill/>
          </a:ln>
        </p:spPr>
        <p:txBody>
          <a:bodyPr rtlCol="0" anchor="ctr" lIns="0" rIns="0"/>
          <a:lstStyle/>
          <a:p>
            <a:pPr algn="ctr"/>
          </a:p>
        </p:txBody>
      </p:sp>
      <p:sp>
        <p:nvSpPr>
          <p:cNvPr id="22" name="Rectangle 21"/>
          <p:cNvSpPr/>
          <p:nvPr/>
        </p:nvSpPr>
        <p:spPr>
          <a:xfrm>
            <a:off x="1641348" y="2258568"/>
            <a:ext cx="246888" cy="246888"/>
          </a:xfrm>
          <a:prstGeom prst="rect">
            <a:avLst/>
          </a:prstGeom>
          <a:solidFill>
            <a:srgbClr val="E3EFD9"/>
          </a:solidFill>
          <a:ln>
            <a:noFill/>
          </a:ln>
        </p:spPr>
        <p:txBody>
          <a:bodyPr rtlCol="0" anchor="ctr" lIns="0" rIns="0"/>
          <a:lstStyle/>
          <a:p>
            <a:pPr algn="ctr"/>
          </a:p>
        </p:txBody>
      </p:sp>
      <p:sp>
        <p:nvSpPr>
          <p:cNvPr id="23" name="Rectangle 22"/>
          <p:cNvSpPr/>
          <p:nvPr/>
        </p:nvSpPr>
        <p:spPr>
          <a:xfrm>
            <a:off x="1938528" y="2258568"/>
            <a:ext cx="246888" cy="246888"/>
          </a:xfrm>
          <a:prstGeom prst="rect">
            <a:avLst/>
          </a:prstGeom>
          <a:solidFill>
            <a:srgbClr val="E3EFD9"/>
          </a:solidFill>
          <a:ln>
            <a:noFill/>
          </a:ln>
        </p:spPr>
        <p:txBody>
          <a:bodyPr rtlCol="0" anchor="ctr" lIns="0" rIns="0"/>
          <a:lstStyle/>
          <a:p>
            <a:pPr algn="ctr"/>
          </a:p>
        </p:txBody>
      </p:sp>
      <p:sp>
        <p:nvSpPr>
          <p:cNvPr id="24" name="Rectangle 23"/>
          <p:cNvSpPr/>
          <p:nvPr/>
        </p:nvSpPr>
        <p:spPr>
          <a:xfrm>
            <a:off x="2235708" y="2258568"/>
            <a:ext cx="246888" cy="246888"/>
          </a:xfrm>
          <a:prstGeom prst="rect">
            <a:avLst/>
          </a:prstGeom>
          <a:solidFill>
            <a:srgbClr val="E3EFD9"/>
          </a:solidFill>
          <a:ln>
            <a:noFill/>
          </a:ln>
        </p:spPr>
        <p:txBody>
          <a:bodyPr rtlCol="0" anchor="ctr" lIns="0" rIns="0"/>
          <a:lstStyle/>
          <a:p>
            <a:pPr algn="ctr"/>
          </a:p>
        </p:txBody>
      </p:sp>
      <p:sp>
        <p:nvSpPr>
          <p:cNvPr id="25" name="Rectangle 24"/>
          <p:cNvSpPr/>
          <p:nvPr/>
        </p:nvSpPr>
        <p:spPr>
          <a:xfrm>
            <a:off x="2532888" y="2258568"/>
            <a:ext cx="246888" cy="246888"/>
          </a:xfrm>
          <a:prstGeom prst="rect">
            <a:avLst/>
          </a:prstGeom>
          <a:solidFill>
            <a:srgbClr val="E3EFD9"/>
          </a:solidFill>
          <a:ln>
            <a:noFill/>
          </a:ln>
        </p:spPr>
        <p:txBody>
          <a:bodyPr rtlCol="0" anchor="ctr" lIns="0" rIns="0"/>
          <a:lstStyle/>
          <a:p>
            <a:pPr algn="ctr"/>
          </a:p>
        </p:txBody>
      </p:sp>
      <p:sp>
        <p:nvSpPr>
          <p:cNvPr id="26" name="Rectangle 25"/>
          <p:cNvSpPr/>
          <p:nvPr/>
        </p:nvSpPr>
        <p:spPr>
          <a:xfrm>
            <a:off x="2830068" y="2258568"/>
            <a:ext cx="246888" cy="246888"/>
          </a:xfrm>
          <a:prstGeom prst="rect">
            <a:avLst/>
          </a:prstGeom>
          <a:solidFill>
            <a:srgbClr val="E3EFD9"/>
          </a:solidFill>
          <a:ln>
            <a:noFill/>
          </a:ln>
        </p:spPr>
        <p:txBody>
          <a:bodyPr rtlCol="0" anchor="ctr" lIns="0" rIns="0"/>
          <a:lstStyle/>
          <a:p>
            <a:pPr algn="ctr"/>
          </a:p>
        </p:txBody>
      </p:sp>
      <p:sp>
        <p:nvSpPr>
          <p:cNvPr id="27" name="Rectangle 26"/>
          <p:cNvSpPr/>
          <p:nvPr/>
        </p:nvSpPr>
        <p:spPr>
          <a:xfrm>
            <a:off x="3127248" y="2258568"/>
            <a:ext cx="246888" cy="246888"/>
          </a:xfrm>
          <a:prstGeom prst="rect">
            <a:avLst/>
          </a:prstGeom>
          <a:solidFill>
            <a:srgbClr val="E3EFD9"/>
          </a:solidFill>
          <a:ln>
            <a:noFill/>
          </a:ln>
        </p:spPr>
        <p:txBody>
          <a:bodyPr rtlCol="0" anchor="ctr" lIns="0" rIns="0"/>
          <a:lstStyle/>
          <a:p>
            <a:pPr algn="ctr"/>
          </a:p>
        </p:txBody>
      </p:sp>
      <p:sp>
        <p:nvSpPr>
          <p:cNvPr id="28" name="Rectangle 27"/>
          <p:cNvSpPr/>
          <p:nvPr/>
        </p:nvSpPr>
        <p:spPr>
          <a:xfrm>
            <a:off x="3424428" y="2258568"/>
            <a:ext cx="246888" cy="246888"/>
          </a:xfrm>
          <a:prstGeom prst="rect">
            <a:avLst/>
          </a:prstGeom>
          <a:solidFill>
            <a:srgbClr val="E3EFD9"/>
          </a:solidFill>
          <a:ln>
            <a:noFill/>
          </a:ln>
        </p:spPr>
        <p:txBody>
          <a:bodyPr rtlCol="0" anchor="ctr" lIns="0" rIns="0"/>
          <a:lstStyle/>
          <a:p>
            <a:pPr algn="ctr"/>
          </a:p>
        </p:txBody>
      </p:sp>
      <p:sp>
        <p:nvSpPr>
          <p:cNvPr id="29" name="Rectangle 28"/>
          <p:cNvSpPr/>
          <p:nvPr/>
        </p:nvSpPr>
        <p:spPr>
          <a:xfrm>
            <a:off x="3721608" y="2258568"/>
            <a:ext cx="246888" cy="246888"/>
          </a:xfrm>
          <a:prstGeom prst="rect">
            <a:avLst/>
          </a:prstGeom>
          <a:solidFill>
            <a:srgbClr val="E3EFD9"/>
          </a:solidFill>
          <a:ln>
            <a:noFill/>
          </a:ln>
        </p:spPr>
        <p:txBody>
          <a:bodyPr rtlCol="0" anchor="ctr" lIns="0" rIns="0"/>
          <a:lstStyle/>
          <a:p>
            <a:pPr algn="ctr"/>
          </a:p>
        </p:txBody>
      </p:sp>
      <p:sp>
        <p:nvSpPr>
          <p:cNvPr id="30" name="Rectangle 29"/>
          <p:cNvSpPr/>
          <p:nvPr/>
        </p:nvSpPr>
        <p:spPr>
          <a:xfrm>
            <a:off x="4018788" y="2258568"/>
            <a:ext cx="246888" cy="246888"/>
          </a:xfrm>
          <a:prstGeom prst="rect">
            <a:avLst/>
          </a:prstGeom>
          <a:solidFill>
            <a:srgbClr val="E3EFD9"/>
          </a:solidFill>
          <a:ln>
            <a:noFill/>
          </a:ln>
        </p:spPr>
        <p:txBody>
          <a:bodyPr rtlCol="0" anchor="ctr" lIns="0" rIns="0"/>
          <a:lstStyle/>
          <a:p>
            <a:pPr algn="ctr"/>
          </a:p>
        </p:txBody>
      </p:sp>
      <p:sp>
        <p:nvSpPr>
          <p:cNvPr id="31" name="Rectangle 30"/>
          <p:cNvSpPr/>
          <p:nvPr/>
        </p:nvSpPr>
        <p:spPr>
          <a:xfrm>
            <a:off x="4315968" y="2258568"/>
            <a:ext cx="246888" cy="246888"/>
          </a:xfrm>
          <a:prstGeom prst="rect">
            <a:avLst/>
          </a:prstGeom>
          <a:solidFill>
            <a:srgbClr val="E3EFD9"/>
          </a:solidFill>
          <a:ln>
            <a:noFill/>
          </a:ln>
        </p:spPr>
        <p:txBody>
          <a:bodyPr rtlCol="0" anchor="ctr" lIns="0" rIns="0"/>
          <a:lstStyle/>
          <a:p>
            <a:pPr algn="ctr"/>
          </a:p>
        </p:txBody>
      </p:sp>
      <p:sp>
        <p:nvSpPr>
          <p:cNvPr id="32" name="Rectangle 31"/>
          <p:cNvSpPr/>
          <p:nvPr/>
        </p:nvSpPr>
        <p:spPr>
          <a:xfrm>
            <a:off x="4613148" y="2258568"/>
            <a:ext cx="246888" cy="246888"/>
          </a:xfrm>
          <a:prstGeom prst="rect">
            <a:avLst/>
          </a:prstGeom>
          <a:solidFill>
            <a:srgbClr val="E3EFD9"/>
          </a:solidFill>
          <a:ln>
            <a:noFill/>
          </a:ln>
        </p:spPr>
        <p:txBody>
          <a:bodyPr rtlCol="0" anchor="ctr" lIns="0" rIns="0"/>
          <a:lstStyle/>
          <a:p>
            <a:pPr algn="ctr"/>
          </a:p>
        </p:txBody>
      </p:sp>
      <p:sp>
        <p:nvSpPr>
          <p:cNvPr id="33" name="TextBox 32"/>
          <p:cNvSpPr txBox="1"/>
          <p:nvPr/>
        </p:nvSpPr>
        <p:spPr>
          <a:xfrm>
            <a:off x="996695" y="25557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2</a:t>
            </a:r>
          </a:p>
        </p:txBody>
      </p:sp>
      <p:sp>
        <p:nvSpPr>
          <p:cNvPr id="34" name="Rectangle 33"/>
          <p:cNvSpPr/>
          <p:nvPr/>
        </p:nvSpPr>
        <p:spPr>
          <a:xfrm>
            <a:off x="1344168" y="2555748"/>
            <a:ext cx="246888" cy="246888"/>
          </a:xfrm>
          <a:prstGeom prst="rect">
            <a:avLst/>
          </a:prstGeom>
          <a:solidFill>
            <a:srgbClr val="E3EFD9"/>
          </a:solidFill>
          <a:ln>
            <a:noFill/>
          </a:ln>
        </p:spPr>
        <p:txBody>
          <a:bodyPr rtlCol="0" anchor="ctr" lIns="0" rIns="0"/>
          <a:lstStyle/>
          <a:p>
            <a:pPr algn="ctr"/>
          </a:p>
        </p:txBody>
      </p:sp>
      <p:sp>
        <p:nvSpPr>
          <p:cNvPr id="35" name="Rectangle 34"/>
          <p:cNvSpPr/>
          <p:nvPr/>
        </p:nvSpPr>
        <p:spPr>
          <a:xfrm>
            <a:off x="1641348" y="2555748"/>
            <a:ext cx="246888" cy="246888"/>
          </a:xfrm>
          <a:prstGeom prst="rect">
            <a:avLst/>
          </a:prstGeom>
          <a:solidFill>
            <a:srgbClr val="41801A"/>
          </a:solidFill>
          <a:ln>
            <a:noFill/>
          </a:ln>
        </p:spPr>
        <p:txBody>
          <a:bodyPr rtlCol="0" anchor="ctr" lIns="0" rIns="0"/>
          <a:lstStyle/>
          <a:p>
            <a:pPr algn="ctr"/>
          </a:p>
        </p:txBody>
      </p:sp>
      <p:sp>
        <p:nvSpPr>
          <p:cNvPr id="36" name="Rectangle 35"/>
          <p:cNvSpPr/>
          <p:nvPr/>
        </p:nvSpPr>
        <p:spPr>
          <a:xfrm>
            <a:off x="1938528" y="2555748"/>
            <a:ext cx="246888" cy="246888"/>
          </a:xfrm>
          <a:prstGeom prst="rect">
            <a:avLst/>
          </a:prstGeom>
          <a:solidFill>
            <a:srgbClr val="E3EFD9"/>
          </a:solidFill>
          <a:ln>
            <a:noFill/>
          </a:ln>
        </p:spPr>
        <p:txBody>
          <a:bodyPr rtlCol="0" anchor="ctr" lIns="0" rIns="0"/>
          <a:lstStyle/>
          <a:p>
            <a:pPr algn="ctr"/>
          </a:p>
        </p:txBody>
      </p:sp>
      <p:sp>
        <p:nvSpPr>
          <p:cNvPr id="37" name="Rectangle 36"/>
          <p:cNvSpPr/>
          <p:nvPr/>
        </p:nvSpPr>
        <p:spPr>
          <a:xfrm>
            <a:off x="2235708" y="2555748"/>
            <a:ext cx="246888" cy="246888"/>
          </a:xfrm>
          <a:prstGeom prst="rect">
            <a:avLst/>
          </a:prstGeom>
          <a:solidFill>
            <a:srgbClr val="E3EFD9"/>
          </a:solidFill>
          <a:ln>
            <a:noFill/>
          </a:ln>
        </p:spPr>
        <p:txBody>
          <a:bodyPr rtlCol="0" anchor="ctr" lIns="0" rIns="0"/>
          <a:lstStyle/>
          <a:p>
            <a:pPr algn="ctr"/>
          </a:p>
        </p:txBody>
      </p:sp>
      <p:sp>
        <p:nvSpPr>
          <p:cNvPr id="38" name="Rectangle 37"/>
          <p:cNvSpPr/>
          <p:nvPr/>
        </p:nvSpPr>
        <p:spPr>
          <a:xfrm>
            <a:off x="2532888" y="2555748"/>
            <a:ext cx="246888" cy="246888"/>
          </a:xfrm>
          <a:prstGeom prst="rect">
            <a:avLst/>
          </a:prstGeom>
          <a:solidFill>
            <a:srgbClr val="E3EFD9"/>
          </a:solidFill>
          <a:ln>
            <a:noFill/>
          </a:ln>
        </p:spPr>
        <p:txBody>
          <a:bodyPr rtlCol="0" anchor="ctr" lIns="0" rIns="0"/>
          <a:lstStyle/>
          <a:p>
            <a:pPr algn="ctr"/>
          </a:p>
        </p:txBody>
      </p:sp>
      <p:sp>
        <p:nvSpPr>
          <p:cNvPr id="39" name="Rectangle 38"/>
          <p:cNvSpPr/>
          <p:nvPr/>
        </p:nvSpPr>
        <p:spPr>
          <a:xfrm>
            <a:off x="2830068" y="2555748"/>
            <a:ext cx="246888" cy="246888"/>
          </a:xfrm>
          <a:prstGeom prst="rect">
            <a:avLst/>
          </a:prstGeom>
          <a:solidFill>
            <a:srgbClr val="E3EFD9"/>
          </a:solidFill>
          <a:ln>
            <a:noFill/>
          </a:ln>
        </p:spPr>
        <p:txBody>
          <a:bodyPr rtlCol="0" anchor="ctr" lIns="0" rIns="0"/>
          <a:lstStyle/>
          <a:p>
            <a:pPr algn="ctr"/>
          </a:p>
        </p:txBody>
      </p:sp>
      <p:sp>
        <p:nvSpPr>
          <p:cNvPr id="40" name="Rectangle 39"/>
          <p:cNvSpPr/>
          <p:nvPr/>
        </p:nvSpPr>
        <p:spPr>
          <a:xfrm>
            <a:off x="3127248" y="2555748"/>
            <a:ext cx="246888" cy="246888"/>
          </a:xfrm>
          <a:prstGeom prst="rect">
            <a:avLst/>
          </a:prstGeom>
          <a:solidFill>
            <a:srgbClr val="E3EFD9"/>
          </a:solidFill>
          <a:ln>
            <a:noFill/>
          </a:ln>
        </p:spPr>
        <p:txBody>
          <a:bodyPr rtlCol="0" anchor="ctr" lIns="0" rIns="0"/>
          <a:lstStyle/>
          <a:p>
            <a:pPr algn="ctr"/>
          </a:p>
        </p:txBody>
      </p:sp>
      <p:sp>
        <p:nvSpPr>
          <p:cNvPr id="41" name="Rectangle 40"/>
          <p:cNvSpPr/>
          <p:nvPr/>
        </p:nvSpPr>
        <p:spPr>
          <a:xfrm>
            <a:off x="3424428" y="2555748"/>
            <a:ext cx="246888" cy="246888"/>
          </a:xfrm>
          <a:prstGeom prst="rect">
            <a:avLst/>
          </a:prstGeom>
          <a:solidFill>
            <a:srgbClr val="E3EFD9"/>
          </a:solidFill>
          <a:ln>
            <a:noFill/>
          </a:ln>
        </p:spPr>
        <p:txBody>
          <a:bodyPr rtlCol="0" anchor="ctr" lIns="0" rIns="0"/>
          <a:lstStyle/>
          <a:p>
            <a:pPr algn="ctr"/>
          </a:p>
        </p:txBody>
      </p:sp>
      <p:sp>
        <p:nvSpPr>
          <p:cNvPr id="42" name="Rectangle 41"/>
          <p:cNvSpPr/>
          <p:nvPr/>
        </p:nvSpPr>
        <p:spPr>
          <a:xfrm>
            <a:off x="3721608" y="2555748"/>
            <a:ext cx="246888" cy="246888"/>
          </a:xfrm>
          <a:prstGeom prst="rect">
            <a:avLst/>
          </a:prstGeom>
          <a:solidFill>
            <a:srgbClr val="E3EFD9"/>
          </a:solidFill>
          <a:ln>
            <a:noFill/>
          </a:ln>
        </p:spPr>
        <p:txBody>
          <a:bodyPr rtlCol="0" anchor="ctr" lIns="0" rIns="0"/>
          <a:lstStyle/>
          <a:p>
            <a:pPr algn="ctr"/>
          </a:p>
        </p:txBody>
      </p:sp>
      <p:sp>
        <p:nvSpPr>
          <p:cNvPr id="43" name="Rectangle 42"/>
          <p:cNvSpPr/>
          <p:nvPr/>
        </p:nvSpPr>
        <p:spPr>
          <a:xfrm>
            <a:off x="4018788" y="2555748"/>
            <a:ext cx="246888" cy="246888"/>
          </a:xfrm>
          <a:prstGeom prst="rect">
            <a:avLst/>
          </a:prstGeom>
          <a:solidFill>
            <a:srgbClr val="E3EFD9"/>
          </a:solidFill>
          <a:ln>
            <a:noFill/>
          </a:ln>
        </p:spPr>
        <p:txBody>
          <a:bodyPr rtlCol="0" anchor="ctr" lIns="0" rIns="0"/>
          <a:lstStyle/>
          <a:p>
            <a:pPr algn="ctr"/>
          </a:p>
        </p:txBody>
      </p:sp>
      <p:sp>
        <p:nvSpPr>
          <p:cNvPr id="44" name="Rectangle 43"/>
          <p:cNvSpPr/>
          <p:nvPr/>
        </p:nvSpPr>
        <p:spPr>
          <a:xfrm>
            <a:off x="4315968" y="2555748"/>
            <a:ext cx="246888" cy="246888"/>
          </a:xfrm>
          <a:prstGeom prst="rect">
            <a:avLst/>
          </a:prstGeom>
          <a:solidFill>
            <a:srgbClr val="E3EFD9"/>
          </a:solidFill>
          <a:ln>
            <a:noFill/>
          </a:ln>
        </p:spPr>
        <p:txBody>
          <a:bodyPr rtlCol="0" anchor="ctr" lIns="0" rIns="0"/>
          <a:lstStyle/>
          <a:p>
            <a:pPr algn="ctr"/>
          </a:p>
        </p:txBody>
      </p:sp>
      <p:sp>
        <p:nvSpPr>
          <p:cNvPr id="45" name="Rectangle 44"/>
          <p:cNvSpPr/>
          <p:nvPr/>
        </p:nvSpPr>
        <p:spPr>
          <a:xfrm>
            <a:off x="4613148" y="2555748"/>
            <a:ext cx="246888" cy="246888"/>
          </a:xfrm>
          <a:prstGeom prst="rect">
            <a:avLst/>
          </a:prstGeom>
          <a:solidFill>
            <a:srgbClr val="E3EFD9"/>
          </a:solidFill>
          <a:ln>
            <a:noFill/>
          </a:ln>
        </p:spPr>
        <p:txBody>
          <a:bodyPr rtlCol="0" anchor="ctr" lIns="0" rIns="0"/>
          <a:lstStyle/>
          <a:p>
            <a:pPr algn="ctr"/>
          </a:p>
        </p:txBody>
      </p:sp>
      <p:sp>
        <p:nvSpPr>
          <p:cNvPr id="46" name="TextBox 45"/>
          <p:cNvSpPr txBox="1"/>
          <p:nvPr/>
        </p:nvSpPr>
        <p:spPr>
          <a:xfrm>
            <a:off x="996695" y="285292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3</a:t>
            </a:r>
          </a:p>
        </p:txBody>
      </p:sp>
      <p:sp>
        <p:nvSpPr>
          <p:cNvPr id="47" name="Rectangle 46"/>
          <p:cNvSpPr/>
          <p:nvPr/>
        </p:nvSpPr>
        <p:spPr>
          <a:xfrm>
            <a:off x="1344168" y="2852927"/>
            <a:ext cx="246888" cy="246888"/>
          </a:xfrm>
          <a:prstGeom prst="rect">
            <a:avLst/>
          </a:prstGeom>
          <a:solidFill>
            <a:srgbClr val="E3EFD9"/>
          </a:solidFill>
          <a:ln>
            <a:noFill/>
          </a:ln>
        </p:spPr>
        <p:txBody>
          <a:bodyPr rtlCol="0" anchor="ctr" lIns="0" rIns="0"/>
          <a:lstStyle/>
          <a:p>
            <a:pPr algn="ctr"/>
          </a:p>
        </p:txBody>
      </p:sp>
      <p:sp>
        <p:nvSpPr>
          <p:cNvPr id="48" name="Rectangle 47"/>
          <p:cNvSpPr/>
          <p:nvPr/>
        </p:nvSpPr>
        <p:spPr>
          <a:xfrm>
            <a:off x="1641348" y="2852927"/>
            <a:ext cx="246888" cy="246888"/>
          </a:xfrm>
          <a:prstGeom prst="rect">
            <a:avLst/>
          </a:prstGeom>
          <a:solidFill>
            <a:srgbClr val="E3EFD9"/>
          </a:solidFill>
          <a:ln>
            <a:noFill/>
          </a:ln>
        </p:spPr>
        <p:txBody>
          <a:bodyPr rtlCol="0" anchor="ctr" lIns="0" rIns="0"/>
          <a:lstStyle/>
          <a:p>
            <a:pPr algn="ctr"/>
          </a:p>
        </p:txBody>
      </p:sp>
      <p:sp>
        <p:nvSpPr>
          <p:cNvPr id="49" name="Rectangle 48"/>
          <p:cNvSpPr/>
          <p:nvPr/>
        </p:nvSpPr>
        <p:spPr>
          <a:xfrm>
            <a:off x="1938528" y="2852927"/>
            <a:ext cx="246888" cy="246888"/>
          </a:xfrm>
          <a:prstGeom prst="rect">
            <a:avLst/>
          </a:prstGeom>
          <a:solidFill>
            <a:srgbClr val="41801A"/>
          </a:solidFill>
          <a:ln>
            <a:noFill/>
          </a:ln>
        </p:spPr>
        <p:txBody>
          <a:bodyPr rtlCol="0" anchor="ctr" lIns="0" rIns="0"/>
          <a:lstStyle/>
          <a:p>
            <a:pPr algn="ctr"/>
          </a:p>
        </p:txBody>
      </p:sp>
      <p:sp>
        <p:nvSpPr>
          <p:cNvPr id="50" name="Rectangle 49"/>
          <p:cNvSpPr/>
          <p:nvPr/>
        </p:nvSpPr>
        <p:spPr>
          <a:xfrm>
            <a:off x="2235708" y="2852927"/>
            <a:ext cx="246888" cy="246888"/>
          </a:xfrm>
          <a:prstGeom prst="rect">
            <a:avLst/>
          </a:prstGeom>
          <a:solidFill>
            <a:srgbClr val="E3EFD9"/>
          </a:solidFill>
          <a:ln>
            <a:noFill/>
          </a:ln>
        </p:spPr>
        <p:txBody>
          <a:bodyPr rtlCol="0" anchor="ctr" lIns="0" rIns="0"/>
          <a:lstStyle/>
          <a:p>
            <a:pPr algn="ctr"/>
          </a:p>
        </p:txBody>
      </p:sp>
      <p:sp>
        <p:nvSpPr>
          <p:cNvPr id="51" name="Rectangle 50"/>
          <p:cNvSpPr/>
          <p:nvPr/>
        </p:nvSpPr>
        <p:spPr>
          <a:xfrm>
            <a:off x="2532888" y="2852927"/>
            <a:ext cx="246888" cy="246888"/>
          </a:xfrm>
          <a:prstGeom prst="rect">
            <a:avLst/>
          </a:prstGeom>
          <a:solidFill>
            <a:srgbClr val="E3EFD9"/>
          </a:solidFill>
          <a:ln>
            <a:noFill/>
          </a:ln>
        </p:spPr>
        <p:txBody>
          <a:bodyPr rtlCol="0" anchor="ctr" lIns="0" rIns="0"/>
          <a:lstStyle/>
          <a:p>
            <a:pPr algn="ctr"/>
          </a:p>
        </p:txBody>
      </p:sp>
      <p:sp>
        <p:nvSpPr>
          <p:cNvPr id="52" name="Rectangle 51"/>
          <p:cNvSpPr/>
          <p:nvPr/>
        </p:nvSpPr>
        <p:spPr>
          <a:xfrm>
            <a:off x="2830068" y="2852927"/>
            <a:ext cx="246888" cy="246888"/>
          </a:xfrm>
          <a:prstGeom prst="rect">
            <a:avLst/>
          </a:prstGeom>
          <a:solidFill>
            <a:srgbClr val="E3EFD9"/>
          </a:solidFill>
          <a:ln>
            <a:noFill/>
          </a:ln>
        </p:spPr>
        <p:txBody>
          <a:bodyPr rtlCol="0" anchor="ctr" lIns="0" rIns="0"/>
          <a:lstStyle/>
          <a:p>
            <a:pPr algn="ctr"/>
          </a:p>
        </p:txBody>
      </p:sp>
      <p:sp>
        <p:nvSpPr>
          <p:cNvPr id="53" name="Rectangle 52"/>
          <p:cNvSpPr/>
          <p:nvPr/>
        </p:nvSpPr>
        <p:spPr>
          <a:xfrm>
            <a:off x="3127248" y="2852927"/>
            <a:ext cx="246888" cy="246888"/>
          </a:xfrm>
          <a:prstGeom prst="rect">
            <a:avLst/>
          </a:prstGeom>
          <a:solidFill>
            <a:srgbClr val="E3EFD9"/>
          </a:solidFill>
          <a:ln>
            <a:noFill/>
          </a:ln>
        </p:spPr>
        <p:txBody>
          <a:bodyPr rtlCol="0" anchor="ctr" lIns="0" rIns="0"/>
          <a:lstStyle/>
          <a:p>
            <a:pPr algn="ctr"/>
          </a:p>
        </p:txBody>
      </p:sp>
      <p:sp>
        <p:nvSpPr>
          <p:cNvPr id="54" name="Rectangle 53"/>
          <p:cNvSpPr/>
          <p:nvPr/>
        </p:nvSpPr>
        <p:spPr>
          <a:xfrm>
            <a:off x="3424428" y="2852927"/>
            <a:ext cx="246888" cy="246888"/>
          </a:xfrm>
          <a:prstGeom prst="rect">
            <a:avLst/>
          </a:prstGeom>
          <a:solidFill>
            <a:srgbClr val="E3EFD9"/>
          </a:solidFill>
          <a:ln>
            <a:noFill/>
          </a:ln>
        </p:spPr>
        <p:txBody>
          <a:bodyPr rtlCol="0" anchor="ctr" lIns="0" rIns="0"/>
          <a:lstStyle/>
          <a:p>
            <a:pPr algn="ctr"/>
          </a:p>
        </p:txBody>
      </p:sp>
      <p:sp>
        <p:nvSpPr>
          <p:cNvPr id="55" name="Rectangle 54"/>
          <p:cNvSpPr/>
          <p:nvPr/>
        </p:nvSpPr>
        <p:spPr>
          <a:xfrm>
            <a:off x="3721608" y="2852927"/>
            <a:ext cx="246888" cy="246888"/>
          </a:xfrm>
          <a:prstGeom prst="rect">
            <a:avLst/>
          </a:prstGeom>
          <a:solidFill>
            <a:srgbClr val="E3EFD9"/>
          </a:solidFill>
          <a:ln>
            <a:noFill/>
          </a:ln>
        </p:spPr>
        <p:txBody>
          <a:bodyPr rtlCol="0" anchor="ctr" lIns="0" rIns="0"/>
          <a:lstStyle/>
          <a:p>
            <a:pPr algn="ctr"/>
          </a:p>
        </p:txBody>
      </p:sp>
      <p:sp>
        <p:nvSpPr>
          <p:cNvPr id="56" name="Rectangle 55"/>
          <p:cNvSpPr/>
          <p:nvPr/>
        </p:nvSpPr>
        <p:spPr>
          <a:xfrm>
            <a:off x="4018788" y="2852927"/>
            <a:ext cx="246888" cy="246888"/>
          </a:xfrm>
          <a:prstGeom prst="rect">
            <a:avLst/>
          </a:prstGeom>
          <a:solidFill>
            <a:srgbClr val="E3EFD9"/>
          </a:solidFill>
          <a:ln>
            <a:noFill/>
          </a:ln>
        </p:spPr>
        <p:txBody>
          <a:bodyPr rtlCol="0" anchor="ctr" lIns="0" rIns="0"/>
          <a:lstStyle/>
          <a:p>
            <a:pPr algn="ctr"/>
          </a:p>
        </p:txBody>
      </p:sp>
      <p:sp>
        <p:nvSpPr>
          <p:cNvPr id="57" name="Rectangle 56"/>
          <p:cNvSpPr/>
          <p:nvPr/>
        </p:nvSpPr>
        <p:spPr>
          <a:xfrm>
            <a:off x="4315968" y="2852927"/>
            <a:ext cx="246888" cy="246888"/>
          </a:xfrm>
          <a:prstGeom prst="rect">
            <a:avLst/>
          </a:prstGeom>
          <a:solidFill>
            <a:srgbClr val="E3EFD9"/>
          </a:solidFill>
          <a:ln>
            <a:noFill/>
          </a:ln>
        </p:spPr>
        <p:txBody>
          <a:bodyPr rtlCol="0" anchor="ctr" lIns="0" rIns="0"/>
          <a:lstStyle/>
          <a:p>
            <a:pPr algn="ctr"/>
          </a:p>
        </p:txBody>
      </p:sp>
      <p:sp>
        <p:nvSpPr>
          <p:cNvPr id="58" name="Rectangle 57"/>
          <p:cNvSpPr/>
          <p:nvPr/>
        </p:nvSpPr>
        <p:spPr>
          <a:xfrm>
            <a:off x="4613148" y="2852927"/>
            <a:ext cx="246888" cy="246888"/>
          </a:xfrm>
          <a:prstGeom prst="rect">
            <a:avLst/>
          </a:prstGeom>
          <a:solidFill>
            <a:srgbClr val="E3EFD9"/>
          </a:solidFill>
          <a:ln>
            <a:noFill/>
          </a:ln>
        </p:spPr>
        <p:txBody>
          <a:bodyPr rtlCol="0" anchor="ctr" lIns="0" rIns="0"/>
          <a:lstStyle/>
          <a:p>
            <a:pPr algn="ctr"/>
          </a:p>
        </p:txBody>
      </p:sp>
      <p:sp>
        <p:nvSpPr>
          <p:cNvPr id="59" name="TextBox 58"/>
          <p:cNvSpPr txBox="1"/>
          <p:nvPr/>
        </p:nvSpPr>
        <p:spPr>
          <a:xfrm>
            <a:off x="996695" y="315010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4</a:t>
            </a:r>
          </a:p>
        </p:txBody>
      </p:sp>
      <p:sp>
        <p:nvSpPr>
          <p:cNvPr id="60" name="Rectangle 59"/>
          <p:cNvSpPr/>
          <p:nvPr/>
        </p:nvSpPr>
        <p:spPr>
          <a:xfrm>
            <a:off x="1344168" y="3150108"/>
            <a:ext cx="246888" cy="246888"/>
          </a:xfrm>
          <a:prstGeom prst="rect">
            <a:avLst/>
          </a:prstGeom>
          <a:solidFill>
            <a:srgbClr val="E3EFD9"/>
          </a:solidFill>
          <a:ln>
            <a:noFill/>
          </a:ln>
        </p:spPr>
        <p:txBody>
          <a:bodyPr rtlCol="0" anchor="ctr" lIns="0" rIns="0"/>
          <a:lstStyle/>
          <a:p>
            <a:pPr algn="ctr"/>
          </a:p>
        </p:txBody>
      </p:sp>
      <p:sp>
        <p:nvSpPr>
          <p:cNvPr id="61" name="Rectangle 60"/>
          <p:cNvSpPr/>
          <p:nvPr/>
        </p:nvSpPr>
        <p:spPr>
          <a:xfrm>
            <a:off x="1641348" y="3150108"/>
            <a:ext cx="246888" cy="246888"/>
          </a:xfrm>
          <a:prstGeom prst="rect">
            <a:avLst/>
          </a:prstGeom>
          <a:solidFill>
            <a:srgbClr val="E3EFD9"/>
          </a:solidFill>
          <a:ln>
            <a:noFill/>
          </a:ln>
        </p:spPr>
        <p:txBody>
          <a:bodyPr rtlCol="0" anchor="ctr" lIns="0" rIns="0"/>
          <a:lstStyle/>
          <a:p>
            <a:pPr algn="ctr"/>
          </a:p>
        </p:txBody>
      </p:sp>
      <p:sp>
        <p:nvSpPr>
          <p:cNvPr id="62" name="Rectangle 61"/>
          <p:cNvSpPr/>
          <p:nvPr/>
        </p:nvSpPr>
        <p:spPr>
          <a:xfrm>
            <a:off x="1938528" y="3150108"/>
            <a:ext cx="246888" cy="246888"/>
          </a:xfrm>
          <a:prstGeom prst="rect">
            <a:avLst/>
          </a:prstGeom>
          <a:solidFill>
            <a:srgbClr val="E3EFD9"/>
          </a:solidFill>
          <a:ln>
            <a:noFill/>
          </a:ln>
        </p:spPr>
        <p:txBody>
          <a:bodyPr rtlCol="0" anchor="ctr" lIns="0" rIns="0"/>
          <a:lstStyle/>
          <a:p>
            <a:pPr algn="ctr"/>
          </a:p>
        </p:txBody>
      </p:sp>
      <p:sp>
        <p:nvSpPr>
          <p:cNvPr id="63" name="Rectangle 62"/>
          <p:cNvSpPr/>
          <p:nvPr/>
        </p:nvSpPr>
        <p:spPr>
          <a:xfrm>
            <a:off x="2235708" y="3150108"/>
            <a:ext cx="246888" cy="246888"/>
          </a:xfrm>
          <a:prstGeom prst="rect">
            <a:avLst/>
          </a:prstGeom>
          <a:solidFill>
            <a:srgbClr val="41801A"/>
          </a:solidFill>
          <a:ln>
            <a:noFill/>
          </a:ln>
        </p:spPr>
        <p:txBody>
          <a:bodyPr rtlCol="0" anchor="ctr" lIns="0" rIns="0"/>
          <a:lstStyle/>
          <a:p>
            <a:pPr algn="ctr"/>
          </a:p>
        </p:txBody>
      </p:sp>
      <p:sp>
        <p:nvSpPr>
          <p:cNvPr id="64" name="Rectangle 63"/>
          <p:cNvSpPr/>
          <p:nvPr/>
        </p:nvSpPr>
        <p:spPr>
          <a:xfrm>
            <a:off x="2532888" y="3150108"/>
            <a:ext cx="246888" cy="246888"/>
          </a:xfrm>
          <a:prstGeom prst="rect">
            <a:avLst/>
          </a:prstGeom>
          <a:solidFill>
            <a:srgbClr val="E3EFD9"/>
          </a:solidFill>
          <a:ln>
            <a:noFill/>
          </a:ln>
        </p:spPr>
        <p:txBody>
          <a:bodyPr rtlCol="0" anchor="ctr" lIns="0" rIns="0"/>
          <a:lstStyle/>
          <a:p>
            <a:pPr algn="ctr"/>
          </a:p>
        </p:txBody>
      </p:sp>
      <p:sp>
        <p:nvSpPr>
          <p:cNvPr id="65" name="Rectangle 64"/>
          <p:cNvSpPr/>
          <p:nvPr/>
        </p:nvSpPr>
        <p:spPr>
          <a:xfrm>
            <a:off x="2830068" y="3150108"/>
            <a:ext cx="246888" cy="246888"/>
          </a:xfrm>
          <a:prstGeom prst="rect">
            <a:avLst/>
          </a:prstGeom>
          <a:solidFill>
            <a:srgbClr val="E3EFD9"/>
          </a:solidFill>
          <a:ln>
            <a:noFill/>
          </a:ln>
        </p:spPr>
        <p:txBody>
          <a:bodyPr rtlCol="0" anchor="ctr" lIns="0" rIns="0"/>
          <a:lstStyle/>
          <a:p>
            <a:pPr algn="ctr"/>
          </a:p>
        </p:txBody>
      </p:sp>
      <p:sp>
        <p:nvSpPr>
          <p:cNvPr id="66" name="Rectangle 65"/>
          <p:cNvSpPr/>
          <p:nvPr/>
        </p:nvSpPr>
        <p:spPr>
          <a:xfrm>
            <a:off x="3127248" y="3150108"/>
            <a:ext cx="246888" cy="246888"/>
          </a:xfrm>
          <a:prstGeom prst="rect">
            <a:avLst/>
          </a:prstGeom>
          <a:solidFill>
            <a:srgbClr val="E3EFD9"/>
          </a:solidFill>
          <a:ln>
            <a:noFill/>
          </a:ln>
        </p:spPr>
        <p:txBody>
          <a:bodyPr rtlCol="0" anchor="ctr" lIns="0" rIns="0"/>
          <a:lstStyle/>
          <a:p>
            <a:pPr algn="ctr"/>
          </a:p>
        </p:txBody>
      </p:sp>
      <p:sp>
        <p:nvSpPr>
          <p:cNvPr id="67" name="Rectangle 66"/>
          <p:cNvSpPr/>
          <p:nvPr/>
        </p:nvSpPr>
        <p:spPr>
          <a:xfrm>
            <a:off x="3424428" y="3150108"/>
            <a:ext cx="246888" cy="246888"/>
          </a:xfrm>
          <a:prstGeom prst="rect">
            <a:avLst/>
          </a:prstGeom>
          <a:solidFill>
            <a:srgbClr val="E3EFD9"/>
          </a:solidFill>
          <a:ln>
            <a:noFill/>
          </a:ln>
        </p:spPr>
        <p:txBody>
          <a:bodyPr rtlCol="0" anchor="ctr" lIns="0" rIns="0"/>
          <a:lstStyle/>
          <a:p>
            <a:pPr algn="ctr"/>
          </a:p>
        </p:txBody>
      </p:sp>
      <p:sp>
        <p:nvSpPr>
          <p:cNvPr id="68" name="Rectangle 67"/>
          <p:cNvSpPr/>
          <p:nvPr/>
        </p:nvSpPr>
        <p:spPr>
          <a:xfrm>
            <a:off x="3721608" y="3150108"/>
            <a:ext cx="246888" cy="246888"/>
          </a:xfrm>
          <a:prstGeom prst="rect">
            <a:avLst/>
          </a:prstGeom>
          <a:solidFill>
            <a:srgbClr val="E3EFD9"/>
          </a:solidFill>
          <a:ln>
            <a:noFill/>
          </a:ln>
        </p:spPr>
        <p:txBody>
          <a:bodyPr rtlCol="0" anchor="ctr" lIns="0" rIns="0"/>
          <a:lstStyle/>
          <a:p>
            <a:pPr algn="ctr"/>
          </a:p>
        </p:txBody>
      </p:sp>
      <p:sp>
        <p:nvSpPr>
          <p:cNvPr id="69" name="Rectangle 68"/>
          <p:cNvSpPr/>
          <p:nvPr/>
        </p:nvSpPr>
        <p:spPr>
          <a:xfrm>
            <a:off x="4018788" y="3150108"/>
            <a:ext cx="246888" cy="246888"/>
          </a:xfrm>
          <a:prstGeom prst="rect">
            <a:avLst/>
          </a:prstGeom>
          <a:solidFill>
            <a:srgbClr val="E3EFD9"/>
          </a:solidFill>
          <a:ln>
            <a:noFill/>
          </a:ln>
        </p:spPr>
        <p:txBody>
          <a:bodyPr rtlCol="0" anchor="ctr" lIns="0" rIns="0"/>
          <a:lstStyle/>
          <a:p>
            <a:pPr algn="ctr"/>
          </a:p>
        </p:txBody>
      </p:sp>
      <p:sp>
        <p:nvSpPr>
          <p:cNvPr id="70" name="Rectangle 69"/>
          <p:cNvSpPr/>
          <p:nvPr/>
        </p:nvSpPr>
        <p:spPr>
          <a:xfrm>
            <a:off x="4315968" y="3150108"/>
            <a:ext cx="246888" cy="246888"/>
          </a:xfrm>
          <a:prstGeom prst="rect">
            <a:avLst/>
          </a:prstGeom>
          <a:solidFill>
            <a:srgbClr val="E3EFD9"/>
          </a:solidFill>
          <a:ln>
            <a:noFill/>
          </a:ln>
        </p:spPr>
        <p:txBody>
          <a:bodyPr rtlCol="0" anchor="ctr" lIns="0" rIns="0"/>
          <a:lstStyle/>
          <a:p>
            <a:pPr algn="ctr"/>
          </a:p>
        </p:txBody>
      </p:sp>
      <p:sp>
        <p:nvSpPr>
          <p:cNvPr id="71" name="Rectangle 70"/>
          <p:cNvSpPr/>
          <p:nvPr/>
        </p:nvSpPr>
        <p:spPr>
          <a:xfrm>
            <a:off x="4613148" y="3150108"/>
            <a:ext cx="246888" cy="246888"/>
          </a:xfrm>
          <a:prstGeom prst="rect">
            <a:avLst/>
          </a:prstGeom>
          <a:solidFill>
            <a:srgbClr val="E3EFD9"/>
          </a:solidFill>
          <a:ln>
            <a:noFill/>
          </a:ln>
        </p:spPr>
        <p:txBody>
          <a:bodyPr rtlCol="0" anchor="ctr" lIns="0" rIns="0"/>
          <a:lstStyle/>
          <a:p>
            <a:pPr algn="ctr"/>
          </a:p>
        </p:txBody>
      </p:sp>
      <p:sp>
        <p:nvSpPr>
          <p:cNvPr id="72" name="TextBox 71"/>
          <p:cNvSpPr txBox="1"/>
          <p:nvPr/>
        </p:nvSpPr>
        <p:spPr>
          <a:xfrm>
            <a:off x="996695" y="344728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5</a:t>
            </a:r>
          </a:p>
        </p:txBody>
      </p:sp>
      <p:sp>
        <p:nvSpPr>
          <p:cNvPr id="73" name="Rectangle 72"/>
          <p:cNvSpPr/>
          <p:nvPr/>
        </p:nvSpPr>
        <p:spPr>
          <a:xfrm>
            <a:off x="1344168" y="3447287"/>
            <a:ext cx="246888" cy="246888"/>
          </a:xfrm>
          <a:prstGeom prst="rect">
            <a:avLst/>
          </a:prstGeom>
          <a:solidFill>
            <a:srgbClr val="E3EFD9"/>
          </a:solidFill>
          <a:ln>
            <a:noFill/>
          </a:ln>
        </p:spPr>
        <p:txBody>
          <a:bodyPr rtlCol="0" anchor="ctr" lIns="0" rIns="0"/>
          <a:lstStyle/>
          <a:p>
            <a:pPr algn="ctr"/>
          </a:p>
        </p:txBody>
      </p:sp>
      <p:sp>
        <p:nvSpPr>
          <p:cNvPr id="74" name="Rectangle 73"/>
          <p:cNvSpPr/>
          <p:nvPr/>
        </p:nvSpPr>
        <p:spPr>
          <a:xfrm>
            <a:off x="1641348" y="3447287"/>
            <a:ext cx="246888" cy="246888"/>
          </a:xfrm>
          <a:prstGeom prst="rect">
            <a:avLst/>
          </a:prstGeom>
          <a:solidFill>
            <a:srgbClr val="E3EFD9"/>
          </a:solidFill>
          <a:ln>
            <a:noFill/>
          </a:ln>
        </p:spPr>
        <p:txBody>
          <a:bodyPr rtlCol="0" anchor="ctr" lIns="0" rIns="0"/>
          <a:lstStyle/>
          <a:p>
            <a:pPr algn="ctr"/>
          </a:p>
        </p:txBody>
      </p:sp>
      <p:sp>
        <p:nvSpPr>
          <p:cNvPr id="75" name="Rectangle 74"/>
          <p:cNvSpPr/>
          <p:nvPr/>
        </p:nvSpPr>
        <p:spPr>
          <a:xfrm>
            <a:off x="1938528" y="3447287"/>
            <a:ext cx="246888" cy="246888"/>
          </a:xfrm>
          <a:prstGeom prst="rect">
            <a:avLst/>
          </a:prstGeom>
          <a:solidFill>
            <a:srgbClr val="E3EFD9"/>
          </a:solidFill>
          <a:ln>
            <a:noFill/>
          </a:ln>
        </p:spPr>
        <p:txBody>
          <a:bodyPr rtlCol="0" anchor="ctr" lIns="0" rIns="0"/>
          <a:lstStyle/>
          <a:p>
            <a:pPr algn="ctr"/>
          </a:p>
        </p:txBody>
      </p:sp>
      <p:sp>
        <p:nvSpPr>
          <p:cNvPr id="76" name="Rectangle 75"/>
          <p:cNvSpPr/>
          <p:nvPr/>
        </p:nvSpPr>
        <p:spPr>
          <a:xfrm>
            <a:off x="2235708" y="3447287"/>
            <a:ext cx="246888" cy="246888"/>
          </a:xfrm>
          <a:prstGeom prst="rect">
            <a:avLst/>
          </a:prstGeom>
          <a:solidFill>
            <a:srgbClr val="E3EFD9"/>
          </a:solidFill>
          <a:ln>
            <a:noFill/>
          </a:ln>
        </p:spPr>
        <p:txBody>
          <a:bodyPr rtlCol="0" anchor="ctr" lIns="0" rIns="0"/>
          <a:lstStyle/>
          <a:p>
            <a:pPr algn="ctr"/>
          </a:p>
        </p:txBody>
      </p:sp>
      <p:sp>
        <p:nvSpPr>
          <p:cNvPr id="77" name="Rectangle 76"/>
          <p:cNvSpPr/>
          <p:nvPr/>
        </p:nvSpPr>
        <p:spPr>
          <a:xfrm>
            <a:off x="2532888" y="3447287"/>
            <a:ext cx="246888" cy="246888"/>
          </a:xfrm>
          <a:prstGeom prst="rect">
            <a:avLst/>
          </a:prstGeom>
          <a:solidFill>
            <a:srgbClr val="41801A"/>
          </a:solidFill>
          <a:ln>
            <a:noFill/>
          </a:ln>
        </p:spPr>
        <p:txBody>
          <a:bodyPr rtlCol="0" anchor="ctr" lIns="0" rIns="0"/>
          <a:lstStyle/>
          <a:p>
            <a:pPr algn="ctr"/>
          </a:p>
        </p:txBody>
      </p:sp>
      <p:sp>
        <p:nvSpPr>
          <p:cNvPr id="78" name="Rectangle 77"/>
          <p:cNvSpPr/>
          <p:nvPr/>
        </p:nvSpPr>
        <p:spPr>
          <a:xfrm>
            <a:off x="2830068" y="3447287"/>
            <a:ext cx="246888" cy="246888"/>
          </a:xfrm>
          <a:prstGeom prst="rect">
            <a:avLst/>
          </a:prstGeom>
          <a:solidFill>
            <a:srgbClr val="E3EFD9"/>
          </a:solidFill>
          <a:ln>
            <a:noFill/>
          </a:ln>
        </p:spPr>
        <p:txBody>
          <a:bodyPr rtlCol="0" anchor="ctr" lIns="0" rIns="0"/>
          <a:lstStyle/>
          <a:p>
            <a:pPr algn="ctr"/>
          </a:p>
        </p:txBody>
      </p:sp>
      <p:sp>
        <p:nvSpPr>
          <p:cNvPr id="79" name="Rectangle 78"/>
          <p:cNvSpPr/>
          <p:nvPr/>
        </p:nvSpPr>
        <p:spPr>
          <a:xfrm>
            <a:off x="3127248" y="3447287"/>
            <a:ext cx="246888" cy="246888"/>
          </a:xfrm>
          <a:prstGeom prst="rect">
            <a:avLst/>
          </a:prstGeom>
          <a:solidFill>
            <a:srgbClr val="E3EFD9"/>
          </a:solidFill>
          <a:ln>
            <a:noFill/>
          </a:ln>
        </p:spPr>
        <p:txBody>
          <a:bodyPr rtlCol="0" anchor="ctr" lIns="0" rIns="0"/>
          <a:lstStyle/>
          <a:p>
            <a:pPr algn="ctr"/>
          </a:p>
        </p:txBody>
      </p:sp>
      <p:sp>
        <p:nvSpPr>
          <p:cNvPr id="80" name="Rectangle 79"/>
          <p:cNvSpPr/>
          <p:nvPr/>
        </p:nvSpPr>
        <p:spPr>
          <a:xfrm>
            <a:off x="3424428" y="3447287"/>
            <a:ext cx="246888" cy="246888"/>
          </a:xfrm>
          <a:prstGeom prst="rect">
            <a:avLst/>
          </a:prstGeom>
          <a:solidFill>
            <a:srgbClr val="E3EFD9"/>
          </a:solidFill>
          <a:ln>
            <a:noFill/>
          </a:ln>
        </p:spPr>
        <p:txBody>
          <a:bodyPr rtlCol="0" anchor="ctr" lIns="0" rIns="0"/>
          <a:lstStyle/>
          <a:p>
            <a:pPr algn="ctr"/>
          </a:p>
        </p:txBody>
      </p:sp>
      <p:sp>
        <p:nvSpPr>
          <p:cNvPr id="81" name="Rectangle 80"/>
          <p:cNvSpPr/>
          <p:nvPr/>
        </p:nvSpPr>
        <p:spPr>
          <a:xfrm>
            <a:off x="3721608" y="3447287"/>
            <a:ext cx="246888" cy="246888"/>
          </a:xfrm>
          <a:prstGeom prst="rect">
            <a:avLst/>
          </a:prstGeom>
          <a:solidFill>
            <a:srgbClr val="E3EFD9"/>
          </a:solidFill>
          <a:ln>
            <a:noFill/>
          </a:ln>
        </p:spPr>
        <p:txBody>
          <a:bodyPr rtlCol="0" anchor="ctr" lIns="0" rIns="0"/>
          <a:lstStyle/>
          <a:p>
            <a:pPr algn="ctr"/>
          </a:p>
        </p:txBody>
      </p:sp>
      <p:sp>
        <p:nvSpPr>
          <p:cNvPr id="82" name="Rectangle 81"/>
          <p:cNvSpPr/>
          <p:nvPr/>
        </p:nvSpPr>
        <p:spPr>
          <a:xfrm>
            <a:off x="4018788" y="3447287"/>
            <a:ext cx="246888" cy="246888"/>
          </a:xfrm>
          <a:prstGeom prst="rect">
            <a:avLst/>
          </a:prstGeom>
          <a:solidFill>
            <a:srgbClr val="E3EFD9"/>
          </a:solidFill>
          <a:ln>
            <a:noFill/>
          </a:ln>
        </p:spPr>
        <p:txBody>
          <a:bodyPr rtlCol="0" anchor="ctr" lIns="0" rIns="0"/>
          <a:lstStyle/>
          <a:p>
            <a:pPr algn="ctr"/>
          </a:p>
        </p:txBody>
      </p:sp>
      <p:sp>
        <p:nvSpPr>
          <p:cNvPr id="83" name="Rectangle 82"/>
          <p:cNvSpPr/>
          <p:nvPr/>
        </p:nvSpPr>
        <p:spPr>
          <a:xfrm>
            <a:off x="4315968" y="3447287"/>
            <a:ext cx="246888" cy="246888"/>
          </a:xfrm>
          <a:prstGeom prst="rect">
            <a:avLst/>
          </a:prstGeom>
          <a:solidFill>
            <a:srgbClr val="E3EFD9"/>
          </a:solidFill>
          <a:ln>
            <a:noFill/>
          </a:ln>
        </p:spPr>
        <p:txBody>
          <a:bodyPr rtlCol="0" anchor="ctr" lIns="0" rIns="0"/>
          <a:lstStyle/>
          <a:p>
            <a:pPr algn="ctr"/>
          </a:p>
        </p:txBody>
      </p:sp>
      <p:sp>
        <p:nvSpPr>
          <p:cNvPr id="84" name="Rectangle 83"/>
          <p:cNvSpPr/>
          <p:nvPr/>
        </p:nvSpPr>
        <p:spPr>
          <a:xfrm>
            <a:off x="4613148" y="3447287"/>
            <a:ext cx="246888" cy="246888"/>
          </a:xfrm>
          <a:prstGeom prst="rect">
            <a:avLst/>
          </a:prstGeom>
          <a:solidFill>
            <a:srgbClr val="E3EFD9"/>
          </a:solidFill>
          <a:ln>
            <a:noFill/>
          </a:ln>
        </p:spPr>
        <p:txBody>
          <a:bodyPr rtlCol="0" anchor="ctr" lIns="0" rIns="0"/>
          <a:lstStyle/>
          <a:p>
            <a:pPr algn="ctr"/>
          </a:p>
        </p:txBody>
      </p:sp>
      <p:sp>
        <p:nvSpPr>
          <p:cNvPr id="85" name="TextBox 84"/>
          <p:cNvSpPr txBox="1"/>
          <p:nvPr/>
        </p:nvSpPr>
        <p:spPr>
          <a:xfrm>
            <a:off x="996695" y="37444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6</a:t>
            </a:r>
          </a:p>
        </p:txBody>
      </p:sp>
      <p:sp>
        <p:nvSpPr>
          <p:cNvPr id="86" name="Rectangle 85"/>
          <p:cNvSpPr/>
          <p:nvPr/>
        </p:nvSpPr>
        <p:spPr>
          <a:xfrm>
            <a:off x="1344168" y="3744468"/>
            <a:ext cx="246888" cy="246888"/>
          </a:xfrm>
          <a:prstGeom prst="rect">
            <a:avLst/>
          </a:prstGeom>
          <a:solidFill>
            <a:srgbClr val="E3EFD9"/>
          </a:solidFill>
          <a:ln>
            <a:noFill/>
          </a:ln>
        </p:spPr>
        <p:txBody>
          <a:bodyPr rtlCol="0" anchor="ctr" lIns="0" rIns="0"/>
          <a:lstStyle/>
          <a:p>
            <a:pPr algn="ctr"/>
          </a:p>
        </p:txBody>
      </p:sp>
      <p:sp>
        <p:nvSpPr>
          <p:cNvPr id="87" name="Rectangle 86"/>
          <p:cNvSpPr/>
          <p:nvPr/>
        </p:nvSpPr>
        <p:spPr>
          <a:xfrm>
            <a:off x="1641348" y="3744468"/>
            <a:ext cx="246888" cy="246888"/>
          </a:xfrm>
          <a:prstGeom prst="rect">
            <a:avLst/>
          </a:prstGeom>
          <a:solidFill>
            <a:srgbClr val="E3EFD9"/>
          </a:solidFill>
          <a:ln>
            <a:noFill/>
          </a:ln>
        </p:spPr>
        <p:txBody>
          <a:bodyPr rtlCol="0" anchor="ctr" lIns="0" rIns="0"/>
          <a:lstStyle/>
          <a:p>
            <a:pPr algn="ctr"/>
          </a:p>
        </p:txBody>
      </p:sp>
      <p:sp>
        <p:nvSpPr>
          <p:cNvPr id="88" name="Rectangle 87"/>
          <p:cNvSpPr/>
          <p:nvPr/>
        </p:nvSpPr>
        <p:spPr>
          <a:xfrm>
            <a:off x="1938528" y="3744468"/>
            <a:ext cx="246888" cy="246888"/>
          </a:xfrm>
          <a:prstGeom prst="rect">
            <a:avLst/>
          </a:prstGeom>
          <a:solidFill>
            <a:srgbClr val="E3EFD9"/>
          </a:solidFill>
          <a:ln>
            <a:noFill/>
          </a:ln>
        </p:spPr>
        <p:txBody>
          <a:bodyPr rtlCol="0" anchor="ctr" lIns="0" rIns="0"/>
          <a:lstStyle/>
          <a:p>
            <a:pPr algn="ctr"/>
          </a:p>
        </p:txBody>
      </p:sp>
      <p:sp>
        <p:nvSpPr>
          <p:cNvPr id="89" name="Rectangle 88"/>
          <p:cNvSpPr/>
          <p:nvPr/>
        </p:nvSpPr>
        <p:spPr>
          <a:xfrm>
            <a:off x="2235708" y="3744468"/>
            <a:ext cx="246888" cy="246888"/>
          </a:xfrm>
          <a:prstGeom prst="rect">
            <a:avLst/>
          </a:prstGeom>
          <a:solidFill>
            <a:srgbClr val="E3EFD9"/>
          </a:solidFill>
          <a:ln>
            <a:noFill/>
          </a:ln>
        </p:spPr>
        <p:txBody>
          <a:bodyPr rtlCol="0" anchor="ctr" lIns="0" rIns="0"/>
          <a:lstStyle/>
          <a:p>
            <a:pPr algn="ctr"/>
          </a:p>
        </p:txBody>
      </p:sp>
      <p:sp>
        <p:nvSpPr>
          <p:cNvPr id="90" name="Rectangle 89"/>
          <p:cNvSpPr/>
          <p:nvPr/>
        </p:nvSpPr>
        <p:spPr>
          <a:xfrm>
            <a:off x="2532888" y="3744468"/>
            <a:ext cx="246888" cy="246888"/>
          </a:xfrm>
          <a:prstGeom prst="rect">
            <a:avLst/>
          </a:prstGeom>
          <a:solidFill>
            <a:srgbClr val="E3EFD9"/>
          </a:solidFill>
          <a:ln>
            <a:noFill/>
          </a:ln>
        </p:spPr>
        <p:txBody>
          <a:bodyPr rtlCol="0" anchor="ctr" lIns="0" rIns="0"/>
          <a:lstStyle/>
          <a:p>
            <a:pPr algn="ctr"/>
          </a:p>
        </p:txBody>
      </p:sp>
      <p:sp>
        <p:nvSpPr>
          <p:cNvPr id="91" name="Rectangle 90"/>
          <p:cNvSpPr/>
          <p:nvPr/>
        </p:nvSpPr>
        <p:spPr>
          <a:xfrm>
            <a:off x="2830068" y="3744468"/>
            <a:ext cx="246888" cy="246888"/>
          </a:xfrm>
          <a:prstGeom prst="rect">
            <a:avLst/>
          </a:prstGeom>
          <a:solidFill>
            <a:srgbClr val="41801A"/>
          </a:solidFill>
          <a:ln>
            <a:noFill/>
          </a:ln>
        </p:spPr>
        <p:txBody>
          <a:bodyPr rtlCol="0" anchor="ctr" lIns="0" rIns="0"/>
          <a:lstStyle/>
          <a:p>
            <a:pPr algn="ctr"/>
          </a:p>
        </p:txBody>
      </p:sp>
      <p:sp>
        <p:nvSpPr>
          <p:cNvPr id="92" name="Rectangle 91"/>
          <p:cNvSpPr/>
          <p:nvPr/>
        </p:nvSpPr>
        <p:spPr>
          <a:xfrm>
            <a:off x="3127248" y="3744468"/>
            <a:ext cx="246888" cy="246888"/>
          </a:xfrm>
          <a:prstGeom prst="rect">
            <a:avLst/>
          </a:prstGeom>
          <a:solidFill>
            <a:srgbClr val="E3EFD9"/>
          </a:solidFill>
          <a:ln>
            <a:noFill/>
          </a:ln>
        </p:spPr>
        <p:txBody>
          <a:bodyPr rtlCol="0" anchor="ctr" lIns="0" rIns="0"/>
          <a:lstStyle/>
          <a:p>
            <a:pPr algn="ctr"/>
          </a:p>
        </p:txBody>
      </p:sp>
      <p:sp>
        <p:nvSpPr>
          <p:cNvPr id="93" name="Rectangle 92"/>
          <p:cNvSpPr/>
          <p:nvPr/>
        </p:nvSpPr>
        <p:spPr>
          <a:xfrm>
            <a:off x="3424428" y="3744468"/>
            <a:ext cx="246888" cy="246888"/>
          </a:xfrm>
          <a:prstGeom prst="rect">
            <a:avLst/>
          </a:prstGeom>
          <a:solidFill>
            <a:srgbClr val="E3EFD9"/>
          </a:solidFill>
          <a:ln>
            <a:noFill/>
          </a:ln>
        </p:spPr>
        <p:txBody>
          <a:bodyPr rtlCol="0" anchor="ctr" lIns="0" rIns="0"/>
          <a:lstStyle/>
          <a:p>
            <a:pPr algn="ctr"/>
          </a:p>
        </p:txBody>
      </p:sp>
      <p:sp>
        <p:nvSpPr>
          <p:cNvPr id="94" name="Rectangle 93"/>
          <p:cNvSpPr/>
          <p:nvPr/>
        </p:nvSpPr>
        <p:spPr>
          <a:xfrm>
            <a:off x="3721608" y="3744468"/>
            <a:ext cx="246888" cy="246888"/>
          </a:xfrm>
          <a:prstGeom prst="rect">
            <a:avLst/>
          </a:prstGeom>
          <a:solidFill>
            <a:srgbClr val="E3EFD9"/>
          </a:solidFill>
          <a:ln>
            <a:noFill/>
          </a:ln>
        </p:spPr>
        <p:txBody>
          <a:bodyPr rtlCol="0" anchor="ctr" lIns="0" rIns="0"/>
          <a:lstStyle/>
          <a:p>
            <a:pPr algn="ctr"/>
          </a:p>
        </p:txBody>
      </p:sp>
      <p:sp>
        <p:nvSpPr>
          <p:cNvPr id="95" name="Rectangle 94"/>
          <p:cNvSpPr/>
          <p:nvPr/>
        </p:nvSpPr>
        <p:spPr>
          <a:xfrm>
            <a:off x="4018788" y="3744468"/>
            <a:ext cx="246888" cy="246888"/>
          </a:xfrm>
          <a:prstGeom prst="rect">
            <a:avLst/>
          </a:prstGeom>
          <a:solidFill>
            <a:srgbClr val="E3EFD9"/>
          </a:solidFill>
          <a:ln>
            <a:noFill/>
          </a:ln>
        </p:spPr>
        <p:txBody>
          <a:bodyPr rtlCol="0" anchor="ctr" lIns="0" rIns="0"/>
          <a:lstStyle/>
          <a:p>
            <a:pPr algn="ctr"/>
          </a:p>
        </p:txBody>
      </p:sp>
      <p:sp>
        <p:nvSpPr>
          <p:cNvPr id="96" name="Rectangle 95"/>
          <p:cNvSpPr/>
          <p:nvPr/>
        </p:nvSpPr>
        <p:spPr>
          <a:xfrm>
            <a:off x="4315968" y="3744468"/>
            <a:ext cx="246888" cy="246888"/>
          </a:xfrm>
          <a:prstGeom prst="rect">
            <a:avLst/>
          </a:prstGeom>
          <a:solidFill>
            <a:srgbClr val="E3EFD9"/>
          </a:solidFill>
          <a:ln>
            <a:noFill/>
          </a:ln>
        </p:spPr>
        <p:txBody>
          <a:bodyPr rtlCol="0" anchor="ctr" lIns="0" rIns="0"/>
          <a:lstStyle/>
          <a:p>
            <a:pPr algn="ctr"/>
          </a:p>
        </p:txBody>
      </p:sp>
      <p:sp>
        <p:nvSpPr>
          <p:cNvPr id="97" name="Rectangle 96"/>
          <p:cNvSpPr/>
          <p:nvPr/>
        </p:nvSpPr>
        <p:spPr>
          <a:xfrm>
            <a:off x="4613148" y="3744468"/>
            <a:ext cx="246888" cy="246888"/>
          </a:xfrm>
          <a:prstGeom prst="rect">
            <a:avLst/>
          </a:prstGeom>
          <a:solidFill>
            <a:srgbClr val="E3EFD9"/>
          </a:solidFill>
          <a:ln>
            <a:noFill/>
          </a:ln>
        </p:spPr>
        <p:txBody>
          <a:bodyPr rtlCol="0" anchor="ctr" lIns="0" rIns="0"/>
          <a:lstStyle/>
          <a:p>
            <a:pPr algn="ctr"/>
          </a:p>
        </p:txBody>
      </p:sp>
      <p:sp>
        <p:nvSpPr>
          <p:cNvPr id="98" name="TextBox 97"/>
          <p:cNvSpPr txBox="1"/>
          <p:nvPr/>
        </p:nvSpPr>
        <p:spPr>
          <a:xfrm>
            <a:off x="996695" y="40416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7</a:t>
            </a:r>
          </a:p>
        </p:txBody>
      </p:sp>
      <p:sp>
        <p:nvSpPr>
          <p:cNvPr id="99" name="Rectangle 98"/>
          <p:cNvSpPr/>
          <p:nvPr/>
        </p:nvSpPr>
        <p:spPr>
          <a:xfrm>
            <a:off x="1344168" y="4041648"/>
            <a:ext cx="246888" cy="246888"/>
          </a:xfrm>
          <a:prstGeom prst="rect">
            <a:avLst/>
          </a:prstGeom>
          <a:solidFill>
            <a:srgbClr val="E3EFD9"/>
          </a:solidFill>
          <a:ln>
            <a:noFill/>
          </a:ln>
        </p:spPr>
        <p:txBody>
          <a:bodyPr rtlCol="0" anchor="ctr" lIns="0" rIns="0"/>
          <a:lstStyle/>
          <a:p>
            <a:pPr algn="ctr"/>
          </a:p>
        </p:txBody>
      </p:sp>
      <p:sp>
        <p:nvSpPr>
          <p:cNvPr id="100" name="Rectangle 99"/>
          <p:cNvSpPr/>
          <p:nvPr/>
        </p:nvSpPr>
        <p:spPr>
          <a:xfrm>
            <a:off x="1641348" y="4041648"/>
            <a:ext cx="246888" cy="246888"/>
          </a:xfrm>
          <a:prstGeom prst="rect">
            <a:avLst/>
          </a:prstGeom>
          <a:solidFill>
            <a:srgbClr val="E3EFD9"/>
          </a:solidFill>
          <a:ln>
            <a:noFill/>
          </a:ln>
        </p:spPr>
        <p:txBody>
          <a:bodyPr rtlCol="0" anchor="ctr" lIns="0" rIns="0"/>
          <a:lstStyle/>
          <a:p>
            <a:pPr algn="ctr"/>
          </a:p>
        </p:txBody>
      </p:sp>
      <p:sp>
        <p:nvSpPr>
          <p:cNvPr id="101" name="Rectangle 100"/>
          <p:cNvSpPr/>
          <p:nvPr/>
        </p:nvSpPr>
        <p:spPr>
          <a:xfrm>
            <a:off x="1938528" y="4041648"/>
            <a:ext cx="246888" cy="246888"/>
          </a:xfrm>
          <a:prstGeom prst="rect">
            <a:avLst/>
          </a:prstGeom>
          <a:solidFill>
            <a:srgbClr val="E3EFD9"/>
          </a:solidFill>
          <a:ln>
            <a:noFill/>
          </a:ln>
        </p:spPr>
        <p:txBody>
          <a:bodyPr rtlCol="0" anchor="ctr" lIns="0" rIns="0"/>
          <a:lstStyle/>
          <a:p>
            <a:pPr algn="ctr"/>
          </a:p>
        </p:txBody>
      </p:sp>
      <p:sp>
        <p:nvSpPr>
          <p:cNvPr id="102" name="Rectangle 101"/>
          <p:cNvSpPr/>
          <p:nvPr/>
        </p:nvSpPr>
        <p:spPr>
          <a:xfrm>
            <a:off x="2235708" y="4041648"/>
            <a:ext cx="246888" cy="246888"/>
          </a:xfrm>
          <a:prstGeom prst="rect">
            <a:avLst/>
          </a:prstGeom>
          <a:solidFill>
            <a:srgbClr val="E3EFD9"/>
          </a:solidFill>
          <a:ln>
            <a:noFill/>
          </a:ln>
        </p:spPr>
        <p:txBody>
          <a:bodyPr rtlCol="0" anchor="ctr" lIns="0" rIns="0"/>
          <a:lstStyle/>
          <a:p>
            <a:pPr algn="ctr"/>
          </a:p>
        </p:txBody>
      </p:sp>
      <p:sp>
        <p:nvSpPr>
          <p:cNvPr id="103" name="Rectangle 102"/>
          <p:cNvSpPr/>
          <p:nvPr/>
        </p:nvSpPr>
        <p:spPr>
          <a:xfrm>
            <a:off x="2532888" y="4041648"/>
            <a:ext cx="246888" cy="246888"/>
          </a:xfrm>
          <a:prstGeom prst="rect">
            <a:avLst/>
          </a:prstGeom>
          <a:solidFill>
            <a:srgbClr val="E3EFD9"/>
          </a:solidFill>
          <a:ln>
            <a:noFill/>
          </a:ln>
        </p:spPr>
        <p:txBody>
          <a:bodyPr rtlCol="0" anchor="ctr" lIns="0" rIns="0"/>
          <a:lstStyle/>
          <a:p>
            <a:pPr algn="ctr"/>
          </a:p>
        </p:txBody>
      </p:sp>
      <p:sp>
        <p:nvSpPr>
          <p:cNvPr id="104" name="Rectangle 103"/>
          <p:cNvSpPr/>
          <p:nvPr/>
        </p:nvSpPr>
        <p:spPr>
          <a:xfrm>
            <a:off x="2830068" y="4041648"/>
            <a:ext cx="246888" cy="246888"/>
          </a:xfrm>
          <a:prstGeom prst="rect">
            <a:avLst/>
          </a:prstGeom>
          <a:solidFill>
            <a:srgbClr val="E3EFD9"/>
          </a:solidFill>
          <a:ln>
            <a:noFill/>
          </a:ln>
        </p:spPr>
        <p:txBody>
          <a:bodyPr rtlCol="0" anchor="ctr" lIns="0" rIns="0"/>
          <a:lstStyle/>
          <a:p>
            <a:pPr algn="ctr"/>
          </a:p>
        </p:txBody>
      </p:sp>
      <p:sp>
        <p:nvSpPr>
          <p:cNvPr id="105" name="Rectangle 104"/>
          <p:cNvSpPr/>
          <p:nvPr/>
        </p:nvSpPr>
        <p:spPr>
          <a:xfrm>
            <a:off x="3127248" y="4041648"/>
            <a:ext cx="246888" cy="246888"/>
          </a:xfrm>
          <a:prstGeom prst="rect">
            <a:avLst/>
          </a:prstGeom>
          <a:solidFill>
            <a:srgbClr val="41801A"/>
          </a:solidFill>
          <a:ln>
            <a:noFill/>
          </a:ln>
        </p:spPr>
        <p:txBody>
          <a:bodyPr rtlCol="0" anchor="ctr" lIns="0" rIns="0"/>
          <a:lstStyle/>
          <a:p>
            <a:pPr algn="ctr"/>
          </a:p>
        </p:txBody>
      </p:sp>
      <p:sp>
        <p:nvSpPr>
          <p:cNvPr id="106" name="Rectangle 105"/>
          <p:cNvSpPr/>
          <p:nvPr/>
        </p:nvSpPr>
        <p:spPr>
          <a:xfrm>
            <a:off x="3424428" y="4041648"/>
            <a:ext cx="246888" cy="246888"/>
          </a:xfrm>
          <a:prstGeom prst="rect">
            <a:avLst/>
          </a:prstGeom>
          <a:solidFill>
            <a:srgbClr val="E3EFD9"/>
          </a:solidFill>
          <a:ln>
            <a:noFill/>
          </a:ln>
        </p:spPr>
        <p:txBody>
          <a:bodyPr rtlCol="0" anchor="ctr" lIns="0" rIns="0"/>
          <a:lstStyle/>
          <a:p>
            <a:pPr algn="ctr"/>
          </a:p>
        </p:txBody>
      </p:sp>
      <p:sp>
        <p:nvSpPr>
          <p:cNvPr id="107" name="Rectangle 106"/>
          <p:cNvSpPr/>
          <p:nvPr/>
        </p:nvSpPr>
        <p:spPr>
          <a:xfrm>
            <a:off x="3721608" y="4041648"/>
            <a:ext cx="246888" cy="246888"/>
          </a:xfrm>
          <a:prstGeom prst="rect">
            <a:avLst/>
          </a:prstGeom>
          <a:solidFill>
            <a:srgbClr val="E3EFD9"/>
          </a:solidFill>
          <a:ln>
            <a:noFill/>
          </a:ln>
        </p:spPr>
        <p:txBody>
          <a:bodyPr rtlCol="0" anchor="ctr" lIns="0" rIns="0"/>
          <a:lstStyle/>
          <a:p>
            <a:pPr algn="ctr"/>
          </a:p>
        </p:txBody>
      </p:sp>
      <p:sp>
        <p:nvSpPr>
          <p:cNvPr id="108" name="Rectangle 107"/>
          <p:cNvSpPr/>
          <p:nvPr/>
        </p:nvSpPr>
        <p:spPr>
          <a:xfrm>
            <a:off x="4018788" y="4041648"/>
            <a:ext cx="246888" cy="246888"/>
          </a:xfrm>
          <a:prstGeom prst="rect">
            <a:avLst/>
          </a:prstGeom>
          <a:solidFill>
            <a:srgbClr val="E3EFD9"/>
          </a:solidFill>
          <a:ln>
            <a:noFill/>
          </a:ln>
        </p:spPr>
        <p:txBody>
          <a:bodyPr rtlCol="0" anchor="ctr" lIns="0" rIns="0"/>
          <a:lstStyle/>
          <a:p>
            <a:pPr algn="ctr"/>
          </a:p>
        </p:txBody>
      </p:sp>
      <p:sp>
        <p:nvSpPr>
          <p:cNvPr id="109" name="Rectangle 108"/>
          <p:cNvSpPr/>
          <p:nvPr/>
        </p:nvSpPr>
        <p:spPr>
          <a:xfrm>
            <a:off x="4315968" y="4041648"/>
            <a:ext cx="246888" cy="246888"/>
          </a:xfrm>
          <a:prstGeom prst="rect">
            <a:avLst/>
          </a:prstGeom>
          <a:solidFill>
            <a:srgbClr val="E3EFD9"/>
          </a:solidFill>
          <a:ln>
            <a:noFill/>
          </a:ln>
        </p:spPr>
        <p:txBody>
          <a:bodyPr rtlCol="0" anchor="ctr" lIns="0" rIns="0"/>
          <a:lstStyle/>
          <a:p>
            <a:pPr algn="ctr"/>
          </a:p>
        </p:txBody>
      </p:sp>
      <p:sp>
        <p:nvSpPr>
          <p:cNvPr id="110" name="Rectangle 109"/>
          <p:cNvSpPr/>
          <p:nvPr/>
        </p:nvSpPr>
        <p:spPr>
          <a:xfrm>
            <a:off x="4613148" y="4041648"/>
            <a:ext cx="246888" cy="246888"/>
          </a:xfrm>
          <a:prstGeom prst="rect">
            <a:avLst/>
          </a:prstGeom>
          <a:solidFill>
            <a:srgbClr val="E3EFD9"/>
          </a:solidFill>
          <a:ln>
            <a:noFill/>
          </a:ln>
        </p:spPr>
        <p:txBody>
          <a:bodyPr rtlCol="0" anchor="ctr" lIns="0" rIns="0"/>
          <a:lstStyle/>
          <a:p>
            <a:pPr algn="ctr"/>
          </a:p>
        </p:txBody>
      </p:sp>
      <p:sp>
        <p:nvSpPr>
          <p:cNvPr id="111" name="TextBox 110"/>
          <p:cNvSpPr txBox="1"/>
          <p:nvPr/>
        </p:nvSpPr>
        <p:spPr>
          <a:xfrm>
            <a:off x="996695" y="433882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8</a:t>
            </a:r>
          </a:p>
        </p:txBody>
      </p:sp>
      <p:sp>
        <p:nvSpPr>
          <p:cNvPr id="112" name="Rectangle 111"/>
          <p:cNvSpPr/>
          <p:nvPr/>
        </p:nvSpPr>
        <p:spPr>
          <a:xfrm>
            <a:off x="1344168" y="4338827"/>
            <a:ext cx="246888" cy="246888"/>
          </a:xfrm>
          <a:prstGeom prst="rect">
            <a:avLst/>
          </a:prstGeom>
          <a:solidFill>
            <a:srgbClr val="E3EFD9"/>
          </a:solidFill>
          <a:ln>
            <a:noFill/>
          </a:ln>
        </p:spPr>
        <p:txBody>
          <a:bodyPr rtlCol="0" anchor="ctr" lIns="0" rIns="0"/>
          <a:lstStyle/>
          <a:p>
            <a:pPr algn="ctr"/>
          </a:p>
        </p:txBody>
      </p:sp>
      <p:sp>
        <p:nvSpPr>
          <p:cNvPr id="113" name="Rectangle 112"/>
          <p:cNvSpPr/>
          <p:nvPr/>
        </p:nvSpPr>
        <p:spPr>
          <a:xfrm>
            <a:off x="1641348" y="4338827"/>
            <a:ext cx="246888" cy="246888"/>
          </a:xfrm>
          <a:prstGeom prst="rect">
            <a:avLst/>
          </a:prstGeom>
          <a:solidFill>
            <a:srgbClr val="E3EFD9"/>
          </a:solidFill>
          <a:ln>
            <a:noFill/>
          </a:ln>
        </p:spPr>
        <p:txBody>
          <a:bodyPr rtlCol="0" anchor="ctr" lIns="0" rIns="0"/>
          <a:lstStyle/>
          <a:p>
            <a:pPr algn="ctr"/>
          </a:p>
        </p:txBody>
      </p:sp>
      <p:sp>
        <p:nvSpPr>
          <p:cNvPr id="114" name="Rectangle 113"/>
          <p:cNvSpPr/>
          <p:nvPr/>
        </p:nvSpPr>
        <p:spPr>
          <a:xfrm>
            <a:off x="1938528" y="4338827"/>
            <a:ext cx="246888" cy="246888"/>
          </a:xfrm>
          <a:prstGeom prst="rect">
            <a:avLst/>
          </a:prstGeom>
          <a:solidFill>
            <a:srgbClr val="E3EFD9"/>
          </a:solidFill>
          <a:ln>
            <a:noFill/>
          </a:ln>
        </p:spPr>
        <p:txBody>
          <a:bodyPr rtlCol="0" anchor="ctr" lIns="0" rIns="0"/>
          <a:lstStyle/>
          <a:p>
            <a:pPr algn="ctr"/>
          </a:p>
        </p:txBody>
      </p:sp>
      <p:sp>
        <p:nvSpPr>
          <p:cNvPr id="115" name="Rectangle 114"/>
          <p:cNvSpPr/>
          <p:nvPr/>
        </p:nvSpPr>
        <p:spPr>
          <a:xfrm>
            <a:off x="2235708" y="4338827"/>
            <a:ext cx="246888" cy="246888"/>
          </a:xfrm>
          <a:prstGeom prst="rect">
            <a:avLst/>
          </a:prstGeom>
          <a:solidFill>
            <a:srgbClr val="E3EFD9"/>
          </a:solidFill>
          <a:ln>
            <a:noFill/>
          </a:ln>
        </p:spPr>
        <p:txBody>
          <a:bodyPr rtlCol="0" anchor="ctr" lIns="0" rIns="0"/>
          <a:lstStyle/>
          <a:p>
            <a:pPr algn="ctr"/>
          </a:p>
        </p:txBody>
      </p:sp>
      <p:sp>
        <p:nvSpPr>
          <p:cNvPr id="116" name="Rectangle 115"/>
          <p:cNvSpPr/>
          <p:nvPr/>
        </p:nvSpPr>
        <p:spPr>
          <a:xfrm>
            <a:off x="2532888" y="4338827"/>
            <a:ext cx="246888" cy="246888"/>
          </a:xfrm>
          <a:prstGeom prst="rect">
            <a:avLst/>
          </a:prstGeom>
          <a:solidFill>
            <a:srgbClr val="E3EFD9"/>
          </a:solidFill>
          <a:ln>
            <a:noFill/>
          </a:ln>
        </p:spPr>
        <p:txBody>
          <a:bodyPr rtlCol="0" anchor="ctr" lIns="0" rIns="0"/>
          <a:lstStyle/>
          <a:p>
            <a:pPr algn="ctr"/>
          </a:p>
        </p:txBody>
      </p:sp>
      <p:sp>
        <p:nvSpPr>
          <p:cNvPr id="117" name="Rectangle 116"/>
          <p:cNvSpPr/>
          <p:nvPr/>
        </p:nvSpPr>
        <p:spPr>
          <a:xfrm>
            <a:off x="2830068" y="4338827"/>
            <a:ext cx="246888" cy="246888"/>
          </a:xfrm>
          <a:prstGeom prst="rect">
            <a:avLst/>
          </a:prstGeom>
          <a:solidFill>
            <a:srgbClr val="E3EFD9"/>
          </a:solidFill>
          <a:ln>
            <a:noFill/>
          </a:ln>
        </p:spPr>
        <p:txBody>
          <a:bodyPr rtlCol="0" anchor="ctr" lIns="0" rIns="0"/>
          <a:lstStyle/>
          <a:p>
            <a:pPr algn="ctr"/>
          </a:p>
        </p:txBody>
      </p:sp>
      <p:sp>
        <p:nvSpPr>
          <p:cNvPr id="118" name="Rectangle 117"/>
          <p:cNvSpPr/>
          <p:nvPr/>
        </p:nvSpPr>
        <p:spPr>
          <a:xfrm>
            <a:off x="3127248" y="4338827"/>
            <a:ext cx="246888" cy="246888"/>
          </a:xfrm>
          <a:prstGeom prst="rect">
            <a:avLst/>
          </a:prstGeom>
          <a:solidFill>
            <a:srgbClr val="E3EFD9"/>
          </a:solidFill>
          <a:ln>
            <a:noFill/>
          </a:ln>
        </p:spPr>
        <p:txBody>
          <a:bodyPr rtlCol="0" anchor="ctr" lIns="0" rIns="0"/>
          <a:lstStyle/>
          <a:p>
            <a:pPr algn="ctr"/>
          </a:p>
        </p:txBody>
      </p:sp>
      <p:sp>
        <p:nvSpPr>
          <p:cNvPr id="119" name="Rectangle 118"/>
          <p:cNvSpPr/>
          <p:nvPr/>
        </p:nvSpPr>
        <p:spPr>
          <a:xfrm>
            <a:off x="3424428" y="4338827"/>
            <a:ext cx="246888" cy="246888"/>
          </a:xfrm>
          <a:prstGeom prst="rect">
            <a:avLst/>
          </a:prstGeom>
          <a:solidFill>
            <a:srgbClr val="41801A"/>
          </a:solidFill>
          <a:ln>
            <a:noFill/>
          </a:ln>
        </p:spPr>
        <p:txBody>
          <a:bodyPr rtlCol="0" anchor="ctr" lIns="0" rIns="0"/>
          <a:lstStyle/>
          <a:p>
            <a:pPr algn="ctr"/>
          </a:p>
        </p:txBody>
      </p:sp>
      <p:sp>
        <p:nvSpPr>
          <p:cNvPr id="120" name="Rectangle 119"/>
          <p:cNvSpPr/>
          <p:nvPr/>
        </p:nvSpPr>
        <p:spPr>
          <a:xfrm>
            <a:off x="3721608" y="4338827"/>
            <a:ext cx="246888" cy="246888"/>
          </a:xfrm>
          <a:prstGeom prst="rect">
            <a:avLst/>
          </a:prstGeom>
          <a:solidFill>
            <a:srgbClr val="E3EFD9"/>
          </a:solidFill>
          <a:ln>
            <a:noFill/>
          </a:ln>
        </p:spPr>
        <p:txBody>
          <a:bodyPr rtlCol="0" anchor="ctr" lIns="0" rIns="0"/>
          <a:lstStyle/>
          <a:p>
            <a:pPr algn="ctr"/>
          </a:p>
        </p:txBody>
      </p:sp>
      <p:sp>
        <p:nvSpPr>
          <p:cNvPr id="121" name="Rectangle 120"/>
          <p:cNvSpPr/>
          <p:nvPr/>
        </p:nvSpPr>
        <p:spPr>
          <a:xfrm>
            <a:off x="4018788" y="4338827"/>
            <a:ext cx="246888" cy="246888"/>
          </a:xfrm>
          <a:prstGeom prst="rect">
            <a:avLst/>
          </a:prstGeom>
          <a:solidFill>
            <a:srgbClr val="E3EFD9"/>
          </a:solidFill>
          <a:ln>
            <a:noFill/>
          </a:ln>
        </p:spPr>
        <p:txBody>
          <a:bodyPr rtlCol="0" anchor="ctr" lIns="0" rIns="0"/>
          <a:lstStyle/>
          <a:p>
            <a:pPr algn="ctr"/>
          </a:p>
        </p:txBody>
      </p:sp>
      <p:sp>
        <p:nvSpPr>
          <p:cNvPr id="122" name="Rectangle 121"/>
          <p:cNvSpPr/>
          <p:nvPr/>
        </p:nvSpPr>
        <p:spPr>
          <a:xfrm>
            <a:off x="4315968" y="4338827"/>
            <a:ext cx="246888" cy="246888"/>
          </a:xfrm>
          <a:prstGeom prst="rect">
            <a:avLst/>
          </a:prstGeom>
          <a:solidFill>
            <a:srgbClr val="E3EFD9"/>
          </a:solidFill>
          <a:ln>
            <a:noFill/>
          </a:ln>
        </p:spPr>
        <p:txBody>
          <a:bodyPr rtlCol="0" anchor="ctr" lIns="0" rIns="0"/>
          <a:lstStyle/>
          <a:p>
            <a:pPr algn="ctr"/>
          </a:p>
        </p:txBody>
      </p:sp>
      <p:sp>
        <p:nvSpPr>
          <p:cNvPr id="123" name="Rectangle 122"/>
          <p:cNvSpPr/>
          <p:nvPr/>
        </p:nvSpPr>
        <p:spPr>
          <a:xfrm>
            <a:off x="4613148" y="4338827"/>
            <a:ext cx="246888" cy="246888"/>
          </a:xfrm>
          <a:prstGeom prst="rect">
            <a:avLst/>
          </a:prstGeom>
          <a:solidFill>
            <a:srgbClr val="E3EFD9"/>
          </a:solidFill>
          <a:ln>
            <a:noFill/>
          </a:ln>
        </p:spPr>
        <p:txBody>
          <a:bodyPr rtlCol="0" anchor="ctr" lIns="0" rIns="0"/>
          <a:lstStyle/>
          <a:p>
            <a:pPr algn="ctr"/>
          </a:p>
        </p:txBody>
      </p:sp>
      <p:sp>
        <p:nvSpPr>
          <p:cNvPr id="124" name="TextBox 123"/>
          <p:cNvSpPr txBox="1"/>
          <p:nvPr/>
        </p:nvSpPr>
        <p:spPr>
          <a:xfrm>
            <a:off x="996695" y="463600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9</a:t>
            </a:r>
          </a:p>
        </p:txBody>
      </p:sp>
      <p:sp>
        <p:nvSpPr>
          <p:cNvPr id="125" name="Rectangle 124"/>
          <p:cNvSpPr/>
          <p:nvPr/>
        </p:nvSpPr>
        <p:spPr>
          <a:xfrm>
            <a:off x="1344168" y="4636008"/>
            <a:ext cx="246888" cy="246888"/>
          </a:xfrm>
          <a:prstGeom prst="rect">
            <a:avLst/>
          </a:prstGeom>
          <a:solidFill>
            <a:srgbClr val="E3EFD9"/>
          </a:solidFill>
          <a:ln>
            <a:noFill/>
          </a:ln>
        </p:spPr>
        <p:txBody>
          <a:bodyPr rtlCol="0" anchor="ctr" lIns="0" rIns="0"/>
          <a:lstStyle/>
          <a:p>
            <a:pPr algn="ctr"/>
          </a:p>
        </p:txBody>
      </p:sp>
      <p:sp>
        <p:nvSpPr>
          <p:cNvPr id="126" name="Rectangle 125"/>
          <p:cNvSpPr/>
          <p:nvPr/>
        </p:nvSpPr>
        <p:spPr>
          <a:xfrm>
            <a:off x="1641348" y="4636008"/>
            <a:ext cx="246888" cy="246888"/>
          </a:xfrm>
          <a:prstGeom prst="rect">
            <a:avLst/>
          </a:prstGeom>
          <a:solidFill>
            <a:srgbClr val="E3EFD9"/>
          </a:solidFill>
          <a:ln>
            <a:noFill/>
          </a:ln>
        </p:spPr>
        <p:txBody>
          <a:bodyPr rtlCol="0" anchor="ctr" lIns="0" rIns="0"/>
          <a:lstStyle/>
          <a:p>
            <a:pPr algn="ctr"/>
          </a:p>
        </p:txBody>
      </p:sp>
      <p:sp>
        <p:nvSpPr>
          <p:cNvPr id="127" name="Rectangle 126"/>
          <p:cNvSpPr/>
          <p:nvPr/>
        </p:nvSpPr>
        <p:spPr>
          <a:xfrm>
            <a:off x="1938528" y="4636008"/>
            <a:ext cx="246888" cy="246888"/>
          </a:xfrm>
          <a:prstGeom prst="rect">
            <a:avLst/>
          </a:prstGeom>
          <a:solidFill>
            <a:srgbClr val="E3EFD9"/>
          </a:solidFill>
          <a:ln>
            <a:noFill/>
          </a:ln>
        </p:spPr>
        <p:txBody>
          <a:bodyPr rtlCol="0" anchor="ctr" lIns="0" rIns="0"/>
          <a:lstStyle/>
          <a:p>
            <a:pPr algn="ctr"/>
          </a:p>
        </p:txBody>
      </p:sp>
      <p:sp>
        <p:nvSpPr>
          <p:cNvPr id="128" name="Rectangle 127"/>
          <p:cNvSpPr/>
          <p:nvPr/>
        </p:nvSpPr>
        <p:spPr>
          <a:xfrm>
            <a:off x="2235708" y="4636008"/>
            <a:ext cx="246888" cy="246888"/>
          </a:xfrm>
          <a:prstGeom prst="rect">
            <a:avLst/>
          </a:prstGeom>
          <a:solidFill>
            <a:srgbClr val="E3EFD9"/>
          </a:solidFill>
          <a:ln>
            <a:noFill/>
          </a:ln>
        </p:spPr>
        <p:txBody>
          <a:bodyPr rtlCol="0" anchor="ctr" lIns="0" rIns="0"/>
          <a:lstStyle/>
          <a:p>
            <a:pPr algn="ctr"/>
          </a:p>
        </p:txBody>
      </p:sp>
      <p:sp>
        <p:nvSpPr>
          <p:cNvPr id="129" name="Rectangle 128"/>
          <p:cNvSpPr/>
          <p:nvPr/>
        </p:nvSpPr>
        <p:spPr>
          <a:xfrm>
            <a:off x="2532888" y="4636008"/>
            <a:ext cx="246888" cy="246888"/>
          </a:xfrm>
          <a:prstGeom prst="rect">
            <a:avLst/>
          </a:prstGeom>
          <a:solidFill>
            <a:srgbClr val="E3EFD9"/>
          </a:solidFill>
          <a:ln>
            <a:noFill/>
          </a:ln>
        </p:spPr>
        <p:txBody>
          <a:bodyPr rtlCol="0" anchor="ctr" lIns="0" rIns="0"/>
          <a:lstStyle/>
          <a:p>
            <a:pPr algn="ctr"/>
          </a:p>
        </p:txBody>
      </p:sp>
      <p:sp>
        <p:nvSpPr>
          <p:cNvPr id="130" name="Rectangle 129"/>
          <p:cNvSpPr/>
          <p:nvPr/>
        </p:nvSpPr>
        <p:spPr>
          <a:xfrm>
            <a:off x="2830068" y="4636008"/>
            <a:ext cx="246888" cy="246888"/>
          </a:xfrm>
          <a:prstGeom prst="rect">
            <a:avLst/>
          </a:prstGeom>
          <a:solidFill>
            <a:srgbClr val="E3EFD9"/>
          </a:solidFill>
          <a:ln>
            <a:noFill/>
          </a:ln>
        </p:spPr>
        <p:txBody>
          <a:bodyPr rtlCol="0" anchor="ctr" lIns="0" rIns="0"/>
          <a:lstStyle/>
          <a:p>
            <a:pPr algn="ctr"/>
          </a:p>
        </p:txBody>
      </p:sp>
      <p:sp>
        <p:nvSpPr>
          <p:cNvPr id="131" name="Rectangle 130"/>
          <p:cNvSpPr/>
          <p:nvPr/>
        </p:nvSpPr>
        <p:spPr>
          <a:xfrm>
            <a:off x="3127248" y="4636008"/>
            <a:ext cx="246888" cy="246888"/>
          </a:xfrm>
          <a:prstGeom prst="rect">
            <a:avLst/>
          </a:prstGeom>
          <a:solidFill>
            <a:srgbClr val="E3EFD9"/>
          </a:solidFill>
          <a:ln>
            <a:noFill/>
          </a:ln>
        </p:spPr>
        <p:txBody>
          <a:bodyPr rtlCol="0" anchor="ctr" lIns="0" rIns="0"/>
          <a:lstStyle/>
          <a:p>
            <a:pPr algn="ctr"/>
          </a:p>
        </p:txBody>
      </p:sp>
      <p:sp>
        <p:nvSpPr>
          <p:cNvPr id="132" name="Rectangle 131"/>
          <p:cNvSpPr/>
          <p:nvPr/>
        </p:nvSpPr>
        <p:spPr>
          <a:xfrm>
            <a:off x="3424428" y="4636008"/>
            <a:ext cx="246888" cy="246888"/>
          </a:xfrm>
          <a:prstGeom prst="rect">
            <a:avLst/>
          </a:prstGeom>
          <a:solidFill>
            <a:srgbClr val="E3EFD9"/>
          </a:solidFill>
          <a:ln>
            <a:noFill/>
          </a:ln>
        </p:spPr>
        <p:txBody>
          <a:bodyPr rtlCol="0" anchor="ctr" lIns="0" rIns="0"/>
          <a:lstStyle/>
          <a:p>
            <a:pPr algn="ctr"/>
          </a:p>
        </p:txBody>
      </p:sp>
      <p:sp>
        <p:nvSpPr>
          <p:cNvPr id="133" name="Rectangle 132"/>
          <p:cNvSpPr/>
          <p:nvPr/>
        </p:nvSpPr>
        <p:spPr>
          <a:xfrm>
            <a:off x="3721608" y="4636008"/>
            <a:ext cx="246888" cy="246888"/>
          </a:xfrm>
          <a:prstGeom prst="rect">
            <a:avLst/>
          </a:prstGeom>
          <a:solidFill>
            <a:srgbClr val="41801A"/>
          </a:solidFill>
          <a:ln>
            <a:noFill/>
          </a:ln>
        </p:spPr>
        <p:txBody>
          <a:bodyPr rtlCol="0" anchor="ctr" lIns="0" rIns="0"/>
          <a:lstStyle/>
          <a:p>
            <a:pPr algn="ctr"/>
          </a:p>
        </p:txBody>
      </p:sp>
      <p:sp>
        <p:nvSpPr>
          <p:cNvPr id="134" name="Rectangle 133"/>
          <p:cNvSpPr/>
          <p:nvPr/>
        </p:nvSpPr>
        <p:spPr>
          <a:xfrm>
            <a:off x="4018788" y="4636008"/>
            <a:ext cx="246888" cy="246888"/>
          </a:xfrm>
          <a:prstGeom prst="rect">
            <a:avLst/>
          </a:prstGeom>
          <a:solidFill>
            <a:srgbClr val="E3EFD9"/>
          </a:solidFill>
          <a:ln>
            <a:noFill/>
          </a:ln>
        </p:spPr>
        <p:txBody>
          <a:bodyPr rtlCol="0" anchor="ctr" lIns="0" rIns="0"/>
          <a:lstStyle/>
          <a:p>
            <a:pPr algn="ctr"/>
          </a:p>
        </p:txBody>
      </p:sp>
      <p:sp>
        <p:nvSpPr>
          <p:cNvPr id="135" name="Rectangle 134"/>
          <p:cNvSpPr/>
          <p:nvPr/>
        </p:nvSpPr>
        <p:spPr>
          <a:xfrm>
            <a:off x="4315968" y="4636008"/>
            <a:ext cx="246888" cy="246888"/>
          </a:xfrm>
          <a:prstGeom prst="rect">
            <a:avLst/>
          </a:prstGeom>
          <a:solidFill>
            <a:srgbClr val="E3EFD9"/>
          </a:solidFill>
          <a:ln>
            <a:noFill/>
          </a:ln>
        </p:spPr>
        <p:txBody>
          <a:bodyPr rtlCol="0" anchor="ctr" lIns="0" rIns="0"/>
          <a:lstStyle/>
          <a:p>
            <a:pPr algn="ctr"/>
          </a:p>
        </p:txBody>
      </p:sp>
      <p:sp>
        <p:nvSpPr>
          <p:cNvPr id="136" name="Rectangle 135"/>
          <p:cNvSpPr/>
          <p:nvPr/>
        </p:nvSpPr>
        <p:spPr>
          <a:xfrm>
            <a:off x="4613148" y="4636008"/>
            <a:ext cx="246888" cy="246888"/>
          </a:xfrm>
          <a:prstGeom prst="rect">
            <a:avLst/>
          </a:prstGeom>
          <a:solidFill>
            <a:srgbClr val="E3EFD9"/>
          </a:solidFill>
          <a:ln>
            <a:noFill/>
          </a:ln>
        </p:spPr>
        <p:txBody>
          <a:bodyPr rtlCol="0" anchor="ctr" lIns="0" rIns="0"/>
          <a:lstStyle/>
          <a:p>
            <a:pPr algn="ctr"/>
          </a:p>
        </p:txBody>
      </p:sp>
      <p:sp>
        <p:nvSpPr>
          <p:cNvPr id="137" name="TextBox 136"/>
          <p:cNvSpPr txBox="1"/>
          <p:nvPr/>
        </p:nvSpPr>
        <p:spPr>
          <a:xfrm>
            <a:off x="996695" y="493318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10</a:t>
            </a:r>
          </a:p>
        </p:txBody>
      </p:sp>
      <p:sp>
        <p:nvSpPr>
          <p:cNvPr id="138" name="Rectangle 137"/>
          <p:cNvSpPr/>
          <p:nvPr/>
        </p:nvSpPr>
        <p:spPr>
          <a:xfrm>
            <a:off x="1344168" y="4933188"/>
            <a:ext cx="246888" cy="246888"/>
          </a:xfrm>
          <a:prstGeom prst="rect">
            <a:avLst/>
          </a:prstGeom>
          <a:solidFill>
            <a:srgbClr val="E3EFD9"/>
          </a:solidFill>
          <a:ln>
            <a:noFill/>
          </a:ln>
        </p:spPr>
        <p:txBody>
          <a:bodyPr rtlCol="0" anchor="ctr" lIns="0" rIns="0"/>
          <a:lstStyle/>
          <a:p>
            <a:pPr algn="ctr"/>
          </a:p>
        </p:txBody>
      </p:sp>
      <p:sp>
        <p:nvSpPr>
          <p:cNvPr id="139" name="Rectangle 138"/>
          <p:cNvSpPr/>
          <p:nvPr/>
        </p:nvSpPr>
        <p:spPr>
          <a:xfrm>
            <a:off x="1641348" y="4933188"/>
            <a:ext cx="246888" cy="246888"/>
          </a:xfrm>
          <a:prstGeom prst="rect">
            <a:avLst/>
          </a:prstGeom>
          <a:solidFill>
            <a:srgbClr val="E3EFD9"/>
          </a:solidFill>
          <a:ln>
            <a:noFill/>
          </a:ln>
        </p:spPr>
        <p:txBody>
          <a:bodyPr rtlCol="0" anchor="ctr" lIns="0" rIns="0"/>
          <a:lstStyle/>
          <a:p>
            <a:pPr algn="ctr"/>
          </a:p>
        </p:txBody>
      </p:sp>
      <p:sp>
        <p:nvSpPr>
          <p:cNvPr id="140" name="Rectangle 139"/>
          <p:cNvSpPr/>
          <p:nvPr/>
        </p:nvSpPr>
        <p:spPr>
          <a:xfrm>
            <a:off x="1938528" y="4933188"/>
            <a:ext cx="246888" cy="246888"/>
          </a:xfrm>
          <a:prstGeom prst="rect">
            <a:avLst/>
          </a:prstGeom>
          <a:solidFill>
            <a:srgbClr val="E3EFD9"/>
          </a:solidFill>
          <a:ln>
            <a:noFill/>
          </a:ln>
        </p:spPr>
        <p:txBody>
          <a:bodyPr rtlCol="0" anchor="ctr" lIns="0" rIns="0"/>
          <a:lstStyle/>
          <a:p>
            <a:pPr algn="ctr"/>
          </a:p>
        </p:txBody>
      </p:sp>
      <p:sp>
        <p:nvSpPr>
          <p:cNvPr id="141" name="Rectangle 140"/>
          <p:cNvSpPr/>
          <p:nvPr/>
        </p:nvSpPr>
        <p:spPr>
          <a:xfrm>
            <a:off x="2235708" y="4933188"/>
            <a:ext cx="246888" cy="246888"/>
          </a:xfrm>
          <a:prstGeom prst="rect">
            <a:avLst/>
          </a:prstGeom>
          <a:solidFill>
            <a:srgbClr val="E3EFD9"/>
          </a:solidFill>
          <a:ln>
            <a:noFill/>
          </a:ln>
        </p:spPr>
        <p:txBody>
          <a:bodyPr rtlCol="0" anchor="ctr" lIns="0" rIns="0"/>
          <a:lstStyle/>
          <a:p>
            <a:pPr algn="ctr"/>
          </a:p>
        </p:txBody>
      </p:sp>
      <p:sp>
        <p:nvSpPr>
          <p:cNvPr id="142" name="Rectangle 141"/>
          <p:cNvSpPr/>
          <p:nvPr/>
        </p:nvSpPr>
        <p:spPr>
          <a:xfrm>
            <a:off x="2532888" y="4933188"/>
            <a:ext cx="246888" cy="246888"/>
          </a:xfrm>
          <a:prstGeom prst="rect">
            <a:avLst/>
          </a:prstGeom>
          <a:solidFill>
            <a:srgbClr val="E3EFD9"/>
          </a:solidFill>
          <a:ln>
            <a:noFill/>
          </a:ln>
        </p:spPr>
        <p:txBody>
          <a:bodyPr rtlCol="0" anchor="ctr" lIns="0" rIns="0"/>
          <a:lstStyle/>
          <a:p>
            <a:pPr algn="ctr"/>
          </a:p>
        </p:txBody>
      </p:sp>
      <p:sp>
        <p:nvSpPr>
          <p:cNvPr id="143" name="Rectangle 142"/>
          <p:cNvSpPr/>
          <p:nvPr/>
        </p:nvSpPr>
        <p:spPr>
          <a:xfrm>
            <a:off x="2830068" y="4933188"/>
            <a:ext cx="246888" cy="246888"/>
          </a:xfrm>
          <a:prstGeom prst="rect">
            <a:avLst/>
          </a:prstGeom>
          <a:solidFill>
            <a:srgbClr val="E3EFD9"/>
          </a:solidFill>
          <a:ln>
            <a:noFill/>
          </a:ln>
        </p:spPr>
        <p:txBody>
          <a:bodyPr rtlCol="0" anchor="ctr" lIns="0" rIns="0"/>
          <a:lstStyle/>
          <a:p>
            <a:pPr algn="ctr"/>
          </a:p>
        </p:txBody>
      </p:sp>
      <p:sp>
        <p:nvSpPr>
          <p:cNvPr id="144" name="Rectangle 143"/>
          <p:cNvSpPr/>
          <p:nvPr/>
        </p:nvSpPr>
        <p:spPr>
          <a:xfrm>
            <a:off x="3127248" y="4933188"/>
            <a:ext cx="246888" cy="246888"/>
          </a:xfrm>
          <a:prstGeom prst="rect">
            <a:avLst/>
          </a:prstGeom>
          <a:solidFill>
            <a:srgbClr val="E3EFD9"/>
          </a:solidFill>
          <a:ln>
            <a:noFill/>
          </a:ln>
        </p:spPr>
        <p:txBody>
          <a:bodyPr rtlCol="0" anchor="ctr" lIns="0" rIns="0"/>
          <a:lstStyle/>
          <a:p>
            <a:pPr algn="ctr"/>
          </a:p>
        </p:txBody>
      </p:sp>
      <p:sp>
        <p:nvSpPr>
          <p:cNvPr id="145" name="Rectangle 144"/>
          <p:cNvSpPr/>
          <p:nvPr/>
        </p:nvSpPr>
        <p:spPr>
          <a:xfrm>
            <a:off x="3424428" y="4933188"/>
            <a:ext cx="246888" cy="246888"/>
          </a:xfrm>
          <a:prstGeom prst="rect">
            <a:avLst/>
          </a:prstGeom>
          <a:solidFill>
            <a:srgbClr val="E3EFD9"/>
          </a:solidFill>
          <a:ln>
            <a:noFill/>
          </a:ln>
        </p:spPr>
        <p:txBody>
          <a:bodyPr rtlCol="0" anchor="ctr" lIns="0" rIns="0"/>
          <a:lstStyle/>
          <a:p>
            <a:pPr algn="ctr"/>
          </a:p>
        </p:txBody>
      </p:sp>
      <p:sp>
        <p:nvSpPr>
          <p:cNvPr id="146" name="Rectangle 145"/>
          <p:cNvSpPr/>
          <p:nvPr/>
        </p:nvSpPr>
        <p:spPr>
          <a:xfrm>
            <a:off x="3721608" y="4933188"/>
            <a:ext cx="246888" cy="246888"/>
          </a:xfrm>
          <a:prstGeom prst="rect">
            <a:avLst/>
          </a:prstGeom>
          <a:solidFill>
            <a:srgbClr val="E3EFD9"/>
          </a:solidFill>
          <a:ln>
            <a:noFill/>
          </a:ln>
        </p:spPr>
        <p:txBody>
          <a:bodyPr rtlCol="0" anchor="ctr" lIns="0" rIns="0"/>
          <a:lstStyle/>
          <a:p>
            <a:pPr algn="ctr"/>
          </a:p>
        </p:txBody>
      </p:sp>
      <p:sp>
        <p:nvSpPr>
          <p:cNvPr id="147" name="Rectangle 146"/>
          <p:cNvSpPr/>
          <p:nvPr/>
        </p:nvSpPr>
        <p:spPr>
          <a:xfrm>
            <a:off x="4018788" y="4933188"/>
            <a:ext cx="246888" cy="246888"/>
          </a:xfrm>
          <a:prstGeom prst="rect">
            <a:avLst/>
          </a:prstGeom>
          <a:solidFill>
            <a:srgbClr val="41801A"/>
          </a:solidFill>
          <a:ln>
            <a:noFill/>
          </a:ln>
        </p:spPr>
        <p:txBody>
          <a:bodyPr rtlCol="0" anchor="ctr" lIns="0" rIns="0"/>
          <a:lstStyle/>
          <a:p>
            <a:pPr algn="ctr"/>
          </a:p>
        </p:txBody>
      </p:sp>
      <p:sp>
        <p:nvSpPr>
          <p:cNvPr id="148" name="Rectangle 147"/>
          <p:cNvSpPr/>
          <p:nvPr/>
        </p:nvSpPr>
        <p:spPr>
          <a:xfrm>
            <a:off x="4315968" y="4933188"/>
            <a:ext cx="246888" cy="246888"/>
          </a:xfrm>
          <a:prstGeom prst="rect">
            <a:avLst/>
          </a:prstGeom>
          <a:solidFill>
            <a:srgbClr val="E3EFD9"/>
          </a:solidFill>
          <a:ln>
            <a:noFill/>
          </a:ln>
        </p:spPr>
        <p:txBody>
          <a:bodyPr rtlCol="0" anchor="ctr" lIns="0" rIns="0"/>
          <a:lstStyle/>
          <a:p>
            <a:pPr algn="ctr"/>
          </a:p>
        </p:txBody>
      </p:sp>
      <p:sp>
        <p:nvSpPr>
          <p:cNvPr id="149" name="Rectangle 148"/>
          <p:cNvSpPr/>
          <p:nvPr/>
        </p:nvSpPr>
        <p:spPr>
          <a:xfrm>
            <a:off x="4613148" y="4933188"/>
            <a:ext cx="246888" cy="246888"/>
          </a:xfrm>
          <a:prstGeom prst="rect">
            <a:avLst/>
          </a:prstGeom>
          <a:solidFill>
            <a:srgbClr val="E3EFD9"/>
          </a:solidFill>
          <a:ln>
            <a:noFill/>
          </a:ln>
        </p:spPr>
        <p:txBody>
          <a:bodyPr rtlCol="0" anchor="ctr" lIns="0" rIns="0"/>
          <a:lstStyle/>
          <a:p>
            <a:pPr algn="ctr"/>
          </a:p>
        </p:txBody>
      </p:sp>
      <p:sp>
        <p:nvSpPr>
          <p:cNvPr id="150" name="TextBox 149"/>
          <p:cNvSpPr txBox="1"/>
          <p:nvPr/>
        </p:nvSpPr>
        <p:spPr>
          <a:xfrm>
            <a:off x="996695" y="52303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11</a:t>
            </a:r>
          </a:p>
        </p:txBody>
      </p:sp>
      <p:sp>
        <p:nvSpPr>
          <p:cNvPr id="151" name="Rectangle 150"/>
          <p:cNvSpPr/>
          <p:nvPr/>
        </p:nvSpPr>
        <p:spPr>
          <a:xfrm>
            <a:off x="1344168" y="5230368"/>
            <a:ext cx="246888" cy="246888"/>
          </a:xfrm>
          <a:prstGeom prst="rect">
            <a:avLst/>
          </a:prstGeom>
          <a:solidFill>
            <a:srgbClr val="E3EFD9"/>
          </a:solidFill>
          <a:ln>
            <a:noFill/>
          </a:ln>
        </p:spPr>
        <p:txBody>
          <a:bodyPr rtlCol="0" anchor="ctr" lIns="0" rIns="0"/>
          <a:lstStyle/>
          <a:p>
            <a:pPr algn="ctr"/>
          </a:p>
        </p:txBody>
      </p:sp>
      <p:sp>
        <p:nvSpPr>
          <p:cNvPr id="152" name="Rectangle 151"/>
          <p:cNvSpPr/>
          <p:nvPr/>
        </p:nvSpPr>
        <p:spPr>
          <a:xfrm>
            <a:off x="1641348" y="5230368"/>
            <a:ext cx="246888" cy="246888"/>
          </a:xfrm>
          <a:prstGeom prst="rect">
            <a:avLst/>
          </a:prstGeom>
          <a:solidFill>
            <a:srgbClr val="E3EFD9"/>
          </a:solidFill>
          <a:ln>
            <a:noFill/>
          </a:ln>
        </p:spPr>
        <p:txBody>
          <a:bodyPr rtlCol="0" anchor="ctr" lIns="0" rIns="0"/>
          <a:lstStyle/>
          <a:p>
            <a:pPr algn="ctr"/>
          </a:p>
        </p:txBody>
      </p:sp>
      <p:sp>
        <p:nvSpPr>
          <p:cNvPr id="153" name="Rectangle 152"/>
          <p:cNvSpPr/>
          <p:nvPr/>
        </p:nvSpPr>
        <p:spPr>
          <a:xfrm>
            <a:off x="1938528" y="5230368"/>
            <a:ext cx="246888" cy="246888"/>
          </a:xfrm>
          <a:prstGeom prst="rect">
            <a:avLst/>
          </a:prstGeom>
          <a:solidFill>
            <a:srgbClr val="E3EFD9"/>
          </a:solidFill>
          <a:ln>
            <a:noFill/>
          </a:ln>
        </p:spPr>
        <p:txBody>
          <a:bodyPr rtlCol="0" anchor="ctr" lIns="0" rIns="0"/>
          <a:lstStyle/>
          <a:p>
            <a:pPr algn="ctr"/>
          </a:p>
        </p:txBody>
      </p:sp>
      <p:sp>
        <p:nvSpPr>
          <p:cNvPr id="154" name="Rectangle 153"/>
          <p:cNvSpPr/>
          <p:nvPr/>
        </p:nvSpPr>
        <p:spPr>
          <a:xfrm>
            <a:off x="2235708" y="5230368"/>
            <a:ext cx="246888" cy="246888"/>
          </a:xfrm>
          <a:prstGeom prst="rect">
            <a:avLst/>
          </a:prstGeom>
          <a:solidFill>
            <a:srgbClr val="E3EFD9"/>
          </a:solidFill>
          <a:ln>
            <a:noFill/>
          </a:ln>
        </p:spPr>
        <p:txBody>
          <a:bodyPr rtlCol="0" anchor="ctr" lIns="0" rIns="0"/>
          <a:lstStyle/>
          <a:p>
            <a:pPr algn="ctr"/>
          </a:p>
        </p:txBody>
      </p:sp>
      <p:sp>
        <p:nvSpPr>
          <p:cNvPr id="155" name="Rectangle 154"/>
          <p:cNvSpPr/>
          <p:nvPr/>
        </p:nvSpPr>
        <p:spPr>
          <a:xfrm>
            <a:off x="2532888" y="5230368"/>
            <a:ext cx="246888" cy="246888"/>
          </a:xfrm>
          <a:prstGeom prst="rect">
            <a:avLst/>
          </a:prstGeom>
          <a:solidFill>
            <a:srgbClr val="E3EFD9"/>
          </a:solidFill>
          <a:ln>
            <a:noFill/>
          </a:ln>
        </p:spPr>
        <p:txBody>
          <a:bodyPr rtlCol="0" anchor="ctr" lIns="0" rIns="0"/>
          <a:lstStyle/>
          <a:p>
            <a:pPr algn="ctr"/>
          </a:p>
        </p:txBody>
      </p:sp>
      <p:sp>
        <p:nvSpPr>
          <p:cNvPr id="156" name="Rectangle 155"/>
          <p:cNvSpPr/>
          <p:nvPr/>
        </p:nvSpPr>
        <p:spPr>
          <a:xfrm>
            <a:off x="2830068" y="5230368"/>
            <a:ext cx="246888" cy="246888"/>
          </a:xfrm>
          <a:prstGeom prst="rect">
            <a:avLst/>
          </a:prstGeom>
          <a:solidFill>
            <a:srgbClr val="E3EFD9"/>
          </a:solidFill>
          <a:ln>
            <a:noFill/>
          </a:ln>
        </p:spPr>
        <p:txBody>
          <a:bodyPr rtlCol="0" anchor="ctr" lIns="0" rIns="0"/>
          <a:lstStyle/>
          <a:p>
            <a:pPr algn="ctr"/>
          </a:p>
        </p:txBody>
      </p:sp>
      <p:sp>
        <p:nvSpPr>
          <p:cNvPr id="157" name="Rectangle 156"/>
          <p:cNvSpPr/>
          <p:nvPr/>
        </p:nvSpPr>
        <p:spPr>
          <a:xfrm>
            <a:off x="3127248" y="5230368"/>
            <a:ext cx="246888" cy="246888"/>
          </a:xfrm>
          <a:prstGeom prst="rect">
            <a:avLst/>
          </a:prstGeom>
          <a:solidFill>
            <a:srgbClr val="E3EFD9"/>
          </a:solidFill>
          <a:ln>
            <a:noFill/>
          </a:ln>
        </p:spPr>
        <p:txBody>
          <a:bodyPr rtlCol="0" anchor="ctr" lIns="0" rIns="0"/>
          <a:lstStyle/>
          <a:p>
            <a:pPr algn="ctr"/>
          </a:p>
        </p:txBody>
      </p:sp>
      <p:sp>
        <p:nvSpPr>
          <p:cNvPr id="158" name="Rectangle 157"/>
          <p:cNvSpPr/>
          <p:nvPr/>
        </p:nvSpPr>
        <p:spPr>
          <a:xfrm>
            <a:off x="3424428" y="5230368"/>
            <a:ext cx="246888" cy="246888"/>
          </a:xfrm>
          <a:prstGeom prst="rect">
            <a:avLst/>
          </a:prstGeom>
          <a:solidFill>
            <a:srgbClr val="E3EFD9"/>
          </a:solidFill>
          <a:ln>
            <a:noFill/>
          </a:ln>
        </p:spPr>
        <p:txBody>
          <a:bodyPr rtlCol="0" anchor="ctr" lIns="0" rIns="0"/>
          <a:lstStyle/>
          <a:p>
            <a:pPr algn="ctr"/>
          </a:p>
        </p:txBody>
      </p:sp>
      <p:sp>
        <p:nvSpPr>
          <p:cNvPr id="159" name="Rectangle 158"/>
          <p:cNvSpPr/>
          <p:nvPr/>
        </p:nvSpPr>
        <p:spPr>
          <a:xfrm>
            <a:off x="3721608" y="5230368"/>
            <a:ext cx="246888" cy="246888"/>
          </a:xfrm>
          <a:prstGeom prst="rect">
            <a:avLst/>
          </a:prstGeom>
          <a:solidFill>
            <a:srgbClr val="E3EFD9"/>
          </a:solidFill>
          <a:ln>
            <a:noFill/>
          </a:ln>
        </p:spPr>
        <p:txBody>
          <a:bodyPr rtlCol="0" anchor="ctr" lIns="0" rIns="0"/>
          <a:lstStyle/>
          <a:p>
            <a:pPr algn="ctr"/>
          </a:p>
        </p:txBody>
      </p:sp>
      <p:sp>
        <p:nvSpPr>
          <p:cNvPr id="160" name="Rectangle 159"/>
          <p:cNvSpPr/>
          <p:nvPr/>
        </p:nvSpPr>
        <p:spPr>
          <a:xfrm>
            <a:off x="4018788" y="5230368"/>
            <a:ext cx="246888" cy="246888"/>
          </a:xfrm>
          <a:prstGeom prst="rect">
            <a:avLst/>
          </a:prstGeom>
          <a:solidFill>
            <a:srgbClr val="E3EFD9"/>
          </a:solidFill>
          <a:ln>
            <a:noFill/>
          </a:ln>
        </p:spPr>
        <p:txBody>
          <a:bodyPr rtlCol="0" anchor="ctr" lIns="0" rIns="0"/>
          <a:lstStyle/>
          <a:p>
            <a:pPr algn="ctr"/>
          </a:p>
        </p:txBody>
      </p:sp>
      <p:sp>
        <p:nvSpPr>
          <p:cNvPr id="161" name="Rectangle 160"/>
          <p:cNvSpPr/>
          <p:nvPr/>
        </p:nvSpPr>
        <p:spPr>
          <a:xfrm>
            <a:off x="4315968" y="5230368"/>
            <a:ext cx="246888" cy="246888"/>
          </a:xfrm>
          <a:prstGeom prst="rect">
            <a:avLst/>
          </a:prstGeom>
          <a:solidFill>
            <a:srgbClr val="41801A"/>
          </a:solidFill>
          <a:ln>
            <a:noFill/>
          </a:ln>
        </p:spPr>
        <p:txBody>
          <a:bodyPr rtlCol="0" anchor="ctr" lIns="0" rIns="0"/>
          <a:lstStyle/>
          <a:p>
            <a:pPr algn="ctr"/>
          </a:p>
        </p:txBody>
      </p:sp>
      <p:sp>
        <p:nvSpPr>
          <p:cNvPr id="162" name="Rectangle 161"/>
          <p:cNvSpPr/>
          <p:nvPr/>
        </p:nvSpPr>
        <p:spPr>
          <a:xfrm>
            <a:off x="4613148" y="5230368"/>
            <a:ext cx="246888" cy="246888"/>
          </a:xfrm>
          <a:prstGeom prst="rect">
            <a:avLst/>
          </a:prstGeom>
          <a:solidFill>
            <a:srgbClr val="E3EFD9"/>
          </a:solidFill>
          <a:ln>
            <a:noFill/>
          </a:ln>
        </p:spPr>
        <p:txBody>
          <a:bodyPr rtlCol="0" anchor="ctr" lIns="0" rIns="0"/>
          <a:lstStyle/>
          <a:p>
            <a:pPr algn="ctr"/>
          </a:p>
        </p:txBody>
      </p:sp>
      <p:sp>
        <p:nvSpPr>
          <p:cNvPr id="163" name="TextBox 162"/>
          <p:cNvSpPr txBox="1"/>
          <p:nvPr/>
        </p:nvSpPr>
        <p:spPr>
          <a:xfrm>
            <a:off x="996695" y="55275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12</a:t>
            </a:r>
          </a:p>
        </p:txBody>
      </p:sp>
      <p:sp>
        <p:nvSpPr>
          <p:cNvPr id="164" name="Rectangle 163"/>
          <p:cNvSpPr/>
          <p:nvPr/>
        </p:nvSpPr>
        <p:spPr>
          <a:xfrm>
            <a:off x="1344168" y="5527548"/>
            <a:ext cx="246888" cy="246888"/>
          </a:xfrm>
          <a:prstGeom prst="rect">
            <a:avLst/>
          </a:prstGeom>
          <a:solidFill>
            <a:srgbClr val="E3EFD9"/>
          </a:solidFill>
          <a:ln>
            <a:noFill/>
          </a:ln>
        </p:spPr>
        <p:txBody>
          <a:bodyPr rtlCol="0" anchor="ctr" lIns="0" rIns="0"/>
          <a:lstStyle/>
          <a:p>
            <a:pPr algn="ctr"/>
          </a:p>
        </p:txBody>
      </p:sp>
      <p:sp>
        <p:nvSpPr>
          <p:cNvPr id="165" name="Rectangle 164"/>
          <p:cNvSpPr/>
          <p:nvPr/>
        </p:nvSpPr>
        <p:spPr>
          <a:xfrm>
            <a:off x="1641348" y="5527548"/>
            <a:ext cx="246888" cy="246888"/>
          </a:xfrm>
          <a:prstGeom prst="rect">
            <a:avLst/>
          </a:prstGeom>
          <a:solidFill>
            <a:srgbClr val="E3EFD9"/>
          </a:solidFill>
          <a:ln>
            <a:noFill/>
          </a:ln>
        </p:spPr>
        <p:txBody>
          <a:bodyPr rtlCol="0" anchor="ctr" lIns="0" rIns="0"/>
          <a:lstStyle/>
          <a:p>
            <a:pPr algn="ctr"/>
          </a:p>
        </p:txBody>
      </p:sp>
      <p:sp>
        <p:nvSpPr>
          <p:cNvPr id="166" name="Rectangle 165"/>
          <p:cNvSpPr/>
          <p:nvPr/>
        </p:nvSpPr>
        <p:spPr>
          <a:xfrm>
            <a:off x="1938528" y="5527548"/>
            <a:ext cx="246888" cy="246888"/>
          </a:xfrm>
          <a:prstGeom prst="rect">
            <a:avLst/>
          </a:prstGeom>
          <a:solidFill>
            <a:srgbClr val="E3EFD9"/>
          </a:solidFill>
          <a:ln>
            <a:noFill/>
          </a:ln>
        </p:spPr>
        <p:txBody>
          <a:bodyPr rtlCol="0" anchor="ctr" lIns="0" rIns="0"/>
          <a:lstStyle/>
          <a:p>
            <a:pPr algn="ctr"/>
          </a:p>
        </p:txBody>
      </p:sp>
      <p:sp>
        <p:nvSpPr>
          <p:cNvPr id="167" name="Rectangle 166"/>
          <p:cNvSpPr/>
          <p:nvPr/>
        </p:nvSpPr>
        <p:spPr>
          <a:xfrm>
            <a:off x="2235708" y="5527548"/>
            <a:ext cx="246888" cy="246888"/>
          </a:xfrm>
          <a:prstGeom prst="rect">
            <a:avLst/>
          </a:prstGeom>
          <a:solidFill>
            <a:srgbClr val="E3EFD9"/>
          </a:solidFill>
          <a:ln>
            <a:noFill/>
          </a:ln>
        </p:spPr>
        <p:txBody>
          <a:bodyPr rtlCol="0" anchor="ctr" lIns="0" rIns="0"/>
          <a:lstStyle/>
          <a:p>
            <a:pPr algn="ctr"/>
          </a:p>
        </p:txBody>
      </p:sp>
      <p:sp>
        <p:nvSpPr>
          <p:cNvPr id="168" name="Rectangle 167"/>
          <p:cNvSpPr/>
          <p:nvPr/>
        </p:nvSpPr>
        <p:spPr>
          <a:xfrm>
            <a:off x="2532888" y="5527548"/>
            <a:ext cx="246888" cy="246888"/>
          </a:xfrm>
          <a:prstGeom prst="rect">
            <a:avLst/>
          </a:prstGeom>
          <a:solidFill>
            <a:srgbClr val="E3EFD9"/>
          </a:solidFill>
          <a:ln>
            <a:noFill/>
          </a:ln>
        </p:spPr>
        <p:txBody>
          <a:bodyPr rtlCol="0" anchor="ctr" lIns="0" rIns="0"/>
          <a:lstStyle/>
          <a:p>
            <a:pPr algn="ctr"/>
          </a:p>
        </p:txBody>
      </p:sp>
      <p:sp>
        <p:nvSpPr>
          <p:cNvPr id="169" name="Rectangle 168"/>
          <p:cNvSpPr/>
          <p:nvPr/>
        </p:nvSpPr>
        <p:spPr>
          <a:xfrm>
            <a:off x="2830068" y="5527548"/>
            <a:ext cx="246888" cy="246888"/>
          </a:xfrm>
          <a:prstGeom prst="rect">
            <a:avLst/>
          </a:prstGeom>
          <a:solidFill>
            <a:srgbClr val="E3EFD9"/>
          </a:solidFill>
          <a:ln>
            <a:noFill/>
          </a:ln>
        </p:spPr>
        <p:txBody>
          <a:bodyPr rtlCol="0" anchor="ctr" lIns="0" rIns="0"/>
          <a:lstStyle/>
          <a:p>
            <a:pPr algn="ctr"/>
          </a:p>
        </p:txBody>
      </p:sp>
      <p:sp>
        <p:nvSpPr>
          <p:cNvPr id="170" name="Rectangle 169"/>
          <p:cNvSpPr/>
          <p:nvPr/>
        </p:nvSpPr>
        <p:spPr>
          <a:xfrm>
            <a:off x="3127248" y="5527548"/>
            <a:ext cx="246888" cy="246888"/>
          </a:xfrm>
          <a:prstGeom prst="rect">
            <a:avLst/>
          </a:prstGeom>
          <a:solidFill>
            <a:srgbClr val="E3EFD9"/>
          </a:solidFill>
          <a:ln>
            <a:noFill/>
          </a:ln>
        </p:spPr>
        <p:txBody>
          <a:bodyPr rtlCol="0" anchor="ctr" lIns="0" rIns="0"/>
          <a:lstStyle/>
          <a:p>
            <a:pPr algn="ctr"/>
          </a:p>
        </p:txBody>
      </p:sp>
      <p:sp>
        <p:nvSpPr>
          <p:cNvPr id="171" name="Rectangle 170"/>
          <p:cNvSpPr/>
          <p:nvPr/>
        </p:nvSpPr>
        <p:spPr>
          <a:xfrm>
            <a:off x="3424428" y="5527548"/>
            <a:ext cx="246888" cy="246888"/>
          </a:xfrm>
          <a:prstGeom prst="rect">
            <a:avLst/>
          </a:prstGeom>
          <a:solidFill>
            <a:srgbClr val="E3EFD9"/>
          </a:solidFill>
          <a:ln>
            <a:noFill/>
          </a:ln>
        </p:spPr>
        <p:txBody>
          <a:bodyPr rtlCol="0" anchor="ctr" lIns="0" rIns="0"/>
          <a:lstStyle/>
          <a:p>
            <a:pPr algn="ctr"/>
          </a:p>
        </p:txBody>
      </p:sp>
      <p:sp>
        <p:nvSpPr>
          <p:cNvPr id="172" name="Rectangle 171"/>
          <p:cNvSpPr/>
          <p:nvPr/>
        </p:nvSpPr>
        <p:spPr>
          <a:xfrm>
            <a:off x="3721608" y="5527548"/>
            <a:ext cx="246888" cy="246888"/>
          </a:xfrm>
          <a:prstGeom prst="rect">
            <a:avLst/>
          </a:prstGeom>
          <a:solidFill>
            <a:srgbClr val="E3EFD9"/>
          </a:solidFill>
          <a:ln>
            <a:noFill/>
          </a:ln>
        </p:spPr>
        <p:txBody>
          <a:bodyPr rtlCol="0" anchor="ctr" lIns="0" rIns="0"/>
          <a:lstStyle/>
          <a:p>
            <a:pPr algn="ctr"/>
          </a:p>
        </p:txBody>
      </p:sp>
      <p:sp>
        <p:nvSpPr>
          <p:cNvPr id="173" name="Rectangle 172"/>
          <p:cNvSpPr/>
          <p:nvPr/>
        </p:nvSpPr>
        <p:spPr>
          <a:xfrm>
            <a:off x="4018788" y="5527548"/>
            <a:ext cx="246888" cy="246888"/>
          </a:xfrm>
          <a:prstGeom prst="rect">
            <a:avLst/>
          </a:prstGeom>
          <a:solidFill>
            <a:srgbClr val="E3EFD9"/>
          </a:solidFill>
          <a:ln>
            <a:noFill/>
          </a:ln>
        </p:spPr>
        <p:txBody>
          <a:bodyPr rtlCol="0" anchor="ctr" lIns="0" rIns="0"/>
          <a:lstStyle/>
          <a:p>
            <a:pPr algn="ctr"/>
          </a:p>
        </p:txBody>
      </p:sp>
      <p:sp>
        <p:nvSpPr>
          <p:cNvPr id="174" name="Rectangle 173"/>
          <p:cNvSpPr/>
          <p:nvPr/>
        </p:nvSpPr>
        <p:spPr>
          <a:xfrm>
            <a:off x="4315968" y="5527548"/>
            <a:ext cx="246888" cy="246888"/>
          </a:xfrm>
          <a:prstGeom prst="rect">
            <a:avLst/>
          </a:prstGeom>
          <a:solidFill>
            <a:srgbClr val="E3EFD9"/>
          </a:solidFill>
          <a:ln>
            <a:noFill/>
          </a:ln>
        </p:spPr>
        <p:txBody>
          <a:bodyPr rtlCol="0" anchor="ctr" lIns="0" rIns="0"/>
          <a:lstStyle/>
          <a:p>
            <a:pPr algn="ctr"/>
          </a:p>
        </p:txBody>
      </p:sp>
      <p:sp>
        <p:nvSpPr>
          <p:cNvPr id="175" name="Rectangle 174"/>
          <p:cNvSpPr/>
          <p:nvPr/>
        </p:nvSpPr>
        <p:spPr>
          <a:xfrm>
            <a:off x="4613148" y="5527548"/>
            <a:ext cx="246888" cy="246888"/>
          </a:xfrm>
          <a:prstGeom prst="rect">
            <a:avLst/>
          </a:prstGeom>
          <a:solidFill>
            <a:srgbClr val="41801A"/>
          </a:solidFill>
          <a:ln>
            <a:noFill/>
          </a:ln>
        </p:spPr>
        <p:txBody>
          <a:bodyPr rtlCol="0" anchor="ctr" lIns="0" rIns="0"/>
          <a:lstStyle/>
          <a:p>
            <a:pPr algn="ctr"/>
          </a:p>
        </p:txBody>
      </p:sp>
      <p:sp>
        <p:nvSpPr>
          <p:cNvPr id="176" name="Rectangle 175"/>
          <p:cNvSpPr/>
          <p:nvPr/>
        </p:nvSpPr>
        <p:spPr>
          <a:xfrm>
            <a:off x="1344168" y="5989320"/>
            <a:ext cx="164592" cy="164592"/>
          </a:xfrm>
          <a:prstGeom prst="rect">
            <a:avLst/>
          </a:prstGeom>
          <a:solidFill>
            <a:srgbClr val="41801A"/>
          </a:solidFill>
          <a:ln>
            <a:noFill/>
          </a:ln>
        </p:spPr>
        <p:txBody>
          <a:bodyPr rtlCol="0" anchor="ctr" lIns="0" rIns="0"/>
          <a:lstStyle/>
          <a:p>
            <a:pPr algn="ctr"/>
          </a:p>
        </p:txBody>
      </p:sp>
      <p:sp>
        <p:nvSpPr>
          <p:cNvPr id="177" name="TextBox 176"/>
          <p:cNvSpPr txBox="1"/>
          <p:nvPr/>
        </p:nvSpPr>
        <p:spPr>
          <a:xfrm>
            <a:off x="1572768" y="5961888"/>
            <a:ext cx="18288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collects the pot</a:t>
            </a:r>
          </a:p>
        </p:txBody>
      </p:sp>
      <p:sp>
        <p:nvSpPr>
          <p:cNvPr id="178" name="Rectangle 177"/>
          <p:cNvSpPr/>
          <p:nvPr/>
        </p:nvSpPr>
        <p:spPr>
          <a:xfrm>
            <a:off x="3081528" y="5989320"/>
            <a:ext cx="164592" cy="164592"/>
          </a:xfrm>
          <a:prstGeom prst="rect">
            <a:avLst/>
          </a:prstGeom>
          <a:solidFill>
            <a:srgbClr val="E3EFD9"/>
          </a:solidFill>
          <a:ln>
            <a:noFill/>
          </a:ln>
        </p:spPr>
        <p:txBody>
          <a:bodyPr rtlCol="0" anchor="ctr" lIns="0" rIns="0"/>
          <a:lstStyle/>
          <a:p>
            <a:pPr algn="ctr"/>
          </a:p>
        </p:txBody>
      </p:sp>
      <p:sp>
        <p:nvSpPr>
          <p:cNvPr id="179" name="TextBox 178"/>
          <p:cNvSpPr txBox="1"/>
          <p:nvPr/>
        </p:nvSpPr>
        <p:spPr>
          <a:xfrm>
            <a:off x="3310128" y="5961888"/>
            <a:ext cx="18288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pays Rs 10,000</a:t>
            </a:r>
          </a:p>
        </p:txBody>
      </p:sp>
      <p:sp>
        <p:nvSpPr>
          <p:cNvPr id="180" name="TextBox 179"/>
          <p:cNvSpPr txBox="1"/>
          <p:nvPr/>
        </p:nvSpPr>
        <p:spPr>
          <a:xfrm>
            <a:off x="5989320" y="1828800"/>
            <a:ext cx="5303520" cy="579120"/>
          </a:xfrm>
          <a:prstGeom prst="rect">
            <a:avLst/>
          </a:prstGeom>
          <a:noFill/>
        </p:spPr>
        <p:txBody>
          <a:bodyPr wrap="square" lIns="0" rIns="0" tIns="0" bIns="0" anchor="t">
            <a:noAutofit/>
          </a:bodyPr>
          <a:lstStyle/>
          <a:p>
            <a:pPr algn="l">
              <a:lnSpc>
                <a:spcPct val="110000"/>
              </a:lnSpc>
            </a:pPr>
            <a:r>
              <a:rPr sz="3200" b="0" i="0">
                <a:solidFill>
                  <a:srgbClr val="41801A"/>
                </a:solidFill>
                <a:latin typeface="Georgia"/>
              </a:rPr>
              <a:t>Rs 10,000</a:t>
            </a:r>
          </a:p>
        </p:txBody>
      </p:sp>
      <p:sp>
        <p:nvSpPr>
          <p:cNvPr id="181" name="TextBox 180"/>
          <p:cNvSpPr txBox="1"/>
          <p:nvPr/>
        </p:nvSpPr>
        <p:spPr>
          <a:xfrm>
            <a:off x="5989320" y="2426208"/>
            <a:ext cx="53035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paid in by every member, every month</a:t>
            </a:r>
          </a:p>
        </p:txBody>
      </p:sp>
      <p:sp>
        <p:nvSpPr>
          <p:cNvPr id="182" name="TextBox 181"/>
          <p:cNvSpPr txBox="1"/>
          <p:nvPr/>
        </p:nvSpPr>
        <p:spPr>
          <a:xfrm>
            <a:off x="5989320" y="2880360"/>
            <a:ext cx="5303520" cy="579120"/>
          </a:xfrm>
          <a:prstGeom prst="rect">
            <a:avLst/>
          </a:prstGeom>
          <a:noFill/>
        </p:spPr>
        <p:txBody>
          <a:bodyPr wrap="square" lIns="0" rIns="0" tIns="0" bIns="0" anchor="t">
            <a:noAutofit/>
          </a:bodyPr>
          <a:lstStyle/>
          <a:p>
            <a:pPr algn="l">
              <a:lnSpc>
                <a:spcPct val="110000"/>
              </a:lnSpc>
            </a:pPr>
            <a:r>
              <a:rPr sz="3200" b="0" i="0">
                <a:solidFill>
                  <a:srgbClr val="41801A"/>
                </a:solidFill>
                <a:latin typeface="Georgia"/>
              </a:rPr>
              <a:t>Rs 120,000</a:t>
            </a:r>
          </a:p>
        </p:txBody>
      </p:sp>
      <p:sp>
        <p:nvSpPr>
          <p:cNvPr id="183" name="TextBox 182"/>
          <p:cNvSpPr txBox="1"/>
          <p:nvPr/>
        </p:nvSpPr>
        <p:spPr>
          <a:xfrm>
            <a:off x="5989320" y="3477768"/>
            <a:ext cx="53035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the pot, taken by one member each month</a:t>
            </a:r>
          </a:p>
        </p:txBody>
      </p:sp>
      <p:cxnSp>
        <p:nvCxnSpPr>
          <p:cNvPr id="184" name="Connector 183"/>
          <p:cNvCxnSpPr/>
          <p:nvPr/>
        </p:nvCxnSpPr>
        <p:spPr>
          <a:xfrm>
            <a:off x="5989320" y="4069080"/>
            <a:ext cx="5577839" cy="0"/>
          </a:xfrm>
          <a:prstGeom prst="line">
            <a:avLst/>
          </a:prstGeom>
          <a:ln w="9525">
            <a:solidFill>
              <a:srgbClr val="D5DCD1"/>
            </a:solidFill>
          </a:ln>
        </p:spPr>
      </p:cxnSp>
      <p:sp>
        <p:nvSpPr>
          <p:cNvPr id="185" name="TextBox 184"/>
          <p:cNvSpPr txBox="1"/>
          <p:nvPr/>
        </p:nvSpPr>
        <p:spPr>
          <a:xfrm>
            <a:off x="5989320" y="4206240"/>
            <a:ext cx="5577840" cy="1097280"/>
          </a:xfrm>
          <a:prstGeom prst="rect">
            <a:avLst/>
          </a:prstGeom>
          <a:noFill/>
        </p:spPr>
        <p:txBody>
          <a:bodyPr wrap="square" lIns="0" rIns="0" tIns="0" bIns="0" anchor="t">
            <a:noAutofit/>
          </a:bodyPr>
          <a:lstStyle/>
          <a:p>
            <a:pPr algn="l">
              <a:lnSpc>
                <a:spcPct val="110000"/>
              </a:lnSpc>
              <a:spcAft>
                <a:spcPts val="600"/>
              </a:spcAft>
            </a:pPr>
            <a:r>
              <a:rPr sz="1400" b="1" i="0">
                <a:solidFill>
                  <a:srgbClr val="0C1408"/>
                </a:solidFill>
                <a:latin typeface="Arial"/>
              </a:rPr>
              <a:t>First turn.</a:t>
            </a:r>
            <a:r>
              <a:rPr sz="1400" b="0" i="0">
                <a:solidFill>
                  <a:srgbClr val="0C1408"/>
                </a:solidFill>
                <a:latin typeface="Arial"/>
              </a:rPr>
              <a:t> An advance without interest, repaid by the instalments that follow.</a:t>
            </a:r>
          </a:p>
          <a:p>
            <a:pPr algn="l">
              <a:lnSpc>
                <a:spcPct val="110000"/>
              </a:lnSpc>
              <a:spcAft>
                <a:spcPts val="600"/>
              </a:spcAft>
            </a:pPr>
            <a:r>
              <a:rPr sz="1400" b="1" i="0">
                <a:solidFill>
                  <a:srgbClr val="0C1408"/>
                </a:solidFill>
                <a:latin typeface="Arial"/>
              </a:rPr>
              <a:t>Last turn.</a:t>
            </a:r>
            <a:r>
              <a:rPr sz="1400" b="0" i="0">
                <a:solidFill>
                  <a:srgbClr val="0C1408"/>
                </a:solidFill>
                <a:latin typeface="Arial"/>
              </a:rPr>
              <a:t> Saving, with a deadline the group enforces.</a:t>
            </a:r>
          </a:p>
        </p:txBody>
      </p:sp>
      <p:sp>
        <p:nvSpPr>
          <p:cNvPr id="186" name="TextBox 185"/>
          <p:cNvSpPr txBox="1"/>
          <p:nvPr/>
        </p:nvSpPr>
        <p:spPr>
          <a:xfrm>
            <a:off x="5989320" y="5166360"/>
            <a:ext cx="5577840" cy="731520"/>
          </a:xfrm>
          <a:prstGeom prst="rect">
            <a:avLst/>
          </a:prstGeom>
          <a:noFill/>
        </p:spPr>
        <p:txBody>
          <a:bodyPr wrap="square" lIns="0" rIns="0" tIns="0" bIns="0" anchor="t">
            <a:noAutofit/>
          </a:bodyPr>
          <a:lstStyle/>
          <a:p>
            <a:pPr algn="l">
              <a:lnSpc>
                <a:spcPct val="110000"/>
              </a:lnSpc>
            </a:pPr>
            <a:r>
              <a:rPr sz="1400" b="0" i="0">
                <a:solidFill>
                  <a:srgbClr val="0C1408"/>
                </a:solidFill>
                <a:latin typeface="Arial"/>
              </a:rPr>
              <a:t>In total, every member pays in Rs 120,000 and takes out Rs 120,000: an interest free loan between members.</a:t>
            </a:r>
          </a:p>
        </p:txBody>
      </p:sp>
      <p:sp>
        <p:nvSpPr>
          <p:cNvPr id="187" name="TextBox 186"/>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Also called a kameti or BC; worldwide, a rotating savings and credit association. Example: twelve members at Rs 10,000 a month.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Market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More than a third of Pakistanis save in committees. Almost none of that money reaches a bank.</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Karandaaz and Oraan, reported by Dawn, 12 December 2022   2  Financial Inclusion Insights surveys of Pakistan</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4</a:t>
            </a:r>
          </a:p>
        </p:txBody>
      </p:sp>
      <p:sp>
        <p:nvSpPr>
          <p:cNvPr id="7" name="TextBox 6"/>
          <p:cNvSpPr txBox="1"/>
          <p:nvPr/>
        </p:nvSpPr>
        <p:spPr>
          <a:xfrm>
            <a:off x="566928" y="1920240"/>
            <a:ext cx="630936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Where Pakistani savers keep their savings, per cent of savers [2]</a:t>
            </a:r>
          </a:p>
        </p:txBody>
      </p:sp>
      <p:sp>
        <p:nvSpPr>
          <p:cNvPr id="8" name="TextBox 7"/>
          <p:cNvSpPr txBox="1"/>
          <p:nvPr/>
        </p:nvSpPr>
        <p:spPr>
          <a:xfrm>
            <a:off x="566928" y="2468880"/>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Cash kept at home</a:t>
            </a:r>
          </a:p>
        </p:txBody>
      </p:sp>
      <p:sp>
        <p:nvSpPr>
          <p:cNvPr id="9" name="Rectangle 8"/>
          <p:cNvSpPr/>
          <p:nvPr/>
        </p:nvSpPr>
        <p:spPr>
          <a:xfrm>
            <a:off x="2715768" y="2468880"/>
            <a:ext cx="3566160" cy="566928"/>
          </a:xfrm>
          <a:prstGeom prst="rect">
            <a:avLst/>
          </a:prstGeom>
          <a:solidFill>
            <a:srgbClr val="B9C2B4"/>
          </a:solidFill>
          <a:ln>
            <a:noFill/>
          </a:ln>
        </p:spPr>
        <p:txBody>
          <a:bodyPr rtlCol="0" anchor="ctr" lIns="0" rIns="0"/>
          <a:lstStyle/>
          <a:p>
            <a:pPr algn="ctr"/>
          </a:p>
        </p:txBody>
      </p:sp>
      <p:sp>
        <p:nvSpPr>
          <p:cNvPr id="10" name="TextBox 9"/>
          <p:cNvSpPr txBox="1"/>
          <p:nvPr/>
        </p:nvSpPr>
        <p:spPr>
          <a:xfrm>
            <a:off x="6373368" y="2468880"/>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63%</a:t>
            </a:r>
          </a:p>
        </p:txBody>
      </p:sp>
      <p:sp>
        <p:nvSpPr>
          <p:cNvPr id="11" name="TextBox 10"/>
          <p:cNvSpPr txBox="1"/>
          <p:nvPr/>
        </p:nvSpPr>
        <p:spPr>
          <a:xfrm>
            <a:off x="566928" y="3419856"/>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A committee</a:t>
            </a:r>
          </a:p>
        </p:txBody>
      </p:sp>
      <p:sp>
        <p:nvSpPr>
          <p:cNvPr id="12" name="Rectangle 11"/>
          <p:cNvSpPr/>
          <p:nvPr/>
        </p:nvSpPr>
        <p:spPr>
          <a:xfrm>
            <a:off x="2715768" y="3419856"/>
            <a:ext cx="1867988" cy="566928"/>
          </a:xfrm>
          <a:prstGeom prst="rect">
            <a:avLst/>
          </a:prstGeom>
          <a:solidFill>
            <a:srgbClr val="6DC72A"/>
          </a:solidFill>
          <a:ln>
            <a:noFill/>
          </a:ln>
        </p:spPr>
        <p:txBody>
          <a:bodyPr rtlCol="0" anchor="ctr" lIns="0" rIns="0"/>
          <a:lstStyle/>
          <a:p>
            <a:pPr algn="ctr"/>
          </a:p>
        </p:txBody>
      </p:sp>
      <p:sp>
        <p:nvSpPr>
          <p:cNvPr id="13" name="TextBox 12"/>
          <p:cNvSpPr txBox="1"/>
          <p:nvPr/>
        </p:nvSpPr>
        <p:spPr>
          <a:xfrm>
            <a:off x="4675196" y="3419856"/>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33%</a:t>
            </a:r>
          </a:p>
        </p:txBody>
      </p:sp>
      <p:sp>
        <p:nvSpPr>
          <p:cNvPr id="14" name="TextBox 13"/>
          <p:cNvSpPr txBox="1"/>
          <p:nvPr/>
        </p:nvSpPr>
        <p:spPr>
          <a:xfrm>
            <a:off x="566928" y="4370832"/>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A bank or other formal institution</a:t>
            </a:r>
          </a:p>
        </p:txBody>
      </p:sp>
      <p:sp>
        <p:nvSpPr>
          <p:cNvPr id="15" name="Rectangle 14"/>
          <p:cNvSpPr/>
          <p:nvPr/>
        </p:nvSpPr>
        <p:spPr>
          <a:xfrm>
            <a:off x="2715768" y="4370832"/>
            <a:ext cx="226422" cy="566928"/>
          </a:xfrm>
          <a:prstGeom prst="rect">
            <a:avLst/>
          </a:prstGeom>
          <a:solidFill>
            <a:srgbClr val="41801A"/>
          </a:solidFill>
          <a:ln>
            <a:noFill/>
          </a:ln>
        </p:spPr>
        <p:txBody>
          <a:bodyPr rtlCol="0" anchor="ctr" lIns="0" rIns="0"/>
          <a:lstStyle/>
          <a:p>
            <a:pPr algn="ctr"/>
          </a:p>
        </p:txBody>
      </p:sp>
      <p:sp>
        <p:nvSpPr>
          <p:cNvPr id="16" name="TextBox 15"/>
          <p:cNvSpPr txBox="1"/>
          <p:nvPr/>
        </p:nvSpPr>
        <p:spPr>
          <a:xfrm>
            <a:off x="3033630" y="4370832"/>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4%</a:t>
            </a:r>
          </a:p>
        </p:txBody>
      </p:sp>
      <p:sp>
        <p:nvSpPr>
          <p:cNvPr id="17" name="TextBox 16"/>
          <p:cNvSpPr txBox="1"/>
          <p:nvPr/>
        </p:nvSpPr>
        <p:spPr>
          <a:xfrm>
            <a:off x="7635240" y="1874519"/>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34% to 41%</a:t>
            </a:r>
          </a:p>
        </p:txBody>
      </p:sp>
      <p:sp>
        <p:nvSpPr>
          <p:cNvPr id="18" name="TextBox 17"/>
          <p:cNvSpPr txBox="1"/>
          <p:nvPr/>
        </p:nvSpPr>
        <p:spPr>
          <a:xfrm>
            <a:off x="7635240" y="244144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Pakistanis take part in committees [1]</a:t>
            </a:r>
          </a:p>
        </p:txBody>
      </p:sp>
      <p:sp>
        <p:nvSpPr>
          <p:cNvPr id="19" name="TextBox 18"/>
          <p:cNvSpPr txBox="1"/>
          <p:nvPr/>
        </p:nvSpPr>
        <p:spPr>
          <a:xfrm>
            <a:off x="7635240" y="3154680"/>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Rs 4 trillion</a:t>
            </a:r>
          </a:p>
        </p:txBody>
      </p:sp>
      <p:sp>
        <p:nvSpPr>
          <p:cNvPr id="20" name="TextBox 19"/>
          <p:cNvSpPr txBox="1"/>
          <p:nvPr/>
        </p:nvSpPr>
        <p:spPr>
          <a:xfrm>
            <a:off x="7635240" y="372160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estimated to pass through committees each year [1]</a:t>
            </a:r>
          </a:p>
        </p:txBody>
      </p:sp>
      <p:sp>
        <p:nvSpPr>
          <p:cNvPr id="21" name="TextBox 20"/>
          <p:cNvSpPr txBox="1"/>
          <p:nvPr/>
        </p:nvSpPr>
        <p:spPr>
          <a:xfrm>
            <a:off x="7635240" y="4434840"/>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Twice</a:t>
            </a:r>
          </a:p>
        </p:txBody>
      </p:sp>
      <p:sp>
        <p:nvSpPr>
          <p:cNvPr id="22" name="TextBox 21"/>
          <p:cNvSpPr txBox="1"/>
          <p:nvPr/>
        </p:nvSpPr>
        <p:spPr>
          <a:xfrm>
            <a:off x="7635240" y="500176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the rate of participation for women as for men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Problem</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Committees run on trust and cash. When the trust fails, members lose their money.</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Financial Inclusion Insights surveys of Pakistan   2  Dawn, 12 December 2022</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5</a:t>
            </a:r>
          </a:p>
        </p:txBody>
      </p:sp>
      <p:sp>
        <p:nvSpPr>
          <p:cNvPr id="7" name="Rectangle 6"/>
          <p:cNvSpPr/>
          <p:nvPr/>
        </p:nvSpPr>
        <p:spPr>
          <a:xfrm>
            <a:off x="566928" y="3246120"/>
            <a:ext cx="1874519" cy="960120"/>
          </a:xfrm>
          <a:prstGeom prst="rect">
            <a:avLst/>
          </a:prstGeom>
          <a:solidFill>
            <a:srgbClr val="FFFFFF"/>
          </a:solidFill>
          <a:ln w="12700">
            <a:solidFill>
              <a:srgbClr val="0C1408"/>
            </a:solidFill>
          </a:ln>
        </p:spPr>
        <p:txBody>
          <a:bodyPr rtlCol="0" anchor="ctr" lIns="0" rIns="0"/>
          <a:lstStyle/>
          <a:p>
            <a:pPr algn="ctr"/>
          </a:p>
        </p:txBody>
      </p:sp>
      <p:sp>
        <p:nvSpPr>
          <p:cNvPr id="8" name="TextBox 7"/>
          <p:cNvSpPr txBox="1"/>
          <p:nvPr/>
        </p:nvSpPr>
        <p:spPr>
          <a:xfrm>
            <a:off x="6583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Members</a:t>
            </a:r>
          </a:p>
        </p:txBody>
      </p:sp>
      <p:sp>
        <p:nvSpPr>
          <p:cNvPr id="9" name="TextBox 8"/>
          <p:cNvSpPr txBox="1"/>
          <p:nvPr/>
        </p:nvSpPr>
        <p:spPr>
          <a:xfrm>
            <a:off x="6583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each pays Rs 10,000 in cash or by transfer</a:t>
            </a:r>
          </a:p>
        </p:txBody>
      </p:sp>
      <p:sp>
        <p:nvSpPr>
          <p:cNvPr id="10" name="Rectangle 9"/>
          <p:cNvSpPr/>
          <p:nvPr/>
        </p:nvSpPr>
        <p:spPr>
          <a:xfrm>
            <a:off x="3081528" y="3246120"/>
            <a:ext cx="1874519" cy="960120"/>
          </a:xfrm>
          <a:prstGeom prst="rect">
            <a:avLst/>
          </a:prstGeom>
          <a:solidFill>
            <a:srgbClr val="FFFFFF"/>
          </a:solidFill>
          <a:ln w="12700">
            <a:solidFill>
              <a:srgbClr val="B3261E"/>
            </a:solidFill>
          </a:ln>
        </p:spPr>
        <p:txBody>
          <a:bodyPr rtlCol="0" anchor="ctr" lIns="0" rIns="0"/>
          <a:lstStyle/>
          <a:p>
            <a:pPr algn="ctr"/>
          </a:p>
        </p:txBody>
      </p:sp>
      <p:sp>
        <p:nvSpPr>
          <p:cNvPr id="11" name="TextBox 10"/>
          <p:cNvSpPr txBox="1"/>
          <p:nvPr/>
        </p:nvSpPr>
        <p:spPr>
          <a:xfrm>
            <a:off x="31729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Organiser</a:t>
            </a:r>
          </a:p>
        </p:txBody>
      </p:sp>
      <p:sp>
        <p:nvSpPr>
          <p:cNvPr id="12" name="TextBox 11"/>
          <p:cNvSpPr txBox="1"/>
          <p:nvPr/>
        </p:nvSpPr>
        <p:spPr>
          <a:xfrm>
            <a:off x="31729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holds everyone's money</a:t>
            </a:r>
          </a:p>
        </p:txBody>
      </p:sp>
      <p:sp>
        <p:nvSpPr>
          <p:cNvPr id="13" name="Rectangle 12"/>
          <p:cNvSpPr/>
          <p:nvPr/>
        </p:nvSpPr>
        <p:spPr>
          <a:xfrm>
            <a:off x="5596128" y="3246120"/>
            <a:ext cx="1874519" cy="960120"/>
          </a:xfrm>
          <a:prstGeom prst="rect">
            <a:avLst/>
          </a:prstGeom>
          <a:solidFill>
            <a:srgbClr val="FFFFFF"/>
          </a:solidFill>
          <a:ln w="12700">
            <a:solidFill>
              <a:srgbClr val="0C1408"/>
            </a:solidFill>
          </a:ln>
        </p:spPr>
        <p:txBody>
          <a:bodyPr rtlCol="0" anchor="ctr" lIns="0" rIns="0"/>
          <a:lstStyle/>
          <a:p>
            <a:pPr algn="ctr"/>
          </a:p>
        </p:txBody>
      </p:sp>
      <p:sp>
        <p:nvSpPr>
          <p:cNvPr id="14" name="TextBox 13"/>
          <p:cNvSpPr txBox="1"/>
          <p:nvPr/>
        </p:nvSpPr>
        <p:spPr>
          <a:xfrm>
            <a:off x="56875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Collector</a:t>
            </a:r>
          </a:p>
        </p:txBody>
      </p:sp>
      <p:sp>
        <p:nvSpPr>
          <p:cNvPr id="15" name="TextBox 14"/>
          <p:cNvSpPr txBox="1"/>
          <p:nvPr/>
        </p:nvSpPr>
        <p:spPr>
          <a:xfrm>
            <a:off x="56875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this month's turn</a:t>
            </a:r>
          </a:p>
        </p:txBody>
      </p:sp>
      <p:cxnSp>
        <p:nvCxnSpPr>
          <p:cNvPr id="16" name="Connector 15"/>
          <p:cNvCxnSpPr/>
          <p:nvPr/>
        </p:nvCxnSpPr>
        <p:spPr>
          <a:xfrm>
            <a:off x="2441448" y="3726180"/>
            <a:ext cx="640080" cy="0"/>
          </a:xfrm>
          <a:prstGeom prst="line">
            <a:avLst/>
          </a:prstGeom>
          <a:ln w="38100">
            <a:solidFill>
              <a:srgbClr val="5B6456"/>
            </a:solidFill>
            <a:tailEnd type="triangle" w="med" len="med"/>
          </a:ln>
        </p:spPr>
      </p:cxnSp>
      <p:cxnSp>
        <p:nvCxnSpPr>
          <p:cNvPr id="17" name="Connector 16"/>
          <p:cNvCxnSpPr/>
          <p:nvPr/>
        </p:nvCxnSpPr>
        <p:spPr>
          <a:xfrm>
            <a:off x="4956048" y="3726180"/>
            <a:ext cx="640080" cy="0"/>
          </a:xfrm>
          <a:prstGeom prst="line">
            <a:avLst/>
          </a:prstGeom>
          <a:ln w="38100">
            <a:solidFill>
              <a:srgbClr val="5B6456"/>
            </a:solidFill>
            <a:tailEnd type="triangle" w="med" len="med"/>
          </a:ln>
        </p:spPr>
      </p:cxnSp>
      <p:sp>
        <p:nvSpPr>
          <p:cNvPr id="18" name="TextBox 17"/>
          <p:cNvSpPr txBox="1"/>
          <p:nvPr/>
        </p:nvSpPr>
        <p:spPr>
          <a:xfrm>
            <a:off x="2441448" y="3415284"/>
            <a:ext cx="640080"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cash</a:t>
            </a:r>
          </a:p>
        </p:txBody>
      </p:sp>
      <p:sp>
        <p:nvSpPr>
          <p:cNvPr id="19" name="TextBox 18"/>
          <p:cNvSpPr txBox="1"/>
          <p:nvPr/>
        </p:nvSpPr>
        <p:spPr>
          <a:xfrm>
            <a:off x="4956048" y="3415284"/>
            <a:ext cx="640080"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cash</a:t>
            </a:r>
          </a:p>
        </p:txBody>
      </p:sp>
      <p:sp>
        <p:nvSpPr>
          <p:cNvPr id="20" name="Rectangle 19"/>
          <p:cNvSpPr/>
          <p:nvPr/>
        </p:nvSpPr>
        <p:spPr>
          <a:xfrm>
            <a:off x="3081528" y="4846320"/>
            <a:ext cx="1874519" cy="731520"/>
          </a:xfrm>
          <a:prstGeom prst="rect">
            <a:avLst/>
          </a:prstGeom>
          <a:solidFill>
            <a:srgbClr val="FFFFFF"/>
          </a:solidFill>
          <a:ln w="12700">
            <a:solidFill>
              <a:srgbClr val="5B6456"/>
            </a:solidFill>
            <a:prstDash val="dash"/>
          </a:ln>
        </p:spPr>
        <p:txBody>
          <a:bodyPr rtlCol="0" anchor="ctr" lIns="0" rIns="0"/>
          <a:lstStyle/>
          <a:p>
            <a:pPr algn="ctr"/>
          </a:p>
        </p:txBody>
      </p:sp>
      <p:sp>
        <p:nvSpPr>
          <p:cNvPr id="21" name="TextBox 20"/>
          <p:cNvSpPr txBox="1"/>
          <p:nvPr/>
        </p:nvSpPr>
        <p:spPr>
          <a:xfrm>
            <a:off x="3172968" y="49194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A notebook</a:t>
            </a:r>
          </a:p>
        </p:txBody>
      </p:sp>
      <p:sp>
        <p:nvSpPr>
          <p:cNvPr id="22" name="TextBox 21"/>
          <p:cNvSpPr txBox="1"/>
          <p:nvPr/>
        </p:nvSpPr>
        <p:spPr>
          <a:xfrm>
            <a:off x="3172968" y="5212080"/>
            <a:ext cx="1691639" cy="3200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only record</a:t>
            </a:r>
          </a:p>
        </p:txBody>
      </p:sp>
      <p:cxnSp>
        <p:nvCxnSpPr>
          <p:cNvPr id="23" name="Connector 22"/>
          <p:cNvCxnSpPr/>
          <p:nvPr/>
        </p:nvCxnSpPr>
        <p:spPr>
          <a:xfrm>
            <a:off x="4018787" y="4206240"/>
            <a:ext cx="0" cy="640080"/>
          </a:xfrm>
          <a:prstGeom prst="line">
            <a:avLst/>
          </a:prstGeom>
          <a:ln w="9525">
            <a:solidFill>
              <a:srgbClr val="5B6456"/>
            </a:solidFill>
            <a:prstDash val="dash"/>
          </a:ln>
        </p:spPr>
      </p:cxnSp>
      <p:sp>
        <p:nvSpPr>
          <p:cNvPr id="24" name="Rectangle 23"/>
          <p:cNvSpPr/>
          <p:nvPr/>
        </p:nvSpPr>
        <p:spPr>
          <a:xfrm>
            <a:off x="3081528" y="2468880"/>
            <a:ext cx="91440" cy="91440"/>
          </a:xfrm>
          <a:prstGeom prst="rect">
            <a:avLst/>
          </a:prstGeom>
          <a:solidFill>
            <a:srgbClr val="B3261E"/>
          </a:solidFill>
          <a:ln>
            <a:noFill/>
          </a:ln>
        </p:spPr>
        <p:txBody>
          <a:bodyPr rtlCol="0" anchor="ctr" lIns="0" rIns="0"/>
          <a:lstStyle/>
          <a:p>
            <a:pPr algn="ctr"/>
          </a:p>
        </p:txBody>
      </p:sp>
      <p:sp>
        <p:nvSpPr>
          <p:cNvPr id="25" name="TextBox 24"/>
          <p:cNvSpPr txBox="1"/>
          <p:nvPr/>
        </p:nvSpPr>
        <p:spPr>
          <a:xfrm>
            <a:off x="3236976" y="2423160"/>
            <a:ext cx="203911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Can disappear with the pot</a:t>
            </a:r>
          </a:p>
        </p:txBody>
      </p:sp>
      <p:sp>
        <p:nvSpPr>
          <p:cNvPr id="26" name="Rectangle 25"/>
          <p:cNvSpPr/>
          <p:nvPr/>
        </p:nvSpPr>
        <p:spPr>
          <a:xfrm>
            <a:off x="5596128" y="2468880"/>
            <a:ext cx="91440" cy="91440"/>
          </a:xfrm>
          <a:prstGeom prst="rect">
            <a:avLst/>
          </a:prstGeom>
          <a:solidFill>
            <a:srgbClr val="B3261E"/>
          </a:solidFill>
          <a:ln>
            <a:noFill/>
          </a:ln>
        </p:spPr>
        <p:txBody>
          <a:bodyPr rtlCol="0" anchor="ctr" lIns="0" rIns="0"/>
          <a:lstStyle/>
          <a:p>
            <a:pPr algn="ctr"/>
          </a:p>
        </p:txBody>
      </p:sp>
      <p:sp>
        <p:nvSpPr>
          <p:cNvPr id="27" name="TextBox 26"/>
          <p:cNvSpPr txBox="1"/>
          <p:nvPr/>
        </p:nvSpPr>
        <p:spPr>
          <a:xfrm>
            <a:off x="5751576" y="2423160"/>
            <a:ext cx="185623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May stop paying after collecting</a:t>
            </a:r>
          </a:p>
        </p:txBody>
      </p:sp>
      <p:sp>
        <p:nvSpPr>
          <p:cNvPr id="28" name="Rectangle 27"/>
          <p:cNvSpPr/>
          <p:nvPr/>
        </p:nvSpPr>
        <p:spPr>
          <a:xfrm>
            <a:off x="3081528" y="5760720"/>
            <a:ext cx="91440" cy="91440"/>
          </a:xfrm>
          <a:prstGeom prst="rect">
            <a:avLst/>
          </a:prstGeom>
          <a:solidFill>
            <a:srgbClr val="B3261E"/>
          </a:solidFill>
          <a:ln>
            <a:noFill/>
          </a:ln>
        </p:spPr>
        <p:txBody>
          <a:bodyPr rtlCol="0" anchor="ctr" lIns="0" rIns="0"/>
          <a:lstStyle/>
          <a:p>
            <a:pPr algn="ctr"/>
          </a:p>
        </p:txBody>
      </p:sp>
      <p:sp>
        <p:nvSpPr>
          <p:cNvPr id="29" name="TextBox 28"/>
          <p:cNvSpPr txBox="1"/>
          <p:nvPr/>
        </p:nvSpPr>
        <p:spPr>
          <a:xfrm>
            <a:off x="3236976" y="5715000"/>
            <a:ext cx="222199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No record a lender can read</a:t>
            </a:r>
          </a:p>
        </p:txBody>
      </p:sp>
      <p:sp>
        <p:nvSpPr>
          <p:cNvPr id="30" name="Rectangle 29"/>
          <p:cNvSpPr/>
          <p:nvPr/>
        </p:nvSpPr>
        <p:spPr>
          <a:xfrm>
            <a:off x="566928" y="4526280"/>
            <a:ext cx="91440" cy="91440"/>
          </a:xfrm>
          <a:prstGeom prst="rect">
            <a:avLst/>
          </a:prstGeom>
          <a:solidFill>
            <a:srgbClr val="B3261E"/>
          </a:solidFill>
          <a:ln>
            <a:noFill/>
          </a:ln>
        </p:spPr>
        <p:txBody>
          <a:bodyPr rtlCol="0" anchor="ctr" lIns="0" rIns="0"/>
          <a:lstStyle/>
          <a:p>
            <a:pPr algn="ctr"/>
          </a:p>
        </p:txBody>
      </p:sp>
      <p:sp>
        <p:nvSpPr>
          <p:cNvPr id="31" name="TextBox 30"/>
          <p:cNvSpPr txBox="1"/>
          <p:nvPr/>
        </p:nvSpPr>
        <p:spPr>
          <a:xfrm>
            <a:off x="722376" y="4480560"/>
            <a:ext cx="176479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Savings otherwise kept as cash at home</a:t>
            </a:r>
          </a:p>
        </p:txBody>
      </p:sp>
      <p:cxnSp>
        <p:nvCxnSpPr>
          <p:cNvPr id="32" name="Connector 31"/>
          <p:cNvCxnSpPr/>
          <p:nvPr/>
        </p:nvCxnSpPr>
        <p:spPr>
          <a:xfrm>
            <a:off x="8092440" y="1874519"/>
            <a:ext cx="0" cy="4069081"/>
          </a:xfrm>
          <a:prstGeom prst="line">
            <a:avLst/>
          </a:prstGeom>
          <a:ln w="9525">
            <a:solidFill>
              <a:srgbClr val="D5DCD1"/>
            </a:solidFill>
          </a:ln>
        </p:spPr>
      </p:cxnSp>
      <p:sp>
        <p:nvSpPr>
          <p:cNvPr id="33" name="TextBox 32"/>
          <p:cNvSpPr txBox="1"/>
          <p:nvPr/>
        </p:nvSpPr>
        <p:spPr>
          <a:xfrm>
            <a:off x="8412480" y="1874519"/>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12%</a:t>
            </a:r>
          </a:p>
        </p:txBody>
      </p:sp>
      <p:sp>
        <p:nvSpPr>
          <p:cNvPr id="34" name="TextBox 33"/>
          <p:cNvSpPr txBox="1"/>
          <p:nvPr/>
        </p:nvSpPr>
        <p:spPr>
          <a:xfrm>
            <a:off x="8412480" y="244144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committee users lost money to fraud [1]</a:t>
            </a:r>
          </a:p>
        </p:txBody>
      </p:sp>
      <p:sp>
        <p:nvSpPr>
          <p:cNvPr id="35" name="TextBox 34"/>
          <p:cNvSpPr txBox="1"/>
          <p:nvPr/>
        </p:nvSpPr>
        <p:spPr>
          <a:xfrm>
            <a:off x="8412480" y="3200400"/>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Rs 420 million</a:t>
            </a:r>
          </a:p>
        </p:txBody>
      </p:sp>
      <p:sp>
        <p:nvSpPr>
          <p:cNvPr id="36" name="TextBox 35"/>
          <p:cNvSpPr txBox="1"/>
          <p:nvPr/>
        </p:nvSpPr>
        <p:spPr>
          <a:xfrm>
            <a:off x="8412480" y="376732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taken from 117 committees by one organiser, 2022 [2]</a:t>
            </a:r>
          </a:p>
        </p:txBody>
      </p:sp>
      <p:sp>
        <p:nvSpPr>
          <p:cNvPr id="37" name="TextBox 36"/>
          <p:cNvSpPr txBox="1"/>
          <p:nvPr/>
        </p:nvSpPr>
        <p:spPr>
          <a:xfrm>
            <a:off x="8412480" y="4526280"/>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63%</a:t>
            </a:r>
          </a:p>
        </p:txBody>
      </p:sp>
      <p:sp>
        <p:nvSpPr>
          <p:cNvPr id="38" name="TextBox 37"/>
          <p:cNvSpPr txBox="1"/>
          <p:nvPr/>
        </p:nvSpPr>
        <p:spPr>
          <a:xfrm>
            <a:off x="8412480" y="509320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savers keep savings as cash at home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Proposal</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is the system. Raqami is the machine. Every rupee stays inside Raqami.</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6</a:t>
            </a:r>
          </a:p>
        </p:txBody>
      </p:sp>
      <p:sp>
        <p:nvSpPr>
          <p:cNvPr id="6" name="Rectangle 5"/>
          <p:cNvSpPr/>
          <p:nvPr/>
        </p:nvSpPr>
        <p:spPr>
          <a:xfrm>
            <a:off x="2670048" y="1783080"/>
            <a:ext cx="2468880" cy="868680"/>
          </a:xfrm>
          <a:prstGeom prst="rect">
            <a:avLst/>
          </a:prstGeom>
          <a:solidFill>
            <a:srgbClr val="F3FCE7"/>
          </a:solidFill>
          <a:ln w="12700">
            <a:solidFill>
              <a:srgbClr val="41801A"/>
            </a:solidFill>
          </a:ln>
        </p:spPr>
        <p:txBody>
          <a:bodyPr rtlCol="0" anchor="ctr" lIns="0" rIns="0"/>
          <a:lstStyle/>
          <a:p>
            <a:pPr algn="ctr"/>
          </a:p>
        </p:txBody>
      </p:sp>
      <p:sp>
        <p:nvSpPr>
          <p:cNvPr id="7" name="TextBox 6"/>
          <p:cNvSpPr txBox="1"/>
          <p:nvPr/>
        </p:nvSpPr>
        <p:spPr>
          <a:xfrm>
            <a:off x="2761488" y="1856231"/>
            <a:ext cx="2286000" cy="274320"/>
          </a:xfrm>
          <a:prstGeom prst="rect">
            <a:avLst/>
          </a:prstGeom>
          <a:noFill/>
        </p:spPr>
        <p:txBody>
          <a:bodyPr wrap="square" lIns="0" rIns="0" tIns="0" bIns="0" anchor="t">
            <a:noAutofit/>
          </a:bodyPr>
          <a:lstStyle/>
          <a:p>
            <a:pPr algn="ctr">
              <a:lnSpc>
                <a:spcPct val="110000"/>
              </a:lnSpc>
            </a:pPr>
            <a:r>
              <a:rPr sz="1400" b="1" i="0">
                <a:solidFill>
                  <a:srgbClr val="41801A"/>
                </a:solidFill>
                <a:latin typeface="Arial"/>
              </a:rPr>
              <a:t>Halqa</a:t>
            </a:r>
          </a:p>
        </p:txBody>
      </p:sp>
      <p:sp>
        <p:nvSpPr>
          <p:cNvPr id="8" name="TextBox 7"/>
          <p:cNvSpPr txBox="1"/>
          <p:nvPr/>
        </p:nvSpPr>
        <p:spPr>
          <a:xfrm>
            <a:off x="2761488" y="2148840"/>
            <a:ext cx="2286000" cy="457199"/>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rules, turns, checks, records</a:t>
            </a:r>
          </a:p>
        </p:txBody>
      </p:sp>
      <p:sp>
        <p:nvSpPr>
          <p:cNvPr id="9" name="Rectangle 8"/>
          <p:cNvSpPr/>
          <p:nvPr/>
        </p:nvSpPr>
        <p:spPr>
          <a:xfrm>
            <a:off x="566928" y="3520439"/>
            <a:ext cx="6675120" cy="2148840"/>
          </a:xfrm>
          <a:prstGeom prst="rect">
            <a:avLst/>
          </a:prstGeom>
          <a:noFill/>
          <a:ln w="19050">
            <a:solidFill>
              <a:srgbClr val="3B4148"/>
            </a:solidFill>
          </a:ln>
        </p:spPr>
        <p:txBody>
          <a:bodyPr rtlCol="0" anchor="ctr" lIns="0" rIns="0"/>
          <a:lstStyle/>
          <a:p>
            <a:pPr algn="ctr"/>
          </a:p>
        </p:txBody>
      </p:sp>
      <p:sp>
        <p:nvSpPr>
          <p:cNvPr id="10" name="TextBox 9"/>
          <p:cNvSpPr txBox="1"/>
          <p:nvPr/>
        </p:nvSpPr>
        <p:spPr>
          <a:xfrm>
            <a:off x="704088" y="3611879"/>
            <a:ext cx="6400800" cy="274320"/>
          </a:xfrm>
          <a:prstGeom prst="rect">
            <a:avLst/>
          </a:prstGeom>
          <a:noFill/>
        </p:spPr>
        <p:txBody>
          <a:bodyPr wrap="square" lIns="0" rIns="0" tIns="0" bIns="0" anchor="t">
            <a:noAutofit/>
          </a:bodyPr>
          <a:lstStyle/>
          <a:p>
            <a:pPr algn="l">
              <a:lnSpc>
                <a:spcPct val="110000"/>
              </a:lnSpc>
            </a:pPr>
            <a:r>
              <a:rPr sz="1300" b="1" i="0">
                <a:solidFill>
                  <a:srgbClr val="3B4148"/>
                </a:solidFill>
                <a:latin typeface="Arial"/>
              </a:rPr>
              <a:t>Inside Raqami Islamic Digital Bank</a:t>
            </a:r>
          </a:p>
        </p:txBody>
      </p:sp>
      <p:sp>
        <p:nvSpPr>
          <p:cNvPr id="11" name="Rectangle 10"/>
          <p:cNvSpPr/>
          <p:nvPr/>
        </p:nvSpPr>
        <p:spPr>
          <a:xfrm>
            <a:off x="795528"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2" name="TextBox 11"/>
          <p:cNvSpPr txBox="1"/>
          <p:nvPr/>
        </p:nvSpPr>
        <p:spPr>
          <a:xfrm>
            <a:off x="886968"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Members' accounts</a:t>
            </a:r>
          </a:p>
        </p:txBody>
      </p:sp>
      <p:sp>
        <p:nvSpPr>
          <p:cNvPr id="13" name="TextBox 12"/>
          <p:cNvSpPr txBox="1"/>
          <p:nvPr/>
        </p:nvSpPr>
        <p:spPr>
          <a:xfrm>
            <a:off x="886968"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Rs 10,000 debited from each</a:t>
            </a:r>
          </a:p>
        </p:txBody>
      </p:sp>
      <p:sp>
        <p:nvSpPr>
          <p:cNvPr id="14" name="Rectangle 13"/>
          <p:cNvSpPr/>
          <p:nvPr/>
        </p:nvSpPr>
        <p:spPr>
          <a:xfrm>
            <a:off x="3008376"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5" name="TextBox 14"/>
          <p:cNvSpPr txBox="1"/>
          <p:nvPr/>
        </p:nvSpPr>
        <p:spPr>
          <a:xfrm>
            <a:off x="3099816"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Circle account</a:t>
            </a:r>
          </a:p>
        </p:txBody>
      </p:sp>
      <p:sp>
        <p:nvSpPr>
          <p:cNvPr id="16" name="TextBox 15"/>
          <p:cNvSpPr txBox="1"/>
          <p:nvPr/>
        </p:nvSpPr>
        <p:spPr>
          <a:xfrm>
            <a:off x="3099816"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pot gathers on the due date</a:t>
            </a:r>
          </a:p>
        </p:txBody>
      </p:sp>
      <p:sp>
        <p:nvSpPr>
          <p:cNvPr id="17" name="Rectangle 16"/>
          <p:cNvSpPr/>
          <p:nvPr/>
        </p:nvSpPr>
        <p:spPr>
          <a:xfrm>
            <a:off x="5230368"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8" name="TextBox 17"/>
          <p:cNvSpPr txBox="1"/>
          <p:nvPr/>
        </p:nvSpPr>
        <p:spPr>
          <a:xfrm>
            <a:off x="5321807"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Collector's account</a:t>
            </a:r>
          </a:p>
        </p:txBody>
      </p:sp>
      <p:sp>
        <p:nvSpPr>
          <p:cNvPr id="19" name="TextBox 18"/>
          <p:cNvSpPr txBox="1"/>
          <p:nvPr/>
        </p:nvSpPr>
        <p:spPr>
          <a:xfrm>
            <a:off x="5321807"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Rs 120,000, the same day</a:t>
            </a:r>
          </a:p>
        </p:txBody>
      </p:sp>
      <p:cxnSp>
        <p:nvCxnSpPr>
          <p:cNvPr id="20" name="Connector 19"/>
          <p:cNvCxnSpPr/>
          <p:nvPr/>
        </p:nvCxnSpPr>
        <p:spPr>
          <a:xfrm>
            <a:off x="2578608" y="4636007"/>
            <a:ext cx="429768" cy="0"/>
          </a:xfrm>
          <a:prstGeom prst="line">
            <a:avLst/>
          </a:prstGeom>
          <a:ln w="50800">
            <a:solidFill>
              <a:srgbClr val="6DC72A"/>
            </a:solidFill>
            <a:tailEnd type="triangle" w="med" len="med"/>
          </a:ln>
        </p:spPr>
      </p:cxnSp>
      <p:cxnSp>
        <p:nvCxnSpPr>
          <p:cNvPr id="21" name="Connector 20"/>
          <p:cNvCxnSpPr/>
          <p:nvPr/>
        </p:nvCxnSpPr>
        <p:spPr>
          <a:xfrm>
            <a:off x="4791456" y="4636007"/>
            <a:ext cx="438912" cy="0"/>
          </a:xfrm>
          <a:prstGeom prst="line">
            <a:avLst/>
          </a:prstGeom>
          <a:ln w="50800">
            <a:solidFill>
              <a:srgbClr val="6DC72A"/>
            </a:solidFill>
            <a:tailEnd type="triangle" w="med" len="med"/>
          </a:ln>
        </p:spPr>
      </p:cxnSp>
      <p:cxnSp>
        <p:nvCxnSpPr>
          <p:cNvPr id="22" name="Connector 21"/>
          <p:cNvCxnSpPr/>
          <p:nvPr/>
        </p:nvCxnSpPr>
        <p:spPr>
          <a:xfrm>
            <a:off x="3401568" y="2651760"/>
            <a:ext cx="0" cy="868679"/>
          </a:xfrm>
          <a:prstGeom prst="line">
            <a:avLst/>
          </a:prstGeom>
          <a:ln w="12700">
            <a:solidFill>
              <a:srgbClr val="0C1408"/>
            </a:solidFill>
            <a:tailEnd type="triangle" w="med" len="med"/>
          </a:ln>
        </p:spPr>
      </p:cxnSp>
      <p:cxnSp>
        <p:nvCxnSpPr>
          <p:cNvPr id="23" name="Connector 22"/>
          <p:cNvCxnSpPr/>
          <p:nvPr/>
        </p:nvCxnSpPr>
        <p:spPr>
          <a:xfrm flipV="1">
            <a:off x="4407408" y="2651760"/>
            <a:ext cx="0" cy="868679"/>
          </a:xfrm>
          <a:prstGeom prst="line">
            <a:avLst/>
          </a:prstGeom>
          <a:ln w="12700">
            <a:solidFill>
              <a:srgbClr val="0C1408"/>
            </a:solidFill>
            <a:tailEnd type="triangle" w="med" len="med"/>
          </a:ln>
        </p:spPr>
      </p:cxnSp>
      <p:sp>
        <p:nvSpPr>
          <p:cNvPr id="24" name="TextBox 23"/>
          <p:cNvSpPr txBox="1"/>
          <p:nvPr/>
        </p:nvSpPr>
        <p:spPr>
          <a:xfrm>
            <a:off x="566928" y="2880360"/>
            <a:ext cx="2743200" cy="457200"/>
          </a:xfrm>
          <a:prstGeom prst="rect">
            <a:avLst/>
          </a:prstGeom>
          <a:noFill/>
        </p:spPr>
        <p:txBody>
          <a:bodyPr wrap="square" lIns="0" rIns="0" tIns="0" bIns="0" anchor="t">
            <a:noAutofit/>
          </a:bodyPr>
          <a:lstStyle/>
          <a:p>
            <a:pPr algn="r">
              <a:lnSpc>
                <a:spcPct val="110000"/>
              </a:lnSpc>
            </a:pPr>
            <a:r>
              <a:rPr sz="1100" b="0" i="0">
                <a:solidFill>
                  <a:srgbClr val="5B6456"/>
                </a:solidFill>
                <a:latin typeface="Arial"/>
              </a:rPr>
              <a:t>instructions</a:t>
            </a:r>
          </a:p>
        </p:txBody>
      </p:sp>
      <p:sp>
        <p:nvSpPr>
          <p:cNvPr id="25" name="TextBox 24"/>
          <p:cNvSpPr txBox="1"/>
          <p:nvPr/>
        </p:nvSpPr>
        <p:spPr>
          <a:xfrm>
            <a:off x="4544568" y="2880360"/>
            <a:ext cx="2194560" cy="4572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confirmations</a:t>
            </a:r>
          </a:p>
        </p:txBody>
      </p:sp>
      <p:cxnSp>
        <p:nvCxnSpPr>
          <p:cNvPr id="26" name="Connector 25"/>
          <p:cNvCxnSpPr/>
          <p:nvPr/>
        </p:nvCxnSpPr>
        <p:spPr>
          <a:xfrm>
            <a:off x="566928" y="1892807"/>
            <a:ext cx="457200" cy="0"/>
          </a:xfrm>
          <a:prstGeom prst="line">
            <a:avLst/>
          </a:prstGeom>
          <a:ln w="50800">
            <a:solidFill>
              <a:srgbClr val="6DC72A"/>
            </a:solidFill>
          </a:ln>
        </p:spPr>
      </p:cxnSp>
      <p:sp>
        <p:nvSpPr>
          <p:cNvPr id="27" name="TextBox 26"/>
          <p:cNvSpPr txBox="1"/>
          <p:nvPr/>
        </p:nvSpPr>
        <p:spPr>
          <a:xfrm>
            <a:off x="1115568" y="1783080"/>
            <a:ext cx="1097280"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money</a:t>
            </a:r>
          </a:p>
        </p:txBody>
      </p:sp>
      <p:cxnSp>
        <p:nvCxnSpPr>
          <p:cNvPr id="28" name="Connector 27"/>
          <p:cNvCxnSpPr/>
          <p:nvPr/>
        </p:nvCxnSpPr>
        <p:spPr>
          <a:xfrm>
            <a:off x="566928" y="2212848"/>
            <a:ext cx="457200" cy="0"/>
          </a:xfrm>
          <a:prstGeom prst="line">
            <a:avLst/>
          </a:prstGeom>
          <a:ln w="12700">
            <a:solidFill>
              <a:srgbClr val="0C1408"/>
            </a:solidFill>
          </a:ln>
        </p:spPr>
      </p:cxnSp>
      <p:sp>
        <p:nvSpPr>
          <p:cNvPr id="29" name="TextBox 28"/>
          <p:cNvSpPr txBox="1"/>
          <p:nvPr/>
        </p:nvSpPr>
        <p:spPr>
          <a:xfrm>
            <a:off x="1115568" y="2103120"/>
            <a:ext cx="1463040"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instructions</a:t>
            </a:r>
          </a:p>
        </p:txBody>
      </p:sp>
      <p:sp>
        <p:nvSpPr>
          <p:cNvPr id="30" name="TextBox 29"/>
          <p:cNvSpPr txBox="1"/>
          <p:nvPr/>
        </p:nvSpPr>
        <p:spPr>
          <a:xfrm>
            <a:off x="566928" y="5897880"/>
            <a:ext cx="6766560" cy="274320"/>
          </a:xfrm>
          <a:prstGeom prst="rect">
            <a:avLst/>
          </a:prstGeom>
          <a:noFill/>
        </p:spPr>
        <p:txBody>
          <a:bodyPr wrap="square" lIns="0" rIns="0" tIns="0" bIns="0" anchor="t">
            <a:noAutofit/>
          </a:bodyPr>
          <a:lstStyle/>
          <a:p>
            <a:pPr algn="l">
              <a:lnSpc>
                <a:spcPct val="110000"/>
              </a:lnSpc>
            </a:pPr>
            <a:r>
              <a:rPr sz="1200" b="1" i="0">
                <a:solidFill>
                  <a:srgbClr val="41801A"/>
                </a:solidFill>
                <a:latin typeface="Arial"/>
              </a:rPr>
              <a:t>Halqa never holds member money and never lends.</a:t>
            </a:r>
          </a:p>
        </p:txBody>
      </p:sp>
      <p:sp>
        <p:nvSpPr>
          <p:cNvPr id="31" name="TextBox 30"/>
          <p:cNvSpPr txBox="1"/>
          <p:nvPr/>
        </p:nvSpPr>
        <p:spPr>
          <a:xfrm>
            <a:off x="8001000" y="1828800"/>
            <a:ext cx="356616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Halqa runs</a:t>
            </a:r>
          </a:p>
        </p:txBody>
      </p:sp>
      <p:cxnSp>
        <p:nvCxnSpPr>
          <p:cNvPr id="32" name="Connector 31"/>
          <p:cNvCxnSpPr/>
          <p:nvPr/>
        </p:nvCxnSpPr>
        <p:spPr>
          <a:xfrm>
            <a:off x="8001000" y="2176272"/>
            <a:ext cx="3611880" cy="0"/>
          </a:xfrm>
          <a:prstGeom prst="line">
            <a:avLst/>
          </a:prstGeom>
          <a:ln w="9525">
            <a:solidFill>
              <a:srgbClr val="41801A"/>
            </a:solidFill>
          </a:ln>
        </p:spPr>
      </p:cxnSp>
      <p:sp>
        <p:nvSpPr>
          <p:cNvPr id="33" name="TextBox 32"/>
          <p:cNvSpPr txBox="1"/>
          <p:nvPr/>
        </p:nvSpPr>
        <p:spPr>
          <a:xfrm>
            <a:off x="8001000" y="2286000"/>
            <a:ext cx="3611880" cy="1554480"/>
          </a:xfrm>
          <a:prstGeom prst="rect">
            <a:avLst/>
          </a:prstGeom>
          <a:noFill/>
        </p:spPr>
        <p:txBody>
          <a:bodyPr wrap="square" lIns="0" rIns="0" tIns="0" bIns="0" anchor="t">
            <a:noAutofit/>
          </a:bodyPr>
          <a:lstStyle/>
          <a:p>
            <a:pPr algn="l">
              <a:lnSpc>
                <a:spcPct val="110000"/>
              </a:lnSpc>
              <a:spcAft>
                <a:spcPts val="500"/>
              </a:spcAft>
            </a:pPr>
            <a:r>
              <a:rPr sz="1300" b="0" i="0">
                <a:solidFill>
                  <a:srgbClr val="0C1408"/>
                </a:solidFill>
                <a:latin typeface="Arial"/>
              </a:rPr>
              <a:t>Hosts, members, circles and the order of turns</a:t>
            </a:r>
          </a:p>
          <a:p>
            <a:pPr algn="l">
              <a:lnSpc>
                <a:spcPct val="110000"/>
              </a:lnSpc>
              <a:spcAft>
                <a:spcPts val="500"/>
              </a:spcAft>
            </a:pPr>
            <a:r>
              <a:rPr sz="1300" b="0" i="0">
                <a:solidFill>
                  <a:srgbClr val="0C1408"/>
                </a:solidFill>
                <a:latin typeface="Arial"/>
              </a:rPr>
              <a:t>Checks on identity, income and affordability</a:t>
            </a:r>
          </a:p>
          <a:p>
            <a:pPr algn="l">
              <a:lnSpc>
                <a:spcPct val="110000"/>
              </a:lnSpc>
              <a:spcAft>
                <a:spcPts val="500"/>
              </a:spcAft>
            </a:pPr>
            <a:r>
              <a:rPr sz="1300" b="0" i="0">
                <a:solidFill>
                  <a:srgbClr val="0C1408"/>
                </a:solidFill>
                <a:latin typeface="Arial"/>
              </a:rPr>
              <a:t>Reminders, late payments and recovery</a:t>
            </a:r>
          </a:p>
          <a:p>
            <a:pPr algn="l">
              <a:lnSpc>
                <a:spcPct val="110000"/>
              </a:lnSpc>
              <a:spcAft>
                <a:spcPts val="500"/>
              </a:spcAft>
            </a:pPr>
            <a:r>
              <a:rPr sz="1300" b="0" i="0">
                <a:solidFill>
                  <a:srgbClr val="0C1408"/>
                </a:solidFill>
                <a:latin typeface="Arial"/>
              </a:rPr>
              <a:t>The ledger, receipts and records</a:t>
            </a:r>
          </a:p>
        </p:txBody>
      </p:sp>
      <p:sp>
        <p:nvSpPr>
          <p:cNvPr id="34" name="TextBox 33"/>
          <p:cNvSpPr txBox="1"/>
          <p:nvPr/>
        </p:nvSpPr>
        <p:spPr>
          <a:xfrm>
            <a:off x="8001000" y="3886200"/>
            <a:ext cx="3566160" cy="274320"/>
          </a:xfrm>
          <a:prstGeom prst="rect">
            <a:avLst/>
          </a:prstGeom>
          <a:noFill/>
        </p:spPr>
        <p:txBody>
          <a:bodyPr wrap="square" lIns="0" rIns="0" tIns="0" bIns="0" anchor="t">
            <a:noAutofit/>
          </a:bodyPr>
          <a:lstStyle/>
          <a:p>
            <a:pPr algn="l">
              <a:lnSpc>
                <a:spcPct val="110000"/>
              </a:lnSpc>
            </a:pPr>
            <a:r>
              <a:rPr sz="1500" b="1" i="0">
                <a:solidFill>
                  <a:srgbClr val="3B4148"/>
                </a:solidFill>
                <a:latin typeface="Arial"/>
              </a:rPr>
              <a:t>Raqami runs</a:t>
            </a:r>
          </a:p>
        </p:txBody>
      </p:sp>
      <p:cxnSp>
        <p:nvCxnSpPr>
          <p:cNvPr id="35" name="Connector 34"/>
          <p:cNvCxnSpPr/>
          <p:nvPr/>
        </p:nvCxnSpPr>
        <p:spPr>
          <a:xfrm>
            <a:off x="8001000" y="4233672"/>
            <a:ext cx="3611880" cy="0"/>
          </a:xfrm>
          <a:prstGeom prst="line">
            <a:avLst/>
          </a:prstGeom>
          <a:ln w="9525">
            <a:solidFill>
              <a:srgbClr val="3B4148"/>
            </a:solidFill>
          </a:ln>
        </p:spPr>
      </p:cxnSp>
      <p:sp>
        <p:nvSpPr>
          <p:cNvPr id="36" name="TextBox 35"/>
          <p:cNvSpPr txBox="1"/>
          <p:nvPr/>
        </p:nvSpPr>
        <p:spPr>
          <a:xfrm>
            <a:off x="8001000" y="4343400"/>
            <a:ext cx="3611880" cy="1554480"/>
          </a:xfrm>
          <a:prstGeom prst="rect">
            <a:avLst/>
          </a:prstGeom>
          <a:noFill/>
        </p:spPr>
        <p:txBody>
          <a:bodyPr wrap="square" lIns="0" rIns="0" tIns="0" bIns="0" anchor="t">
            <a:noAutofit/>
          </a:bodyPr>
          <a:lstStyle/>
          <a:p>
            <a:pPr algn="l">
              <a:lnSpc>
                <a:spcPct val="110000"/>
              </a:lnSpc>
              <a:spcAft>
                <a:spcPts val="500"/>
              </a:spcAft>
            </a:pPr>
            <a:r>
              <a:rPr sz="1300" b="0" i="0">
                <a:solidFill>
                  <a:srgbClr val="0C1408"/>
                </a:solidFill>
                <a:latin typeface="Arial"/>
              </a:rPr>
              <a:t>Accounts and customer checks</a:t>
            </a:r>
          </a:p>
          <a:p>
            <a:pPr algn="l">
              <a:lnSpc>
                <a:spcPct val="110000"/>
              </a:lnSpc>
              <a:spcAft>
                <a:spcPts val="500"/>
              </a:spcAft>
            </a:pPr>
            <a:r>
              <a:rPr sz="1300" b="0" i="0">
                <a:solidFill>
                  <a:srgbClr val="0C1408"/>
                </a:solidFill>
                <a:latin typeface="Arial"/>
              </a:rPr>
              <a:t>Debits and payouts</a:t>
            </a:r>
          </a:p>
          <a:p>
            <a:pPr algn="l">
              <a:lnSpc>
                <a:spcPct val="110000"/>
              </a:lnSpc>
              <a:spcAft>
                <a:spcPts val="500"/>
              </a:spcAft>
            </a:pPr>
            <a:r>
              <a:rPr sz="1300" b="0" i="0">
                <a:solidFill>
                  <a:srgbClr val="0C1408"/>
                </a:solidFill>
                <a:latin typeface="Arial"/>
              </a:rPr>
              <a:t>Term deposits and profit sharing</a:t>
            </a:r>
          </a:p>
          <a:p>
            <a:pPr algn="l">
              <a:lnSpc>
                <a:spcPct val="110000"/>
              </a:lnSpc>
              <a:spcAft>
                <a:spcPts val="500"/>
              </a:spcAft>
            </a:pPr>
            <a:r>
              <a:rPr sz="1300" b="0" i="0">
                <a:solidFill>
                  <a:srgbClr val="0C1408"/>
                </a:solidFill>
                <a:latin typeface="Arial"/>
              </a:rPr>
              <a:t>Takaful cover and credit reporting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Product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Members do everything in the Halqa application. Under the partnership, the Raqami account opens inside it.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Screens from the Halqa application in preview, with sample data.</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7</a:t>
            </a:r>
          </a:p>
        </p:txBody>
      </p:sp>
      <p:pic>
        <p:nvPicPr>
          <p:cNvPr id="7" name="Picture 6" descr="screen_committees.png"/>
          <p:cNvPicPr>
            <a:picLocks noChangeAspect="1"/>
          </p:cNvPicPr>
          <p:nvPr/>
        </p:nvPicPr>
        <p:blipFill>
          <a:blip r:embed="rId4"/>
          <a:stretch>
            <a:fillRect/>
          </a:stretch>
        </p:blipFill>
        <p:spPr>
          <a:xfrm>
            <a:off x="1097280" y="1737360"/>
            <a:ext cx="1632667" cy="3429000"/>
          </a:xfrm>
          <a:prstGeom prst="rect">
            <a:avLst/>
          </a:prstGeom>
        </p:spPr>
      </p:pic>
      <p:sp>
        <p:nvSpPr>
          <p:cNvPr id="8" name="TextBox 7"/>
          <p:cNvSpPr txBox="1"/>
          <p:nvPr/>
        </p:nvSpPr>
        <p:spPr>
          <a:xfrm>
            <a:off x="1097280"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1   Join a circle</a:t>
            </a:r>
          </a:p>
        </p:txBody>
      </p:sp>
      <p:sp>
        <p:nvSpPr>
          <p:cNvPr id="9" name="TextBox 8"/>
          <p:cNvSpPr txBox="1"/>
          <p:nvPr/>
        </p:nvSpPr>
        <p:spPr>
          <a:xfrm>
            <a:off x="1097280"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Only circles and turns the member qualifies for</a:t>
            </a:r>
          </a:p>
        </p:txBody>
      </p:sp>
      <p:pic>
        <p:nvPicPr>
          <p:cNvPr id="10" name="Picture 9" descr="screen_autopay.png"/>
          <p:cNvPicPr>
            <a:picLocks noChangeAspect="1"/>
          </p:cNvPicPr>
          <p:nvPr/>
        </p:nvPicPr>
        <p:blipFill>
          <a:blip r:embed="rId5"/>
          <a:stretch>
            <a:fillRect/>
          </a:stretch>
        </p:blipFill>
        <p:spPr>
          <a:xfrm>
            <a:off x="3918667" y="1737360"/>
            <a:ext cx="1632667" cy="3429000"/>
          </a:xfrm>
          <a:prstGeom prst="rect">
            <a:avLst/>
          </a:prstGeom>
        </p:spPr>
      </p:pic>
      <p:sp>
        <p:nvSpPr>
          <p:cNvPr id="11" name="TextBox 10"/>
          <p:cNvSpPr txBox="1"/>
          <p:nvPr/>
        </p:nvSpPr>
        <p:spPr>
          <a:xfrm>
            <a:off x="3918667"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2   Pay automatically</a:t>
            </a:r>
          </a:p>
        </p:txBody>
      </p:sp>
      <p:sp>
        <p:nvSpPr>
          <p:cNvPr id="12" name="TextBox 11"/>
          <p:cNvSpPr txBox="1"/>
          <p:nvPr/>
        </p:nvSpPr>
        <p:spPr>
          <a:xfrm>
            <a:off x="3918667"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Debited by Raqami on the due date</a:t>
            </a:r>
          </a:p>
        </p:txBody>
      </p:sp>
      <p:pic>
        <p:nvPicPr>
          <p:cNvPr id="13" name="Picture 12" descr="screen_activity.png"/>
          <p:cNvPicPr>
            <a:picLocks noChangeAspect="1"/>
          </p:cNvPicPr>
          <p:nvPr/>
        </p:nvPicPr>
        <p:blipFill>
          <a:blip r:embed="rId6"/>
          <a:stretch>
            <a:fillRect/>
          </a:stretch>
        </p:blipFill>
        <p:spPr>
          <a:xfrm>
            <a:off x="6740054" y="1737360"/>
            <a:ext cx="1632667" cy="3429000"/>
          </a:xfrm>
          <a:prstGeom prst="rect">
            <a:avLst/>
          </a:prstGeom>
        </p:spPr>
      </p:pic>
      <p:sp>
        <p:nvSpPr>
          <p:cNvPr id="14" name="TextBox 13"/>
          <p:cNvSpPr txBox="1"/>
          <p:nvPr/>
        </p:nvSpPr>
        <p:spPr>
          <a:xfrm>
            <a:off x="6740054"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3   Collect the pot</a:t>
            </a:r>
          </a:p>
        </p:txBody>
      </p:sp>
      <p:sp>
        <p:nvSpPr>
          <p:cNvPr id="15" name="TextBox 14"/>
          <p:cNvSpPr txBox="1"/>
          <p:nvPr/>
        </p:nvSpPr>
        <p:spPr>
          <a:xfrm>
            <a:off x="6740054"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Paid into the member's own account</a:t>
            </a:r>
          </a:p>
        </p:txBody>
      </p:sp>
      <p:pic>
        <p:nvPicPr>
          <p:cNvPr id="16" name="Picture 15" descr="screen_credit.png"/>
          <p:cNvPicPr>
            <a:picLocks noChangeAspect="1"/>
          </p:cNvPicPr>
          <p:nvPr/>
        </p:nvPicPr>
        <p:blipFill>
          <a:blip r:embed="rId7"/>
          <a:stretch>
            <a:fillRect/>
          </a:stretch>
        </p:blipFill>
        <p:spPr>
          <a:xfrm>
            <a:off x="9561441" y="1737360"/>
            <a:ext cx="1632667" cy="3429000"/>
          </a:xfrm>
          <a:prstGeom prst="rect">
            <a:avLst/>
          </a:prstGeom>
        </p:spPr>
      </p:pic>
      <p:sp>
        <p:nvSpPr>
          <p:cNvPr id="17" name="TextBox 16"/>
          <p:cNvSpPr txBox="1"/>
          <p:nvPr/>
        </p:nvSpPr>
        <p:spPr>
          <a:xfrm>
            <a:off x="9561441"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4   Build a credit record</a:t>
            </a:r>
          </a:p>
        </p:txBody>
      </p:sp>
      <p:sp>
        <p:nvSpPr>
          <p:cNvPr id="18" name="TextBox 17"/>
          <p:cNvSpPr txBox="1"/>
          <p:nvPr/>
        </p:nvSpPr>
        <p:spPr>
          <a:xfrm>
            <a:off x="9561441"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Every payment scored and reported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A Month Inside Raqami</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Each step runs on a Raqami product. Automatic debit is the one new piece.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Raqami product pages and FAQ, read 29 September 2026. The due date of the 8th is proposed; the 7 day term fits where payday is at least seven days before it.</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8</a:t>
            </a:r>
          </a:p>
        </p:txBody>
      </p:sp>
      <p:sp>
        <p:nvSpPr>
          <p:cNvPr id="7" name="Rectangle 6"/>
          <p:cNvSpPr/>
          <p:nvPr/>
        </p:nvSpPr>
        <p:spPr>
          <a:xfrm>
            <a:off x="658368" y="2633472"/>
            <a:ext cx="2828544" cy="329184"/>
          </a:xfrm>
          <a:prstGeom prst="rect">
            <a:avLst/>
          </a:prstGeom>
          <a:solidFill>
            <a:srgbClr val="A9DE7F"/>
          </a:solidFill>
          <a:ln>
            <a:noFill/>
          </a:ln>
        </p:spPr>
        <p:txBody>
          <a:bodyPr rtlCol="0" anchor="ctr" lIns="0" rIns="0"/>
          <a:lstStyle/>
          <a:p>
            <a:pPr algn="ctr"/>
          </a:p>
        </p:txBody>
      </p:sp>
      <p:sp>
        <p:nvSpPr>
          <p:cNvPr id="8" name="TextBox 7"/>
          <p:cNvSpPr txBox="1"/>
          <p:nvPr/>
        </p:nvSpPr>
        <p:spPr>
          <a:xfrm>
            <a:off x="658368" y="2331720"/>
            <a:ext cx="4200144" cy="27432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instalment waiting and earning profit</a:t>
            </a:r>
          </a:p>
        </p:txBody>
      </p:sp>
      <p:sp>
        <p:nvSpPr>
          <p:cNvPr id="9" name="Rectangle 8"/>
          <p:cNvSpPr/>
          <p:nvPr/>
        </p:nvSpPr>
        <p:spPr>
          <a:xfrm>
            <a:off x="3486912" y="2633472"/>
            <a:ext cx="1767840" cy="329184"/>
          </a:xfrm>
          <a:prstGeom prst="rect">
            <a:avLst/>
          </a:prstGeom>
          <a:solidFill>
            <a:srgbClr val="DDE3D9"/>
          </a:solidFill>
          <a:ln>
            <a:noFill/>
          </a:ln>
        </p:spPr>
        <p:txBody>
          <a:bodyPr rtlCol="0" anchor="ctr" lIns="0" rIns="0"/>
          <a:lstStyle/>
          <a:p>
            <a:pPr algn="ctr"/>
          </a:p>
        </p:txBody>
      </p:sp>
      <p:sp>
        <p:nvSpPr>
          <p:cNvPr id="10" name="TextBox 9"/>
          <p:cNvSpPr txBox="1"/>
          <p:nvPr/>
        </p:nvSpPr>
        <p:spPr>
          <a:xfrm>
            <a:off x="3486912" y="2331720"/>
            <a:ext cx="3139440" cy="27432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retries</a:t>
            </a:r>
          </a:p>
        </p:txBody>
      </p:sp>
      <p:cxnSp>
        <p:nvCxnSpPr>
          <p:cNvPr id="11" name="Connector 10"/>
          <p:cNvCxnSpPr/>
          <p:nvPr/>
        </p:nvCxnSpPr>
        <p:spPr>
          <a:xfrm>
            <a:off x="658368" y="3017520"/>
            <a:ext cx="10607040" cy="0"/>
          </a:xfrm>
          <a:prstGeom prst="line">
            <a:avLst/>
          </a:prstGeom>
          <a:ln w="9525">
            <a:solidFill>
              <a:srgbClr val="0C1408"/>
            </a:solidFill>
          </a:ln>
        </p:spPr>
      </p:cxnSp>
      <p:cxnSp>
        <p:nvCxnSpPr>
          <p:cNvPr id="12" name="Connector 11"/>
          <p:cNvCxnSpPr/>
          <p:nvPr/>
        </p:nvCxnSpPr>
        <p:spPr>
          <a:xfrm>
            <a:off x="835152" y="3017520"/>
            <a:ext cx="0" cy="54864"/>
          </a:xfrm>
          <a:prstGeom prst="line">
            <a:avLst/>
          </a:prstGeom>
          <a:ln w="9525">
            <a:solidFill>
              <a:srgbClr val="0C1408"/>
            </a:solidFill>
          </a:ln>
        </p:spPr>
      </p:cxnSp>
      <p:sp>
        <p:nvSpPr>
          <p:cNvPr id="13" name="TextBox 12"/>
          <p:cNvSpPr txBox="1"/>
          <p:nvPr/>
        </p:nvSpPr>
        <p:spPr>
          <a:xfrm>
            <a:off x="606552"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a:t>
            </a:r>
          </a:p>
        </p:txBody>
      </p:sp>
      <p:cxnSp>
        <p:nvCxnSpPr>
          <p:cNvPr id="14" name="Connector 13"/>
          <p:cNvCxnSpPr/>
          <p:nvPr/>
        </p:nvCxnSpPr>
        <p:spPr>
          <a:xfrm>
            <a:off x="2249424" y="3017520"/>
            <a:ext cx="0" cy="54864"/>
          </a:xfrm>
          <a:prstGeom prst="line">
            <a:avLst/>
          </a:prstGeom>
          <a:ln w="9525">
            <a:solidFill>
              <a:srgbClr val="0C1408"/>
            </a:solidFill>
          </a:ln>
        </p:spPr>
      </p:cxnSp>
      <p:sp>
        <p:nvSpPr>
          <p:cNvPr id="15" name="TextBox 14"/>
          <p:cNvSpPr txBox="1"/>
          <p:nvPr/>
        </p:nvSpPr>
        <p:spPr>
          <a:xfrm>
            <a:off x="202082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5</a:t>
            </a:r>
          </a:p>
        </p:txBody>
      </p:sp>
      <p:cxnSp>
        <p:nvCxnSpPr>
          <p:cNvPr id="16" name="Connector 15"/>
          <p:cNvCxnSpPr/>
          <p:nvPr/>
        </p:nvCxnSpPr>
        <p:spPr>
          <a:xfrm>
            <a:off x="3310128" y="3017520"/>
            <a:ext cx="0" cy="54864"/>
          </a:xfrm>
          <a:prstGeom prst="line">
            <a:avLst/>
          </a:prstGeom>
          <a:ln w="9525">
            <a:solidFill>
              <a:srgbClr val="0C1408"/>
            </a:solidFill>
          </a:ln>
        </p:spPr>
      </p:cxnSp>
      <p:sp>
        <p:nvSpPr>
          <p:cNvPr id="17" name="TextBox 16"/>
          <p:cNvSpPr txBox="1"/>
          <p:nvPr/>
        </p:nvSpPr>
        <p:spPr>
          <a:xfrm>
            <a:off x="3081528"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8</a:t>
            </a:r>
          </a:p>
        </p:txBody>
      </p:sp>
      <p:cxnSp>
        <p:nvCxnSpPr>
          <p:cNvPr id="18" name="Connector 17"/>
          <p:cNvCxnSpPr/>
          <p:nvPr/>
        </p:nvCxnSpPr>
        <p:spPr>
          <a:xfrm>
            <a:off x="4017264" y="3017520"/>
            <a:ext cx="0" cy="54864"/>
          </a:xfrm>
          <a:prstGeom prst="line">
            <a:avLst/>
          </a:prstGeom>
          <a:ln w="9525">
            <a:solidFill>
              <a:srgbClr val="0C1408"/>
            </a:solidFill>
          </a:ln>
        </p:spPr>
      </p:cxnSp>
      <p:sp>
        <p:nvSpPr>
          <p:cNvPr id="19" name="TextBox 18"/>
          <p:cNvSpPr txBox="1"/>
          <p:nvPr/>
        </p:nvSpPr>
        <p:spPr>
          <a:xfrm>
            <a:off x="378866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10</a:t>
            </a:r>
          </a:p>
        </p:txBody>
      </p:sp>
      <p:cxnSp>
        <p:nvCxnSpPr>
          <p:cNvPr id="20" name="Connector 19"/>
          <p:cNvCxnSpPr/>
          <p:nvPr/>
        </p:nvCxnSpPr>
        <p:spPr>
          <a:xfrm>
            <a:off x="5785104" y="3017520"/>
            <a:ext cx="0" cy="54864"/>
          </a:xfrm>
          <a:prstGeom prst="line">
            <a:avLst/>
          </a:prstGeom>
          <a:ln w="9525">
            <a:solidFill>
              <a:srgbClr val="0C1408"/>
            </a:solidFill>
          </a:ln>
        </p:spPr>
      </p:cxnSp>
      <p:sp>
        <p:nvSpPr>
          <p:cNvPr id="21" name="TextBox 20"/>
          <p:cNvSpPr txBox="1"/>
          <p:nvPr/>
        </p:nvSpPr>
        <p:spPr>
          <a:xfrm>
            <a:off x="555650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15</a:t>
            </a:r>
          </a:p>
        </p:txBody>
      </p:sp>
      <p:cxnSp>
        <p:nvCxnSpPr>
          <p:cNvPr id="22" name="Connector 21"/>
          <p:cNvCxnSpPr/>
          <p:nvPr/>
        </p:nvCxnSpPr>
        <p:spPr>
          <a:xfrm>
            <a:off x="7552944" y="3017520"/>
            <a:ext cx="0" cy="54864"/>
          </a:xfrm>
          <a:prstGeom prst="line">
            <a:avLst/>
          </a:prstGeom>
          <a:ln w="9525">
            <a:solidFill>
              <a:srgbClr val="0C1408"/>
            </a:solidFill>
          </a:ln>
        </p:spPr>
      </p:cxnSp>
      <p:sp>
        <p:nvSpPr>
          <p:cNvPr id="23" name="TextBox 22"/>
          <p:cNvSpPr txBox="1"/>
          <p:nvPr/>
        </p:nvSpPr>
        <p:spPr>
          <a:xfrm>
            <a:off x="732434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a:t>
            </a:r>
          </a:p>
        </p:txBody>
      </p:sp>
      <p:cxnSp>
        <p:nvCxnSpPr>
          <p:cNvPr id="24" name="Connector 23"/>
          <p:cNvCxnSpPr/>
          <p:nvPr/>
        </p:nvCxnSpPr>
        <p:spPr>
          <a:xfrm>
            <a:off x="9320784" y="3017520"/>
            <a:ext cx="0" cy="54864"/>
          </a:xfrm>
          <a:prstGeom prst="line">
            <a:avLst/>
          </a:prstGeom>
          <a:ln w="9525">
            <a:solidFill>
              <a:srgbClr val="0C1408"/>
            </a:solidFill>
          </a:ln>
        </p:spPr>
      </p:cxnSp>
      <p:sp>
        <p:nvSpPr>
          <p:cNvPr id="25" name="TextBox 24"/>
          <p:cNvSpPr txBox="1"/>
          <p:nvPr/>
        </p:nvSpPr>
        <p:spPr>
          <a:xfrm>
            <a:off x="909218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25</a:t>
            </a:r>
          </a:p>
        </p:txBody>
      </p:sp>
      <p:cxnSp>
        <p:nvCxnSpPr>
          <p:cNvPr id="26" name="Connector 25"/>
          <p:cNvCxnSpPr/>
          <p:nvPr/>
        </p:nvCxnSpPr>
        <p:spPr>
          <a:xfrm>
            <a:off x="11088624" y="3017520"/>
            <a:ext cx="0" cy="54864"/>
          </a:xfrm>
          <a:prstGeom prst="line">
            <a:avLst/>
          </a:prstGeom>
          <a:ln w="9525">
            <a:solidFill>
              <a:srgbClr val="0C1408"/>
            </a:solidFill>
          </a:ln>
        </p:spPr>
      </p:cxnSp>
      <p:sp>
        <p:nvSpPr>
          <p:cNvPr id="27" name="TextBox 26"/>
          <p:cNvSpPr txBox="1"/>
          <p:nvPr/>
        </p:nvSpPr>
        <p:spPr>
          <a:xfrm>
            <a:off x="1086002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30</a:t>
            </a:r>
          </a:p>
        </p:txBody>
      </p:sp>
      <p:sp>
        <p:nvSpPr>
          <p:cNvPr id="28" name="TextBox 27"/>
          <p:cNvSpPr txBox="1"/>
          <p:nvPr/>
        </p:nvSpPr>
        <p:spPr>
          <a:xfrm>
            <a:off x="11338560" y="2926079"/>
            <a:ext cx="548640" cy="228600"/>
          </a:xfrm>
          <a:prstGeom prst="rect">
            <a:avLst/>
          </a:prstGeom>
          <a:noFill/>
        </p:spPr>
        <p:txBody>
          <a:bodyPr wrap="square" lIns="0" rIns="0" tIns="0" bIns="0" anchor="t">
            <a:noAutofit/>
          </a:bodyPr>
          <a:lstStyle/>
          <a:p>
            <a:pPr algn="l">
              <a:lnSpc>
                <a:spcPct val="110000"/>
              </a:lnSpc>
            </a:pPr>
            <a:r>
              <a:rPr sz="1000" b="0" i="0">
                <a:solidFill>
                  <a:srgbClr val="5B6456"/>
                </a:solidFill>
                <a:latin typeface="Arial"/>
              </a:rPr>
              <a:t>day</a:t>
            </a:r>
          </a:p>
        </p:txBody>
      </p:sp>
      <p:cxnSp>
        <p:nvCxnSpPr>
          <p:cNvPr id="29" name="Connector 28"/>
          <p:cNvCxnSpPr/>
          <p:nvPr/>
        </p:nvCxnSpPr>
        <p:spPr>
          <a:xfrm>
            <a:off x="3310128" y="2057400"/>
            <a:ext cx="0" cy="1280160"/>
          </a:xfrm>
          <a:prstGeom prst="line">
            <a:avLst/>
          </a:prstGeom>
          <a:ln w="31750">
            <a:solidFill>
              <a:srgbClr val="41801A"/>
            </a:solidFill>
          </a:ln>
        </p:spPr>
      </p:cxnSp>
      <p:sp>
        <p:nvSpPr>
          <p:cNvPr id="30" name="TextBox 29"/>
          <p:cNvSpPr txBox="1"/>
          <p:nvPr/>
        </p:nvSpPr>
        <p:spPr>
          <a:xfrm>
            <a:off x="3383280" y="1984248"/>
            <a:ext cx="2011680" cy="274320"/>
          </a:xfrm>
          <a:prstGeom prst="rect">
            <a:avLst/>
          </a:prstGeom>
          <a:noFill/>
        </p:spPr>
        <p:txBody>
          <a:bodyPr wrap="square" lIns="0" rIns="0" tIns="0" bIns="0" anchor="t">
            <a:noAutofit/>
          </a:bodyPr>
          <a:lstStyle/>
          <a:p>
            <a:pPr algn="l">
              <a:lnSpc>
                <a:spcPct val="110000"/>
              </a:lnSpc>
            </a:pPr>
            <a:r>
              <a:rPr sz="1100" b="1" i="0">
                <a:solidFill>
                  <a:srgbClr val="41801A"/>
                </a:solidFill>
                <a:latin typeface="Arial"/>
              </a:rPr>
              <a:t>Due date, the 8th</a:t>
            </a:r>
          </a:p>
        </p:txBody>
      </p:sp>
      <p:sp>
        <p:nvSpPr>
          <p:cNvPr id="31" name="TextBox 30"/>
          <p:cNvSpPr txBox="1"/>
          <p:nvPr/>
        </p:nvSpPr>
        <p:spPr>
          <a:xfrm>
            <a:off x="658368"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Payday</a:t>
            </a:r>
          </a:p>
        </p:txBody>
      </p:sp>
      <p:sp>
        <p:nvSpPr>
          <p:cNvPr id="32" name="TextBox 31"/>
          <p:cNvSpPr txBox="1"/>
          <p:nvPr/>
        </p:nvSpPr>
        <p:spPr>
          <a:xfrm>
            <a:off x="658368"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Salary arrives in the member's Raqami account.</a:t>
            </a:r>
          </a:p>
        </p:txBody>
      </p:sp>
      <p:sp>
        <p:nvSpPr>
          <p:cNvPr id="33" name="TextBox 32"/>
          <p:cNvSpPr txBox="1"/>
          <p:nvPr/>
        </p:nvSpPr>
        <p:spPr>
          <a:xfrm>
            <a:off x="658368" y="4590288"/>
            <a:ext cx="1892807" cy="548640"/>
          </a:xfrm>
          <a:prstGeom prst="rect">
            <a:avLst/>
          </a:prstGeom>
          <a:noFill/>
        </p:spPr>
        <p:txBody>
          <a:bodyPr wrap="square" lIns="0" rIns="0" tIns="0" bIns="0" anchor="t">
            <a:noAutofit/>
          </a:bodyPr>
          <a:lstStyle/>
          <a:p>
            <a:pPr algn="l">
              <a:lnSpc>
                <a:spcPct val="100000"/>
              </a:lnSpc>
            </a:pPr>
            <a:r>
              <a:rPr sz="1200" b="1" i="0">
                <a:solidFill>
                  <a:srgbClr val="3B4148"/>
                </a:solidFill>
                <a:latin typeface="Arial"/>
              </a:rPr>
              <a:t>Raqami current account</a:t>
            </a:r>
          </a:p>
        </p:txBody>
      </p:sp>
      <p:sp>
        <p:nvSpPr>
          <p:cNvPr id="34" name="TextBox 33"/>
          <p:cNvSpPr txBox="1"/>
          <p:nvPr/>
        </p:nvSpPr>
        <p:spPr>
          <a:xfrm>
            <a:off x="2779776"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Waiting</a:t>
            </a:r>
          </a:p>
        </p:txBody>
      </p:sp>
      <p:sp>
        <p:nvSpPr>
          <p:cNvPr id="35" name="TextBox 34"/>
          <p:cNvSpPr txBox="1"/>
          <p:nvPr/>
        </p:nvSpPr>
        <p:spPr>
          <a:xfrm>
            <a:off x="2779776"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The instalment earns a share of profit for seven days.</a:t>
            </a:r>
          </a:p>
        </p:txBody>
      </p:sp>
      <p:sp>
        <p:nvSpPr>
          <p:cNvPr id="36" name="TextBox 35"/>
          <p:cNvSpPr txBox="1"/>
          <p:nvPr/>
        </p:nvSpPr>
        <p:spPr>
          <a:xfrm>
            <a:off x="2779776" y="4590288"/>
            <a:ext cx="1892807" cy="548640"/>
          </a:xfrm>
          <a:prstGeom prst="rect">
            <a:avLst/>
          </a:prstGeom>
          <a:noFill/>
        </p:spPr>
        <p:txBody>
          <a:bodyPr wrap="square" lIns="0" rIns="0" tIns="0" bIns="0" anchor="t">
            <a:noAutofit/>
          </a:bodyPr>
          <a:lstStyle/>
          <a:p>
            <a:pPr algn="l">
              <a:lnSpc>
                <a:spcPct val="100000"/>
              </a:lnSpc>
            </a:pPr>
            <a:r>
              <a:rPr sz="1200" b="1" i="0">
                <a:solidFill>
                  <a:srgbClr val="3B4148"/>
                </a:solidFill>
                <a:latin typeface="Arial"/>
              </a:rPr>
              <a:t>7 day term deposit, on mudarabah</a:t>
            </a:r>
          </a:p>
        </p:txBody>
      </p:sp>
      <p:sp>
        <p:nvSpPr>
          <p:cNvPr id="37" name="TextBox 36"/>
          <p:cNvSpPr txBox="1"/>
          <p:nvPr/>
        </p:nvSpPr>
        <p:spPr>
          <a:xfrm>
            <a:off x="4901183"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Due date</a:t>
            </a:r>
          </a:p>
        </p:txBody>
      </p:sp>
      <p:sp>
        <p:nvSpPr>
          <p:cNvPr id="38" name="TextBox 37"/>
          <p:cNvSpPr txBox="1"/>
          <p:nvPr/>
        </p:nvSpPr>
        <p:spPr>
          <a:xfrm>
            <a:off x="4901183"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Every member is debited; the pot is paid the same day.</a:t>
            </a:r>
          </a:p>
        </p:txBody>
      </p:sp>
      <p:sp>
        <p:nvSpPr>
          <p:cNvPr id="39" name="TextBox 38"/>
          <p:cNvSpPr txBox="1"/>
          <p:nvPr/>
        </p:nvSpPr>
        <p:spPr>
          <a:xfrm>
            <a:off x="4901183" y="4590288"/>
            <a:ext cx="1892807" cy="548640"/>
          </a:xfrm>
          <a:prstGeom prst="rect">
            <a:avLst/>
          </a:prstGeom>
          <a:noFill/>
        </p:spPr>
        <p:txBody>
          <a:bodyPr wrap="square" lIns="0" rIns="0" tIns="0" bIns="0" anchor="t">
            <a:noAutofit/>
          </a:bodyPr>
          <a:lstStyle/>
          <a:p>
            <a:pPr algn="l">
              <a:lnSpc>
                <a:spcPct val="100000"/>
              </a:lnSpc>
            </a:pPr>
            <a:r>
              <a:rPr sz="1200" b="1" i="0">
                <a:solidFill>
                  <a:srgbClr val="3B4148"/>
                </a:solidFill>
                <a:latin typeface="Arial"/>
              </a:rPr>
              <a:t>Automatic debit, new; free Raqami transfers</a:t>
            </a:r>
          </a:p>
        </p:txBody>
      </p:sp>
      <p:sp>
        <p:nvSpPr>
          <p:cNvPr id="40" name="TextBox 39"/>
          <p:cNvSpPr txBox="1"/>
          <p:nvPr/>
        </p:nvSpPr>
        <p:spPr>
          <a:xfrm>
            <a:off x="7022591"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Missed debit</a:t>
            </a:r>
          </a:p>
        </p:txBody>
      </p:sp>
      <p:sp>
        <p:nvSpPr>
          <p:cNvPr id="41" name="TextBox 40"/>
          <p:cNvSpPr txBox="1"/>
          <p:nvPr/>
        </p:nvSpPr>
        <p:spPr>
          <a:xfrm>
            <a:off x="7022591"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One retry each morning, five at most. Penalties go to charity.</a:t>
            </a:r>
          </a:p>
        </p:txBody>
      </p:sp>
      <p:sp>
        <p:nvSpPr>
          <p:cNvPr id="42" name="TextBox 41"/>
          <p:cNvSpPr txBox="1"/>
          <p:nvPr/>
        </p:nvSpPr>
        <p:spPr>
          <a:xfrm>
            <a:off x="9144000"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Circle ends</a:t>
            </a:r>
          </a:p>
        </p:txBody>
      </p:sp>
      <p:sp>
        <p:nvSpPr>
          <p:cNvPr id="43" name="TextBox 42"/>
          <p:cNvSpPr txBox="1"/>
          <p:nvPr/>
        </p:nvSpPr>
        <p:spPr>
          <a:xfrm>
            <a:off x="9144000"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Members' profit returns as points.</a:t>
            </a:r>
          </a:p>
        </p:txBody>
      </p:sp>
      <p:sp>
        <p:nvSpPr>
          <p:cNvPr id="44" name="TextBox 43"/>
          <p:cNvSpPr txBox="1"/>
          <p:nvPr/>
        </p:nvSpPr>
        <p:spPr>
          <a:xfrm>
            <a:off x="9144000" y="4590288"/>
            <a:ext cx="1892807" cy="548640"/>
          </a:xfrm>
          <a:prstGeom prst="rect">
            <a:avLst/>
          </a:prstGeom>
          <a:noFill/>
        </p:spPr>
        <p:txBody>
          <a:bodyPr wrap="square" lIns="0" rIns="0" tIns="0" bIns="0" anchor="t">
            <a:noAutofit/>
          </a:bodyPr>
          <a:lstStyle/>
          <a:p>
            <a:pPr algn="l">
              <a:lnSpc>
                <a:spcPct val="100000"/>
              </a:lnSpc>
            </a:pPr>
            <a:r>
              <a:rPr sz="1200" b="1" i="0">
                <a:solidFill>
                  <a:srgbClr val="3B4148"/>
                </a:solidFill>
                <a:latin typeface="Arial"/>
              </a:rPr>
              <a:t>Saving Pots</a:t>
            </a:r>
          </a:p>
        </p:txBody>
      </p:sp>
      <p:cxnSp>
        <p:nvCxnSpPr>
          <p:cNvPr id="45" name="Connector 44"/>
          <p:cNvCxnSpPr/>
          <p:nvPr/>
        </p:nvCxnSpPr>
        <p:spPr>
          <a:xfrm>
            <a:off x="566928" y="5596128"/>
            <a:ext cx="11057839" cy="0"/>
          </a:xfrm>
          <a:prstGeom prst="line">
            <a:avLst/>
          </a:prstGeom>
          <a:ln w="9525">
            <a:solidFill>
              <a:srgbClr val="D5DCD1"/>
            </a:solidFill>
          </a:ln>
        </p:spPr>
      </p:cxnSp>
      <p:sp>
        <p:nvSpPr>
          <p:cNvPr id="46" name="TextBox 45"/>
          <p:cNvSpPr txBox="1"/>
          <p:nvPr/>
        </p:nvSpPr>
        <p:spPr>
          <a:xfrm>
            <a:off x="566928" y="5669280"/>
            <a:ext cx="11057839" cy="457200"/>
          </a:xfrm>
          <a:prstGeom prst="rect">
            <a:avLst/>
          </a:prstGeom>
          <a:noFill/>
        </p:spPr>
        <p:txBody>
          <a:bodyPr wrap="square" lIns="0" rIns="0" tIns="0" bIns="0" anchor="t">
            <a:noAutofit/>
          </a:bodyPr>
          <a:lstStyle/>
          <a:p>
            <a:pPr algn="l">
              <a:lnSpc>
                <a:spcPct val="110000"/>
              </a:lnSpc>
            </a:pPr>
            <a:r>
              <a:rPr sz="1200" b="1" i="0">
                <a:solidFill>
                  <a:srgbClr val="0C1408"/>
                </a:solidFill>
                <a:latin typeface="Arial"/>
              </a:rPr>
              <a:t>Cash earners.</a:t>
            </a:r>
            <a:r>
              <a:rPr sz="1200" b="0" i="0">
                <a:solidFill>
                  <a:srgbClr val="0C1408"/>
                </a:solidFill>
                <a:latin typeface="Arial"/>
              </a:rPr>
              <a:t> Free cash deposits at over 700 Askari Bank branches.   </a:t>
            </a:r>
            <a:r>
              <a:rPr sz="1200" b="1" i="0">
                <a:solidFill>
                  <a:srgbClr val="0C1408"/>
                </a:solidFill>
                <a:latin typeface="Arial"/>
              </a:rPr>
              <a:t>New lines.</a:t>
            </a:r>
            <a:r>
              <a:rPr sz="1200" b="0" i="0">
                <a:solidFill>
                  <a:srgbClr val="0C1408"/>
                </a:solidFill>
                <a:latin typeface="Arial"/>
              </a:rPr>
              <a:t> Takaful for committees; Islamic financing for asset circles.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Mutual Benefit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100,000 members would add about Rs 2.5 billion of deposits, more than Raqami held at 30 June 2026.</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Raqami Islamic Digital Bank, half year report to 30 June 2026: deposits Rs 1,581 million, 114,452 accounts, Islamic financing Rs 27.6 million; press reports of Raqami's plans, 2026</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9</a:t>
            </a:r>
          </a:p>
        </p:txBody>
      </p:sp>
      <p:sp>
        <p:nvSpPr>
          <p:cNvPr id="7" name="TextBox 6"/>
          <p:cNvSpPr txBox="1"/>
          <p:nvPr/>
        </p:nvSpPr>
        <p:spPr>
          <a:xfrm>
            <a:off x="566928" y="1828800"/>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Customer deposits, Rs billion</a:t>
            </a:r>
          </a:p>
        </p:txBody>
      </p:sp>
      <p:sp>
        <p:nvSpPr>
          <p:cNvPr id="8" name="Rectangle 7"/>
          <p:cNvSpPr/>
          <p:nvPr/>
        </p:nvSpPr>
        <p:spPr>
          <a:xfrm>
            <a:off x="1062228" y="3394252"/>
            <a:ext cx="685800" cy="1589227"/>
          </a:xfrm>
          <a:prstGeom prst="rect">
            <a:avLst/>
          </a:prstGeom>
          <a:solidFill>
            <a:srgbClr val="3B4148"/>
          </a:solidFill>
          <a:ln>
            <a:noFill/>
          </a:ln>
        </p:spPr>
        <p:txBody>
          <a:bodyPr rtlCol="0" anchor="ctr" lIns="0" rIns="0"/>
          <a:lstStyle/>
          <a:p>
            <a:pPr algn="ctr"/>
          </a:p>
        </p:txBody>
      </p:sp>
      <p:sp>
        <p:nvSpPr>
          <p:cNvPr id="9" name="TextBox 8"/>
          <p:cNvSpPr txBox="1"/>
          <p:nvPr/>
        </p:nvSpPr>
        <p:spPr>
          <a:xfrm>
            <a:off x="566928" y="3101644"/>
            <a:ext cx="16764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1.58</a:t>
            </a:r>
          </a:p>
        </p:txBody>
      </p:sp>
      <p:sp>
        <p:nvSpPr>
          <p:cNvPr id="10" name="TextBox 9"/>
          <p:cNvSpPr txBox="1"/>
          <p:nvPr/>
        </p:nvSpPr>
        <p:spPr>
          <a:xfrm>
            <a:off x="566928" y="5056632"/>
            <a:ext cx="16764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Raqami</a:t>
            </a:r>
          </a:p>
          <a:p>
            <a:pPr algn="ctr">
              <a:lnSpc>
                <a:spcPct val="110000"/>
              </a:lnSpc>
            </a:pPr>
            <a:r>
              <a:rPr sz="1100" b="0" i="0">
                <a:solidFill>
                  <a:srgbClr val="0C1408"/>
                </a:solidFill>
                <a:latin typeface="Arial"/>
              </a:rPr>
              <a:t>30 June 2026</a:t>
            </a:r>
          </a:p>
        </p:txBody>
      </p:sp>
      <p:sp>
        <p:nvSpPr>
          <p:cNvPr id="11" name="Rectangle 10"/>
          <p:cNvSpPr/>
          <p:nvPr/>
        </p:nvSpPr>
        <p:spPr>
          <a:xfrm>
            <a:off x="2738627" y="4732020"/>
            <a:ext cx="685800" cy="251460"/>
          </a:xfrm>
          <a:prstGeom prst="rect">
            <a:avLst/>
          </a:prstGeom>
          <a:solidFill>
            <a:srgbClr val="6DC72A"/>
          </a:solidFill>
          <a:ln>
            <a:noFill/>
          </a:ln>
        </p:spPr>
        <p:txBody>
          <a:bodyPr rtlCol="0" anchor="ctr" lIns="0" rIns="0"/>
          <a:lstStyle/>
          <a:p>
            <a:pPr algn="ctr"/>
          </a:p>
        </p:txBody>
      </p:sp>
      <p:sp>
        <p:nvSpPr>
          <p:cNvPr id="12" name="TextBox 11"/>
          <p:cNvSpPr txBox="1"/>
          <p:nvPr/>
        </p:nvSpPr>
        <p:spPr>
          <a:xfrm>
            <a:off x="2243328" y="4439412"/>
            <a:ext cx="16764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0.25</a:t>
            </a:r>
          </a:p>
        </p:txBody>
      </p:sp>
      <p:sp>
        <p:nvSpPr>
          <p:cNvPr id="13" name="TextBox 12"/>
          <p:cNvSpPr txBox="1"/>
          <p:nvPr/>
        </p:nvSpPr>
        <p:spPr>
          <a:xfrm>
            <a:off x="2243328" y="5056632"/>
            <a:ext cx="16764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10,000</a:t>
            </a:r>
          </a:p>
          <a:p>
            <a:pPr algn="ctr">
              <a:lnSpc>
                <a:spcPct val="110000"/>
              </a:lnSpc>
            </a:pPr>
            <a:r>
              <a:rPr sz="1100" b="0" i="0">
                <a:solidFill>
                  <a:srgbClr val="0C1408"/>
                </a:solidFill>
                <a:latin typeface="Arial"/>
              </a:rPr>
              <a:t>members</a:t>
            </a:r>
          </a:p>
        </p:txBody>
      </p:sp>
      <p:sp>
        <p:nvSpPr>
          <p:cNvPr id="14" name="Rectangle 13"/>
          <p:cNvSpPr/>
          <p:nvPr/>
        </p:nvSpPr>
        <p:spPr>
          <a:xfrm>
            <a:off x="4415028" y="2468880"/>
            <a:ext cx="685800" cy="2514600"/>
          </a:xfrm>
          <a:prstGeom prst="rect">
            <a:avLst/>
          </a:prstGeom>
          <a:solidFill>
            <a:srgbClr val="41801A"/>
          </a:solidFill>
          <a:ln>
            <a:noFill/>
          </a:ln>
        </p:spPr>
        <p:txBody>
          <a:bodyPr rtlCol="0" anchor="ctr" lIns="0" rIns="0"/>
          <a:lstStyle/>
          <a:p>
            <a:pPr algn="ctr"/>
          </a:p>
        </p:txBody>
      </p:sp>
      <p:sp>
        <p:nvSpPr>
          <p:cNvPr id="15" name="TextBox 14"/>
          <p:cNvSpPr txBox="1"/>
          <p:nvPr/>
        </p:nvSpPr>
        <p:spPr>
          <a:xfrm>
            <a:off x="3919727" y="2176272"/>
            <a:ext cx="16764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2.5</a:t>
            </a:r>
          </a:p>
        </p:txBody>
      </p:sp>
      <p:sp>
        <p:nvSpPr>
          <p:cNvPr id="16" name="TextBox 15"/>
          <p:cNvSpPr txBox="1"/>
          <p:nvPr/>
        </p:nvSpPr>
        <p:spPr>
          <a:xfrm>
            <a:off x="3919727" y="5056632"/>
            <a:ext cx="16764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100,000</a:t>
            </a:r>
          </a:p>
          <a:p>
            <a:pPr algn="ctr">
              <a:lnSpc>
                <a:spcPct val="110000"/>
              </a:lnSpc>
            </a:pPr>
            <a:r>
              <a:rPr sz="1100" b="0" i="0">
                <a:solidFill>
                  <a:srgbClr val="0C1408"/>
                </a:solidFill>
                <a:latin typeface="Arial"/>
              </a:rPr>
              <a:t>members</a:t>
            </a:r>
          </a:p>
        </p:txBody>
      </p:sp>
      <p:cxnSp>
        <p:nvCxnSpPr>
          <p:cNvPr id="17" name="Connector 16"/>
          <p:cNvCxnSpPr/>
          <p:nvPr/>
        </p:nvCxnSpPr>
        <p:spPr>
          <a:xfrm>
            <a:off x="566928" y="4983480"/>
            <a:ext cx="5029200" cy="0"/>
          </a:xfrm>
          <a:prstGeom prst="line">
            <a:avLst/>
          </a:prstGeom>
          <a:ln w="9525">
            <a:solidFill>
              <a:srgbClr val="0C1408"/>
            </a:solidFill>
          </a:ln>
        </p:spPr>
      </p:cxnSp>
      <p:sp>
        <p:nvSpPr>
          <p:cNvPr id="18" name="TextBox 17"/>
          <p:cNvSpPr txBox="1"/>
          <p:nvPr/>
        </p:nvSpPr>
        <p:spPr>
          <a:xfrm>
            <a:off x="566928" y="5577840"/>
            <a:ext cx="5120640" cy="548640"/>
          </a:xfrm>
          <a:prstGeom prst="rect">
            <a:avLst/>
          </a:prstGeom>
          <a:noFill/>
        </p:spPr>
        <p:txBody>
          <a:bodyPr wrap="square" lIns="0" rIns="0" tIns="0" bIns="0" anchor="t">
            <a:noAutofit/>
          </a:bodyPr>
          <a:lstStyle/>
          <a:p>
            <a:pPr algn="l">
              <a:lnSpc>
                <a:spcPct val="100000"/>
              </a:lnSpc>
            </a:pPr>
            <a:r>
              <a:rPr sz="1100" b="0" i="0">
                <a:solidFill>
                  <a:srgbClr val="5B6456"/>
                </a:solidFill>
                <a:latin typeface="Arial"/>
              </a:rPr>
              <a:t>Assumes Rs 25,000 average balance a member; 1,000,000 members would hold about Rs 25 billion.</a:t>
            </a:r>
          </a:p>
        </p:txBody>
      </p:sp>
      <p:sp>
        <p:nvSpPr>
          <p:cNvPr id="19" name="TextBox 18"/>
          <p:cNvSpPr txBox="1"/>
          <p:nvPr/>
        </p:nvSpPr>
        <p:spPr>
          <a:xfrm>
            <a:off x="6172200" y="1783080"/>
            <a:ext cx="2212848" cy="658368"/>
          </a:xfrm>
          <a:prstGeom prst="rect">
            <a:avLst/>
          </a:prstGeom>
          <a:noFill/>
        </p:spPr>
        <p:txBody>
          <a:bodyPr wrap="square" lIns="0" rIns="0" tIns="0" bIns="0" anchor="b">
            <a:noAutofit/>
          </a:bodyPr>
          <a:lstStyle/>
          <a:p>
            <a:pPr algn="l">
              <a:lnSpc>
                <a:spcPct val="110000"/>
              </a:lnSpc>
            </a:pPr>
            <a:r>
              <a:rPr sz="1200" b="1" i="0">
                <a:solidFill>
                  <a:srgbClr val="0C1408"/>
                </a:solidFill>
                <a:latin typeface="Arial"/>
              </a:rPr>
              <a:t>Raqami's aim or need</a:t>
            </a:r>
          </a:p>
        </p:txBody>
      </p:sp>
      <p:sp>
        <p:nvSpPr>
          <p:cNvPr id="20" name="TextBox 19"/>
          <p:cNvSpPr txBox="1"/>
          <p:nvPr/>
        </p:nvSpPr>
        <p:spPr>
          <a:xfrm>
            <a:off x="8531352" y="1783080"/>
            <a:ext cx="3081528" cy="658368"/>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What committee members bring</a:t>
            </a:r>
          </a:p>
        </p:txBody>
      </p:sp>
      <p:cxnSp>
        <p:nvCxnSpPr>
          <p:cNvPr id="21" name="Connector 20"/>
          <p:cNvCxnSpPr/>
          <p:nvPr/>
        </p:nvCxnSpPr>
        <p:spPr>
          <a:xfrm>
            <a:off x="6172200" y="2478024"/>
            <a:ext cx="5440680" cy="0"/>
          </a:xfrm>
          <a:prstGeom prst="line">
            <a:avLst/>
          </a:prstGeom>
          <a:ln w="12700">
            <a:solidFill>
              <a:srgbClr val="0C1408"/>
            </a:solidFill>
          </a:ln>
        </p:spPr>
      </p:cxnSp>
      <p:sp>
        <p:nvSpPr>
          <p:cNvPr id="22" name="TextBox 21"/>
          <p:cNvSpPr txBox="1"/>
          <p:nvPr/>
        </p:nvSpPr>
        <p:spPr>
          <a:xfrm>
            <a:off x="6172200" y="2459736"/>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1 million customers in three years</a:t>
            </a:r>
          </a:p>
        </p:txBody>
      </p:sp>
      <p:sp>
        <p:nvSpPr>
          <p:cNvPr id="23" name="TextBox 22"/>
          <p:cNvSpPr txBox="1"/>
          <p:nvPr/>
        </p:nvSpPr>
        <p:spPr>
          <a:xfrm>
            <a:off x="8531352" y="2459736"/>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Accounts opened 6 to 20 at a time</a:t>
            </a:r>
          </a:p>
        </p:txBody>
      </p:sp>
      <p:cxnSp>
        <p:nvCxnSpPr>
          <p:cNvPr id="24" name="Connector 23"/>
          <p:cNvCxnSpPr/>
          <p:nvPr/>
        </p:nvCxnSpPr>
        <p:spPr>
          <a:xfrm>
            <a:off x="6172200" y="3118103"/>
            <a:ext cx="5440680" cy="0"/>
          </a:xfrm>
          <a:prstGeom prst="line">
            <a:avLst/>
          </a:prstGeom>
          <a:ln w="9525">
            <a:solidFill>
              <a:srgbClr val="D5DCD1"/>
            </a:solidFill>
          </a:ln>
        </p:spPr>
      </p:cxnSp>
      <p:sp>
        <p:nvSpPr>
          <p:cNvPr id="25" name="TextBox 24"/>
          <p:cNvSpPr txBox="1"/>
          <p:nvPr/>
        </p:nvSpPr>
        <p:spPr>
          <a:xfrm>
            <a:off x="6172200" y="3118103"/>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Women, students, farmers, freelancers</a:t>
            </a:r>
          </a:p>
        </p:txBody>
      </p:sp>
      <p:sp>
        <p:nvSpPr>
          <p:cNvPr id="26" name="TextBox 25"/>
          <p:cNvSpPr txBox="1"/>
          <p:nvPr/>
        </p:nvSpPr>
        <p:spPr>
          <a:xfrm>
            <a:off x="8531352" y="3118103"/>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The people who already save this way</a:t>
            </a:r>
          </a:p>
        </p:txBody>
      </p:sp>
      <p:cxnSp>
        <p:nvCxnSpPr>
          <p:cNvPr id="27" name="Connector 26"/>
          <p:cNvCxnSpPr/>
          <p:nvPr/>
        </p:nvCxnSpPr>
        <p:spPr>
          <a:xfrm>
            <a:off x="6172200" y="3776471"/>
            <a:ext cx="5440680" cy="0"/>
          </a:xfrm>
          <a:prstGeom prst="line">
            <a:avLst/>
          </a:prstGeom>
          <a:ln w="9525">
            <a:solidFill>
              <a:srgbClr val="D5DCD1"/>
            </a:solidFill>
          </a:ln>
        </p:spPr>
      </p:cxnSp>
      <p:sp>
        <p:nvSpPr>
          <p:cNvPr id="28" name="TextBox 27"/>
          <p:cNvSpPr txBox="1"/>
          <p:nvPr/>
        </p:nvSpPr>
        <p:spPr>
          <a:xfrm>
            <a:off x="6172200" y="3776471"/>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Only Shariah compliant products</a:t>
            </a:r>
          </a:p>
        </p:txBody>
      </p:sp>
      <p:sp>
        <p:nvSpPr>
          <p:cNvPr id="29" name="TextBox 28"/>
          <p:cNvSpPr txBox="1"/>
          <p:nvPr/>
        </p:nvSpPr>
        <p:spPr>
          <a:xfrm>
            <a:off x="8531352" y="3776471"/>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No interest by design</a:t>
            </a:r>
          </a:p>
        </p:txBody>
      </p:sp>
      <p:cxnSp>
        <p:nvCxnSpPr>
          <p:cNvPr id="30" name="Connector 29"/>
          <p:cNvCxnSpPr/>
          <p:nvPr/>
        </p:nvCxnSpPr>
        <p:spPr>
          <a:xfrm>
            <a:off x="6172200" y="4434839"/>
            <a:ext cx="5440680" cy="0"/>
          </a:xfrm>
          <a:prstGeom prst="line">
            <a:avLst/>
          </a:prstGeom>
          <a:ln w="9525">
            <a:solidFill>
              <a:srgbClr val="D5DCD1"/>
            </a:solidFill>
          </a:ln>
        </p:spPr>
      </p:cxnSp>
      <p:sp>
        <p:nvSpPr>
          <p:cNvPr id="31" name="TextBox 30"/>
          <p:cNvSpPr txBox="1"/>
          <p:nvPr/>
        </p:nvSpPr>
        <p:spPr>
          <a:xfrm>
            <a:off x="6172200" y="4434839"/>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Financing of Rs 27.6 million so far</a:t>
            </a:r>
          </a:p>
        </p:txBody>
      </p:sp>
      <p:sp>
        <p:nvSpPr>
          <p:cNvPr id="32" name="TextBox 31"/>
          <p:cNvSpPr txBox="1"/>
          <p:nvPr/>
        </p:nvSpPr>
        <p:spPr>
          <a:xfrm>
            <a:off x="8531352" y="4434839"/>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 repayment record for every member</a:t>
            </a:r>
          </a:p>
        </p:txBody>
      </p:sp>
      <p:cxnSp>
        <p:nvCxnSpPr>
          <p:cNvPr id="33" name="Connector 32"/>
          <p:cNvCxnSpPr/>
          <p:nvPr/>
        </p:nvCxnSpPr>
        <p:spPr>
          <a:xfrm>
            <a:off x="6172200" y="5093207"/>
            <a:ext cx="5440680" cy="0"/>
          </a:xfrm>
          <a:prstGeom prst="line">
            <a:avLst/>
          </a:prstGeom>
          <a:ln w="9525">
            <a:solidFill>
              <a:srgbClr val="D5DCD1"/>
            </a:solidFill>
          </a:ln>
        </p:spPr>
      </p:cxnSp>
      <p:sp>
        <p:nvSpPr>
          <p:cNvPr id="34" name="TextBox 33"/>
          <p:cNvSpPr txBox="1"/>
          <p:nvPr/>
        </p:nvSpPr>
        <p:spPr>
          <a:xfrm>
            <a:off x="6172200" y="5093207"/>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Free cash deposits at Askari Bank</a:t>
            </a:r>
          </a:p>
        </p:txBody>
      </p:sp>
      <p:sp>
        <p:nvSpPr>
          <p:cNvPr id="35" name="TextBox 34"/>
          <p:cNvSpPr txBox="1"/>
          <p:nvPr/>
        </p:nvSpPr>
        <p:spPr>
          <a:xfrm>
            <a:off x="8531352" y="5093207"/>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Cash earners pay in cash</a:t>
            </a:r>
          </a:p>
        </p:txBody>
      </p:sp>
      <p:cxnSp>
        <p:nvCxnSpPr>
          <p:cNvPr id="36" name="Connector 35"/>
          <p:cNvCxnSpPr/>
          <p:nvPr/>
        </p:nvCxnSpPr>
        <p:spPr>
          <a:xfrm>
            <a:off x="6172200" y="5751575"/>
            <a:ext cx="5440680" cy="0"/>
          </a:xfrm>
          <a:prstGeom prst="line">
            <a:avLst/>
          </a:prstGeom>
          <a:ln w="9525">
            <a:solidFill>
              <a:srgbClr val="D5DCD1"/>
            </a:solidFill>
          </a:ln>
        </p:spPr>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Onboarding and Checks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Raqami checks the customer. Halqa checks whether the member can carry the committee.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10</a:t>
            </a:r>
          </a:p>
        </p:txBody>
      </p:sp>
      <p:sp>
        <p:nvSpPr>
          <p:cNvPr id="6" name="Rectangle 5"/>
          <p:cNvSpPr/>
          <p:nvPr/>
        </p:nvSpPr>
        <p:spPr>
          <a:xfrm>
            <a:off x="566928" y="1755648"/>
            <a:ext cx="11057839" cy="1170432"/>
          </a:xfrm>
          <a:prstGeom prst="rect">
            <a:avLst/>
          </a:prstGeom>
          <a:noFill/>
          <a:ln>
            <a:noFill/>
          </a:ln>
        </p:spPr>
        <p:txBody>
          <a:bodyPr rtlCol="0" anchor="ctr" lIns="0" rIns="0"/>
          <a:lstStyle/>
          <a:p>
            <a:pPr algn="ctr"/>
          </a:p>
        </p:txBody>
      </p:sp>
      <p:cxnSp>
        <p:nvCxnSpPr>
          <p:cNvPr id="7" name="Connector 6"/>
          <p:cNvCxnSpPr/>
          <p:nvPr/>
        </p:nvCxnSpPr>
        <p:spPr>
          <a:xfrm>
            <a:off x="566928" y="1755648"/>
            <a:ext cx="11057839" cy="0"/>
          </a:xfrm>
          <a:prstGeom prst="line">
            <a:avLst/>
          </a:prstGeom>
          <a:ln w="9525">
            <a:solidFill>
              <a:srgbClr val="D5DCD1"/>
            </a:solidFill>
          </a:ln>
        </p:spPr>
      </p:cxnSp>
      <p:sp>
        <p:nvSpPr>
          <p:cNvPr id="8" name="TextBox 7"/>
          <p:cNvSpPr txBox="1"/>
          <p:nvPr/>
        </p:nvSpPr>
        <p:spPr>
          <a:xfrm>
            <a:off x="612648" y="1755648"/>
            <a:ext cx="1143000" cy="1170432"/>
          </a:xfrm>
          <a:prstGeom prst="rect">
            <a:avLst/>
          </a:prstGeom>
          <a:noFill/>
        </p:spPr>
        <p:txBody>
          <a:bodyPr wrap="square" lIns="0" rIns="0" tIns="0" bIns="0" anchor="ctr">
            <a:noAutofit/>
          </a:bodyPr>
          <a:lstStyle/>
          <a:p>
            <a:pPr algn="l">
              <a:lnSpc>
                <a:spcPct val="110000"/>
              </a:lnSpc>
            </a:pPr>
            <a:r>
              <a:rPr sz="1500" b="1" i="0">
                <a:solidFill>
                  <a:srgbClr val="0C1408"/>
                </a:solidFill>
                <a:latin typeface="Arial"/>
              </a:rPr>
              <a:t>Member</a:t>
            </a:r>
          </a:p>
        </p:txBody>
      </p:sp>
      <p:sp>
        <p:nvSpPr>
          <p:cNvPr id="9" name="Rectangle 8"/>
          <p:cNvSpPr/>
          <p:nvPr/>
        </p:nvSpPr>
        <p:spPr>
          <a:xfrm>
            <a:off x="566928" y="2926080"/>
            <a:ext cx="11057839" cy="1170432"/>
          </a:xfrm>
          <a:prstGeom prst="rect">
            <a:avLst/>
          </a:prstGeom>
          <a:noFill/>
          <a:ln>
            <a:noFill/>
          </a:ln>
        </p:spPr>
        <p:txBody>
          <a:bodyPr rtlCol="0" anchor="ctr" lIns="0" rIns="0"/>
          <a:lstStyle/>
          <a:p>
            <a:pPr algn="ctr"/>
          </a:p>
        </p:txBody>
      </p:sp>
      <p:cxnSp>
        <p:nvCxnSpPr>
          <p:cNvPr id="10" name="Connector 9"/>
          <p:cNvCxnSpPr/>
          <p:nvPr/>
        </p:nvCxnSpPr>
        <p:spPr>
          <a:xfrm>
            <a:off x="566928" y="2926080"/>
            <a:ext cx="11057839" cy="0"/>
          </a:xfrm>
          <a:prstGeom prst="line">
            <a:avLst/>
          </a:prstGeom>
          <a:ln w="9525">
            <a:solidFill>
              <a:srgbClr val="D5DCD1"/>
            </a:solidFill>
          </a:ln>
        </p:spPr>
      </p:cxnSp>
      <p:sp>
        <p:nvSpPr>
          <p:cNvPr id="11" name="TextBox 10"/>
          <p:cNvSpPr txBox="1"/>
          <p:nvPr/>
        </p:nvSpPr>
        <p:spPr>
          <a:xfrm>
            <a:off x="612648" y="2926080"/>
            <a:ext cx="1143000" cy="1170432"/>
          </a:xfrm>
          <a:prstGeom prst="rect">
            <a:avLst/>
          </a:prstGeom>
          <a:noFill/>
        </p:spPr>
        <p:txBody>
          <a:bodyPr wrap="square" lIns="0" rIns="0" tIns="0" bIns="0" anchor="ctr">
            <a:noAutofit/>
          </a:bodyPr>
          <a:lstStyle/>
          <a:p>
            <a:pPr algn="l">
              <a:lnSpc>
                <a:spcPct val="110000"/>
              </a:lnSpc>
            </a:pPr>
            <a:r>
              <a:rPr sz="1500" b="1" i="0">
                <a:solidFill>
                  <a:srgbClr val="3B4148"/>
                </a:solidFill>
                <a:latin typeface="Arial"/>
              </a:rPr>
              <a:t>Raqami</a:t>
            </a:r>
          </a:p>
        </p:txBody>
      </p:sp>
      <p:sp>
        <p:nvSpPr>
          <p:cNvPr id="12" name="Rectangle 11"/>
          <p:cNvSpPr/>
          <p:nvPr/>
        </p:nvSpPr>
        <p:spPr>
          <a:xfrm>
            <a:off x="566928" y="4096512"/>
            <a:ext cx="11057839" cy="1170432"/>
          </a:xfrm>
          <a:prstGeom prst="rect">
            <a:avLst/>
          </a:prstGeom>
          <a:solidFill>
            <a:srgbClr val="F3FCE7"/>
          </a:solidFill>
          <a:ln>
            <a:noFill/>
          </a:ln>
        </p:spPr>
        <p:txBody>
          <a:bodyPr rtlCol="0" anchor="ctr" lIns="0" rIns="0"/>
          <a:lstStyle/>
          <a:p>
            <a:pPr algn="ctr"/>
          </a:p>
        </p:txBody>
      </p:sp>
      <p:cxnSp>
        <p:nvCxnSpPr>
          <p:cNvPr id="13" name="Connector 12"/>
          <p:cNvCxnSpPr/>
          <p:nvPr/>
        </p:nvCxnSpPr>
        <p:spPr>
          <a:xfrm>
            <a:off x="566928" y="4096512"/>
            <a:ext cx="11057839" cy="0"/>
          </a:xfrm>
          <a:prstGeom prst="line">
            <a:avLst/>
          </a:prstGeom>
          <a:ln w="9525">
            <a:solidFill>
              <a:srgbClr val="D5DCD1"/>
            </a:solidFill>
          </a:ln>
        </p:spPr>
      </p:cxnSp>
      <p:sp>
        <p:nvSpPr>
          <p:cNvPr id="14" name="TextBox 13"/>
          <p:cNvSpPr txBox="1"/>
          <p:nvPr/>
        </p:nvSpPr>
        <p:spPr>
          <a:xfrm>
            <a:off x="612648" y="4096512"/>
            <a:ext cx="1143000" cy="1170432"/>
          </a:xfrm>
          <a:prstGeom prst="rect">
            <a:avLst/>
          </a:prstGeom>
          <a:noFill/>
        </p:spPr>
        <p:txBody>
          <a:bodyPr wrap="square" lIns="0" rIns="0" tIns="0" bIns="0" anchor="ctr">
            <a:noAutofit/>
          </a:bodyPr>
          <a:lstStyle/>
          <a:p>
            <a:pPr algn="l">
              <a:lnSpc>
                <a:spcPct val="110000"/>
              </a:lnSpc>
            </a:pPr>
            <a:r>
              <a:rPr sz="1500" b="1" i="0">
                <a:solidFill>
                  <a:srgbClr val="41801A"/>
                </a:solidFill>
                <a:latin typeface="Arial"/>
              </a:rPr>
              <a:t>Halqa</a:t>
            </a:r>
          </a:p>
        </p:txBody>
      </p:sp>
      <p:cxnSp>
        <p:nvCxnSpPr>
          <p:cNvPr id="15" name="Connector 14"/>
          <p:cNvCxnSpPr/>
          <p:nvPr/>
        </p:nvCxnSpPr>
        <p:spPr>
          <a:xfrm>
            <a:off x="566928" y="5266944"/>
            <a:ext cx="11057839" cy="0"/>
          </a:xfrm>
          <a:prstGeom prst="line">
            <a:avLst/>
          </a:prstGeom>
          <a:ln w="9525">
            <a:solidFill>
              <a:srgbClr val="D5DCD1"/>
            </a:solidFill>
          </a:ln>
        </p:spPr>
      </p:cxnSp>
      <p:sp>
        <p:nvSpPr>
          <p:cNvPr id="16" name="Rectangle 15"/>
          <p:cNvSpPr/>
          <p:nvPr/>
        </p:nvSpPr>
        <p:spPr>
          <a:xfrm>
            <a:off x="1847088" y="1828800"/>
            <a:ext cx="1481328" cy="1024128"/>
          </a:xfrm>
          <a:prstGeom prst="rect">
            <a:avLst/>
          </a:prstGeom>
          <a:solidFill>
            <a:srgbClr val="FFFFFF"/>
          </a:solidFill>
          <a:ln w="12700">
            <a:solidFill>
              <a:srgbClr val="0C1408"/>
            </a:solidFill>
          </a:ln>
        </p:spPr>
        <p:txBody>
          <a:bodyPr rtlCol="0" anchor="ctr" lIns="0" rIns="0"/>
          <a:lstStyle/>
          <a:p>
            <a:pPr algn="ctr"/>
          </a:p>
        </p:txBody>
      </p:sp>
      <p:sp>
        <p:nvSpPr>
          <p:cNvPr id="17" name="TextBox 16"/>
          <p:cNvSpPr txBox="1"/>
          <p:nvPr/>
        </p:nvSpPr>
        <p:spPr>
          <a:xfrm>
            <a:off x="1938528" y="1901952"/>
            <a:ext cx="1298448"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Sign up</a:t>
            </a:r>
          </a:p>
        </p:txBody>
      </p:sp>
      <p:sp>
        <p:nvSpPr>
          <p:cNvPr id="18" name="TextBox 17"/>
          <p:cNvSpPr txBox="1"/>
          <p:nvPr/>
        </p:nvSpPr>
        <p:spPr>
          <a:xfrm>
            <a:off x="1938528" y="2194560"/>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phone number, one time code, PIN</a:t>
            </a:r>
          </a:p>
        </p:txBody>
      </p:sp>
      <p:sp>
        <p:nvSpPr>
          <p:cNvPr id="19" name="Rectangle 18"/>
          <p:cNvSpPr/>
          <p:nvPr/>
        </p:nvSpPr>
        <p:spPr>
          <a:xfrm>
            <a:off x="3511296" y="2999232"/>
            <a:ext cx="1481328" cy="1024128"/>
          </a:xfrm>
          <a:prstGeom prst="rect">
            <a:avLst/>
          </a:prstGeom>
          <a:solidFill>
            <a:srgbClr val="FFFFFF"/>
          </a:solidFill>
          <a:ln w="12700">
            <a:solidFill>
              <a:srgbClr val="3B4148"/>
            </a:solidFill>
          </a:ln>
        </p:spPr>
        <p:txBody>
          <a:bodyPr rtlCol="0" anchor="ctr" lIns="0" rIns="0"/>
          <a:lstStyle/>
          <a:p>
            <a:pPr algn="ctr"/>
          </a:p>
        </p:txBody>
      </p:sp>
      <p:sp>
        <p:nvSpPr>
          <p:cNvPr id="20" name="TextBox 19"/>
          <p:cNvSpPr txBox="1"/>
          <p:nvPr/>
        </p:nvSpPr>
        <p:spPr>
          <a:xfrm>
            <a:off x="3602736" y="3072384"/>
            <a:ext cx="1298448" cy="274320"/>
          </a:xfrm>
          <a:prstGeom prst="rect">
            <a:avLst/>
          </a:prstGeom>
          <a:noFill/>
        </p:spPr>
        <p:txBody>
          <a:bodyPr wrap="square" lIns="0" rIns="0" tIns="0" bIns="0" anchor="t">
            <a:noAutofit/>
          </a:bodyPr>
          <a:lstStyle/>
          <a:p>
            <a:pPr algn="ctr">
              <a:lnSpc>
                <a:spcPct val="110000"/>
              </a:lnSpc>
            </a:pPr>
            <a:r>
              <a:rPr sz="1300" b="1" i="0">
                <a:solidFill>
                  <a:srgbClr val="3B4148"/>
                </a:solidFill>
                <a:latin typeface="Arial"/>
              </a:rPr>
              <a:t>Account</a:t>
            </a:r>
          </a:p>
        </p:txBody>
      </p:sp>
      <p:sp>
        <p:nvSpPr>
          <p:cNvPr id="21" name="TextBox 20"/>
          <p:cNvSpPr txBox="1"/>
          <p:nvPr/>
        </p:nvSpPr>
        <p:spPr>
          <a:xfrm>
            <a:off x="3602736" y="3364992"/>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CNIC, NADRA biometric check, due diligence</a:t>
            </a:r>
          </a:p>
        </p:txBody>
      </p:sp>
      <p:sp>
        <p:nvSpPr>
          <p:cNvPr id="22" name="Rectangle 21"/>
          <p:cNvSpPr/>
          <p:nvPr/>
        </p:nvSpPr>
        <p:spPr>
          <a:xfrm>
            <a:off x="5175504"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3" name="TextBox 22"/>
          <p:cNvSpPr txBox="1"/>
          <p:nvPr/>
        </p:nvSpPr>
        <p:spPr>
          <a:xfrm>
            <a:off x="5266944"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Identity</a:t>
            </a:r>
          </a:p>
        </p:txBody>
      </p:sp>
      <p:sp>
        <p:nvSpPr>
          <p:cNvPr id="24" name="TextBox 23"/>
          <p:cNvSpPr txBox="1"/>
          <p:nvPr/>
        </p:nvSpPr>
        <p:spPr>
          <a:xfrm>
            <a:off x="5266944"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CNIC and account names match; live face check</a:t>
            </a:r>
          </a:p>
        </p:txBody>
      </p:sp>
      <p:sp>
        <p:nvSpPr>
          <p:cNvPr id="25" name="Rectangle 24"/>
          <p:cNvSpPr/>
          <p:nvPr/>
        </p:nvSpPr>
        <p:spPr>
          <a:xfrm>
            <a:off x="6839712"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6" name="TextBox 25"/>
          <p:cNvSpPr txBox="1"/>
          <p:nvPr/>
        </p:nvSpPr>
        <p:spPr>
          <a:xfrm>
            <a:off x="6931152"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Income</a:t>
            </a:r>
          </a:p>
        </p:txBody>
      </p:sp>
      <p:sp>
        <p:nvSpPr>
          <p:cNvPr id="27" name="TextBox 26"/>
          <p:cNvSpPr txBox="1"/>
          <p:nvPr/>
        </p:nvSpPr>
        <p:spPr>
          <a:xfrm>
            <a:off x="6931152"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salary or daily income arrives regularly</a:t>
            </a:r>
          </a:p>
        </p:txBody>
      </p:sp>
      <p:sp>
        <p:nvSpPr>
          <p:cNvPr id="28" name="Rectangle 27"/>
          <p:cNvSpPr/>
          <p:nvPr/>
        </p:nvSpPr>
        <p:spPr>
          <a:xfrm>
            <a:off x="8503920"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9" name="TextBox 28"/>
          <p:cNvSpPr txBox="1"/>
          <p:nvPr/>
        </p:nvSpPr>
        <p:spPr>
          <a:xfrm>
            <a:off x="8595360"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Affordability</a:t>
            </a:r>
          </a:p>
        </p:txBody>
      </p:sp>
      <p:sp>
        <p:nvSpPr>
          <p:cNvPr id="30" name="TextBox 29"/>
          <p:cNvSpPr txBox="1"/>
          <p:nvPr/>
        </p:nvSpPr>
        <p:spPr>
          <a:xfrm>
            <a:off x="8595360"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all instalments within a third of income</a:t>
            </a:r>
          </a:p>
        </p:txBody>
      </p:sp>
      <p:sp>
        <p:nvSpPr>
          <p:cNvPr id="31" name="Rectangle 30"/>
          <p:cNvSpPr/>
          <p:nvPr/>
        </p:nvSpPr>
        <p:spPr>
          <a:xfrm>
            <a:off x="10168128"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32" name="TextBox 31"/>
          <p:cNvSpPr txBox="1"/>
          <p:nvPr/>
        </p:nvSpPr>
        <p:spPr>
          <a:xfrm>
            <a:off x="10259567"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Credit score</a:t>
            </a:r>
          </a:p>
        </p:txBody>
      </p:sp>
      <p:sp>
        <p:nvSpPr>
          <p:cNvPr id="33" name="TextBox 32"/>
          <p:cNvSpPr txBox="1"/>
          <p:nvPr/>
        </p:nvSpPr>
        <p:spPr>
          <a:xfrm>
            <a:off x="10259567"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300 to 850; decides which turns open</a:t>
            </a:r>
          </a:p>
        </p:txBody>
      </p:sp>
      <p:cxnSp>
        <p:nvCxnSpPr>
          <p:cNvPr id="34" name="Connector 33"/>
          <p:cNvCxnSpPr/>
          <p:nvPr/>
        </p:nvCxnSpPr>
        <p:spPr>
          <a:xfrm>
            <a:off x="2587752" y="2852928"/>
            <a:ext cx="0" cy="658368"/>
          </a:xfrm>
          <a:prstGeom prst="line">
            <a:avLst/>
          </a:prstGeom>
          <a:ln w="12700">
            <a:solidFill>
              <a:srgbClr val="0C1408"/>
            </a:solidFill>
          </a:ln>
        </p:spPr>
      </p:cxnSp>
      <p:cxnSp>
        <p:nvCxnSpPr>
          <p:cNvPr id="35" name="Connector 34"/>
          <p:cNvCxnSpPr/>
          <p:nvPr/>
        </p:nvCxnSpPr>
        <p:spPr>
          <a:xfrm>
            <a:off x="2587752" y="3511296"/>
            <a:ext cx="923544" cy="0"/>
          </a:xfrm>
          <a:prstGeom prst="line">
            <a:avLst/>
          </a:prstGeom>
          <a:ln w="12700">
            <a:solidFill>
              <a:srgbClr val="0C1408"/>
            </a:solidFill>
            <a:tailEnd type="triangle" w="med" len="med"/>
          </a:ln>
        </p:spPr>
      </p:cxnSp>
      <p:cxnSp>
        <p:nvCxnSpPr>
          <p:cNvPr id="36" name="Connector 35"/>
          <p:cNvCxnSpPr/>
          <p:nvPr/>
        </p:nvCxnSpPr>
        <p:spPr>
          <a:xfrm>
            <a:off x="4251960" y="4023360"/>
            <a:ext cx="0" cy="658368"/>
          </a:xfrm>
          <a:prstGeom prst="line">
            <a:avLst/>
          </a:prstGeom>
          <a:ln w="12700">
            <a:solidFill>
              <a:srgbClr val="0C1408"/>
            </a:solidFill>
          </a:ln>
        </p:spPr>
      </p:cxnSp>
      <p:cxnSp>
        <p:nvCxnSpPr>
          <p:cNvPr id="37" name="Connector 36"/>
          <p:cNvCxnSpPr/>
          <p:nvPr/>
        </p:nvCxnSpPr>
        <p:spPr>
          <a:xfrm>
            <a:off x="4251960" y="4681728"/>
            <a:ext cx="923544" cy="0"/>
          </a:xfrm>
          <a:prstGeom prst="line">
            <a:avLst/>
          </a:prstGeom>
          <a:ln w="12700">
            <a:solidFill>
              <a:srgbClr val="0C1408"/>
            </a:solidFill>
            <a:tailEnd type="triangle" w="med" len="med"/>
          </a:ln>
        </p:spPr>
      </p:cxnSp>
      <p:cxnSp>
        <p:nvCxnSpPr>
          <p:cNvPr id="38" name="Connector 37"/>
          <p:cNvCxnSpPr/>
          <p:nvPr/>
        </p:nvCxnSpPr>
        <p:spPr>
          <a:xfrm>
            <a:off x="6656832" y="4681728"/>
            <a:ext cx="182880" cy="0"/>
          </a:xfrm>
          <a:prstGeom prst="line">
            <a:avLst/>
          </a:prstGeom>
          <a:ln w="12700">
            <a:solidFill>
              <a:srgbClr val="0C1408"/>
            </a:solidFill>
            <a:tailEnd type="triangle" w="med" len="med"/>
          </a:ln>
        </p:spPr>
      </p:cxnSp>
      <p:cxnSp>
        <p:nvCxnSpPr>
          <p:cNvPr id="39" name="Connector 38"/>
          <p:cNvCxnSpPr/>
          <p:nvPr/>
        </p:nvCxnSpPr>
        <p:spPr>
          <a:xfrm>
            <a:off x="8321040" y="4681728"/>
            <a:ext cx="182880" cy="0"/>
          </a:xfrm>
          <a:prstGeom prst="line">
            <a:avLst/>
          </a:prstGeom>
          <a:ln w="12700">
            <a:solidFill>
              <a:srgbClr val="0C1408"/>
            </a:solidFill>
            <a:tailEnd type="triangle" w="med" len="med"/>
          </a:ln>
        </p:spPr>
      </p:cxnSp>
      <p:cxnSp>
        <p:nvCxnSpPr>
          <p:cNvPr id="40" name="Connector 39"/>
          <p:cNvCxnSpPr/>
          <p:nvPr/>
        </p:nvCxnSpPr>
        <p:spPr>
          <a:xfrm>
            <a:off x="9985248" y="4681728"/>
            <a:ext cx="182880" cy="0"/>
          </a:xfrm>
          <a:prstGeom prst="line">
            <a:avLst/>
          </a:prstGeom>
          <a:ln w="12700">
            <a:solidFill>
              <a:srgbClr val="0C1408"/>
            </a:solidFill>
            <a:tailEnd type="triangle" w="med" len="med"/>
          </a:ln>
        </p:spPr>
      </p:cxnSp>
      <p:cxnSp>
        <p:nvCxnSpPr>
          <p:cNvPr id="41" name="Connector 40"/>
          <p:cNvCxnSpPr/>
          <p:nvPr/>
        </p:nvCxnSpPr>
        <p:spPr>
          <a:xfrm flipV="1">
            <a:off x="10908792" y="2852928"/>
            <a:ext cx="0" cy="1316736"/>
          </a:xfrm>
          <a:prstGeom prst="line">
            <a:avLst/>
          </a:prstGeom>
          <a:ln w="19050">
            <a:solidFill>
              <a:srgbClr val="41801A"/>
            </a:solidFill>
            <a:tailEnd type="triangle" w="med" len="med"/>
          </a:ln>
        </p:spPr>
      </p:cxnSp>
      <p:sp>
        <p:nvSpPr>
          <p:cNvPr id="42" name="TextBox 41"/>
          <p:cNvSpPr txBox="1"/>
          <p:nvPr/>
        </p:nvSpPr>
        <p:spPr>
          <a:xfrm>
            <a:off x="5175504" y="1938528"/>
            <a:ext cx="5550407" cy="640080"/>
          </a:xfrm>
          <a:prstGeom prst="rect">
            <a:avLst/>
          </a:prstGeom>
          <a:noFill/>
        </p:spPr>
        <p:txBody>
          <a:bodyPr wrap="square" lIns="0" rIns="0" tIns="0" bIns="0" anchor="t">
            <a:noAutofit/>
          </a:bodyPr>
          <a:lstStyle/>
          <a:p>
            <a:pPr algn="r">
              <a:lnSpc>
                <a:spcPct val="110000"/>
              </a:lnSpc>
            </a:pPr>
            <a:r>
              <a:rPr sz="1300" b="1" i="0">
                <a:solidFill>
                  <a:srgbClr val="41801A"/>
                </a:solidFill>
                <a:latin typeface="Arial"/>
              </a:rPr>
              <a:t>Sees only the circles and turns open to this member</a:t>
            </a:r>
          </a:p>
        </p:txBody>
      </p:sp>
      <p:sp>
        <p:nvSpPr>
          <p:cNvPr id="43" name="TextBox 42"/>
          <p:cNvSpPr txBox="1"/>
          <p:nvPr/>
        </p:nvSpPr>
        <p:spPr>
          <a:xfrm>
            <a:off x="566928" y="5358384"/>
            <a:ext cx="11057839" cy="822960"/>
          </a:xfrm>
          <a:prstGeom prst="rect">
            <a:avLst/>
          </a:prstGeom>
          <a:noFill/>
        </p:spPr>
        <p:txBody>
          <a:bodyPr wrap="square" lIns="0" rIns="0" tIns="0" bIns="0" anchor="t">
            <a:noAutofit/>
          </a:bodyPr>
          <a:lstStyle/>
          <a:p>
            <a:pPr algn="l">
              <a:lnSpc>
                <a:spcPct val="110000"/>
              </a:lnSpc>
              <a:spcAft>
                <a:spcPts val="400"/>
              </a:spcAft>
            </a:pPr>
            <a:r>
              <a:rPr sz="1200" b="1" i="0">
                <a:solidFill>
                  <a:srgbClr val="0C1408"/>
                </a:solidFill>
                <a:latin typeface="Arial"/>
              </a:rPr>
              <a:t>Checks rise with risk.</a:t>
            </a:r>
            <a:r>
              <a:rPr sz="1200" b="0" i="0">
                <a:solidFill>
                  <a:srgbClr val="0C1408"/>
                </a:solidFill>
                <a:latin typeface="Arial"/>
              </a:rPr>
              <a:t> Known circles: identity only. Strangers: income, affordability and a credit report as well. Hyper: proof of daily income too.</a:t>
            </a:r>
          </a:p>
          <a:p>
            <a:pPr algn="l">
              <a:lnSpc>
                <a:spcPct val="110000"/>
              </a:lnSpc>
              <a:spcAft>
                <a:spcPts val="400"/>
              </a:spcAft>
            </a:pPr>
            <a:r>
              <a:rPr sz="1200" b="1" i="0">
                <a:solidFill>
                  <a:srgbClr val="0C1408"/>
                </a:solidFill>
                <a:latin typeface="Arial"/>
              </a:rPr>
              <a:t>Stored.</a:t>
            </a:r>
            <a:r>
              <a:rPr sz="1200" b="0" i="0">
                <a:solidFill>
                  <a:srgbClr val="0C1408"/>
                </a:solidFill>
                <a:latin typeface="Arial"/>
              </a:rPr>
              <a:t> Results only; never face images, card numbers or passwords.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Committee Types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less members know each other, the more checks apply.</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Turn bands apply in every type. Cover and financing follow the bank's choice of product.</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11</a:t>
            </a:r>
          </a:p>
        </p:txBody>
      </p:sp>
      <p:sp>
        <p:nvSpPr>
          <p:cNvPr id="7" name="TextBox 6"/>
          <p:cNvSpPr txBox="1"/>
          <p:nvPr/>
        </p:nvSpPr>
        <p:spPr>
          <a:xfrm>
            <a:off x="566928" y="1691640"/>
            <a:ext cx="1709928" cy="548640"/>
          </a:xfrm>
          <a:prstGeom prst="rect">
            <a:avLst/>
          </a:prstGeom>
          <a:noFill/>
        </p:spPr>
        <p:txBody>
          <a:bodyPr wrap="square" lIns="0" rIns="0" tIns="0" bIns="0" anchor="b">
            <a:noAutofit/>
          </a:bodyPr>
          <a:lstStyle/>
          <a:p>
            <a:pPr algn="l">
              <a:lnSpc>
                <a:spcPct val="110000"/>
              </a:lnSpc>
            </a:pPr>
          </a:p>
        </p:txBody>
      </p:sp>
      <p:sp>
        <p:nvSpPr>
          <p:cNvPr id="8" name="TextBox 7"/>
          <p:cNvSpPr txBox="1"/>
          <p:nvPr/>
        </p:nvSpPr>
        <p:spPr>
          <a:xfrm>
            <a:off x="2423160" y="1691640"/>
            <a:ext cx="1781799"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Known</a:t>
            </a:r>
          </a:p>
        </p:txBody>
      </p:sp>
      <p:sp>
        <p:nvSpPr>
          <p:cNvPr id="9" name="TextBox 8"/>
          <p:cNvSpPr txBox="1"/>
          <p:nvPr/>
        </p:nvSpPr>
        <p:spPr>
          <a:xfrm>
            <a:off x="4278111" y="1691640"/>
            <a:ext cx="1781799"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Strangers</a:t>
            </a:r>
          </a:p>
        </p:txBody>
      </p:sp>
      <p:sp>
        <p:nvSpPr>
          <p:cNvPr id="10" name="TextBox 9"/>
          <p:cNvSpPr txBox="1"/>
          <p:nvPr/>
        </p:nvSpPr>
        <p:spPr>
          <a:xfrm>
            <a:off x="6133063" y="1691640"/>
            <a:ext cx="1781799"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Large, strangers</a:t>
            </a:r>
          </a:p>
        </p:txBody>
      </p:sp>
      <p:sp>
        <p:nvSpPr>
          <p:cNvPr id="11" name="TextBox 10"/>
          <p:cNvSpPr txBox="1"/>
          <p:nvPr/>
        </p:nvSpPr>
        <p:spPr>
          <a:xfrm>
            <a:off x="7988015" y="1691640"/>
            <a:ext cx="1781799"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Asset</a:t>
            </a:r>
          </a:p>
        </p:txBody>
      </p:sp>
      <p:sp>
        <p:nvSpPr>
          <p:cNvPr id="12" name="TextBox 11"/>
          <p:cNvSpPr txBox="1"/>
          <p:nvPr/>
        </p:nvSpPr>
        <p:spPr>
          <a:xfrm>
            <a:off x="9842967" y="1691640"/>
            <a:ext cx="1781799"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Hyper</a:t>
            </a:r>
          </a:p>
        </p:txBody>
      </p:sp>
      <p:cxnSp>
        <p:nvCxnSpPr>
          <p:cNvPr id="13" name="Connector 12"/>
          <p:cNvCxnSpPr/>
          <p:nvPr/>
        </p:nvCxnSpPr>
        <p:spPr>
          <a:xfrm>
            <a:off x="566928" y="2276856"/>
            <a:ext cx="11057839" cy="0"/>
          </a:xfrm>
          <a:prstGeom prst="line">
            <a:avLst/>
          </a:prstGeom>
          <a:ln w="12700">
            <a:solidFill>
              <a:srgbClr val="0C1408"/>
            </a:solidFill>
          </a:ln>
        </p:spPr>
      </p:cxnSp>
      <p:sp>
        <p:nvSpPr>
          <p:cNvPr id="14" name="TextBox 13"/>
          <p:cNvSpPr txBox="1"/>
          <p:nvPr/>
        </p:nvSpPr>
        <p:spPr>
          <a:xfrm>
            <a:off x="566928" y="2258568"/>
            <a:ext cx="1673351"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Who</a:t>
            </a:r>
          </a:p>
        </p:txBody>
      </p:sp>
      <p:sp>
        <p:nvSpPr>
          <p:cNvPr id="15" name="TextBox 14"/>
          <p:cNvSpPr txBox="1"/>
          <p:nvPr/>
        </p:nvSpPr>
        <p:spPr>
          <a:xfrm>
            <a:off x="2423160" y="2258568"/>
            <a:ext cx="1745223"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family, colleagues, neighbours</a:t>
            </a:r>
          </a:p>
        </p:txBody>
      </p:sp>
      <p:sp>
        <p:nvSpPr>
          <p:cNvPr id="16" name="TextBox 15"/>
          <p:cNvSpPr txBox="1"/>
          <p:nvPr/>
        </p:nvSpPr>
        <p:spPr>
          <a:xfrm>
            <a:off x="4278111" y="2258568"/>
            <a:ext cx="1745223"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matched by Halqa</a:t>
            </a:r>
          </a:p>
        </p:txBody>
      </p:sp>
      <p:sp>
        <p:nvSpPr>
          <p:cNvPr id="17" name="TextBox 16"/>
          <p:cNvSpPr txBox="1"/>
          <p:nvPr/>
        </p:nvSpPr>
        <p:spPr>
          <a:xfrm>
            <a:off x="6133063" y="2258568"/>
            <a:ext cx="1745223"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traders and larger savers</a:t>
            </a:r>
          </a:p>
        </p:txBody>
      </p:sp>
      <p:sp>
        <p:nvSpPr>
          <p:cNvPr id="18" name="TextBox 17"/>
          <p:cNvSpPr txBox="1"/>
          <p:nvPr/>
        </p:nvSpPr>
        <p:spPr>
          <a:xfrm>
            <a:off x="7988015" y="2258568"/>
            <a:ext cx="1745223"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buying a motorcycle or machine</a:t>
            </a:r>
          </a:p>
        </p:txBody>
      </p:sp>
      <p:sp>
        <p:nvSpPr>
          <p:cNvPr id="19" name="TextBox 18"/>
          <p:cNvSpPr txBox="1"/>
          <p:nvPr/>
        </p:nvSpPr>
        <p:spPr>
          <a:xfrm>
            <a:off x="9842967" y="2258568"/>
            <a:ext cx="1745223"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daily earners: drivers, riders, traders</a:t>
            </a:r>
          </a:p>
        </p:txBody>
      </p:sp>
      <p:cxnSp>
        <p:nvCxnSpPr>
          <p:cNvPr id="20" name="Connector 19"/>
          <p:cNvCxnSpPr/>
          <p:nvPr/>
        </p:nvCxnSpPr>
        <p:spPr>
          <a:xfrm>
            <a:off x="566928" y="2807208"/>
            <a:ext cx="11057839" cy="0"/>
          </a:xfrm>
          <a:prstGeom prst="line">
            <a:avLst/>
          </a:prstGeom>
          <a:ln w="9525">
            <a:solidFill>
              <a:srgbClr val="D5DCD1"/>
            </a:solidFill>
          </a:ln>
        </p:spPr>
      </p:cxnSp>
      <p:sp>
        <p:nvSpPr>
          <p:cNvPr id="21" name="TextBox 20"/>
          <p:cNvSpPr txBox="1"/>
          <p:nvPr/>
        </p:nvSpPr>
        <p:spPr>
          <a:xfrm>
            <a:off x="566928" y="282549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a:t>
            </a:r>
          </a:p>
        </p:txBody>
      </p:sp>
      <p:sp>
        <p:nvSpPr>
          <p:cNvPr id="22" name="TextBox 21"/>
          <p:cNvSpPr txBox="1"/>
          <p:nvPr/>
        </p:nvSpPr>
        <p:spPr>
          <a:xfrm>
            <a:off x="2423160" y="282549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6 to 12</a:t>
            </a:r>
          </a:p>
        </p:txBody>
      </p:sp>
      <p:sp>
        <p:nvSpPr>
          <p:cNvPr id="23" name="TextBox 22"/>
          <p:cNvSpPr txBox="1"/>
          <p:nvPr/>
        </p:nvSpPr>
        <p:spPr>
          <a:xfrm>
            <a:off x="4278111" y="282549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12</a:t>
            </a:r>
          </a:p>
        </p:txBody>
      </p:sp>
      <p:sp>
        <p:nvSpPr>
          <p:cNvPr id="24" name="TextBox 23"/>
          <p:cNvSpPr txBox="1"/>
          <p:nvPr/>
        </p:nvSpPr>
        <p:spPr>
          <a:xfrm>
            <a:off x="6133063" y="282549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20</a:t>
            </a:r>
          </a:p>
        </p:txBody>
      </p:sp>
      <p:sp>
        <p:nvSpPr>
          <p:cNvPr id="25" name="TextBox 24"/>
          <p:cNvSpPr txBox="1"/>
          <p:nvPr/>
        </p:nvSpPr>
        <p:spPr>
          <a:xfrm>
            <a:off x="7988015" y="282549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12</a:t>
            </a:r>
          </a:p>
        </p:txBody>
      </p:sp>
      <p:sp>
        <p:nvSpPr>
          <p:cNvPr id="26" name="TextBox 25"/>
          <p:cNvSpPr txBox="1"/>
          <p:nvPr/>
        </p:nvSpPr>
        <p:spPr>
          <a:xfrm>
            <a:off x="9842967" y="282549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390 to 400</a:t>
            </a:r>
          </a:p>
        </p:txBody>
      </p:sp>
      <p:cxnSp>
        <p:nvCxnSpPr>
          <p:cNvPr id="27" name="Connector 26"/>
          <p:cNvCxnSpPr/>
          <p:nvPr/>
        </p:nvCxnSpPr>
        <p:spPr>
          <a:xfrm>
            <a:off x="566928" y="3191256"/>
            <a:ext cx="11057839" cy="0"/>
          </a:xfrm>
          <a:prstGeom prst="line">
            <a:avLst/>
          </a:prstGeom>
          <a:ln w="9525">
            <a:solidFill>
              <a:srgbClr val="D5DCD1"/>
            </a:solidFill>
          </a:ln>
        </p:spPr>
      </p:cxnSp>
      <p:sp>
        <p:nvSpPr>
          <p:cNvPr id="28" name="TextBox 27"/>
          <p:cNvSpPr txBox="1"/>
          <p:nvPr/>
        </p:nvSpPr>
        <p:spPr>
          <a:xfrm>
            <a:off x="566928" y="319125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Instalment</a:t>
            </a:r>
          </a:p>
        </p:txBody>
      </p:sp>
      <p:sp>
        <p:nvSpPr>
          <p:cNvPr id="29" name="TextBox 28"/>
          <p:cNvSpPr txBox="1"/>
          <p:nvPr/>
        </p:nvSpPr>
        <p:spPr>
          <a:xfrm>
            <a:off x="2423160" y="319125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2,000 to 10,000</a:t>
            </a:r>
          </a:p>
        </p:txBody>
      </p:sp>
      <p:sp>
        <p:nvSpPr>
          <p:cNvPr id="30" name="TextBox 29"/>
          <p:cNvSpPr txBox="1"/>
          <p:nvPr/>
        </p:nvSpPr>
        <p:spPr>
          <a:xfrm>
            <a:off x="4278111" y="319125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10,000</a:t>
            </a:r>
          </a:p>
        </p:txBody>
      </p:sp>
      <p:sp>
        <p:nvSpPr>
          <p:cNvPr id="31" name="TextBox 30"/>
          <p:cNvSpPr txBox="1"/>
          <p:nvPr/>
        </p:nvSpPr>
        <p:spPr>
          <a:xfrm>
            <a:off x="6133063" y="319125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25,000</a:t>
            </a:r>
          </a:p>
        </p:txBody>
      </p:sp>
      <p:sp>
        <p:nvSpPr>
          <p:cNvPr id="32" name="TextBox 31"/>
          <p:cNvSpPr txBox="1"/>
          <p:nvPr/>
        </p:nvSpPr>
        <p:spPr>
          <a:xfrm>
            <a:off x="7988015" y="319125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10,000</a:t>
            </a:r>
          </a:p>
        </p:txBody>
      </p:sp>
      <p:sp>
        <p:nvSpPr>
          <p:cNvPr id="33" name="TextBox 32"/>
          <p:cNvSpPr txBox="1"/>
          <p:nvPr/>
        </p:nvSpPr>
        <p:spPr>
          <a:xfrm>
            <a:off x="9842967" y="319125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450 to 500 a day</a:t>
            </a:r>
          </a:p>
        </p:txBody>
      </p:sp>
      <p:cxnSp>
        <p:nvCxnSpPr>
          <p:cNvPr id="34" name="Connector 33"/>
          <p:cNvCxnSpPr/>
          <p:nvPr/>
        </p:nvCxnSpPr>
        <p:spPr>
          <a:xfrm>
            <a:off x="566928" y="3557016"/>
            <a:ext cx="11057839" cy="0"/>
          </a:xfrm>
          <a:prstGeom prst="line">
            <a:avLst/>
          </a:prstGeom>
          <a:ln w="9525">
            <a:solidFill>
              <a:srgbClr val="D5DCD1"/>
            </a:solidFill>
          </a:ln>
        </p:spPr>
      </p:cxnSp>
      <p:sp>
        <p:nvSpPr>
          <p:cNvPr id="35" name="TextBox 34"/>
          <p:cNvSpPr txBox="1"/>
          <p:nvPr/>
        </p:nvSpPr>
        <p:spPr>
          <a:xfrm>
            <a:off x="566928" y="355701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Frequency</a:t>
            </a:r>
          </a:p>
        </p:txBody>
      </p:sp>
      <p:sp>
        <p:nvSpPr>
          <p:cNvPr id="36" name="TextBox 35"/>
          <p:cNvSpPr txBox="1"/>
          <p:nvPr/>
        </p:nvSpPr>
        <p:spPr>
          <a:xfrm>
            <a:off x="2423160" y="35570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 or weekly</a:t>
            </a:r>
          </a:p>
        </p:txBody>
      </p:sp>
      <p:sp>
        <p:nvSpPr>
          <p:cNvPr id="37" name="TextBox 36"/>
          <p:cNvSpPr txBox="1"/>
          <p:nvPr/>
        </p:nvSpPr>
        <p:spPr>
          <a:xfrm>
            <a:off x="4278111" y="35570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38" name="TextBox 37"/>
          <p:cNvSpPr txBox="1"/>
          <p:nvPr/>
        </p:nvSpPr>
        <p:spPr>
          <a:xfrm>
            <a:off x="6133063" y="35570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39" name="TextBox 38"/>
          <p:cNvSpPr txBox="1"/>
          <p:nvPr/>
        </p:nvSpPr>
        <p:spPr>
          <a:xfrm>
            <a:off x="7988015" y="35570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40" name="TextBox 39"/>
          <p:cNvSpPr txBox="1"/>
          <p:nvPr/>
        </p:nvSpPr>
        <p:spPr>
          <a:xfrm>
            <a:off x="9842967" y="35570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daily</a:t>
            </a:r>
          </a:p>
        </p:txBody>
      </p:sp>
      <p:cxnSp>
        <p:nvCxnSpPr>
          <p:cNvPr id="41" name="Connector 40"/>
          <p:cNvCxnSpPr/>
          <p:nvPr/>
        </p:nvCxnSpPr>
        <p:spPr>
          <a:xfrm>
            <a:off x="566928" y="3922776"/>
            <a:ext cx="11057839" cy="0"/>
          </a:xfrm>
          <a:prstGeom prst="line">
            <a:avLst/>
          </a:prstGeom>
          <a:ln w="9525">
            <a:solidFill>
              <a:srgbClr val="D5DCD1"/>
            </a:solidFill>
          </a:ln>
        </p:spPr>
      </p:cxnSp>
      <p:sp>
        <p:nvSpPr>
          <p:cNvPr id="42" name="TextBox 41"/>
          <p:cNvSpPr txBox="1"/>
          <p:nvPr/>
        </p:nvSpPr>
        <p:spPr>
          <a:xfrm>
            <a:off x="566928" y="392277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Income checked</a:t>
            </a:r>
          </a:p>
        </p:txBody>
      </p:sp>
      <p:sp>
        <p:nvSpPr>
          <p:cNvPr id="43" name="Oval 42"/>
          <p:cNvSpPr/>
          <p:nvPr/>
        </p:nvSpPr>
        <p:spPr>
          <a:xfrm>
            <a:off x="2427732"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4" name="Oval 43"/>
          <p:cNvSpPr/>
          <p:nvPr/>
        </p:nvSpPr>
        <p:spPr>
          <a:xfrm>
            <a:off x="4282683"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5" name="Oval 44"/>
          <p:cNvSpPr/>
          <p:nvPr/>
        </p:nvSpPr>
        <p:spPr>
          <a:xfrm>
            <a:off x="4282683"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46" name="Oval 45"/>
          <p:cNvSpPr/>
          <p:nvPr/>
        </p:nvSpPr>
        <p:spPr>
          <a:xfrm>
            <a:off x="6137635"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7" name="Oval 46"/>
          <p:cNvSpPr/>
          <p:nvPr/>
        </p:nvSpPr>
        <p:spPr>
          <a:xfrm>
            <a:off x="6137635"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48" name="Oval 47"/>
          <p:cNvSpPr/>
          <p:nvPr/>
        </p:nvSpPr>
        <p:spPr>
          <a:xfrm>
            <a:off x="7992587"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9" name="Oval 48"/>
          <p:cNvSpPr/>
          <p:nvPr/>
        </p:nvSpPr>
        <p:spPr>
          <a:xfrm>
            <a:off x="7992587"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0" name="Oval 49"/>
          <p:cNvSpPr/>
          <p:nvPr/>
        </p:nvSpPr>
        <p:spPr>
          <a:xfrm>
            <a:off x="9847539"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1" name="Oval 50"/>
          <p:cNvSpPr/>
          <p:nvPr/>
        </p:nvSpPr>
        <p:spPr>
          <a:xfrm>
            <a:off x="9847539" y="401878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52" name="Connector 51"/>
          <p:cNvCxnSpPr/>
          <p:nvPr/>
        </p:nvCxnSpPr>
        <p:spPr>
          <a:xfrm>
            <a:off x="566928" y="4288536"/>
            <a:ext cx="11057839" cy="0"/>
          </a:xfrm>
          <a:prstGeom prst="line">
            <a:avLst/>
          </a:prstGeom>
          <a:ln w="9525">
            <a:solidFill>
              <a:srgbClr val="D5DCD1"/>
            </a:solidFill>
          </a:ln>
        </p:spPr>
      </p:cxnSp>
      <p:sp>
        <p:nvSpPr>
          <p:cNvPr id="53" name="TextBox 52"/>
          <p:cNvSpPr txBox="1"/>
          <p:nvPr/>
        </p:nvSpPr>
        <p:spPr>
          <a:xfrm>
            <a:off x="566928" y="428853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Automatic debit</a:t>
            </a:r>
          </a:p>
        </p:txBody>
      </p:sp>
      <p:sp>
        <p:nvSpPr>
          <p:cNvPr id="54" name="Oval 53"/>
          <p:cNvSpPr/>
          <p:nvPr/>
        </p:nvSpPr>
        <p:spPr>
          <a:xfrm>
            <a:off x="2427732"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5" name="Oval 54"/>
          <p:cNvSpPr/>
          <p:nvPr/>
        </p:nvSpPr>
        <p:spPr>
          <a:xfrm>
            <a:off x="4282683"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6" name="Oval 55"/>
          <p:cNvSpPr/>
          <p:nvPr/>
        </p:nvSpPr>
        <p:spPr>
          <a:xfrm>
            <a:off x="4282683"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7" name="Oval 56"/>
          <p:cNvSpPr/>
          <p:nvPr/>
        </p:nvSpPr>
        <p:spPr>
          <a:xfrm>
            <a:off x="6137635"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8" name="Oval 57"/>
          <p:cNvSpPr/>
          <p:nvPr/>
        </p:nvSpPr>
        <p:spPr>
          <a:xfrm>
            <a:off x="6137635"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9" name="Oval 58"/>
          <p:cNvSpPr/>
          <p:nvPr/>
        </p:nvSpPr>
        <p:spPr>
          <a:xfrm>
            <a:off x="7992587"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0" name="Oval 59"/>
          <p:cNvSpPr/>
          <p:nvPr/>
        </p:nvSpPr>
        <p:spPr>
          <a:xfrm>
            <a:off x="7992587"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1" name="Oval 60"/>
          <p:cNvSpPr/>
          <p:nvPr/>
        </p:nvSpPr>
        <p:spPr>
          <a:xfrm>
            <a:off x="9847539"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2" name="Oval 61"/>
          <p:cNvSpPr/>
          <p:nvPr/>
        </p:nvSpPr>
        <p:spPr>
          <a:xfrm>
            <a:off x="9847539" y="438454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63" name="Connector 62"/>
          <p:cNvCxnSpPr/>
          <p:nvPr/>
        </p:nvCxnSpPr>
        <p:spPr>
          <a:xfrm>
            <a:off x="566928" y="4654296"/>
            <a:ext cx="11057839" cy="0"/>
          </a:xfrm>
          <a:prstGeom prst="line">
            <a:avLst/>
          </a:prstGeom>
          <a:ln w="9525">
            <a:solidFill>
              <a:srgbClr val="D5DCD1"/>
            </a:solidFill>
          </a:ln>
        </p:spPr>
      </p:cxnSp>
      <p:sp>
        <p:nvSpPr>
          <p:cNvPr id="64" name="TextBox 63"/>
          <p:cNvSpPr txBox="1"/>
          <p:nvPr/>
        </p:nvSpPr>
        <p:spPr>
          <a:xfrm>
            <a:off x="566928" y="465429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Takaful</a:t>
            </a:r>
          </a:p>
        </p:txBody>
      </p:sp>
      <p:sp>
        <p:nvSpPr>
          <p:cNvPr id="65" name="Oval 64"/>
          <p:cNvSpPr/>
          <p:nvPr/>
        </p:nvSpPr>
        <p:spPr>
          <a:xfrm>
            <a:off x="2427732"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6" name="Oval 65"/>
          <p:cNvSpPr/>
          <p:nvPr/>
        </p:nvSpPr>
        <p:spPr>
          <a:xfrm>
            <a:off x="4282683"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7" name="Oval 66"/>
          <p:cNvSpPr/>
          <p:nvPr/>
        </p:nvSpPr>
        <p:spPr>
          <a:xfrm>
            <a:off x="4282683"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8" name="Oval 67"/>
          <p:cNvSpPr/>
          <p:nvPr/>
        </p:nvSpPr>
        <p:spPr>
          <a:xfrm>
            <a:off x="6137635"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9" name="Oval 68"/>
          <p:cNvSpPr/>
          <p:nvPr/>
        </p:nvSpPr>
        <p:spPr>
          <a:xfrm>
            <a:off x="6137635"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0" name="Oval 69"/>
          <p:cNvSpPr/>
          <p:nvPr/>
        </p:nvSpPr>
        <p:spPr>
          <a:xfrm>
            <a:off x="7992587"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1" name="Oval 70"/>
          <p:cNvSpPr/>
          <p:nvPr/>
        </p:nvSpPr>
        <p:spPr>
          <a:xfrm>
            <a:off x="7992587"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2" name="Oval 71"/>
          <p:cNvSpPr/>
          <p:nvPr/>
        </p:nvSpPr>
        <p:spPr>
          <a:xfrm>
            <a:off x="9847539"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3" name="Oval 72"/>
          <p:cNvSpPr/>
          <p:nvPr/>
        </p:nvSpPr>
        <p:spPr>
          <a:xfrm>
            <a:off x="9847539" y="475030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74" name="Connector 73"/>
          <p:cNvCxnSpPr/>
          <p:nvPr/>
        </p:nvCxnSpPr>
        <p:spPr>
          <a:xfrm>
            <a:off x="566928" y="5020056"/>
            <a:ext cx="11057839" cy="0"/>
          </a:xfrm>
          <a:prstGeom prst="line">
            <a:avLst/>
          </a:prstGeom>
          <a:ln w="9525">
            <a:solidFill>
              <a:srgbClr val="D5DCD1"/>
            </a:solidFill>
          </a:ln>
        </p:spPr>
      </p:cxnSp>
      <p:sp>
        <p:nvSpPr>
          <p:cNvPr id="75" name="TextBox 74"/>
          <p:cNvSpPr txBox="1"/>
          <p:nvPr/>
        </p:nvSpPr>
        <p:spPr>
          <a:xfrm>
            <a:off x="566928" y="502005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Credit report read</a:t>
            </a:r>
          </a:p>
        </p:txBody>
      </p:sp>
      <p:sp>
        <p:nvSpPr>
          <p:cNvPr id="76" name="Oval 75"/>
          <p:cNvSpPr/>
          <p:nvPr/>
        </p:nvSpPr>
        <p:spPr>
          <a:xfrm>
            <a:off x="2427732"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7" name="Oval 76"/>
          <p:cNvSpPr/>
          <p:nvPr/>
        </p:nvSpPr>
        <p:spPr>
          <a:xfrm>
            <a:off x="4282683"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8" name="Oval 77"/>
          <p:cNvSpPr/>
          <p:nvPr/>
        </p:nvSpPr>
        <p:spPr>
          <a:xfrm>
            <a:off x="4282683"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9" name="Oval 78"/>
          <p:cNvSpPr/>
          <p:nvPr/>
        </p:nvSpPr>
        <p:spPr>
          <a:xfrm>
            <a:off x="6137635"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0" name="Oval 79"/>
          <p:cNvSpPr/>
          <p:nvPr/>
        </p:nvSpPr>
        <p:spPr>
          <a:xfrm>
            <a:off x="6137635"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1" name="Oval 80"/>
          <p:cNvSpPr/>
          <p:nvPr/>
        </p:nvSpPr>
        <p:spPr>
          <a:xfrm>
            <a:off x="7992587"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2" name="Oval 81"/>
          <p:cNvSpPr/>
          <p:nvPr/>
        </p:nvSpPr>
        <p:spPr>
          <a:xfrm>
            <a:off x="7992587"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3" name="Oval 82"/>
          <p:cNvSpPr/>
          <p:nvPr/>
        </p:nvSpPr>
        <p:spPr>
          <a:xfrm>
            <a:off x="9847539"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4" name="Oval 83"/>
          <p:cNvSpPr/>
          <p:nvPr/>
        </p:nvSpPr>
        <p:spPr>
          <a:xfrm>
            <a:off x="9847539" y="511606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85" name="Connector 84"/>
          <p:cNvCxnSpPr/>
          <p:nvPr/>
        </p:nvCxnSpPr>
        <p:spPr>
          <a:xfrm>
            <a:off x="566928" y="5385816"/>
            <a:ext cx="11057839" cy="0"/>
          </a:xfrm>
          <a:prstGeom prst="line">
            <a:avLst/>
          </a:prstGeom>
          <a:ln w="9525">
            <a:solidFill>
              <a:srgbClr val="D5DCD1"/>
            </a:solidFill>
          </a:ln>
        </p:spPr>
      </p:cxnSp>
      <p:sp>
        <p:nvSpPr>
          <p:cNvPr id="86" name="TextBox 85"/>
          <p:cNvSpPr txBox="1"/>
          <p:nvPr/>
        </p:nvSpPr>
        <p:spPr>
          <a:xfrm>
            <a:off x="566928" y="538581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Stage</a:t>
            </a:r>
          </a:p>
        </p:txBody>
      </p:sp>
      <p:sp>
        <p:nvSpPr>
          <p:cNvPr id="87" name="TextBox 86"/>
          <p:cNvSpPr txBox="1"/>
          <p:nvPr/>
        </p:nvSpPr>
        <p:spPr>
          <a:xfrm>
            <a:off x="2423160" y="53858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pilot</a:t>
            </a:r>
          </a:p>
        </p:txBody>
      </p:sp>
      <p:sp>
        <p:nvSpPr>
          <p:cNvPr id="88" name="TextBox 87"/>
          <p:cNvSpPr txBox="1"/>
          <p:nvPr/>
        </p:nvSpPr>
        <p:spPr>
          <a:xfrm>
            <a:off x="4278111" y="53858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89" name="TextBox 88"/>
          <p:cNvSpPr txBox="1"/>
          <p:nvPr/>
        </p:nvSpPr>
        <p:spPr>
          <a:xfrm>
            <a:off x="6133063" y="53858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90" name="TextBox 89"/>
          <p:cNvSpPr txBox="1"/>
          <p:nvPr/>
        </p:nvSpPr>
        <p:spPr>
          <a:xfrm>
            <a:off x="7988015" y="53858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91" name="TextBox 90"/>
          <p:cNvSpPr txBox="1"/>
          <p:nvPr/>
        </p:nvSpPr>
        <p:spPr>
          <a:xfrm>
            <a:off x="9842967" y="5385816"/>
            <a:ext cx="1745223"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experimental</a:t>
            </a:r>
          </a:p>
        </p:txBody>
      </p:sp>
      <p:cxnSp>
        <p:nvCxnSpPr>
          <p:cNvPr id="92" name="Connector 91"/>
          <p:cNvCxnSpPr/>
          <p:nvPr/>
        </p:nvCxnSpPr>
        <p:spPr>
          <a:xfrm>
            <a:off x="566928" y="5751576"/>
            <a:ext cx="11057839" cy="0"/>
          </a:xfrm>
          <a:prstGeom prst="line">
            <a:avLst/>
          </a:prstGeom>
          <a:ln w="9525">
            <a:solidFill>
              <a:srgbClr val="D5DCD1"/>
            </a:solidFill>
          </a:ln>
        </p:spPr>
      </p:cxnSp>
      <p:sp>
        <p:nvSpPr>
          <p:cNvPr id="93" name="Oval 92"/>
          <p:cNvSpPr/>
          <p:nvPr/>
        </p:nvSpPr>
        <p:spPr>
          <a:xfrm>
            <a:off x="576072" y="5861304"/>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94" name="Oval 93"/>
          <p:cNvSpPr/>
          <p:nvPr/>
        </p:nvSpPr>
        <p:spPr>
          <a:xfrm>
            <a:off x="576072" y="5861304"/>
            <a:ext cx="164592" cy="164592"/>
          </a:xfrm>
          <a:prstGeom prst="ellipse">
            <a:avLst/>
          </a:prstGeom>
          <a:solidFill>
            <a:srgbClr val="41801A"/>
          </a:solidFill>
          <a:ln w="15875">
            <a:solidFill>
              <a:srgbClr val="41801A"/>
            </a:solidFill>
          </a:ln>
        </p:spPr>
        <p:txBody>
          <a:bodyPr rtlCol="0" anchor="ctr" lIns="0" rIns="0"/>
          <a:lstStyle/>
          <a:p>
            <a:pPr algn="ctr"/>
          </a:p>
        </p:txBody>
      </p:sp>
      <p:sp>
        <p:nvSpPr>
          <p:cNvPr id="95" name="TextBox 94"/>
          <p:cNvSpPr txBox="1"/>
          <p:nvPr/>
        </p:nvSpPr>
        <p:spPr>
          <a:xfrm>
            <a:off x="822960" y="5833872"/>
            <a:ext cx="12801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required</a:t>
            </a:r>
          </a:p>
        </p:txBody>
      </p:sp>
      <p:sp>
        <p:nvSpPr>
          <p:cNvPr id="96" name="Oval 95"/>
          <p:cNvSpPr/>
          <p:nvPr/>
        </p:nvSpPr>
        <p:spPr>
          <a:xfrm>
            <a:off x="1810511" y="5861304"/>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97" name="TextBox 96"/>
          <p:cNvSpPr txBox="1"/>
          <p:nvPr/>
        </p:nvSpPr>
        <p:spPr>
          <a:xfrm>
            <a:off x="2057400" y="5833872"/>
            <a:ext cx="146304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not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Where the Risk Sits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Only an early collector can leave others short. Early turns need strong credit scores.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State Bank of Pakistan, Prudential Regulations for Consumer Financing, R-3, as amended by BPRD Circular Letter 29 of 2021: the 40% limit on loan repayments.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12</a:t>
            </a:r>
          </a:p>
        </p:txBody>
      </p:sp>
      <p:sp>
        <p:nvSpPr>
          <p:cNvPr id="7" name="TextBox 6"/>
          <p:cNvSpPr txBox="1"/>
          <p:nvPr/>
        </p:nvSpPr>
        <p:spPr>
          <a:xfrm>
            <a:off x="566928" y="1783080"/>
            <a:ext cx="621792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Still owed after collecting, by turn, Rs thousand: twelve members at Rs 10,000</a:t>
            </a:r>
          </a:p>
        </p:txBody>
      </p:sp>
      <p:sp>
        <p:nvSpPr>
          <p:cNvPr id="8" name="Rectangle 7"/>
          <p:cNvSpPr/>
          <p:nvPr/>
        </p:nvSpPr>
        <p:spPr>
          <a:xfrm>
            <a:off x="653796" y="2423159"/>
            <a:ext cx="329184" cy="2331720"/>
          </a:xfrm>
          <a:prstGeom prst="rect">
            <a:avLst/>
          </a:prstGeom>
          <a:solidFill>
            <a:srgbClr val="41801A"/>
          </a:solidFill>
          <a:ln>
            <a:noFill/>
          </a:ln>
        </p:spPr>
        <p:txBody>
          <a:bodyPr rtlCol="0" anchor="ctr" lIns="0" rIns="0"/>
          <a:lstStyle/>
          <a:p>
            <a:pPr algn="ctr"/>
          </a:p>
        </p:txBody>
      </p:sp>
      <p:sp>
        <p:nvSpPr>
          <p:cNvPr id="9" name="TextBox 8"/>
          <p:cNvSpPr txBox="1"/>
          <p:nvPr/>
        </p:nvSpPr>
        <p:spPr>
          <a:xfrm>
            <a:off x="566928" y="2130551"/>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110</a:t>
            </a:r>
          </a:p>
        </p:txBody>
      </p:sp>
      <p:sp>
        <p:nvSpPr>
          <p:cNvPr id="10" name="TextBox 9"/>
          <p:cNvSpPr txBox="1"/>
          <p:nvPr/>
        </p:nvSpPr>
        <p:spPr>
          <a:xfrm>
            <a:off x="56692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a:t>
            </a:r>
          </a:p>
        </p:txBody>
      </p:sp>
      <p:sp>
        <p:nvSpPr>
          <p:cNvPr id="11" name="Rectangle 10"/>
          <p:cNvSpPr/>
          <p:nvPr/>
        </p:nvSpPr>
        <p:spPr>
          <a:xfrm>
            <a:off x="1156716" y="2635134"/>
            <a:ext cx="329184" cy="2119745"/>
          </a:xfrm>
          <a:prstGeom prst="rect">
            <a:avLst/>
          </a:prstGeom>
          <a:solidFill>
            <a:srgbClr val="41801A"/>
          </a:solidFill>
          <a:ln>
            <a:noFill/>
          </a:ln>
        </p:spPr>
        <p:txBody>
          <a:bodyPr rtlCol="0" anchor="ctr" lIns="0" rIns="0"/>
          <a:lstStyle/>
          <a:p>
            <a:pPr algn="ctr"/>
          </a:p>
        </p:txBody>
      </p:sp>
      <p:sp>
        <p:nvSpPr>
          <p:cNvPr id="12" name="TextBox 11"/>
          <p:cNvSpPr txBox="1"/>
          <p:nvPr/>
        </p:nvSpPr>
        <p:spPr>
          <a:xfrm>
            <a:off x="1069848" y="2342526"/>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100</a:t>
            </a:r>
          </a:p>
        </p:txBody>
      </p:sp>
      <p:sp>
        <p:nvSpPr>
          <p:cNvPr id="13" name="TextBox 12"/>
          <p:cNvSpPr txBox="1"/>
          <p:nvPr/>
        </p:nvSpPr>
        <p:spPr>
          <a:xfrm>
            <a:off x="106984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2</a:t>
            </a:r>
          </a:p>
        </p:txBody>
      </p:sp>
      <p:sp>
        <p:nvSpPr>
          <p:cNvPr id="14" name="Rectangle 13"/>
          <p:cNvSpPr/>
          <p:nvPr/>
        </p:nvSpPr>
        <p:spPr>
          <a:xfrm>
            <a:off x="1659635" y="2847109"/>
            <a:ext cx="329184" cy="1907770"/>
          </a:xfrm>
          <a:prstGeom prst="rect">
            <a:avLst/>
          </a:prstGeom>
          <a:solidFill>
            <a:srgbClr val="41801A"/>
          </a:solidFill>
          <a:ln>
            <a:noFill/>
          </a:ln>
        </p:spPr>
        <p:txBody>
          <a:bodyPr rtlCol="0" anchor="ctr" lIns="0" rIns="0"/>
          <a:lstStyle/>
          <a:p>
            <a:pPr algn="ctr"/>
          </a:p>
        </p:txBody>
      </p:sp>
      <p:sp>
        <p:nvSpPr>
          <p:cNvPr id="15" name="TextBox 14"/>
          <p:cNvSpPr txBox="1"/>
          <p:nvPr/>
        </p:nvSpPr>
        <p:spPr>
          <a:xfrm>
            <a:off x="1572767" y="2554501"/>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90</a:t>
            </a:r>
          </a:p>
        </p:txBody>
      </p:sp>
      <p:sp>
        <p:nvSpPr>
          <p:cNvPr id="16" name="TextBox 15"/>
          <p:cNvSpPr txBox="1"/>
          <p:nvPr/>
        </p:nvSpPr>
        <p:spPr>
          <a:xfrm>
            <a:off x="157276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3</a:t>
            </a:r>
          </a:p>
        </p:txBody>
      </p:sp>
      <p:sp>
        <p:nvSpPr>
          <p:cNvPr id="17" name="Rectangle 16"/>
          <p:cNvSpPr/>
          <p:nvPr/>
        </p:nvSpPr>
        <p:spPr>
          <a:xfrm>
            <a:off x="2162556" y="3059083"/>
            <a:ext cx="329184" cy="1695796"/>
          </a:xfrm>
          <a:prstGeom prst="rect">
            <a:avLst/>
          </a:prstGeom>
          <a:solidFill>
            <a:srgbClr val="41801A"/>
          </a:solidFill>
          <a:ln>
            <a:noFill/>
          </a:ln>
        </p:spPr>
        <p:txBody>
          <a:bodyPr rtlCol="0" anchor="ctr" lIns="0" rIns="0"/>
          <a:lstStyle/>
          <a:p>
            <a:pPr algn="ctr"/>
          </a:p>
        </p:txBody>
      </p:sp>
      <p:sp>
        <p:nvSpPr>
          <p:cNvPr id="18" name="TextBox 17"/>
          <p:cNvSpPr txBox="1"/>
          <p:nvPr/>
        </p:nvSpPr>
        <p:spPr>
          <a:xfrm>
            <a:off x="2075688" y="2766475"/>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80</a:t>
            </a:r>
          </a:p>
        </p:txBody>
      </p:sp>
      <p:sp>
        <p:nvSpPr>
          <p:cNvPr id="19" name="TextBox 18"/>
          <p:cNvSpPr txBox="1"/>
          <p:nvPr/>
        </p:nvSpPr>
        <p:spPr>
          <a:xfrm>
            <a:off x="207568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4</a:t>
            </a:r>
          </a:p>
        </p:txBody>
      </p:sp>
      <p:sp>
        <p:nvSpPr>
          <p:cNvPr id="20" name="Rectangle 19"/>
          <p:cNvSpPr/>
          <p:nvPr/>
        </p:nvSpPr>
        <p:spPr>
          <a:xfrm>
            <a:off x="2665475" y="3271058"/>
            <a:ext cx="329184" cy="1483821"/>
          </a:xfrm>
          <a:prstGeom prst="rect">
            <a:avLst/>
          </a:prstGeom>
          <a:solidFill>
            <a:srgbClr val="41801A"/>
          </a:solidFill>
          <a:ln>
            <a:noFill/>
          </a:ln>
        </p:spPr>
        <p:txBody>
          <a:bodyPr rtlCol="0" anchor="ctr" lIns="0" rIns="0"/>
          <a:lstStyle/>
          <a:p>
            <a:pPr algn="ctr"/>
          </a:p>
        </p:txBody>
      </p:sp>
      <p:sp>
        <p:nvSpPr>
          <p:cNvPr id="21" name="TextBox 20"/>
          <p:cNvSpPr txBox="1"/>
          <p:nvPr/>
        </p:nvSpPr>
        <p:spPr>
          <a:xfrm>
            <a:off x="2578608" y="2978450"/>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70</a:t>
            </a:r>
          </a:p>
        </p:txBody>
      </p:sp>
      <p:sp>
        <p:nvSpPr>
          <p:cNvPr id="22" name="TextBox 21"/>
          <p:cNvSpPr txBox="1"/>
          <p:nvPr/>
        </p:nvSpPr>
        <p:spPr>
          <a:xfrm>
            <a:off x="257860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5</a:t>
            </a:r>
          </a:p>
        </p:txBody>
      </p:sp>
      <p:sp>
        <p:nvSpPr>
          <p:cNvPr id="23" name="Rectangle 22"/>
          <p:cNvSpPr/>
          <p:nvPr/>
        </p:nvSpPr>
        <p:spPr>
          <a:xfrm>
            <a:off x="3168395" y="3483032"/>
            <a:ext cx="329184" cy="1271847"/>
          </a:xfrm>
          <a:prstGeom prst="rect">
            <a:avLst/>
          </a:prstGeom>
          <a:solidFill>
            <a:srgbClr val="41801A"/>
          </a:solidFill>
          <a:ln>
            <a:noFill/>
          </a:ln>
        </p:spPr>
        <p:txBody>
          <a:bodyPr rtlCol="0" anchor="ctr" lIns="0" rIns="0"/>
          <a:lstStyle/>
          <a:p>
            <a:pPr algn="ctr"/>
          </a:p>
        </p:txBody>
      </p:sp>
      <p:sp>
        <p:nvSpPr>
          <p:cNvPr id="24" name="TextBox 23"/>
          <p:cNvSpPr txBox="1"/>
          <p:nvPr/>
        </p:nvSpPr>
        <p:spPr>
          <a:xfrm>
            <a:off x="3081527" y="3190424"/>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60</a:t>
            </a:r>
          </a:p>
        </p:txBody>
      </p:sp>
      <p:sp>
        <p:nvSpPr>
          <p:cNvPr id="25" name="TextBox 24"/>
          <p:cNvSpPr txBox="1"/>
          <p:nvPr/>
        </p:nvSpPr>
        <p:spPr>
          <a:xfrm>
            <a:off x="308152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6</a:t>
            </a:r>
          </a:p>
        </p:txBody>
      </p:sp>
      <p:sp>
        <p:nvSpPr>
          <p:cNvPr id="26" name="Rectangle 25"/>
          <p:cNvSpPr/>
          <p:nvPr/>
        </p:nvSpPr>
        <p:spPr>
          <a:xfrm>
            <a:off x="3671316" y="3695007"/>
            <a:ext cx="329184" cy="1059872"/>
          </a:xfrm>
          <a:prstGeom prst="rect">
            <a:avLst/>
          </a:prstGeom>
          <a:solidFill>
            <a:srgbClr val="6DC72A"/>
          </a:solidFill>
          <a:ln>
            <a:noFill/>
          </a:ln>
        </p:spPr>
        <p:txBody>
          <a:bodyPr rtlCol="0" anchor="ctr" lIns="0" rIns="0"/>
          <a:lstStyle/>
          <a:p>
            <a:pPr algn="ctr"/>
          </a:p>
        </p:txBody>
      </p:sp>
      <p:sp>
        <p:nvSpPr>
          <p:cNvPr id="27" name="TextBox 26"/>
          <p:cNvSpPr txBox="1"/>
          <p:nvPr/>
        </p:nvSpPr>
        <p:spPr>
          <a:xfrm>
            <a:off x="3584448" y="3402399"/>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50</a:t>
            </a:r>
          </a:p>
        </p:txBody>
      </p:sp>
      <p:sp>
        <p:nvSpPr>
          <p:cNvPr id="28" name="TextBox 27"/>
          <p:cNvSpPr txBox="1"/>
          <p:nvPr/>
        </p:nvSpPr>
        <p:spPr>
          <a:xfrm>
            <a:off x="358444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7</a:t>
            </a:r>
          </a:p>
        </p:txBody>
      </p:sp>
      <p:sp>
        <p:nvSpPr>
          <p:cNvPr id="29" name="Rectangle 28"/>
          <p:cNvSpPr/>
          <p:nvPr/>
        </p:nvSpPr>
        <p:spPr>
          <a:xfrm>
            <a:off x="4174236" y="3906981"/>
            <a:ext cx="329184" cy="847898"/>
          </a:xfrm>
          <a:prstGeom prst="rect">
            <a:avLst/>
          </a:prstGeom>
          <a:solidFill>
            <a:srgbClr val="6DC72A"/>
          </a:solidFill>
          <a:ln>
            <a:noFill/>
          </a:ln>
        </p:spPr>
        <p:txBody>
          <a:bodyPr rtlCol="0" anchor="ctr" lIns="0" rIns="0"/>
          <a:lstStyle/>
          <a:p>
            <a:pPr algn="ctr"/>
          </a:p>
        </p:txBody>
      </p:sp>
      <p:sp>
        <p:nvSpPr>
          <p:cNvPr id="30" name="TextBox 29"/>
          <p:cNvSpPr txBox="1"/>
          <p:nvPr/>
        </p:nvSpPr>
        <p:spPr>
          <a:xfrm>
            <a:off x="4087368" y="3614373"/>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40</a:t>
            </a:r>
          </a:p>
        </p:txBody>
      </p:sp>
      <p:sp>
        <p:nvSpPr>
          <p:cNvPr id="31" name="TextBox 30"/>
          <p:cNvSpPr txBox="1"/>
          <p:nvPr/>
        </p:nvSpPr>
        <p:spPr>
          <a:xfrm>
            <a:off x="408736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8</a:t>
            </a:r>
          </a:p>
        </p:txBody>
      </p:sp>
      <p:sp>
        <p:nvSpPr>
          <p:cNvPr id="32" name="Rectangle 31"/>
          <p:cNvSpPr/>
          <p:nvPr/>
        </p:nvSpPr>
        <p:spPr>
          <a:xfrm>
            <a:off x="4677156" y="4118956"/>
            <a:ext cx="329184" cy="635923"/>
          </a:xfrm>
          <a:prstGeom prst="rect">
            <a:avLst/>
          </a:prstGeom>
          <a:solidFill>
            <a:srgbClr val="6DC72A"/>
          </a:solidFill>
          <a:ln>
            <a:noFill/>
          </a:ln>
        </p:spPr>
        <p:txBody>
          <a:bodyPr rtlCol="0" anchor="ctr" lIns="0" rIns="0"/>
          <a:lstStyle/>
          <a:p>
            <a:pPr algn="ctr"/>
          </a:p>
        </p:txBody>
      </p:sp>
      <p:sp>
        <p:nvSpPr>
          <p:cNvPr id="33" name="TextBox 32"/>
          <p:cNvSpPr txBox="1"/>
          <p:nvPr/>
        </p:nvSpPr>
        <p:spPr>
          <a:xfrm>
            <a:off x="4590288" y="3826348"/>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30</a:t>
            </a:r>
          </a:p>
        </p:txBody>
      </p:sp>
      <p:sp>
        <p:nvSpPr>
          <p:cNvPr id="34" name="TextBox 33"/>
          <p:cNvSpPr txBox="1"/>
          <p:nvPr/>
        </p:nvSpPr>
        <p:spPr>
          <a:xfrm>
            <a:off x="459028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9</a:t>
            </a:r>
          </a:p>
        </p:txBody>
      </p:sp>
      <p:sp>
        <p:nvSpPr>
          <p:cNvPr id="35" name="Rectangle 34"/>
          <p:cNvSpPr/>
          <p:nvPr/>
        </p:nvSpPr>
        <p:spPr>
          <a:xfrm>
            <a:off x="5180076" y="4330930"/>
            <a:ext cx="329184" cy="423949"/>
          </a:xfrm>
          <a:prstGeom prst="rect">
            <a:avLst/>
          </a:prstGeom>
          <a:solidFill>
            <a:srgbClr val="A9DE7F"/>
          </a:solidFill>
          <a:ln>
            <a:noFill/>
          </a:ln>
        </p:spPr>
        <p:txBody>
          <a:bodyPr rtlCol="0" anchor="ctr" lIns="0" rIns="0"/>
          <a:lstStyle/>
          <a:p>
            <a:pPr algn="ctr"/>
          </a:p>
        </p:txBody>
      </p:sp>
      <p:sp>
        <p:nvSpPr>
          <p:cNvPr id="36" name="TextBox 35"/>
          <p:cNvSpPr txBox="1"/>
          <p:nvPr/>
        </p:nvSpPr>
        <p:spPr>
          <a:xfrm>
            <a:off x="5093207" y="4038322"/>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20</a:t>
            </a:r>
          </a:p>
        </p:txBody>
      </p:sp>
      <p:sp>
        <p:nvSpPr>
          <p:cNvPr id="37" name="TextBox 36"/>
          <p:cNvSpPr txBox="1"/>
          <p:nvPr/>
        </p:nvSpPr>
        <p:spPr>
          <a:xfrm>
            <a:off x="509320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a:t>
            </a:r>
          </a:p>
        </p:txBody>
      </p:sp>
      <p:sp>
        <p:nvSpPr>
          <p:cNvPr id="38" name="Rectangle 37"/>
          <p:cNvSpPr/>
          <p:nvPr/>
        </p:nvSpPr>
        <p:spPr>
          <a:xfrm>
            <a:off x="5682996" y="4542905"/>
            <a:ext cx="329184" cy="211974"/>
          </a:xfrm>
          <a:prstGeom prst="rect">
            <a:avLst/>
          </a:prstGeom>
          <a:solidFill>
            <a:srgbClr val="A9DE7F"/>
          </a:solidFill>
          <a:ln>
            <a:noFill/>
          </a:ln>
        </p:spPr>
        <p:txBody>
          <a:bodyPr rtlCol="0" anchor="ctr" lIns="0" rIns="0"/>
          <a:lstStyle/>
          <a:p>
            <a:pPr algn="ctr"/>
          </a:p>
        </p:txBody>
      </p:sp>
      <p:sp>
        <p:nvSpPr>
          <p:cNvPr id="39" name="TextBox 38"/>
          <p:cNvSpPr txBox="1"/>
          <p:nvPr/>
        </p:nvSpPr>
        <p:spPr>
          <a:xfrm>
            <a:off x="5596127" y="4250297"/>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10</a:t>
            </a:r>
          </a:p>
        </p:txBody>
      </p:sp>
      <p:sp>
        <p:nvSpPr>
          <p:cNvPr id="40" name="TextBox 39"/>
          <p:cNvSpPr txBox="1"/>
          <p:nvPr/>
        </p:nvSpPr>
        <p:spPr>
          <a:xfrm>
            <a:off x="559612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11</a:t>
            </a:r>
          </a:p>
        </p:txBody>
      </p:sp>
      <p:sp>
        <p:nvSpPr>
          <p:cNvPr id="41" name="Rectangle 40"/>
          <p:cNvSpPr/>
          <p:nvPr/>
        </p:nvSpPr>
        <p:spPr>
          <a:xfrm>
            <a:off x="6185916" y="4736592"/>
            <a:ext cx="329184" cy="18288"/>
          </a:xfrm>
          <a:prstGeom prst="rect">
            <a:avLst/>
          </a:prstGeom>
          <a:solidFill>
            <a:srgbClr val="A9DE7F"/>
          </a:solidFill>
          <a:ln>
            <a:noFill/>
          </a:ln>
        </p:spPr>
        <p:txBody>
          <a:bodyPr rtlCol="0" anchor="ctr" lIns="0" rIns="0"/>
          <a:lstStyle/>
          <a:p>
            <a:pPr algn="ctr"/>
          </a:p>
        </p:txBody>
      </p:sp>
      <p:sp>
        <p:nvSpPr>
          <p:cNvPr id="42" name="TextBox 41"/>
          <p:cNvSpPr txBox="1"/>
          <p:nvPr/>
        </p:nvSpPr>
        <p:spPr>
          <a:xfrm>
            <a:off x="6099047" y="4443983"/>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0</a:t>
            </a:r>
          </a:p>
        </p:txBody>
      </p:sp>
      <p:sp>
        <p:nvSpPr>
          <p:cNvPr id="43" name="TextBox 42"/>
          <p:cNvSpPr txBox="1"/>
          <p:nvPr/>
        </p:nvSpPr>
        <p:spPr>
          <a:xfrm>
            <a:off x="609904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12</a:t>
            </a:r>
          </a:p>
        </p:txBody>
      </p:sp>
      <p:cxnSp>
        <p:nvCxnSpPr>
          <p:cNvPr id="44" name="Connector 43"/>
          <p:cNvCxnSpPr/>
          <p:nvPr/>
        </p:nvCxnSpPr>
        <p:spPr>
          <a:xfrm>
            <a:off x="566928" y="4754879"/>
            <a:ext cx="6035040" cy="0"/>
          </a:xfrm>
          <a:prstGeom prst="line">
            <a:avLst/>
          </a:prstGeom>
          <a:ln w="9525">
            <a:solidFill>
              <a:srgbClr val="0C1408"/>
            </a:solidFill>
          </a:ln>
        </p:spPr>
      </p:cxnSp>
      <p:cxnSp>
        <p:nvCxnSpPr>
          <p:cNvPr id="45" name="Connector 44"/>
          <p:cNvCxnSpPr/>
          <p:nvPr/>
        </p:nvCxnSpPr>
        <p:spPr>
          <a:xfrm>
            <a:off x="640080" y="5138928"/>
            <a:ext cx="2871216" cy="0"/>
          </a:xfrm>
          <a:prstGeom prst="line">
            <a:avLst/>
          </a:prstGeom>
          <a:ln w="9525">
            <a:solidFill>
              <a:srgbClr val="5B6456"/>
            </a:solidFill>
          </a:ln>
        </p:spPr>
      </p:cxnSp>
      <p:cxnSp>
        <p:nvCxnSpPr>
          <p:cNvPr id="46" name="Connector 45"/>
          <p:cNvCxnSpPr/>
          <p:nvPr/>
        </p:nvCxnSpPr>
        <p:spPr>
          <a:xfrm>
            <a:off x="640080" y="5065776"/>
            <a:ext cx="0" cy="73152"/>
          </a:xfrm>
          <a:prstGeom prst="line">
            <a:avLst/>
          </a:prstGeom>
          <a:ln w="9525">
            <a:solidFill>
              <a:srgbClr val="5B6456"/>
            </a:solidFill>
          </a:ln>
        </p:spPr>
      </p:cxnSp>
      <p:cxnSp>
        <p:nvCxnSpPr>
          <p:cNvPr id="47" name="Connector 46"/>
          <p:cNvCxnSpPr/>
          <p:nvPr/>
        </p:nvCxnSpPr>
        <p:spPr>
          <a:xfrm>
            <a:off x="3511296" y="5065776"/>
            <a:ext cx="0" cy="73152"/>
          </a:xfrm>
          <a:prstGeom prst="line">
            <a:avLst/>
          </a:prstGeom>
          <a:ln w="9525">
            <a:solidFill>
              <a:srgbClr val="5B6456"/>
            </a:solidFill>
          </a:ln>
        </p:spPr>
      </p:cxnSp>
      <p:sp>
        <p:nvSpPr>
          <p:cNvPr id="48" name="TextBox 47"/>
          <p:cNvSpPr txBox="1"/>
          <p:nvPr/>
        </p:nvSpPr>
        <p:spPr>
          <a:xfrm>
            <a:off x="457199" y="5193792"/>
            <a:ext cx="3236975"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credit score 650 and above</a:t>
            </a:r>
          </a:p>
        </p:txBody>
      </p:sp>
      <p:cxnSp>
        <p:nvCxnSpPr>
          <p:cNvPr id="49" name="Connector 48"/>
          <p:cNvCxnSpPr/>
          <p:nvPr/>
        </p:nvCxnSpPr>
        <p:spPr>
          <a:xfrm>
            <a:off x="3657600" y="5138928"/>
            <a:ext cx="1362455" cy="0"/>
          </a:xfrm>
          <a:prstGeom prst="line">
            <a:avLst/>
          </a:prstGeom>
          <a:ln w="9525">
            <a:solidFill>
              <a:srgbClr val="5B6456"/>
            </a:solidFill>
          </a:ln>
        </p:spPr>
      </p:cxnSp>
      <p:cxnSp>
        <p:nvCxnSpPr>
          <p:cNvPr id="50" name="Connector 49"/>
          <p:cNvCxnSpPr/>
          <p:nvPr/>
        </p:nvCxnSpPr>
        <p:spPr>
          <a:xfrm>
            <a:off x="3657600" y="5065776"/>
            <a:ext cx="0" cy="73152"/>
          </a:xfrm>
          <a:prstGeom prst="line">
            <a:avLst/>
          </a:prstGeom>
          <a:ln w="9525">
            <a:solidFill>
              <a:srgbClr val="5B6456"/>
            </a:solidFill>
          </a:ln>
        </p:spPr>
      </p:cxnSp>
      <p:cxnSp>
        <p:nvCxnSpPr>
          <p:cNvPr id="51" name="Connector 50"/>
          <p:cNvCxnSpPr/>
          <p:nvPr/>
        </p:nvCxnSpPr>
        <p:spPr>
          <a:xfrm>
            <a:off x="5020055" y="5065776"/>
            <a:ext cx="0" cy="73152"/>
          </a:xfrm>
          <a:prstGeom prst="line">
            <a:avLst/>
          </a:prstGeom>
          <a:ln w="9525">
            <a:solidFill>
              <a:srgbClr val="5B6456"/>
            </a:solidFill>
          </a:ln>
        </p:spPr>
      </p:cxnSp>
      <p:sp>
        <p:nvSpPr>
          <p:cNvPr id="52" name="TextBox 51"/>
          <p:cNvSpPr txBox="1"/>
          <p:nvPr/>
        </p:nvSpPr>
        <p:spPr>
          <a:xfrm>
            <a:off x="3474720" y="5193792"/>
            <a:ext cx="1728215"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550 and above</a:t>
            </a:r>
          </a:p>
        </p:txBody>
      </p:sp>
      <p:cxnSp>
        <p:nvCxnSpPr>
          <p:cNvPr id="53" name="Connector 52"/>
          <p:cNvCxnSpPr/>
          <p:nvPr/>
        </p:nvCxnSpPr>
        <p:spPr>
          <a:xfrm>
            <a:off x="5166359" y="5138928"/>
            <a:ext cx="1362457" cy="0"/>
          </a:xfrm>
          <a:prstGeom prst="line">
            <a:avLst/>
          </a:prstGeom>
          <a:ln w="9525">
            <a:solidFill>
              <a:srgbClr val="5B6456"/>
            </a:solidFill>
          </a:ln>
        </p:spPr>
      </p:cxnSp>
      <p:cxnSp>
        <p:nvCxnSpPr>
          <p:cNvPr id="54" name="Connector 53"/>
          <p:cNvCxnSpPr/>
          <p:nvPr/>
        </p:nvCxnSpPr>
        <p:spPr>
          <a:xfrm>
            <a:off x="5166359" y="5065776"/>
            <a:ext cx="0" cy="73152"/>
          </a:xfrm>
          <a:prstGeom prst="line">
            <a:avLst/>
          </a:prstGeom>
          <a:ln w="9525">
            <a:solidFill>
              <a:srgbClr val="5B6456"/>
            </a:solidFill>
          </a:ln>
        </p:spPr>
      </p:cxnSp>
      <p:cxnSp>
        <p:nvCxnSpPr>
          <p:cNvPr id="55" name="Connector 54"/>
          <p:cNvCxnSpPr/>
          <p:nvPr/>
        </p:nvCxnSpPr>
        <p:spPr>
          <a:xfrm>
            <a:off x="6528816" y="5065776"/>
            <a:ext cx="0" cy="73152"/>
          </a:xfrm>
          <a:prstGeom prst="line">
            <a:avLst/>
          </a:prstGeom>
          <a:ln w="9525">
            <a:solidFill>
              <a:srgbClr val="5B6456"/>
            </a:solidFill>
          </a:ln>
        </p:spPr>
      </p:cxnSp>
      <p:sp>
        <p:nvSpPr>
          <p:cNvPr id="56" name="TextBox 55"/>
          <p:cNvSpPr txBox="1"/>
          <p:nvPr/>
        </p:nvSpPr>
        <p:spPr>
          <a:xfrm>
            <a:off x="4983479" y="5193792"/>
            <a:ext cx="1728216"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any score; every new member</a:t>
            </a:r>
          </a:p>
        </p:txBody>
      </p:sp>
      <p:cxnSp>
        <p:nvCxnSpPr>
          <p:cNvPr id="57" name="Connector 56"/>
          <p:cNvCxnSpPr/>
          <p:nvPr/>
        </p:nvCxnSpPr>
        <p:spPr>
          <a:xfrm>
            <a:off x="7178040" y="1810512"/>
            <a:ext cx="4434840" cy="0"/>
          </a:xfrm>
          <a:prstGeom prst="line">
            <a:avLst/>
          </a:prstGeom>
          <a:ln w="9525">
            <a:solidFill>
              <a:srgbClr val="D5DCD1"/>
            </a:solidFill>
          </a:ln>
        </p:spPr>
      </p:cxnSp>
      <p:sp>
        <p:nvSpPr>
          <p:cNvPr id="58" name="TextBox 57"/>
          <p:cNvSpPr txBox="1"/>
          <p:nvPr/>
        </p:nvSpPr>
        <p:spPr>
          <a:xfrm>
            <a:off x="7178040" y="1938528"/>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Turn bands.</a:t>
            </a:r>
            <a:r>
              <a:rPr sz="1400" b="0" i="0">
                <a:solidFill>
                  <a:srgbClr val="0C1408"/>
                </a:solidFill>
                <a:latin typeface="Arial"/>
              </a:rPr>
              <a:t> The credit score decides which turns a member may claim.</a:t>
            </a:r>
          </a:p>
        </p:txBody>
      </p:sp>
      <p:cxnSp>
        <p:nvCxnSpPr>
          <p:cNvPr id="59" name="Connector 58"/>
          <p:cNvCxnSpPr/>
          <p:nvPr/>
        </p:nvCxnSpPr>
        <p:spPr>
          <a:xfrm>
            <a:off x="7178040" y="2798064"/>
            <a:ext cx="4434840" cy="0"/>
          </a:xfrm>
          <a:prstGeom prst="line">
            <a:avLst/>
          </a:prstGeom>
          <a:ln w="9525">
            <a:solidFill>
              <a:srgbClr val="D5DCD1"/>
            </a:solidFill>
          </a:ln>
        </p:spPr>
      </p:cxnSp>
      <p:sp>
        <p:nvSpPr>
          <p:cNvPr id="60" name="TextBox 59"/>
          <p:cNvSpPr txBox="1"/>
          <p:nvPr/>
        </p:nvSpPr>
        <p:spPr>
          <a:xfrm>
            <a:off x="7178040" y="2926080"/>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New members.</a:t>
            </a:r>
            <a:r>
              <a:rPr sz="1400" b="0" i="0">
                <a:solidFill>
                  <a:srgbClr val="0C1408"/>
                </a:solidFill>
                <a:latin typeface="Arial"/>
              </a:rPr>
              <a:t> The last three turns only, until two clean circles.</a:t>
            </a:r>
          </a:p>
        </p:txBody>
      </p:sp>
      <p:cxnSp>
        <p:nvCxnSpPr>
          <p:cNvPr id="61" name="Connector 60"/>
          <p:cNvCxnSpPr/>
          <p:nvPr/>
        </p:nvCxnSpPr>
        <p:spPr>
          <a:xfrm>
            <a:off x="7178040" y="3785616"/>
            <a:ext cx="4434840" cy="0"/>
          </a:xfrm>
          <a:prstGeom prst="line">
            <a:avLst/>
          </a:prstGeom>
          <a:ln w="9525">
            <a:solidFill>
              <a:srgbClr val="D5DCD1"/>
            </a:solidFill>
          </a:ln>
        </p:spPr>
      </p:cxnSp>
      <p:sp>
        <p:nvSpPr>
          <p:cNvPr id="62" name="TextBox 61"/>
          <p:cNvSpPr txBox="1"/>
          <p:nvPr/>
        </p:nvSpPr>
        <p:spPr>
          <a:xfrm>
            <a:off x="7178040" y="3913632"/>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Affordability.</a:t>
            </a:r>
            <a:r>
              <a:rPr sz="1400" b="0" i="0">
                <a:solidFill>
                  <a:srgbClr val="0C1408"/>
                </a:solidFill>
                <a:latin typeface="Arial"/>
              </a:rPr>
              <a:t> All instalments within a third of verified income; 40% with other loans.</a:t>
            </a:r>
          </a:p>
        </p:txBody>
      </p:sp>
      <p:cxnSp>
        <p:nvCxnSpPr>
          <p:cNvPr id="63" name="Connector 62"/>
          <p:cNvCxnSpPr/>
          <p:nvPr/>
        </p:nvCxnSpPr>
        <p:spPr>
          <a:xfrm>
            <a:off x="7178040" y="4773168"/>
            <a:ext cx="4434840" cy="0"/>
          </a:xfrm>
          <a:prstGeom prst="line">
            <a:avLst/>
          </a:prstGeom>
          <a:ln w="9525">
            <a:solidFill>
              <a:srgbClr val="D5DCD1"/>
            </a:solidFill>
          </a:ln>
        </p:spPr>
      </p:cxnSp>
      <p:sp>
        <p:nvSpPr>
          <p:cNvPr id="64" name="TextBox 63"/>
          <p:cNvSpPr txBox="1"/>
          <p:nvPr/>
        </p:nvSpPr>
        <p:spPr>
          <a:xfrm>
            <a:off x="7178040" y="4901184"/>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Commitments.</a:t>
            </a:r>
            <a:r>
              <a:rPr sz="1400" b="0" i="0">
                <a:solidFill>
                  <a:srgbClr val="0C1408"/>
                </a:solidFill>
                <a:latin typeface="Arial"/>
              </a:rPr>
              <a:t> A signed undertaking and mutual guarantee; 24 hours to withdraw.</a:t>
            </a:r>
          </a:p>
        </p:txBody>
      </p:sp>
      <p:cxnSp>
        <p:nvCxnSpPr>
          <p:cNvPr id="65" name="Connector 64"/>
          <p:cNvCxnSpPr/>
          <p:nvPr/>
        </p:nvCxnSpPr>
        <p:spPr>
          <a:xfrm>
            <a:off x="7178040" y="5760720"/>
            <a:ext cx="4434840" cy="0"/>
          </a:xfrm>
          <a:prstGeom prst="line">
            <a:avLst/>
          </a:prstGeom>
          <a:ln w="9525">
            <a:solidFill>
              <a:srgbClr val="D5DCD1"/>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Missed Payments and Recovery</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Every missed payment has a set response, written into the member's signed undertaking.</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Contract Act 1872, s.74: a penalty may not exceed reasonable compensation. Code of Civil Procedure, Order XXXVII: summary suits only on cheques and similar instruments.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13</a:t>
            </a:r>
          </a:p>
        </p:txBody>
      </p:sp>
      <p:sp>
        <p:nvSpPr>
          <p:cNvPr id="7" name="TextBox 6"/>
          <p:cNvSpPr txBox="1"/>
          <p:nvPr/>
        </p:nvSpPr>
        <p:spPr>
          <a:xfrm>
            <a:off x="566928" y="1783080"/>
            <a:ext cx="320040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Any missed payment</a:t>
            </a:r>
          </a:p>
        </p:txBody>
      </p:sp>
      <p:cxnSp>
        <p:nvCxnSpPr>
          <p:cNvPr id="8" name="Connector 7"/>
          <p:cNvCxnSpPr/>
          <p:nvPr/>
        </p:nvCxnSpPr>
        <p:spPr>
          <a:xfrm>
            <a:off x="1389888" y="2395728"/>
            <a:ext cx="9509760" cy="0"/>
          </a:xfrm>
          <a:prstGeom prst="line">
            <a:avLst/>
          </a:prstGeom>
          <a:ln w="28575">
            <a:solidFill>
              <a:srgbClr val="41801A"/>
            </a:solidFill>
          </a:ln>
        </p:spPr>
      </p:cxnSp>
      <p:sp>
        <p:nvSpPr>
          <p:cNvPr id="9" name="Oval 8"/>
          <p:cNvSpPr/>
          <p:nvPr/>
        </p:nvSpPr>
        <p:spPr>
          <a:xfrm>
            <a:off x="1298448"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0" name="TextBox 9"/>
          <p:cNvSpPr txBox="1"/>
          <p:nvPr/>
        </p:nvSpPr>
        <p:spPr>
          <a:xfrm>
            <a:off x="486460"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Reminder</a:t>
            </a:r>
          </a:p>
        </p:txBody>
      </p:sp>
      <p:sp>
        <p:nvSpPr>
          <p:cNvPr id="11" name="TextBox 10"/>
          <p:cNvSpPr txBox="1"/>
          <p:nvPr/>
        </p:nvSpPr>
        <p:spPr>
          <a:xfrm>
            <a:off x="486460"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evening before</a:t>
            </a:r>
          </a:p>
        </p:txBody>
      </p:sp>
      <p:sp>
        <p:nvSpPr>
          <p:cNvPr id="12" name="Oval 11"/>
          <p:cNvSpPr/>
          <p:nvPr/>
        </p:nvSpPr>
        <p:spPr>
          <a:xfrm>
            <a:off x="3200400"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3" name="TextBox 12"/>
          <p:cNvSpPr txBox="1"/>
          <p:nvPr/>
        </p:nvSpPr>
        <p:spPr>
          <a:xfrm>
            <a:off x="2388412"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Retries</a:t>
            </a:r>
          </a:p>
        </p:txBody>
      </p:sp>
      <p:sp>
        <p:nvSpPr>
          <p:cNvPr id="14" name="TextBox 13"/>
          <p:cNvSpPr txBox="1"/>
          <p:nvPr/>
        </p:nvSpPr>
        <p:spPr>
          <a:xfrm>
            <a:off x="2388412"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five mornings at most</a:t>
            </a:r>
          </a:p>
        </p:txBody>
      </p:sp>
      <p:sp>
        <p:nvSpPr>
          <p:cNvPr id="15" name="Oval 14"/>
          <p:cNvSpPr/>
          <p:nvPr/>
        </p:nvSpPr>
        <p:spPr>
          <a:xfrm>
            <a:off x="5102352"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6" name="TextBox 15"/>
          <p:cNvSpPr txBox="1"/>
          <p:nvPr/>
        </p:nvSpPr>
        <p:spPr>
          <a:xfrm>
            <a:off x="4290364"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2% penalty</a:t>
            </a:r>
          </a:p>
        </p:txBody>
      </p:sp>
      <p:sp>
        <p:nvSpPr>
          <p:cNvPr id="17" name="TextBox 16"/>
          <p:cNvSpPr txBox="1"/>
          <p:nvPr/>
        </p:nvSpPr>
        <p:spPr>
          <a:xfrm>
            <a:off x="4290364"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10</a:t>
            </a:r>
          </a:p>
        </p:txBody>
      </p:sp>
      <p:sp>
        <p:nvSpPr>
          <p:cNvPr id="18" name="Oval 17"/>
          <p:cNvSpPr/>
          <p:nvPr/>
        </p:nvSpPr>
        <p:spPr>
          <a:xfrm>
            <a:off x="7004304"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9" name="TextBox 18"/>
          <p:cNvSpPr txBox="1"/>
          <p:nvPr/>
        </p:nvSpPr>
        <p:spPr>
          <a:xfrm>
            <a:off x="6192316"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5% penalty</a:t>
            </a:r>
          </a:p>
        </p:txBody>
      </p:sp>
      <p:sp>
        <p:nvSpPr>
          <p:cNvPr id="20" name="TextBox 19"/>
          <p:cNvSpPr txBox="1"/>
          <p:nvPr/>
        </p:nvSpPr>
        <p:spPr>
          <a:xfrm>
            <a:off x="6192316"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20</a:t>
            </a:r>
          </a:p>
        </p:txBody>
      </p:sp>
      <p:sp>
        <p:nvSpPr>
          <p:cNvPr id="21" name="Oval 20"/>
          <p:cNvSpPr/>
          <p:nvPr/>
        </p:nvSpPr>
        <p:spPr>
          <a:xfrm>
            <a:off x="8906256"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22" name="TextBox 21"/>
          <p:cNvSpPr txBox="1"/>
          <p:nvPr/>
        </p:nvSpPr>
        <p:spPr>
          <a:xfrm>
            <a:off x="8094268"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10% penalty</a:t>
            </a:r>
          </a:p>
        </p:txBody>
      </p:sp>
      <p:sp>
        <p:nvSpPr>
          <p:cNvPr id="23" name="TextBox 22"/>
          <p:cNvSpPr txBox="1"/>
          <p:nvPr/>
        </p:nvSpPr>
        <p:spPr>
          <a:xfrm>
            <a:off x="8094268"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40</a:t>
            </a:r>
          </a:p>
        </p:txBody>
      </p:sp>
      <p:sp>
        <p:nvSpPr>
          <p:cNvPr id="24" name="Oval 23"/>
          <p:cNvSpPr/>
          <p:nvPr/>
        </p:nvSpPr>
        <p:spPr>
          <a:xfrm>
            <a:off x="10808208" y="2304288"/>
            <a:ext cx="182880" cy="182880"/>
          </a:xfrm>
          <a:prstGeom prst="ellipse">
            <a:avLst/>
          </a:prstGeom>
          <a:solidFill>
            <a:srgbClr val="41801A"/>
          </a:solidFill>
          <a:ln w="22225">
            <a:solidFill>
              <a:srgbClr val="41801A"/>
            </a:solidFill>
          </a:ln>
        </p:spPr>
        <p:txBody>
          <a:bodyPr rtlCol="0" anchor="ctr" lIns="0" rIns="0"/>
          <a:lstStyle/>
          <a:p>
            <a:pPr algn="ctr"/>
          </a:p>
        </p:txBody>
      </p:sp>
      <p:sp>
        <p:nvSpPr>
          <p:cNvPr id="25" name="TextBox 24"/>
          <p:cNvSpPr txBox="1"/>
          <p:nvPr/>
        </p:nvSpPr>
        <p:spPr>
          <a:xfrm>
            <a:off x="9996220"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Set off</a:t>
            </a:r>
          </a:p>
        </p:txBody>
      </p:sp>
      <p:sp>
        <p:nvSpPr>
          <p:cNvPr id="26" name="TextBox 25"/>
          <p:cNvSpPr txBox="1"/>
          <p:nvPr/>
        </p:nvSpPr>
        <p:spPr>
          <a:xfrm>
            <a:off x="9996220"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from the member's own pot</a:t>
            </a:r>
          </a:p>
        </p:txBody>
      </p:sp>
      <p:sp>
        <p:nvSpPr>
          <p:cNvPr id="27" name="TextBox 26"/>
          <p:cNvSpPr txBox="1"/>
          <p:nvPr/>
        </p:nvSpPr>
        <p:spPr>
          <a:xfrm>
            <a:off x="566928" y="3611880"/>
            <a:ext cx="4572000" cy="274320"/>
          </a:xfrm>
          <a:prstGeom prst="rect">
            <a:avLst/>
          </a:prstGeom>
          <a:noFill/>
        </p:spPr>
        <p:txBody>
          <a:bodyPr wrap="square" lIns="0" rIns="0" tIns="0" bIns="0" anchor="t">
            <a:noAutofit/>
          </a:bodyPr>
          <a:lstStyle/>
          <a:p>
            <a:pPr algn="l">
              <a:lnSpc>
                <a:spcPct val="110000"/>
              </a:lnSpc>
            </a:pPr>
            <a:r>
              <a:rPr sz="1400" b="1" i="0">
                <a:solidFill>
                  <a:srgbClr val="B3261E"/>
                </a:solidFill>
                <a:latin typeface="Arial"/>
              </a:rPr>
              <a:t>A member who collected, then stopped paying</a:t>
            </a:r>
          </a:p>
        </p:txBody>
      </p:sp>
      <p:cxnSp>
        <p:nvCxnSpPr>
          <p:cNvPr id="28" name="Connector 27"/>
          <p:cNvCxnSpPr/>
          <p:nvPr/>
        </p:nvCxnSpPr>
        <p:spPr>
          <a:xfrm>
            <a:off x="1389888" y="4224528"/>
            <a:ext cx="9509760" cy="0"/>
          </a:xfrm>
          <a:prstGeom prst="line">
            <a:avLst/>
          </a:prstGeom>
          <a:ln w="28575">
            <a:solidFill>
              <a:srgbClr val="B3261E"/>
            </a:solidFill>
          </a:ln>
        </p:spPr>
      </p:cxnSp>
      <p:sp>
        <p:nvSpPr>
          <p:cNvPr id="29" name="Oval 28"/>
          <p:cNvSpPr/>
          <p:nvPr/>
        </p:nvSpPr>
        <p:spPr>
          <a:xfrm>
            <a:off x="129844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0" name="TextBox 29"/>
          <p:cNvSpPr txBox="1"/>
          <p:nvPr/>
        </p:nvSpPr>
        <p:spPr>
          <a:xfrm>
            <a:off x="42976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Contact</a:t>
            </a:r>
          </a:p>
        </p:txBody>
      </p:sp>
      <p:sp>
        <p:nvSpPr>
          <p:cNvPr id="31" name="TextBox 30"/>
          <p:cNvSpPr txBox="1"/>
          <p:nvPr/>
        </p:nvSpPr>
        <p:spPr>
          <a:xfrm>
            <a:off x="42976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hardship plan and a new date</a:t>
            </a:r>
          </a:p>
        </p:txBody>
      </p:sp>
      <p:sp>
        <p:nvSpPr>
          <p:cNvPr id="32" name="Oval 31"/>
          <p:cNvSpPr/>
          <p:nvPr/>
        </p:nvSpPr>
        <p:spPr>
          <a:xfrm>
            <a:off x="367588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3" name="TextBox 32"/>
          <p:cNvSpPr txBox="1"/>
          <p:nvPr/>
        </p:nvSpPr>
        <p:spPr>
          <a:xfrm>
            <a:off x="280720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Restrict</a:t>
            </a:r>
          </a:p>
        </p:txBody>
      </p:sp>
      <p:sp>
        <p:nvSpPr>
          <p:cNvPr id="34" name="TextBox 33"/>
          <p:cNvSpPr txBox="1"/>
          <p:nvPr/>
        </p:nvSpPr>
        <p:spPr>
          <a:xfrm>
            <a:off x="280720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account restricted; score falls 200</a:t>
            </a:r>
          </a:p>
        </p:txBody>
      </p:sp>
      <p:sp>
        <p:nvSpPr>
          <p:cNvPr id="35" name="Oval 34"/>
          <p:cNvSpPr/>
          <p:nvPr/>
        </p:nvSpPr>
        <p:spPr>
          <a:xfrm>
            <a:off x="6053328" y="4133088"/>
            <a:ext cx="182880" cy="182880"/>
          </a:xfrm>
          <a:prstGeom prst="ellipse">
            <a:avLst/>
          </a:prstGeom>
          <a:solidFill>
            <a:srgbClr val="41801A"/>
          </a:solidFill>
          <a:ln w="22225">
            <a:solidFill>
              <a:srgbClr val="41801A"/>
            </a:solidFill>
          </a:ln>
        </p:spPr>
        <p:txBody>
          <a:bodyPr rtlCol="0" anchor="ctr" lIns="0" rIns="0"/>
          <a:lstStyle/>
          <a:p>
            <a:pPr algn="ctr"/>
          </a:p>
        </p:txBody>
      </p:sp>
      <p:sp>
        <p:nvSpPr>
          <p:cNvPr id="36" name="TextBox 35"/>
          <p:cNvSpPr txBox="1"/>
          <p:nvPr/>
        </p:nvSpPr>
        <p:spPr>
          <a:xfrm>
            <a:off x="518464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Takaful pays</a:t>
            </a:r>
          </a:p>
        </p:txBody>
      </p:sp>
      <p:sp>
        <p:nvSpPr>
          <p:cNvPr id="37" name="TextBox 36"/>
          <p:cNvSpPr txBox="1"/>
          <p:nvPr/>
        </p:nvSpPr>
        <p:spPr>
          <a:xfrm>
            <a:off x="518464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members left short are paid in full</a:t>
            </a:r>
          </a:p>
        </p:txBody>
      </p:sp>
      <p:sp>
        <p:nvSpPr>
          <p:cNvPr id="38" name="Oval 37"/>
          <p:cNvSpPr/>
          <p:nvPr/>
        </p:nvSpPr>
        <p:spPr>
          <a:xfrm>
            <a:off x="843076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9" name="TextBox 38"/>
          <p:cNvSpPr txBox="1"/>
          <p:nvPr/>
        </p:nvSpPr>
        <p:spPr>
          <a:xfrm>
            <a:off x="756208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Guarantee</a:t>
            </a:r>
          </a:p>
        </p:txBody>
      </p:sp>
      <p:sp>
        <p:nvSpPr>
          <p:cNvPr id="40" name="TextBox 39"/>
          <p:cNvSpPr txBox="1"/>
          <p:nvPr/>
        </p:nvSpPr>
        <p:spPr>
          <a:xfrm>
            <a:off x="756208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whole balance falls due</a:t>
            </a:r>
          </a:p>
        </p:txBody>
      </p:sp>
      <p:sp>
        <p:nvSpPr>
          <p:cNvPr id="41" name="Oval 40"/>
          <p:cNvSpPr/>
          <p:nvPr/>
        </p:nvSpPr>
        <p:spPr>
          <a:xfrm>
            <a:off x="1080820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42" name="TextBox 41"/>
          <p:cNvSpPr txBox="1"/>
          <p:nvPr/>
        </p:nvSpPr>
        <p:spPr>
          <a:xfrm>
            <a:off x="993952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Civil suit</a:t>
            </a:r>
          </a:p>
        </p:txBody>
      </p:sp>
      <p:sp>
        <p:nvSpPr>
          <p:cNvPr id="43" name="TextBox 42"/>
          <p:cNvSpPr txBox="1"/>
          <p:nvPr/>
        </p:nvSpPr>
        <p:spPr>
          <a:xfrm>
            <a:off x="993952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on the signed undertaking</a:t>
            </a:r>
          </a:p>
        </p:txBody>
      </p:sp>
      <p:cxnSp>
        <p:nvCxnSpPr>
          <p:cNvPr id="44" name="Connector 43"/>
          <p:cNvCxnSpPr/>
          <p:nvPr/>
        </p:nvCxnSpPr>
        <p:spPr>
          <a:xfrm>
            <a:off x="566928" y="5285232"/>
            <a:ext cx="11057839" cy="0"/>
          </a:xfrm>
          <a:prstGeom prst="line">
            <a:avLst/>
          </a:prstGeom>
          <a:ln w="9525">
            <a:solidFill>
              <a:srgbClr val="D5DCD1"/>
            </a:solidFill>
          </a:ln>
        </p:spPr>
      </p:cxnSp>
      <p:sp>
        <p:nvSpPr>
          <p:cNvPr id="45" name="TextBox 44"/>
          <p:cNvSpPr txBox="1"/>
          <p:nvPr/>
        </p:nvSpPr>
        <p:spPr>
          <a:xfrm>
            <a:off x="566928"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Rs 110,000</a:t>
            </a:r>
          </a:p>
        </p:txBody>
      </p:sp>
      <p:sp>
        <p:nvSpPr>
          <p:cNvPr id="46" name="TextBox 45"/>
          <p:cNvSpPr txBox="1"/>
          <p:nvPr/>
        </p:nvSpPr>
        <p:spPr>
          <a:xfrm>
            <a:off x="2075688"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the most one member can owe after collecting</a:t>
            </a:r>
          </a:p>
        </p:txBody>
      </p:sp>
      <p:sp>
        <p:nvSpPr>
          <p:cNvPr id="47" name="TextBox 46"/>
          <p:cNvSpPr txBox="1"/>
          <p:nvPr/>
        </p:nvSpPr>
        <p:spPr>
          <a:xfrm>
            <a:off x="4315968"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Never</a:t>
            </a:r>
          </a:p>
        </p:txBody>
      </p:sp>
      <p:sp>
        <p:nvSpPr>
          <p:cNvPr id="48" name="TextBox 47"/>
          <p:cNvSpPr txBox="1"/>
          <p:nvPr/>
        </p:nvSpPr>
        <p:spPr>
          <a:xfrm>
            <a:off x="5824727"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calls to relatives, contact lists or public names</a:t>
            </a:r>
          </a:p>
        </p:txBody>
      </p:sp>
      <p:sp>
        <p:nvSpPr>
          <p:cNvPr id="49" name="TextBox 48"/>
          <p:cNvSpPr txBox="1"/>
          <p:nvPr/>
        </p:nvSpPr>
        <p:spPr>
          <a:xfrm>
            <a:off x="8065007"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Charity</a:t>
            </a:r>
          </a:p>
        </p:txBody>
      </p:sp>
      <p:sp>
        <p:nvSpPr>
          <p:cNvPr id="50" name="TextBox 49"/>
          <p:cNvSpPr txBox="1"/>
          <p:nvPr/>
        </p:nvSpPr>
        <p:spPr>
          <a:xfrm>
            <a:off x="9573767"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receives every late penalty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Takaful for Defaults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If an early collector stops paying, takaful pays the other members in full.</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Takaful pricing model, September 2026: stress case of one circle in five losing a fifth of its members from the earliest turns. EFU and Raqami partnership, November 2025.</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14</a:t>
            </a:r>
          </a:p>
        </p:txBody>
      </p:sp>
      <p:sp>
        <p:nvSpPr>
          <p:cNvPr id="7" name="TextBox 6"/>
          <p:cNvSpPr txBox="1"/>
          <p:nvPr/>
        </p:nvSpPr>
        <p:spPr>
          <a:xfrm>
            <a:off x="566928" y="1783080"/>
            <a:ext cx="621792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Each pot stays Rs 120,000 when the member at turn 1 stops paying</a:t>
            </a:r>
          </a:p>
        </p:txBody>
      </p:sp>
      <p:sp>
        <p:nvSpPr>
          <p:cNvPr id="8" name="Rectangle 7"/>
          <p:cNvSpPr/>
          <p:nvPr/>
        </p:nvSpPr>
        <p:spPr>
          <a:xfrm>
            <a:off x="662482" y="2468880"/>
            <a:ext cx="311810" cy="2331720"/>
          </a:xfrm>
          <a:prstGeom prst="rect">
            <a:avLst/>
          </a:prstGeom>
          <a:noFill/>
          <a:ln w="15875">
            <a:solidFill>
              <a:srgbClr val="B3261E"/>
            </a:solidFill>
          </a:ln>
        </p:spPr>
        <p:txBody>
          <a:bodyPr rtlCol="0" anchor="ctr" lIns="0" rIns="0"/>
          <a:lstStyle/>
          <a:p>
            <a:pPr algn="ctr"/>
          </a:p>
        </p:txBody>
      </p:sp>
      <p:sp>
        <p:nvSpPr>
          <p:cNvPr id="9" name="TextBox 8"/>
          <p:cNvSpPr txBox="1"/>
          <p:nvPr/>
        </p:nvSpPr>
        <p:spPr>
          <a:xfrm>
            <a:off x="56692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a:t>
            </a:r>
          </a:p>
        </p:txBody>
      </p:sp>
      <p:sp>
        <p:nvSpPr>
          <p:cNvPr id="10" name="Rectangle 9"/>
          <p:cNvSpPr/>
          <p:nvPr/>
        </p:nvSpPr>
        <p:spPr>
          <a:xfrm>
            <a:off x="1165402" y="2663190"/>
            <a:ext cx="311810" cy="2137410"/>
          </a:xfrm>
          <a:prstGeom prst="rect">
            <a:avLst/>
          </a:prstGeom>
          <a:solidFill>
            <a:srgbClr val="6DC72A"/>
          </a:solidFill>
          <a:ln>
            <a:noFill/>
          </a:ln>
        </p:spPr>
        <p:txBody>
          <a:bodyPr rtlCol="0" anchor="ctr" lIns="0" rIns="0"/>
          <a:lstStyle/>
          <a:p>
            <a:pPr algn="ctr"/>
          </a:p>
        </p:txBody>
      </p:sp>
      <p:sp>
        <p:nvSpPr>
          <p:cNvPr id="11" name="Rectangle 10"/>
          <p:cNvSpPr/>
          <p:nvPr/>
        </p:nvSpPr>
        <p:spPr>
          <a:xfrm>
            <a:off x="1165402" y="2468880"/>
            <a:ext cx="311810" cy="194309"/>
          </a:xfrm>
          <a:prstGeom prst="rect">
            <a:avLst/>
          </a:prstGeom>
          <a:solidFill>
            <a:srgbClr val="3B4148"/>
          </a:solidFill>
          <a:ln>
            <a:noFill/>
          </a:ln>
        </p:spPr>
        <p:txBody>
          <a:bodyPr rtlCol="0" anchor="ctr" lIns="0" rIns="0"/>
          <a:lstStyle/>
          <a:p>
            <a:pPr algn="ctr"/>
          </a:p>
        </p:txBody>
      </p:sp>
      <p:sp>
        <p:nvSpPr>
          <p:cNvPr id="12" name="TextBox 11"/>
          <p:cNvSpPr txBox="1"/>
          <p:nvPr/>
        </p:nvSpPr>
        <p:spPr>
          <a:xfrm>
            <a:off x="106984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2</a:t>
            </a:r>
          </a:p>
        </p:txBody>
      </p:sp>
      <p:sp>
        <p:nvSpPr>
          <p:cNvPr id="13" name="Rectangle 12"/>
          <p:cNvSpPr/>
          <p:nvPr/>
        </p:nvSpPr>
        <p:spPr>
          <a:xfrm>
            <a:off x="1668322" y="2663190"/>
            <a:ext cx="311810" cy="2137410"/>
          </a:xfrm>
          <a:prstGeom prst="rect">
            <a:avLst/>
          </a:prstGeom>
          <a:solidFill>
            <a:srgbClr val="6DC72A"/>
          </a:solidFill>
          <a:ln>
            <a:noFill/>
          </a:ln>
        </p:spPr>
        <p:txBody>
          <a:bodyPr rtlCol="0" anchor="ctr" lIns="0" rIns="0"/>
          <a:lstStyle/>
          <a:p>
            <a:pPr algn="ctr"/>
          </a:p>
        </p:txBody>
      </p:sp>
      <p:sp>
        <p:nvSpPr>
          <p:cNvPr id="14" name="Rectangle 13"/>
          <p:cNvSpPr/>
          <p:nvPr/>
        </p:nvSpPr>
        <p:spPr>
          <a:xfrm>
            <a:off x="1668322" y="2468880"/>
            <a:ext cx="311810" cy="194309"/>
          </a:xfrm>
          <a:prstGeom prst="rect">
            <a:avLst/>
          </a:prstGeom>
          <a:solidFill>
            <a:srgbClr val="3B4148"/>
          </a:solidFill>
          <a:ln>
            <a:noFill/>
          </a:ln>
        </p:spPr>
        <p:txBody>
          <a:bodyPr rtlCol="0" anchor="ctr" lIns="0" rIns="0"/>
          <a:lstStyle/>
          <a:p>
            <a:pPr algn="ctr"/>
          </a:p>
        </p:txBody>
      </p:sp>
      <p:sp>
        <p:nvSpPr>
          <p:cNvPr id="15" name="TextBox 14"/>
          <p:cNvSpPr txBox="1"/>
          <p:nvPr/>
        </p:nvSpPr>
        <p:spPr>
          <a:xfrm>
            <a:off x="157276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3</a:t>
            </a:r>
          </a:p>
        </p:txBody>
      </p:sp>
      <p:sp>
        <p:nvSpPr>
          <p:cNvPr id="16" name="Rectangle 15"/>
          <p:cNvSpPr/>
          <p:nvPr/>
        </p:nvSpPr>
        <p:spPr>
          <a:xfrm>
            <a:off x="2171242" y="2663190"/>
            <a:ext cx="311810" cy="2137410"/>
          </a:xfrm>
          <a:prstGeom prst="rect">
            <a:avLst/>
          </a:prstGeom>
          <a:solidFill>
            <a:srgbClr val="6DC72A"/>
          </a:solidFill>
          <a:ln>
            <a:noFill/>
          </a:ln>
        </p:spPr>
        <p:txBody>
          <a:bodyPr rtlCol="0" anchor="ctr" lIns="0" rIns="0"/>
          <a:lstStyle/>
          <a:p>
            <a:pPr algn="ctr"/>
          </a:p>
        </p:txBody>
      </p:sp>
      <p:sp>
        <p:nvSpPr>
          <p:cNvPr id="17" name="Rectangle 16"/>
          <p:cNvSpPr/>
          <p:nvPr/>
        </p:nvSpPr>
        <p:spPr>
          <a:xfrm>
            <a:off x="2171242" y="2468880"/>
            <a:ext cx="311810" cy="194309"/>
          </a:xfrm>
          <a:prstGeom prst="rect">
            <a:avLst/>
          </a:prstGeom>
          <a:solidFill>
            <a:srgbClr val="3B4148"/>
          </a:solidFill>
          <a:ln>
            <a:noFill/>
          </a:ln>
        </p:spPr>
        <p:txBody>
          <a:bodyPr rtlCol="0" anchor="ctr" lIns="0" rIns="0"/>
          <a:lstStyle/>
          <a:p>
            <a:pPr algn="ctr"/>
          </a:p>
        </p:txBody>
      </p:sp>
      <p:sp>
        <p:nvSpPr>
          <p:cNvPr id="18" name="TextBox 17"/>
          <p:cNvSpPr txBox="1"/>
          <p:nvPr/>
        </p:nvSpPr>
        <p:spPr>
          <a:xfrm>
            <a:off x="207568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4</a:t>
            </a:r>
          </a:p>
        </p:txBody>
      </p:sp>
      <p:sp>
        <p:nvSpPr>
          <p:cNvPr id="19" name="Rectangle 18"/>
          <p:cNvSpPr/>
          <p:nvPr/>
        </p:nvSpPr>
        <p:spPr>
          <a:xfrm>
            <a:off x="2674162" y="2663190"/>
            <a:ext cx="311810" cy="2137410"/>
          </a:xfrm>
          <a:prstGeom prst="rect">
            <a:avLst/>
          </a:prstGeom>
          <a:solidFill>
            <a:srgbClr val="6DC72A"/>
          </a:solidFill>
          <a:ln>
            <a:noFill/>
          </a:ln>
        </p:spPr>
        <p:txBody>
          <a:bodyPr rtlCol="0" anchor="ctr" lIns="0" rIns="0"/>
          <a:lstStyle/>
          <a:p>
            <a:pPr algn="ctr"/>
          </a:p>
        </p:txBody>
      </p:sp>
      <p:sp>
        <p:nvSpPr>
          <p:cNvPr id="20" name="Rectangle 19"/>
          <p:cNvSpPr/>
          <p:nvPr/>
        </p:nvSpPr>
        <p:spPr>
          <a:xfrm>
            <a:off x="2674162" y="2468880"/>
            <a:ext cx="311810" cy="194309"/>
          </a:xfrm>
          <a:prstGeom prst="rect">
            <a:avLst/>
          </a:prstGeom>
          <a:solidFill>
            <a:srgbClr val="3B4148"/>
          </a:solidFill>
          <a:ln>
            <a:noFill/>
          </a:ln>
        </p:spPr>
        <p:txBody>
          <a:bodyPr rtlCol="0" anchor="ctr" lIns="0" rIns="0"/>
          <a:lstStyle/>
          <a:p>
            <a:pPr algn="ctr"/>
          </a:p>
        </p:txBody>
      </p:sp>
      <p:sp>
        <p:nvSpPr>
          <p:cNvPr id="21" name="TextBox 20"/>
          <p:cNvSpPr txBox="1"/>
          <p:nvPr/>
        </p:nvSpPr>
        <p:spPr>
          <a:xfrm>
            <a:off x="257860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5</a:t>
            </a:r>
          </a:p>
        </p:txBody>
      </p:sp>
      <p:sp>
        <p:nvSpPr>
          <p:cNvPr id="22" name="Rectangle 21"/>
          <p:cNvSpPr/>
          <p:nvPr/>
        </p:nvSpPr>
        <p:spPr>
          <a:xfrm>
            <a:off x="3177082" y="2663190"/>
            <a:ext cx="311810" cy="2137410"/>
          </a:xfrm>
          <a:prstGeom prst="rect">
            <a:avLst/>
          </a:prstGeom>
          <a:solidFill>
            <a:srgbClr val="6DC72A"/>
          </a:solidFill>
          <a:ln>
            <a:noFill/>
          </a:ln>
        </p:spPr>
        <p:txBody>
          <a:bodyPr rtlCol="0" anchor="ctr" lIns="0" rIns="0"/>
          <a:lstStyle/>
          <a:p>
            <a:pPr algn="ctr"/>
          </a:p>
        </p:txBody>
      </p:sp>
      <p:sp>
        <p:nvSpPr>
          <p:cNvPr id="23" name="Rectangle 22"/>
          <p:cNvSpPr/>
          <p:nvPr/>
        </p:nvSpPr>
        <p:spPr>
          <a:xfrm>
            <a:off x="3177082" y="2468880"/>
            <a:ext cx="311810" cy="194309"/>
          </a:xfrm>
          <a:prstGeom prst="rect">
            <a:avLst/>
          </a:prstGeom>
          <a:solidFill>
            <a:srgbClr val="3B4148"/>
          </a:solidFill>
          <a:ln>
            <a:noFill/>
          </a:ln>
        </p:spPr>
        <p:txBody>
          <a:bodyPr rtlCol="0" anchor="ctr" lIns="0" rIns="0"/>
          <a:lstStyle/>
          <a:p>
            <a:pPr algn="ctr"/>
          </a:p>
        </p:txBody>
      </p:sp>
      <p:sp>
        <p:nvSpPr>
          <p:cNvPr id="24" name="TextBox 23"/>
          <p:cNvSpPr txBox="1"/>
          <p:nvPr/>
        </p:nvSpPr>
        <p:spPr>
          <a:xfrm>
            <a:off x="308152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6</a:t>
            </a:r>
          </a:p>
        </p:txBody>
      </p:sp>
      <p:sp>
        <p:nvSpPr>
          <p:cNvPr id="25" name="Rectangle 24"/>
          <p:cNvSpPr/>
          <p:nvPr/>
        </p:nvSpPr>
        <p:spPr>
          <a:xfrm>
            <a:off x="3680002" y="2663190"/>
            <a:ext cx="311810" cy="2137410"/>
          </a:xfrm>
          <a:prstGeom prst="rect">
            <a:avLst/>
          </a:prstGeom>
          <a:solidFill>
            <a:srgbClr val="6DC72A"/>
          </a:solidFill>
          <a:ln>
            <a:noFill/>
          </a:ln>
        </p:spPr>
        <p:txBody>
          <a:bodyPr rtlCol="0" anchor="ctr" lIns="0" rIns="0"/>
          <a:lstStyle/>
          <a:p>
            <a:pPr algn="ctr"/>
          </a:p>
        </p:txBody>
      </p:sp>
      <p:sp>
        <p:nvSpPr>
          <p:cNvPr id="26" name="Rectangle 25"/>
          <p:cNvSpPr/>
          <p:nvPr/>
        </p:nvSpPr>
        <p:spPr>
          <a:xfrm>
            <a:off x="3680002" y="2468880"/>
            <a:ext cx="311810" cy="194309"/>
          </a:xfrm>
          <a:prstGeom prst="rect">
            <a:avLst/>
          </a:prstGeom>
          <a:solidFill>
            <a:srgbClr val="3B4148"/>
          </a:solidFill>
          <a:ln>
            <a:noFill/>
          </a:ln>
        </p:spPr>
        <p:txBody>
          <a:bodyPr rtlCol="0" anchor="ctr" lIns="0" rIns="0"/>
          <a:lstStyle/>
          <a:p>
            <a:pPr algn="ctr"/>
          </a:p>
        </p:txBody>
      </p:sp>
      <p:sp>
        <p:nvSpPr>
          <p:cNvPr id="27" name="TextBox 26"/>
          <p:cNvSpPr txBox="1"/>
          <p:nvPr/>
        </p:nvSpPr>
        <p:spPr>
          <a:xfrm>
            <a:off x="358444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7</a:t>
            </a:r>
          </a:p>
        </p:txBody>
      </p:sp>
      <p:sp>
        <p:nvSpPr>
          <p:cNvPr id="28" name="Rectangle 27"/>
          <p:cNvSpPr/>
          <p:nvPr/>
        </p:nvSpPr>
        <p:spPr>
          <a:xfrm>
            <a:off x="4182922" y="2663190"/>
            <a:ext cx="311810" cy="2137410"/>
          </a:xfrm>
          <a:prstGeom prst="rect">
            <a:avLst/>
          </a:prstGeom>
          <a:solidFill>
            <a:srgbClr val="6DC72A"/>
          </a:solidFill>
          <a:ln>
            <a:noFill/>
          </a:ln>
        </p:spPr>
        <p:txBody>
          <a:bodyPr rtlCol="0" anchor="ctr" lIns="0" rIns="0"/>
          <a:lstStyle/>
          <a:p>
            <a:pPr algn="ctr"/>
          </a:p>
        </p:txBody>
      </p:sp>
      <p:sp>
        <p:nvSpPr>
          <p:cNvPr id="29" name="Rectangle 28"/>
          <p:cNvSpPr/>
          <p:nvPr/>
        </p:nvSpPr>
        <p:spPr>
          <a:xfrm>
            <a:off x="4182922" y="2468880"/>
            <a:ext cx="311810" cy="194309"/>
          </a:xfrm>
          <a:prstGeom prst="rect">
            <a:avLst/>
          </a:prstGeom>
          <a:solidFill>
            <a:srgbClr val="3B4148"/>
          </a:solidFill>
          <a:ln>
            <a:noFill/>
          </a:ln>
        </p:spPr>
        <p:txBody>
          <a:bodyPr rtlCol="0" anchor="ctr" lIns="0" rIns="0"/>
          <a:lstStyle/>
          <a:p>
            <a:pPr algn="ctr"/>
          </a:p>
        </p:txBody>
      </p:sp>
      <p:sp>
        <p:nvSpPr>
          <p:cNvPr id="30" name="TextBox 29"/>
          <p:cNvSpPr txBox="1"/>
          <p:nvPr/>
        </p:nvSpPr>
        <p:spPr>
          <a:xfrm>
            <a:off x="408736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8</a:t>
            </a:r>
          </a:p>
        </p:txBody>
      </p:sp>
      <p:sp>
        <p:nvSpPr>
          <p:cNvPr id="31" name="Rectangle 30"/>
          <p:cNvSpPr/>
          <p:nvPr/>
        </p:nvSpPr>
        <p:spPr>
          <a:xfrm>
            <a:off x="4685842" y="2663190"/>
            <a:ext cx="311810" cy="2137410"/>
          </a:xfrm>
          <a:prstGeom prst="rect">
            <a:avLst/>
          </a:prstGeom>
          <a:solidFill>
            <a:srgbClr val="6DC72A"/>
          </a:solidFill>
          <a:ln>
            <a:noFill/>
          </a:ln>
        </p:spPr>
        <p:txBody>
          <a:bodyPr rtlCol="0" anchor="ctr" lIns="0" rIns="0"/>
          <a:lstStyle/>
          <a:p>
            <a:pPr algn="ctr"/>
          </a:p>
        </p:txBody>
      </p:sp>
      <p:sp>
        <p:nvSpPr>
          <p:cNvPr id="32" name="Rectangle 31"/>
          <p:cNvSpPr/>
          <p:nvPr/>
        </p:nvSpPr>
        <p:spPr>
          <a:xfrm>
            <a:off x="4685842" y="2468880"/>
            <a:ext cx="311810" cy="194309"/>
          </a:xfrm>
          <a:prstGeom prst="rect">
            <a:avLst/>
          </a:prstGeom>
          <a:solidFill>
            <a:srgbClr val="3B4148"/>
          </a:solidFill>
          <a:ln>
            <a:noFill/>
          </a:ln>
        </p:spPr>
        <p:txBody>
          <a:bodyPr rtlCol="0" anchor="ctr" lIns="0" rIns="0"/>
          <a:lstStyle/>
          <a:p>
            <a:pPr algn="ctr"/>
          </a:p>
        </p:txBody>
      </p:sp>
      <p:sp>
        <p:nvSpPr>
          <p:cNvPr id="33" name="TextBox 32"/>
          <p:cNvSpPr txBox="1"/>
          <p:nvPr/>
        </p:nvSpPr>
        <p:spPr>
          <a:xfrm>
            <a:off x="459028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9</a:t>
            </a:r>
          </a:p>
        </p:txBody>
      </p:sp>
      <p:sp>
        <p:nvSpPr>
          <p:cNvPr id="34" name="Rectangle 33"/>
          <p:cNvSpPr/>
          <p:nvPr/>
        </p:nvSpPr>
        <p:spPr>
          <a:xfrm>
            <a:off x="5188762" y="2663190"/>
            <a:ext cx="311810" cy="2137410"/>
          </a:xfrm>
          <a:prstGeom prst="rect">
            <a:avLst/>
          </a:prstGeom>
          <a:solidFill>
            <a:srgbClr val="6DC72A"/>
          </a:solidFill>
          <a:ln>
            <a:noFill/>
          </a:ln>
        </p:spPr>
        <p:txBody>
          <a:bodyPr rtlCol="0" anchor="ctr" lIns="0" rIns="0"/>
          <a:lstStyle/>
          <a:p>
            <a:pPr algn="ctr"/>
          </a:p>
        </p:txBody>
      </p:sp>
      <p:sp>
        <p:nvSpPr>
          <p:cNvPr id="35" name="Rectangle 34"/>
          <p:cNvSpPr/>
          <p:nvPr/>
        </p:nvSpPr>
        <p:spPr>
          <a:xfrm>
            <a:off x="5188762" y="2468880"/>
            <a:ext cx="311810" cy="194309"/>
          </a:xfrm>
          <a:prstGeom prst="rect">
            <a:avLst/>
          </a:prstGeom>
          <a:solidFill>
            <a:srgbClr val="3B4148"/>
          </a:solidFill>
          <a:ln>
            <a:noFill/>
          </a:ln>
        </p:spPr>
        <p:txBody>
          <a:bodyPr rtlCol="0" anchor="ctr" lIns="0" rIns="0"/>
          <a:lstStyle/>
          <a:p>
            <a:pPr algn="ctr"/>
          </a:p>
        </p:txBody>
      </p:sp>
      <p:sp>
        <p:nvSpPr>
          <p:cNvPr id="36" name="TextBox 35"/>
          <p:cNvSpPr txBox="1"/>
          <p:nvPr/>
        </p:nvSpPr>
        <p:spPr>
          <a:xfrm>
            <a:off x="509320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10</a:t>
            </a:r>
          </a:p>
        </p:txBody>
      </p:sp>
      <p:sp>
        <p:nvSpPr>
          <p:cNvPr id="37" name="Rectangle 36"/>
          <p:cNvSpPr/>
          <p:nvPr/>
        </p:nvSpPr>
        <p:spPr>
          <a:xfrm>
            <a:off x="5691682" y="2663190"/>
            <a:ext cx="311810" cy="2137410"/>
          </a:xfrm>
          <a:prstGeom prst="rect">
            <a:avLst/>
          </a:prstGeom>
          <a:solidFill>
            <a:srgbClr val="6DC72A"/>
          </a:solidFill>
          <a:ln>
            <a:noFill/>
          </a:ln>
        </p:spPr>
        <p:txBody>
          <a:bodyPr rtlCol="0" anchor="ctr" lIns="0" rIns="0"/>
          <a:lstStyle/>
          <a:p>
            <a:pPr algn="ctr"/>
          </a:p>
        </p:txBody>
      </p:sp>
      <p:sp>
        <p:nvSpPr>
          <p:cNvPr id="38" name="Rectangle 37"/>
          <p:cNvSpPr/>
          <p:nvPr/>
        </p:nvSpPr>
        <p:spPr>
          <a:xfrm>
            <a:off x="5691682" y="2468880"/>
            <a:ext cx="311810" cy="194309"/>
          </a:xfrm>
          <a:prstGeom prst="rect">
            <a:avLst/>
          </a:prstGeom>
          <a:solidFill>
            <a:srgbClr val="3B4148"/>
          </a:solidFill>
          <a:ln>
            <a:noFill/>
          </a:ln>
        </p:spPr>
        <p:txBody>
          <a:bodyPr rtlCol="0" anchor="ctr" lIns="0" rIns="0"/>
          <a:lstStyle/>
          <a:p>
            <a:pPr algn="ctr"/>
          </a:p>
        </p:txBody>
      </p:sp>
      <p:sp>
        <p:nvSpPr>
          <p:cNvPr id="39" name="TextBox 38"/>
          <p:cNvSpPr txBox="1"/>
          <p:nvPr/>
        </p:nvSpPr>
        <p:spPr>
          <a:xfrm>
            <a:off x="559612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11</a:t>
            </a:r>
          </a:p>
        </p:txBody>
      </p:sp>
      <p:sp>
        <p:nvSpPr>
          <p:cNvPr id="40" name="Rectangle 39"/>
          <p:cNvSpPr/>
          <p:nvPr/>
        </p:nvSpPr>
        <p:spPr>
          <a:xfrm>
            <a:off x="6194602" y="2663190"/>
            <a:ext cx="311810" cy="2137410"/>
          </a:xfrm>
          <a:prstGeom prst="rect">
            <a:avLst/>
          </a:prstGeom>
          <a:solidFill>
            <a:srgbClr val="6DC72A"/>
          </a:solidFill>
          <a:ln>
            <a:noFill/>
          </a:ln>
        </p:spPr>
        <p:txBody>
          <a:bodyPr rtlCol="0" anchor="ctr" lIns="0" rIns="0"/>
          <a:lstStyle/>
          <a:p>
            <a:pPr algn="ctr"/>
          </a:p>
        </p:txBody>
      </p:sp>
      <p:sp>
        <p:nvSpPr>
          <p:cNvPr id="41" name="Rectangle 40"/>
          <p:cNvSpPr/>
          <p:nvPr/>
        </p:nvSpPr>
        <p:spPr>
          <a:xfrm>
            <a:off x="6194602" y="2468880"/>
            <a:ext cx="311810" cy="194309"/>
          </a:xfrm>
          <a:prstGeom prst="rect">
            <a:avLst/>
          </a:prstGeom>
          <a:solidFill>
            <a:srgbClr val="3B4148"/>
          </a:solidFill>
          <a:ln>
            <a:noFill/>
          </a:ln>
        </p:spPr>
        <p:txBody>
          <a:bodyPr rtlCol="0" anchor="ctr" lIns="0" rIns="0"/>
          <a:lstStyle/>
          <a:p>
            <a:pPr algn="ctr"/>
          </a:p>
        </p:txBody>
      </p:sp>
      <p:sp>
        <p:nvSpPr>
          <p:cNvPr id="42" name="TextBox 41"/>
          <p:cNvSpPr txBox="1"/>
          <p:nvPr/>
        </p:nvSpPr>
        <p:spPr>
          <a:xfrm>
            <a:off x="609904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12</a:t>
            </a:r>
          </a:p>
        </p:txBody>
      </p:sp>
      <p:cxnSp>
        <p:nvCxnSpPr>
          <p:cNvPr id="43" name="Connector 42"/>
          <p:cNvCxnSpPr/>
          <p:nvPr/>
        </p:nvCxnSpPr>
        <p:spPr>
          <a:xfrm>
            <a:off x="566928" y="4800600"/>
            <a:ext cx="6035040" cy="0"/>
          </a:xfrm>
          <a:prstGeom prst="line">
            <a:avLst/>
          </a:prstGeom>
          <a:ln w="9525">
            <a:solidFill>
              <a:srgbClr val="0C1408"/>
            </a:solidFill>
          </a:ln>
        </p:spPr>
      </p:cxnSp>
      <p:sp>
        <p:nvSpPr>
          <p:cNvPr id="44" name="TextBox 43"/>
          <p:cNvSpPr txBox="1"/>
          <p:nvPr/>
        </p:nvSpPr>
        <p:spPr>
          <a:xfrm>
            <a:off x="566928" y="5111496"/>
            <a:ext cx="603504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Turn</a:t>
            </a:r>
          </a:p>
        </p:txBody>
      </p:sp>
      <p:sp>
        <p:nvSpPr>
          <p:cNvPr id="45" name="Rectangle 44"/>
          <p:cNvSpPr/>
          <p:nvPr/>
        </p:nvSpPr>
        <p:spPr>
          <a:xfrm>
            <a:off x="566928" y="5449824"/>
            <a:ext cx="146304" cy="146304"/>
          </a:xfrm>
          <a:prstGeom prst="rect">
            <a:avLst/>
          </a:prstGeom>
          <a:solidFill>
            <a:srgbClr val="6DC72A"/>
          </a:solidFill>
          <a:ln>
            <a:noFill/>
          </a:ln>
        </p:spPr>
        <p:txBody>
          <a:bodyPr rtlCol="0" anchor="ctr" lIns="0" rIns="0"/>
          <a:lstStyle/>
          <a:p>
            <a:pPr algn="ctr"/>
          </a:p>
        </p:txBody>
      </p:sp>
      <p:sp>
        <p:nvSpPr>
          <p:cNvPr id="46" name="TextBox 45"/>
          <p:cNvSpPr txBox="1"/>
          <p:nvPr/>
        </p:nvSpPr>
        <p:spPr>
          <a:xfrm>
            <a:off x="786384" y="5413248"/>
            <a:ext cx="27432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paid by the other members, Rs 110,000</a:t>
            </a:r>
          </a:p>
        </p:txBody>
      </p:sp>
      <p:sp>
        <p:nvSpPr>
          <p:cNvPr id="47" name="Rectangle 46"/>
          <p:cNvSpPr/>
          <p:nvPr/>
        </p:nvSpPr>
        <p:spPr>
          <a:xfrm>
            <a:off x="3493008" y="5449824"/>
            <a:ext cx="146304" cy="146304"/>
          </a:xfrm>
          <a:prstGeom prst="rect">
            <a:avLst/>
          </a:prstGeom>
          <a:solidFill>
            <a:srgbClr val="3B4148"/>
          </a:solidFill>
          <a:ln>
            <a:noFill/>
          </a:ln>
        </p:spPr>
        <p:txBody>
          <a:bodyPr rtlCol="0" anchor="ctr" lIns="0" rIns="0"/>
          <a:lstStyle/>
          <a:p>
            <a:pPr algn="ctr"/>
          </a:p>
        </p:txBody>
      </p:sp>
      <p:sp>
        <p:nvSpPr>
          <p:cNvPr id="48" name="TextBox 47"/>
          <p:cNvSpPr txBox="1"/>
          <p:nvPr/>
        </p:nvSpPr>
        <p:spPr>
          <a:xfrm>
            <a:off x="3712463" y="5413248"/>
            <a:ext cx="292608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paid by takaful, Rs 10,000</a:t>
            </a:r>
          </a:p>
        </p:txBody>
      </p:sp>
      <p:sp>
        <p:nvSpPr>
          <p:cNvPr id="49" name="Rectangle 48"/>
          <p:cNvSpPr/>
          <p:nvPr/>
        </p:nvSpPr>
        <p:spPr>
          <a:xfrm>
            <a:off x="566928" y="5760720"/>
            <a:ext cx="146304" cy="146304"/>
          </a:xfrm>
          <a:prstGeom prst="rect">
            <a:avLst/>
          </a:prstGeom>
          <a:noFill/>
          <a:ln w="15875">
            <a:solidFill>
              <a:srgbClr val="B3261E"/>
            </a:solidFill>
          </a:ln>
        </p:spPr>
        <p:txBody>
          <a:bodyPr rtlCol="0" anchor="ctr" lIns="0" rIns="0"/>
          <a:lstStyle/>
          <a:p>
            <a:pPr algn="ctr"/>
          </a:p>
        </p:txBody>
      </p:sp>
      <p:sp>
        <p:nvSpPr>
          <p:cNvPr id="50" name="TextBox 49"/>
          <p:cNvSpPr txBox="1"/>
          <p:nvPr/>
        </p:nvSpPr>
        <p:spPr>
          <a:xfrm>
            <a:off x="786384" y="5724144"/>
            <a:ext cx="54864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turn 1: collected, then stopped paying</a:t>
            </a:r>
          </a:p>
        </p:txBody>
      </p:sp>
      <p:cxnSp>
        <p:nvCxnSpPr>
          <p:cNvPr id="51" name="Connector 50"/>
          <p:cNvCxnSpPr/>
          <p:nvPr/>
        </p:nvCxnSpPr>
        <p:spPr>
          <a:xfrm>
            <a:off x="7178040" y="1810512"/>
            <a:ext cx="4434840" cy="0"/>
          </a:xfrm>
          <a:prstGeom prst="line">
            <a:avLst/>
          </a:prstGeom>
          <a:ln w="9525">
            <a:solidFill>
              <a:srgbClr val="D5DCD1"/>
            </a:solidFill>
          </a:ln>
        </p:spPr>
      </p:cxnSp>
      <p:sp>
        <p:nvSpPr>
          <p:cNvPr id="52" name="TextBox 51"/>
          <p:cNvSpPr txBox="1"/>
          <p:nvPr/>
        </p:nvSpPr>
        <p:spPr>
          <a:xfrm>
            <a:off x="7178040" y="1901952"/>
            <a:ext cx="4434840" cy="914400"/>
          </a:xfrm>
          <a:prstGeom prst="rect">
            <a:avLst/>
          </a:prstGeom>
          <a:noFill/>
        </p:spPr>
        <p:txBody>
          <a:bodyPr wrap="square" lIns="0" rIns="0" tIns="0" bIns="0" anchor="t">
            <a:noAutofit/>
          </a:bodyPr>
          <a:lstStyle/>
          <a:p>
            <a:pPr algn="l">
              <a:lnSpc>
                <a:spcPct val="105000"/>
              </a:lnSpc>
            </a:pPr>
            <a:r>
              <a:rPr sz="1300" b="1" i="0">
                <a:solidFill>
                  <a:srgbClr val="0C1408"/>
                </a:solidFill>
                <a:latin typeface="Arial"/>
              </a:rPr>
              <a:t>How it works.</a:t>
            </a:r>
            <a:r>
              <a:rPr sz="1300" b="0" i="0">
                <a:solidFill>
                  <a:srgbClr val="0C1408"/>
                </a:solidFill>
                <a:latin typeface="Arial"/>
              </a:rPr>
              <a:t> Each instalment carries a small takaful contribution. The fund pays members left short, in their own names.</a:t>
            </a:r>
          </a:p>
        </p:txBody>
      </p:sp>
      <p:cxnSp>
        <p:nvCxnSpPr>
          <p:cNvPr id="53" name="Connector 52"/>
          <p:cNvCxnSpPr/>
          <p:nvPr/>
        </p:nvCxnSpPr>
        <p:spPr>
          <a:xfrm>
            <a:off x="7178040" y="2724912"/>
            <a:ext cx="4434840" cy="0"/>
          </a:xfrm>
          <a:prstGeom prst="line">
            <a:avLst/>
          </a:prstGeom>
          <a:ln w="9525">
            <a:solidFill>
              <a:srgbClr val="D5DCD1"/>
            </a:solidFill>
          </a:ln>
        </p:spPr>
      </p:cxnSp>
      <p:sp>
        <p:nvSpPr>
          <p:cNvPr id="54" name="TextBox 53"/>
          <p:cNvSpPr txBox="1"/>
          <p:nvPr/>
        </p:nvSpPr>
        <p:spPr>
          <a:xfrm>
            <a:off x="7178040" y="2816352"/>
            <a:ext cx="4434840" cy="914400"/>
          </a:xfrm>
          <a:prstGeom prst="rect">
            <a:avLst/>
          </a:prstGeom>
          <a:noFill/>
        </p:spPr>
        <p:txBody>
          <a:bodyPr wrap="square" lIns="0" rIns="0" tIns="0" bIns="0" anchor="t">
            <a:noAutofit/>
          </a:bodyPr>
          <a:lstStyle/>
          <a:p>
            <a:pPr algn="l">
              <a:lnSpc>
                <a:spcPct val="105000"/>
              </a:lnSpc>
            </a:pPr>
            <a:r>
              <a:rPr sz="1300" b="1" i="0">
                <a:solidFill>
                  <a:srgbClr val="0C1408"/>
                </a:solidFill>
                <a:latin typeface="Arial"/>
              </a:rPr>
              <a:t>Operator.</a:t>
            </a:r>
            <a:r>
              <a:rPr sz="1300" b="0" i="0">
                <a:solidFill>
                  <a:srgbClr val="0C1408"/>
                </a:solidFill>
                <a:latin typeface="Arial"/>
              </a:rPr>
              <a:t> Raqami's takaful partner EFU, or another operator. None contracted for committees.</a:t>
            </a:r>
          </a:p>
        </p:txBody>
      </p:sp>
      <p:cxnSp>
        <p:nvCxnSpPr>
          <p:cNvPr id="55" name="Connector 54"/>
          <p:cNvCxnSpPr/>
          <p:nvPr/>
        </p:nvCxnSpPr>
        <p:spPr>
          <a:xfrm>
            <a:off x="7178040" y="3639312"/>
            <a:ext cx="4434840" cy="0"/>
          </a:xfrm>
          <a:prstGeom prst="line">
            <a:avLst/>
          </a:prstGeom>
          <a:ln w="9525">
            <a:solidFill>
              <a:srgbClr val="D5DCD1"/>
            </a:solidFill>
          </a:ln>
        </p:spPr>
      </p:cxnSp>
      <p:sp>
        <p:nvSpPr>
          <p:cNvPr id="56" name="TextBox 55"/>
          <p:cNvSpPr txBox="1"/>
          <p:nvPr/>
        </p:nvSpPr>
        <p:spPr>
          <a:xfrm>
            <a:off x="7178040" y="3730752"/>
            <a:ext cx="4434840" cy="914400"/>
          </a:xfrm>
          <a:prstGeom prst="rect">
            <a:avLst/>
          </a:prstGeom>
          <a:noFill/>
        </p:spPr>
        <p:txBody>
          <a:bodyPr wrap="square" lIns="0" rIns="0" tIns="0" bIns="0" anchor="t">
            <a:noAutofit/>
          </a:bodyPr>
          <a:lstStyle/>
          <a:p>
            <a:pPr algn="l">
              <a:lnSpc>
                <a:spcPct val="105000"/>
              </a:lnSpc>
            </a:pPr>
            <a:r>
              <a:rPr sz="1300" b="1" i="0">
                <a:solidFill>
                  <a:srgbClr val="0C1408"/>
                </a:solidFill>
                <a:latin typeface="Arial"/>
              </a:rPr>
              <a:t>Price.</a:t>
            </a:r>
            <a:r>
              <a:rPr sz="1300" b="0" i="0">
                <a:solidFill>
                  <a:srgbClr val="0C1408"/>
                </a:solidFill>
                <a:latin typeface="Arial"/>
              </a:rPr>
              <a:t> About 5.5% of the instalment on circles of strangers, priced for a stress case.</a:t>
            </a:r>
          </a:p>
        </p:txBody>
      </p:sp>
      <p:cxnSp>
        <p:nvCxnSpPr>
          <p:cNvPr id="57" name="Connector 56"/>
          <p:cNvCxnSpPr/>
          <p:nvPr/>
        </p:nvCxnSpPr>
        <p:spPr>
          <a:xfrm>
            <a:off x="7178040" y="4553712"/>
            <a:ext cx="4434840" cy="0"/>
          </a:xfrm>
          <a:prstGeom prst="line">
            <a:avLst/>
          </a:prstGeom>
          <a:ln w="9525">
            <a:solidFill>
              <a:srgbClr val="D5DCD1"/>
            </a:solidFill>
          </a:ln>
        </p:spPr>
      </p:cxnSp>
      <p:sp>
        <p:nvSpPr>
          <p:cNvPr id="58" name="TextBox 57"/>
          <p:cNvSpPr txBox="1"/>
          <p:nvPr/>
        </p:nvSpPr>
        <p:spPr>
          <a:xfrm>
            <a:off x="7178040" y="4645152"/>
            <a:ext cx="4434840" cy="914400"/>
          </a:xfrm>
          <a:prstGeom prst="rect">
            <a:avLst/>
          </a:prstGeom>
          <a:noFill/>
        </p:spPr>
        <p:txBody>
          <a:bodyPr wrap="square" lIns="0" rIns="0" tIns="0" bIns="0" anchor="t">
            <a:noAutofit/>
          </a:bodyPr>
          <a:lstStyle/>
          <a:p>
            <a:pPr algn="l">
              <a:lnSpc>
                <a:spcPct val="105000"/>
              </a:lnSpc>
            </a:pPr>
            <a:r>
              <a:rPr sz="1300" b="1" i="0">
                <a:solidFill>
                  <a:srgbClr val="0C1408"/>
                </a:solidFill>
                <a:latin typeface="Arial"/>
              </a:rPr>
              <a:t>Known circles.</a:t>
            </a:r>
            <a:r>
              <a:rPr sz="1300" b="0" i="0">
                <a:solidFill>
                  <a:srgbClr val="0C1408"/>
                </a:solidFill>
                <a:latin typeface="Arial"/>
              </a:rPr>
              <a:t> No takaful needed.</a:t>
            </a:r>
          </a:p>
        </p:txBody>
      </p:sp>
      <p:cxnSp>
        <p:nvCxnSpPr>
          <p:cNvPr id="59" name="Connector 58"/>
          <p:cNvCxnSpPr/>
          <p:nvPr/>
        </p:nvCxnSpPr>
        <p:spPr>
          <a:xfrm>
            <a:off x="7178040" y="5468112"/>
            <a:ext cx="4434840" cy="0"/>
          </a:xfrm>
          <a:prstGeom prst="line">
            <a:avLst/>
          </a:prstGeom>
          <a:ln w="9525">
            <a:solidFill>
              <a:srgbClr val="D5DCD1"/>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Shariah Structure</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Each part of the committee rests on one contract. None of them carries interest.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Structure proposed by Halqa for review. No Shariah board has ruled on it yet.</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15</a:t>
            </a:r>
          </a:p>
        </p:txBody>
      </p:sp>
      <p:sp>
        <p:nvSpPr>
          <p:cNvPr id="7" name="TextBox 6"/>
          <p:cNvSpPr txBox="1"/>
          <p:nvPr/>
        </p:nvSpPr>
        <p:spPr>
          <a:xfrm>
            <a:off x="566928" y="1737360"/>
            <a:ext cx="1938528" cy="512064"/>
          </a:xfrm>
          <a:prstGeom prst="rect">
            <a:avLst/>
          </a:prstGeom>
          <a:noFill/>
        </p:spPr>
        <p:txBody>
          <a:bodyPr wrap="square" lIns="0" rIns="0" tIns="0" bIns="0" anchor="b">
            <a:noAutofit/>
          </a:bodyPr>
          <a:lstStyle/>
          <a:p>
            <a:pPr algn="l">
              <a:lnSpc>
                <a:spcPct val="110000"/>
              </a:lnSpc>
            </a:pPr>
            <a:r>
              <a:rPr sz="1300" b="1" i="0">
                <a:solidFill>
                  <a:srgbClr val="0C1408"/>
                </a:solidFill>
                <a:latin typeface="Arial"/>
              </a:rPr>
              <a:t>Part of the committee</a:t>
            </a:r>
          </a:p>
        </p:txBody>
      </p:sp>
      <p:sp>
        <p:nvSpPr>
          <p:cNvPr id="8" name="TextBox 7"/>
          <p:cNvSpPr txBox="1"/>
          <p:nvPr/>
        </p:nvSpPr>
        <p:spPr>
          <a:xfrm>
            <a:off x="2651760" y="1737360"/>
            <a:ext cx="1481328" cy="512064"/>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Contract</a:t>
            </a:r>
          </a:p>
        </p:txBody>
      </p:sp>
      <p:sp>
        <p:nvSpPr>
          <p:cNvPr id="9" name="TextBox 8"/>
          <p:cNvSpPr txBox="1"/>
          <p:nvPr/>
        </p:nvSpPr>
        <p:spPr>
          <a:xfrm>
            <a:off x="4206240" y="1737360"/>
            <a:ext cx="7418527" cy="512064"/>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How it works</a:t>
            </a:r>
          </a:p>
        </p:txBody>
      </p:sp>
      <p:cxnSp>
        <p:nvCxnSpPr>
          <p:cNvPr id="10" name="Connector 9"/>
          <p:cNvCxnSpPr/>
          <p:nvPr/>
        </p:nvCxnSpPr>
        <p:spPr>
          <a:xfrm>
            <a:off x="566928" y="2286000"/>
            <a:ext cx="11057839" cy="0"/>
          </a:xfrm>
          <a:prstGeom prst="line">
            <a:avLst/>
          </a:prstGeom>
          <a:ln w="12700">
            <a:solidFill>
              <a:srgbClr val="0C1408"/>
            </a:solidFill>
          </a:ln>
        </p:spPr>
      </p:cxnSp>
      <p:sp>
        <p:nvSpPr>
          <p:cNvPr id="11" name="TextBox 10"/>
          <p:cNvSpPr txBox="1"/>
          <p:nvPr/>
        </p:nvSpPr>
        <p:spPr>
          <a:xfrm>
            <a:off x="566928" y="2267712"/>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Instalments</a:t>
            </a:r>
          </a:p>
        </p:txBody>
      </p:sp>
      <p:sp>
        <p:nvSpPr>
          <p:cNvPr id="12" name="TextBox 11"/>
          <p:cNvSpPr txBox="1"/>
          <p:nvPr/>
        </p:nvSpPr>
        <p:spPr>
          <a:xfrm>
            <a:off x="2651760" y="2267712"/>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Qard</a:t>
            </a:r>
          </a:p>
        </p:txBody>
      </p:sp>
      <p:sp>
        <p:nvSpPr>
          <p:cNvPr id="13" name="TextBox 12"/>
          <p:cNvSpPr txBox="1"/>
          <p:nvPr/>
        </p:nvSpPr>
        <p:spPr>
          <a:xfrm>
            <a:off x="4206240" y="2267712"/>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Each member lends to the member collecting, without interest, and is repaid by the later instalments. Every member takes out exactly what they paid in.</a:t>
            </a:r>
          </a:p>
        </p:txBody>
      </p:sp>
      <p:cxnSp>
        <p:nvCxnSpPr>
          <p:cNvPr id="14" name="Connector 13"/>
          <p:cNvCxnSpPr/>
          <p:nvPr/>
        </p:nvCxnSpPr>
        <p:spPr>
          <a:xfrm>
            <a:off x="566928" y="2779776"/>
            <a:ext cx="11057839" cy="0"/>
          </a:xfrm>
          <a:prstGeom prst="line">
            <a:avLst/>
          </a:prstGeom>
          <a:ln w="9525">
            <a:solidFill>
              <a:srgbClr val="D5DCD1"/>
            </a:solidFill>
          </a:ln>
        </p:spPr>
      </p:cxnSp>
      <p:sp>
        <p:nvSpPr>
          <p:cNvPr id="15" name="TextBox 14"/>
          <p:cNvSpPr txBox="1"/>
          <p:nvPr/>
        </p:nvSpPr>
        <p:spPr>
          <a:xfrm>
            <a:off x="566928" y="2779776"/>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Service fee</a:t>
            </a:r>
          </a:p>
        </p:txBody>
      </p:sp>
      <p:sp>
        <p:nvSpPr>
          <p:cNvPr id="16" name="TextBox 15"/>
          <p:cNvSpPr txBox="1"/>
          <p:nvPr/>
        </p:nvSpPr>
        <p:spPr>
          <a:xfrm>
            <a:off x="2651760" y="2779776"/>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Ujrah</a:t>
            </a:r>
          </a:p>
        </p:txBody>
      </p:sp>
      <p:sp>
        <p:nvSpPr>
          <p:cNvPr id="17" name="TextBox 16"/>
          <p:cNvSpPr txBox="1"/>
          <p:nvPr/>
        </p:nvSpPr>
        <p:spPr>
          <a:xfrm>
            <a:off x="4206240" y="2779776"/>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 flat fee for running the committee, the same for every turn, never linked to how early the pot is taken.</a:t>
            </a:r>
          </a:p>
        </p:txBody>
      </p:sp>
      <p:cxnSp>
        <p:nvCxnSpPr>
          <p:cNvPr id="18" name="Connector 17"/>
          <p:cNvCxnSpPr/>
          <p:nvPr/>
        </p:nvCxnSpPr>
        <p:spPr>
          <a:xfrm>
            <a:off x="566928" y="3291840"/>
            <a:ext cx="11057839" cy="0"/>
          </a:xfrm>
          <a:prstGeom prst="line">
            <a:avLst/>
          </a:prstGeom>
          <a:ln w="9525">
            <a:solidFill>
              <a:srgbClr val="D5DCD1"/>
            </a:solidFill>
          </a:ln>
        </p:spPr>
      </p:cxnSp>
      <p:sp>
        <p:nvSpPr>
          <p:cNvPr id="19" name="TextBox 18"/>
          <p:cNvSpPr txBox="1"/>
          <p:nvPr/>
        </p:nvSpPr>
        <p:spPr>
          <a:xfrm>
            <a:off x="566928" y="3291840"/>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Waiting balance</a:t>
            </a:r>
          </a:p>
        </p:txBody>
      </p:sp>
      <p:sp>
        <p:nvSpPr>
          <p:cNvPr id="20" name="TextBox 19"/>
          <p:cNvSpPr txBox="1"/>
          <p:nvPr/>
        </p:nvSpPr>
        <p:spPr>
          <a:xfrm>
            <a:off x="2651760" y="3291840"/>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Mudarabah</a:t>
            </a:r>
          </a:p>
        </p:txBody>
      </p:sp>
      <p:sp>
        <p:nvSpPr>
          <p:cNvPr id="21" name="TextBox 20"/>
          <p:cNvSpPr txBox="1"/>
          <p:nvPr/>
        </p:nvSpPr>
        <p:spPr>
          <a:xfrm>
            <a:off x="4206240" y="3291840"/>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The instalment sits in a term deposit until the due date. Profit is shared; the members' share returns as points.</a:t>
            </a:r>
          </a:p>
        </p:txBody>
      </p:sp>
      <p:cxnSp>
        <p:nvCxnSpPr>
          <p:cNvPr id="22" name="Connector 21"/>
          <p:cNvCxnSpPr/>
          <p:nvPr/>
        </p:nvCxnSpPr>
        <p:spPr>
          <a:xfrm>
            <a:off x="566928" y="3803904"/>
            <a:ext cx="11057839" cy="0"/>
          </a:xfrm>
          <a:prstGeom prst="line">
            <a:avLst/>
          </a:prstGeom>
          <a:ln w="9525">
            <a:solidFill>
              <a:srgbClr val="D5DCD1"/>
            </a:solidFill>
          </a:ln>
        </p:spPr>
      </p:cxnSp>
      <p:sp>
        <p:nvSpPr>
          <p:cNvPr id="23" name="TextBox 22"/>
          <p:cNvSpPr txBox="1"/>
          <p:nvPr/>
        </p:nvSpPr>
        <p:spPr>
          <a:xfrm>
            <a:off x="566928" y="3803904"/>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Cover</a:t>
            </a:r>
          </a:p>
        </p:txBody>
      </p:sp>
      <p:sp>
        <p:nvSpPr>
          <p:cNvPr id="24" name="TextBox 23"/>
          <p:cNvSpPr txBox="1"/>
          <p:nvPr/>
        </p:nvSpPr>
        <p:spPr>
          <a:xfrm>
            <a:off x="2651760" y="3803904"/>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Takaful</a:t>
            </a:r>
          </a:p>
        </p:txBody>
      </p:sp>
      <p:sp>
        <p:nvSpPr>
          <p:cNvPr id="25" name="TextBox 24"/>
          <p:cNvSpPr txBox="1"/>
          <p:nvPr/>
        </p:nvSpPr>
        <p:spPr>
          <a:xfrm>
            <a:off x="4206240" y="3803904"/>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Members contribute to a takaful fund that pays any member left short.</a:t>
            </a:r>
          </a:p>
        </p:txBody>
      </p:sp>
      <p:cxnSp>
        <p:nvCxnSpPr>
          <p:cNvPr id="26" name="Connector 25"/>
          <p:cNvCxnSpPr/>
          <p:nvPr/>
        </p:nvCxnSpPr>
        <p:spPr>
          <a:xfrm>
            <a:off x="566928" y="4315968"/>
            <a:ext cx="11057839" cy="0"/>
          </a:xfrm>
          <a:prstGeom prst="line">
            <a:avLst/>
          </a:prstGeom>
          <a:ln w="9525">
            <a:solidFill>
              <a:srgbClr val="D5DCD1"/>
            </a:solidFill>
          </a:ln>
        </p:spPr>
      </p:cxnSp>
      <p:sp>
        <p:nvSpPr>
          <p:cNvPr id="27" name="TextBox 26"/>
          <p:cNvSpPr txBox="1"/>
          <p:nvPr/>
        </p:nvSpPr>
        <p:spPr>
          <a:xfrm>
            <a:off x="566928" y="4315968"/>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Late payment</a:t>
            </a:r>
          </a:p>
        </p:txBody>
      </p:sp>
      <p:sp>
        <p:nvSpPr>
          <p:cNvPr id="28" name="TextBox 27"/>
          <p:cNvSpPr txBox="1"/>
          <p:nvPr/>
        </p:nvSpPr>
        <p:spPr>
          <a:xfrm>
            <a:off x="2651760" y="4315968"/>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Charity</a:t>
            </a:r>
          </a:p>
        </p:txBody>
      </p:sp>
      <p:sp>
        <p:nvSpPr>
          <p:cNvPr id="29" name="TextBox 28"/>
          <p:cNvSpPr txBox="1"/>
          <p:nvPr/>
        </p:nvSpPr>
        <p:spPr>
          <a:xfrm>
            <a:off x="4206240" y="4315968"/>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Penalties are paid to charity. Neither Raqami nor Halqa keeps them.</a:t>
            </a:r>
          </a:p>
        </p:txBody>
      </p:sp>
      <p:cxnSp>
        <p:nvCxnSpPr>
          <p:cNvPr id="30" name="Connector 29"/>
          <p:cNvCxnSpPr/>
          <p:nvPr/>
        </p:nvCxnSpPr>
        <p:spPr>
          <a:xfrm>
            <a:off x="566928" y="4828032"/>
            <a:ext cx="11057839" cy="0"/>
          </a:xfrm>
          <a:prstGeom prst="line">
            <a:avLst/>
          </a:prstGeom>
          <a:ln w="9525">
            <a:solidFill>
              <a:srgbClr val="D5DCD1"/>
            </a:solidFill>
          </a:ln>
        </p:spPr>
      </p:cxnSp>
      <p:sp>
        <p:nvSpPr>
          <p:cNvPr id="31" name="TextBox 30"/>
          <p:cNvSpPr txBox="1"/>
          <p:nvPr/>
        </p:nvSpPr>
        <p:spPr>
          <a:xfrm>
            <a:off x="566928" y="4828032"/>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Changing turns</a:t>
            </a:r>
          </a:p>
        </p:txBody>
      </p:sp>
      <p:sp>
        <p:nvSpPr>
          <p:cNvPr id="32" name="TextBox 31"/>
          <p:cNvSpPr txBox="1"/>
          <p:nvPr/>
        </p:nvSpPr>
        <p:spPr>
          <a:xfrm>
            <a:off x="2651760" y="4828032"/>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Swap only</a:t>
            </a:r>
          </a:p>
        </p:txBody>
      </p:sp>
      <p:sp>
        <p:nvSpPr>
          <p:cNvPr id="33" name="TextBox 32"/>
          <p:cNvSpPr txBox="1"/>
          <p:nvPr/>
        </p:nvSpPr>
        <p:spPr>
          <a:xfrm>
            <a:off x="4206240" y="4828032"/>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Members may swap turns. A turn is never sold for money or points.</a:t>
            </a:r>
          </a:p>
        </p:txBody>
      </p:sp>
      <p:cxnSp>
        <p:nvCxnSpPr>
          <p:cNvPr id="34" name="Connector 33"/>
          <p:cNvCxnSpPr/>
          <p:nvPr/>
        </p:nvCxnSpPr>
        <p:spPr>
          <a:xfrm>
            <a:off x="566928" y="5340096"/>
            <a:ext cx="11057839" cy="0"/>
          </a:xfrm>
          <a:prstGeom prst="line">
            <a:avLst/>
          </a:prstGeom>
          <a:ln w="9525">
            <a:solidFill>
              <a:srgbClr val="D5DCD1"/>
            </a:solidFill>
          </a:ln>
        </p:spPr>
      </p:cxnSp>
      <p:sp>
        <p:nvSpPr>
          <p:cNvPr id="35" name="TextBox 34"/>
          <p:cNvSpPr txBox="1"/>
          <p:nvPr/>
        </p:nvSpPr>
        <p:spPr>
          <a:xfrm>
            <a:off x="566928" y="5340096"/>
            <a:ext cx="1901952" cy="51206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Points</a:t>
            </a:r>
          </a:p>
        </p:txBody>
      </p:sp>
      <p:sp>
        <p:nvSpPr>
          <p:cNvPr id="36" name="TextBox 35"/>
          <p:cNvSpPr txBox="1"/>
          <p:nvPr/>
        </p:nvSpPr>
        <p:spPr>
          <a:xfrm>
            <a:off x="2651760" y="5340096"/>
            <a:ext cx="14447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Reward</a:t>
            </a:r>
          </a:p>
        </p:txBody>
      </p:sp>
      <p:sp>
        <p:nvSpPr>
          <p:cNvPr id="37" name="TextBox 36"/>
          <p:cNvSpPr txBox="1"/>
          <p:nvPr/>
        </p:nvSpPr>
        <p:spPr>
          <a:xfrm>
            <a:off x="4206240" y="5340096"/>
            <a:ext cx="7381951" cy="51206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Earned for paying on time and finishing a circle. Never bought with money.</a:t>
            </a:r>
          </a:p>
        </p:txBody>
      </p:sp>
      <p:cxnSp>
        <p:nvCxnSpPr>
          <p:cNvPr id="38" name="Connector 37"/>
          <p:cNvCxnSpPr/>
          <p:nvPr/>
        </p:nvCxnSpPr>
        <p:spPr>
          <a:xfrm>
            <a:off x="566928" y="5852160"/>
            <a:ext cx="11057839" cy="0"/>
          </a:xfrm>
          <a:prstGeom prst="line">
            <a:avLst/>
          </a:prstGeom>
          <a:ln w="9525">
            <a:solidFill>
              <a:srgbClr val="D5DCD1"/>
            </a:solidFill>
          </a:ln>
        </p:spPr>
      </p:cxnSp>
      <p:sp>
        <p:nvSpPr>
          <p:cNvPr id="39" name="TextBox 38"/>
          <p:cNvSpPr txBox="1"/>
          <p:nvPr/>
        </p:nvSpPr>
        <p:spPr>
          <a:xfrm>
            <a:off x="566928" y="5870448"/>
            <a:ext cx="1105783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Every part is subject to the ruling of Raqami's Shariah 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Fees and Revenue</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One flat service fee (ujrah), the same for every turn. Raqami collects it and shares its income with Halqa.</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Business Model and Unit Costs, 25 September 2026; takaful pricing model, September 2026. The fee rises with the instalment and the number of members.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16</a:t>
            </a:r>
          </a:p>
        </p:txBody>
      </p:sp>
      <p:sp>
        <p:nvSpPr>
          <p:cNvPr id="7" name="TextBox 6"/>
          <p:cNvSpPr txBox="1"/>
          <p:nvPr/>
        </p:nvSpPr>
        <p:spPr>
          <a:xfrm>
            <a:off x="566928" y="1783080"/>
            <a:ext cx="640080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One instalment on a circle between strangers, Rs</a:t>
            </a:r>
          </a:p>
        </p:txBody>
      </p:sp>
      <p:sp>
        <p:nvSpPr>
          <p:cNvPr id="8" name="Rectangle 7"/>
          <p:cNvSpPr/>
          <p:nvPr/>
        </p:nvSpPr>
        <p:spPr>
          <a:xfrm>
            <a:off x="566928" y="2697480"/>
            <a:ext cx="5711378" cy="566928"/>
          </a:xfrm>
          <a:prstGeom prst="rect">
            <a:avLst/>
          </a:prstGeom>
          <a:solidFill>
            <a:srgbClr val="6DC72A"/>
          </a:solidFill>
          <a:ln>
            <a:noFill/>
          </a:ln>
        </p:spPr>
        <p:txBody>
          <a:bodyPr rtlCol="0" anchor="ctr" lIns="0" rIns="0"/>
          <a:lstStyle/>
          <a:p>
            <a:pPr algn="ctr"/>
          </a:p>
        </p:txBody>
      </p:sp>
      <p:sp>
        <p:nvSpPr>
          <p:cNvPr id="9" name="Rectangle 8"/>
          <p:cNvSpPr/>
          <p:nvPr/>
        </p:nvSpPr>
        <p:spPr>
          <a:xfrm>
            <a:off x="6278306" y="2697480"/>
            <a:ext cx="312412" cy="566928"/>
          </a:xfrm>
          <a:prstGeom prst="rect">
            <a:avLst/>
          </a:prstGeom>
          <a:solidFill>
            <a:srgbClr val="A9DE7F"/>
          </a:solidFill>
          <a:ln>
            <a:noFill/>
          </a:ln>
        </p:spPr>
        <p:txBody>
          <a:bodyPr rtlCol="0" anchor="ctr" lIns="0" rIns="0"/>
          <a:lstStyle/>
          <a:p>
            <a:pPr algn="ctr"/>
          </a:p>
        </p:txBody>
      </p:sp>
      <p:sp>
        <p:nvSpPr>
          <p:cNvPr id="10" name="Rectangle 9"/>
          <p:cNvSpPr/>
          <p:nvPr/>
        </p:nvSpPr>
        <p:spPr>
          <a:xfrm>
            <a:off x="6590719" y="2697480"/>
            <a:ext cx="285568" cy="566928"/>
          </a:xfrm>
          <a:prstGeom prst="rect">
            <a:avLst/>
          </a:prstGeom>
          <a:solidFill>
            <a:srgbClr val="3B4148"/>
          </a:solidFill>
          <a:ln>
            <a:noFill/>
          </a:ln>
        </p:spPr>
        <p:txBody>
          <a:bodyPr rtlCol="0" anchor="ctr" lIns="0" rIns="0"/>
          <a:lstStyle/>
          <a:p>
            <a:pPr algn="ctr"/>
          </a:p>
        </p:txBody>
      </p:sp>
      <p:sp>
        <p:nvSpPr>
          <p:cNvPr id="11" name="TextBox 10"/>
          <p:cNvSpPr txBox="1"/>
          <p:nvPr/>
        </p:nvSpPr>
        <p:spPr>
          <a:xfrm>
            <a:off x="566928" y="3337560"/>
            <a:ext cx="3291840" cy="54864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Rs 10,000</a:t>
            </a:r>
            <a:r>
              <a:rPr sz="1300" b="0" i="0">
                <a:solidFill>
                  <a:srgbClr val="0C1408"/>
                </a:solidFill>
                <a:latin typeface="Arial"/>
              </a:rPr>
              <a:t> to the member collecting</a:t>
            </a:r>
          </a:p>
        </p:txBody>
      </p:sp>
      <p:cxnSp>
        <p:nvCxnSpPr>
          <p:cNvPr id="12" name="Connector 11"/>
          <p:cNvCxnSpPr/>
          <p:nvPr/>
        </p:nvCxnSpPr>
        <p:spPr>
          <a:xfrm flipV="1">
            <a:off x="6434512" y="2331720"/>
            <a:ext cx="0" cy="365760"/>
          </a:xfrm>
          <a:prstGeom prst="line">
            <a:avLst/>
          </a:prstGeom>
          <a:ln w="9525">
            <a:solidFill>
              <a:srgbClr val="5B6456"/>
            </a:solidFill>
          </a:ln>
        </p:spPr>
      </p:cxnSp>
      <p:sp>
        <p:nvSpPr>
          <p:cNvPr id="13" name="TextBox 12"/>
          <p:cNvSpPr txBox="1"/>
          <p:nvPr/>
        </p:nvSpPr>
        <p:spPr>
          <a:xfrm>
            <a:off x="3416992" y="2176272"/>
            <a:ext cx="2926080" cy="274320"/>
          </a:xfrm>
          <a:prstGeom prst="rect">
            <a:avLst/>
          </a:prstGeom>
          <a:noFill/>
        </p:spPr>
        <p:txBody>
          <a:bodyPr wrap="square" lIns="0" rIns="0" tIns="0" bIns="0" anchor="t">
            <a:noAutofit/>
          </a:bodyPr>
          <a:lstStyle/>
          <a:p>
            <a:pPr algn="r">
              <a:lnSpc>
                <a:spcPct val="110000"/>
              </a:lnSpc>
            </a:pPr>
            <a:r>
              <a:rPr sz="1200" b="1" i="0">
                <a:solidFill>
                  <a:srgbClr val="0C1408"/>
                </a:solidFill>
                <a:latin typeface="Arial"/>
              </a:rPr>
              <a:t>Rs 547</a:t>
            </a:r>
            <a:r>
              <a:rPr sz="1200" b="0" i="0">
                <a:solidFill>
                  <a:srgbClr val="0C1408"/>
                </a:solidFill>
                <a:latin typeface="Arial"/>
              </a:rPr>
              <a:t> takaful</a:t>
            </a:r>
          </a:p>
        </p:txBody>
      </p:sp>
      <p:cxnSp>
        <p:nvCxnSpPr>
          <p:cNvPr id="14" name="Connector 13"/>
          <p:cNvCxnSpPr/>
          <p:nvPr/>
        </p:nvCxnSpPr>
        <p:spPr>
          <a:xfrm>
            <a:off x="6733503" y="3264408"/>
            <a:ext cx="0" cy="347472"/>
          </a:xfrm>
          <a:prstGeom prst="line">
            <a:avLst/>
          </a:prstGeom>
          <a:ln w="9525">
            <a:solidFill>
              <a:srgbClr val="5B6456"/>
            </a:solidFill>
          </a:ln>
        </p:spPr>
      </p:cxnSp>
      <p:sp>
        <p:nvSpPr>
          <p:cNvPr id="15" name="TextBox 14"/>
          <p:cNvSpPr txBox="1"/>
          <p:nvPr/>
        </p:nvSpPr>
        <p:spPr>
          <a:xfrm>
            <a:off x="3807423" y="3611880"/>
            <a:ext cx="3017520" cy="548640"/>
          </a:xfrm>
          <a:prstGeom prst="rect">
            <a:avLst/>
          </a:prstGeom>
          <a:noFill/>
        </p:spPr>
        <p:txBody>
          <a:bodyPr wrap="square" lIns="0" rIns="0" tIns="0" bIns="0" anchor="t">
            <a:noAutofit/>
          </a:bodyPr>
          <a:lstStyle/>
          <a:p>
            <a:pPr algn="r">
              <a:lnSpc>
                <a:spcPct val="110000"/>
              </a:lnSpc>
            </a:pPr>
            <a:r>
              <a:rPr sz="1200" b="1" i="0">
                <a:solidFill>
                  <a:srgbClr val="0C1408"/>
                </a:solidFill>
                <a:latin typeface="Arial"/>
              </a:rPr>
              <a:t>up to Rs 500</a:t>
            </a:r>
            <a:r>
              <a:rPr sz="1200" b="0" i="0">
                <a:solidFill>
                  <a:srgbClr val="0C1408"/>
                </a:solidFill>
                <a:latin typeface="Arial"/>
              </a:rPr>
              <a:t> fee, collected by Raqami</a:t>
            </a:r>
          </a:p>
        </p:txBody>
      </p:sp>
      <p:sp>
        <p:nvSpPr>
          <p:cNvPr id="16" name="TextBox 15"/>
          <p:cNvSpPr txBox="1"/>
          <p:nvPr/>
        </p:nvSpPr>
        <p:spPr>
          <a:xfrm>
            <a:off x="6922008" y="2724912"/>
            <a:ext cx="914400" cy="502920"/>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Rs 11,047</a:t>
            </a:r>
          </a:p>
        </p:txBody>
      </p:sp>
      <p:sp>
        <p:nvSpPr>
          <p:cNvPr id="17" name="TextBox 16"/>
          <p:cNvSpPr txBox="1"/>
          <p:nvPr/>
        </p:nvSpPr>
        <p:spPr>
          <a:xfrm>
            <a:off x="566928" y="43342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a:t>
            </a:r>
          </a:p>
        </p:txBody>
      </p:sp>
      <p:sp>
        <p:nvSpPr>
          <p:cNvPr id="18" name="TextBox 17"/>
          <p:cNvSpPr txBox="1"/>
          <p:nvPr/>
        </p:nvSpPr>
        <p:spPr>
          <a:xfrm>
            <a:off x="2011680" y="43342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Their share of profit, as points</a:t>
            </a:r>
          </a:p>
        </p:txBody>
      </p:sp>
      <p:cxnSp>
        <p:nvCxnSpPr>
          <p:cNvPr id="19" name="Connector 18"/>
          <p:cNvCxnSpPr/>
          <p:nvPr/>
        </p:nvCxnSpPr>
        <p:spPr>
          <a:xfrm>
            <a:off x="566928" y="4791455"/>
            <a:ext cx="6492240" cy="0"/>
          </a:xfrm>
          <a:prstGeom prst="line">
            <a:avLst/>
          </a:prstGeom>
          <a:ln w="9525">
            <a:solidFill>
              <a:srgbClr val="D5DCD1"/>
            </a:solidFill>
          </a:ln>
        </p:spPr>
      </p:cxnSp>
      <p:sp>
        <p:nvSpPr>
          <p:cNvPr id="20" name="TextBox 19"/>
          <p:cNvSpPr txBox="1"/>
          <p:nvPr/>
        </p:nvSpPr>
        <p:spPr>
          <a:xfrm>
            <a:off x="566928" y="47914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Raqami</a:t>
            </a:r>
          </a:p>
        </p:txBody>
      </p:sp>
      <p:sp>
        <p:nvSpPr>
          <p:cNvPr id="21" name="TextBox 20"/>
          <p:cNvSpPr txBox="1"/>
          <p:nvPr/>
        </p:nvSpPr>
        <p:spPr>
          <a:xfrm>
            <a:off x="2011680" y="47914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 fee, its share of profit, takaful, financing</a:t>
            </a:r>
          </a:p>
        </p:txBody>
      </p:sp>
      <p:cxnSp>
        <p:nvCxnSpPr>
          <p:cNvPr id="22" name="Connector 21"/>
          <p:cNvCxnSpPr/>
          <p:nvPr/>
        </p:nvCxnSpPr>
        <p:spPr>
          <a:xfrm>
            <a:off x="566928" y="5248655"/>
            <a:ext cx="6492240" cy="0"/>
          </a:xfrm>
          <a:prstGeom prst="line">
            <a:avLst/>
          </a:prstGeom>
          <a:ln w="9525">
            <a:solidFill>
              <a:srgbClr val="D5DCD1"/>
            </a:solidFill>
          </a:ln>
        </p:spPr>
      </p:cxnSp>
      <p:sp>
        <p:nvSpPr>
          <p:cNvPr id="23" name="TextBox 22"/>
          <p:cNvSpPr txBox="1"/>
          <p:nvPr/>
        </p:nvSpPr>
        <p:spPr>
          <a:xfrm>
            <a:off x="566928" y="52486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Halqa</a:t>
            </a:r>
          </a:p>
        </p:txBody>
      </p:sp>
      <p:sp>
        <p:nvSpPr>
          <p:cNvPr id="24" name="TextBox 23"/>
          <p:cNvSpPr txBox="1"/>
          <p:nvPr/>
        </p:nvSpPr>
        <p:spPr>
          <a:xfrm>
            <a:off x="2011680" y="52486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An agreed share of Raqami's income</a:t>
            </a:r>
          </a:p>
        </p:txBody>
      </p:sp>
      <p:cxnSp>
        <p:nvCxnSpPr>
          <p:cNvPr id="25" name="Connector 24"/>
          <p:cNvCxnSpPr/>
          <p:nvPr/>
        </p:nvCxnSpPr>
        <p:spPr>
          <a:xfrm>
            <a:off x="566928" y="5705855"/>
            <a:ext cx="6492240" cy="0"/>
          </a:xfrm>
          <a:prstGeom prst="line">
            <a:avLst/>
          </a:prstGeom>
          <a:ln w="9525">
            <a:solidFill>
              <a:srgbClr val="D5DCD1"/>
            </a:solidFill>
          </a:ln>
        </p:spPr>
      </p:cxnSp>
      <p:cxnSp>
        <p:nvCxnSpPr>
          <p:cNvPr id="26" name="Connector 25"/>
          <p:cNvCxnSpPr/>
          <p:nvPr/>
        </p:nvCxnSpPr>
        <p:spPr>
          <a:xfrm>
            <a:off x="7863840" y="1828800"/>
            <a:ext cx="0" cy="4114800"/>
          </a:xfrm>
          <a:prstGeom prst="line">
            <a:avLst/>
          </a:prstGeom>
          <a:ln w="9525">
            <a:solidFill>
              <a:srgbClr val="D5DCD1"/>
            </a:solidFill>
          </a:ln>
        </p:spPr>
      </p:cxnSp>
      <p:sp>
        <p:nvSpPr>
          <p:cNvPr id="27" name="TextBox 26"/>
          <p:cNvSpPr txBox="1"/>
          <p:nvPr/>
        </p:nvSpPr>
        <p:spPr>
          <a:xfrm>
            <a:off x="8183879" y="182880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Rs 13 to 35</a:t>
            </a:r>
          </a:p>
        </p:txBody>
      </p:sp>
      <p:sp>
        <p:nvSpPr>
          <p:cNvPr id="28" name="TextBox 27"/>
          <p:cNvSpPr txBox="1"/>
          <p:nvPr/>
        </p:nvSpPr>
        <p:spPr>
          <a:xfrm>
            <a:off x="8183879" y="233476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running cost of one payment</a:t>
            </a:r>
          </a:p>
        </p:txBody>
      </p:sp>
      <p:sp>
        <p:nvSpPr>
          <p:cNvPr id="29" name="TextBox 28"/>
          <p:cNvSpPr txBox="1"/>
          <p:nvPr/>
        </p:nvSpPr>
        <p:spPr>
          <a:xfrm>
            <a:off x="8183879" y="292608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Rs 1.32 million</a:t>
            </a:r>
          </a:p>
        </p:txBody>
      </p:sp>
      <p:sp>
        <p:nvSpPr>
          <p:cNvPr id="30" name="TextBox 29"/>
          <p:cNvSpPr txBox="1"/>
          <p:nvPr/>
        </p:nvSpPr>
        <p:spPr>
          <a:xfrm>
            <a:off x="8183879" y="343204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fixed cost a month at launch</a:t>
            </a:r>
          </a:p>
        </p:txBody>
      </p:sp>
      <p:sp>
        <p:nvSpPr>
          <p:cNvPr id="31" name="TextBox 30"/>
          <p:cNvSpPr txBox="1"/>
          <p:nvPr/>
        </p:nvSpPr>
        <p:spPr>
          <a:xfrm>
            <a:off x="8183879" y="402336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About 2,600</a:t>
            </a:r>
          </a:p>
        </p:txBody>
      </p:sp>
      <p:sp>
        <p:nvSpPr>
          <p:cNvPr id="32" name="TextBox 31"/>
          <p:cNvSpPr txBox="1"/>
          <p:nvPr/>
        </p:nvSpPr>
        <p:spPr>
          <a:xfrm>
            <a:off x="8183879" y="452932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active members to cover fixed costs</a:t>
            </a:r>
          </a:p>
        </p:txBody>
      </p:sp>
      <p:sp>
        <p:nvSpPr>
          <p:cNvPr id="33" name="TextBox 32"/>
          <p:cNvSpPr txBox="1"/>
          <p:nvPr/>
        </p:nvSpPr>
        <p:spPr>
          <a:xfrm>
            <a:off x="8183879" y="5166360"/>
            <a:ext cx="3429000" cy="731520"/>
          </a:xfrm>
          <a:prstGeom prst="rect">
            <a:avLst/>
          </a:prstGeom>
          <a:noFill/>
        </p:spPr>
        <p:txBody>
          <a:bodyPr wrap="square" lIns="0" rIns="0" tIns="0" bIns="0" anchor="t">
            <a:noAutofit/>
          </a:bodyPr>
          <a:lstStyle/>
          <a:p>
            <a:pPr algn="l">
              <a:lnSpc>
                <a:spcPct val="100000"/>
              </a:lnSpc>
            </a:pPr>
            <a:r>
              <a:rPr sz="1100" b="0" i="0">
                <a:solidFill>
                  <a:srgbClr val="5B6456"/>
                </a:solidFill>
                <a:latin typeface="Arial"/>
              </a:rPr>
              <a:t>Halqa's 25 September model, before Raqami's terms.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Competition</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Only Halqa with Raqami has an Islamic bank holding the money, one fee for every turn and a credit record.</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Oraan terms and fee calculator, read 28 September 2026   2  JazzCash application 5.6.7 release note, 23 August 2026   3  Financial Inclusion Insights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17</a:t>
            </a:r>
          </a:p>
        </p:txBody>
      </p:sp>
      <p:sp>
        <p:nvSpPr>
          <p:cNvPr id="7" name="Rectangle 6"/>
          <p:cNvSpPr/>
          <p:nvPr/>
        </p:nvSpPr>
        <p:spPr>
          <a:xfrm>
            <a:off x="2624328" y="1700784"/>
            <a:ext cx="2331720" cy="3877056"/>
          </a:xfrm>
          <a:prstGeom prst="rect">
            <a:avLst/>
          </a:prstGeom>
          <a:solidFill>
            <a:srgbClr val="F3FCE7"/>
          </a:solidFill>
          <a:ln>
            <a:noFill/>
          </a:ln>
        </p:spPr>
        <p:txBody>
          <a:bodyPr rtlCol="0" anchor="ctr" lIns="0" rIns="0"/>
          <a:lstStyle/>
          <a:p>
            <a:pPr algn="ctr"/>
          </a:p>
        </p:txBody>
      </p:sp>
      <p:sp>
        <p:nvSpPr>
          <p:cNvPr id="8" name="TextBox 7"/>
          <p:cNvSpPr txBox="1"/>
          <p:nvPr/>
        </p:nvSpPr>
        <p:spPr>
          <a:xfrm>
            <a:off x="566928" y="1737360"/>
            <a:ext cx="1984248" cy="475488"/>
          </a:xfrm>
          <a:prstGeom prst="rect">
            <a:avLst/>
          </a:prstGeom>
          <a:noFill/>
        </p:spPr>
        <p:txBody>
          <a:bodyPr wrap="square" lIns="0" rIns="0" tIns="0" bIns="0" anchor="b">
            <a:noAutofit/>
          </a:bodyPr>
          <a:lstStyle/>
          <a:p>
            <a:pPr algn="l">
              <a:lnSpc>
                <a:spcPct val="110000"/>
              </a:lnSpc>
            </a:pPr>
          </a:p>
        </p:txBody>
      </p:sp>
      <p:sp>
        <p:nvSpPr>
          <p:cNvPr id="9" name="TextBox 8"/>
          <p:cNvSpPr txBox="1"/>
          <p:nvPr/>
        </p:nvSpPr>
        <p:spPr>
          <a:xfrm>
            <a:off x="2697480" y="1737360"/>
            <a:ext cx="225856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Halqa with Raqami</a:t>
            </a:r>
          </a:p>
        </p:txBody>
      </p:sp>
      <p:sp>
        <p:nvSpPr>
          <p:cNvPr id="10" name="TextBox 9"/>
          <p:cNvSpPr txBox="1"/>
          <p:nvPr/>
        </p:nvSpPr>
        <p:spPr>
          <a:xfrm>
            <a:off x="5029200" y="1737360"/>
            <a:ext cx="216712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JazzCash Committee</a:t>
            </a:r>
          </a:p>
        </p:txBody>
      </p:sp>
      <p:sp>
        <p:nvSpPr>
          <p:cNvPr id="11" name="TextBox 10"/>
          <p:cNvSpPr txBox="1"/>
          <p:nvPr/>
        </p:nvSpPr>
        <p:spPr>
          <a:xfrm>
            <a:off x="7269480" y="1737360"/>
            <a:ext cx="216712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Oraan</a:t>
            </a:r>
          </a:p>
        </p:txBody>
      </p:sp>
      <p:sp>
        <p:nvSpPr>
          <p:cNvPr id="12" name="TextBox 11"/>
          <p:cNvSpPr txBox="1"/>
          <p:nvPr/>
        </p:nvSpPr>
        <p:spPr>
          <a:xfrm>
            <a:off x="9509760" y="1737360"/>
            <a:ext cx="2112264"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Informal committee</a:t>
            </a:r>
          </a:p>
        </p:txBody>
      </p:sp>
      <p:cxnSp>
        <p:nvCxnSpPr>
          <p:cNvPr id="13" name="Connector 12"/>
          <p:cNvCxnSpPr/>
          <p:nvPr/>
        </p:nvCxnSpPr>
        <p:spPr>
          <a:xfrm>
            <a:off x="566928" y="2249424"/>
            <a:ext cx="11055096" cy="0"/>
          </a:xfrm>
          <a:prstGeom prst="line">
            <a:avLst/>
          </a:prstGeom>
          <a:ln w="12700">
            <a:solidFill>
              <a:srgbClr val="0C1408"/>
            </a:solidFill>
          </a:ln>
        </p:spPr>
      </p:cxnSp>
      <p:sp>
        <p:nvSpPr>
          <p:cNvPr id="14" name="TextBox 13"/>
          <p:cNvSpPr txBox="1"/>
          <p:nvPr/>
        </p:nvSpPr>
        <p:spPr>
          <a:xfrm>
            <a:off x="566928" y="2231136"/>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Who holds the money</a:t>
            </a:r>
          </a:p>
        </p:txBody>
      </p:sp>
      <p:sp>
        <p:nvSpPr>
          <p:cNvPr id="15" name="Oval 14"/>
          <p:cNvSpPr/>
          <p:nvPr/>
        </p:nvSpPr>
        <p:spPr>
          <a:xfrm>
            <a:off x="270205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16" name="Oval 15"/>
          <p:cNvSpPr/>
          <p:nvPr/>
        </p:nvSpPr>
        <p:spPr>
          <a:xfrm>
            <a:off x="2702052" y="2382011"/>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17" name="TextBox 16"/>
          <p:cNvSpPr txBox="1"/>
          <p:nvPr/>
        </p:nvSpPr>
        <p:spPr>
          <a:xfrm>
            <a:off x="2953512" y="2231136"/>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Raqami, an Islamic bank</a:t>
            </a:r>
          </a:p>
        </p:txBody>
      </p:sp>
      <p:sp>
        <p:nvSpPr>
          <p:cNvPr id="18" name="Oval 17"/>
          <p:cNvSpPr/>
          <p:nvPr/>
        </p:nvSpPr>
        <p:spPr>
          <a:xfrm>
            <a:off x="503377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19" name="Pie 18"/>
          <p:cNvSpPr/>
          <p:nvPr/>
        </p:nvSpPr>
        <p:spPr>
          <a:xfrm>
            <a:off x="5033772" y="2382011"/>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20" name="TextBox 19"/>
          <p:cNvSpPr txBox="1"/>
          <p:nvPr/>
        </p:nvSpPr>
        <p:spPr>
          <a:xfrm>
            <a:off x="5285232" y="2231136"/>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the organiser's wallet</a:t>
            </a:r>
          </a:p>
        </p:txBody>
      </p:sp>
      <p:sp>
        <p:nvSpPr>
          <p:cNvPr id="21" name="Oval 20"/>
          <p:cNvSpPr/>
          <p:nvPr/>
        </p:nvSpPr>
        <p:spPr>
          <a:xfrm>
            <a:off x="727405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2" name="TextBox 21"/>
          <p:cNvSpPr txBox="1"/>
          <p:nvPr/>
        </p:nvSpPr>
        <p:spPr>
          <a:xfrm>
            <a:off x="7525512" y="2231136"/>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Oraan's own accounts</a:t>
            </a:r>
          </a:p>
        </p:txBody>
      </p:sp>
      <p:sp>
        <p:nvSpPr>
          <p:cNvPr id="23" name="Oval 22"/>
          <p:cNvSpPr/>
          <p:nvPr/>
        </p:nvSpPr>
        <p:spPr>
          <a:xfrm>
            <a:off x="951433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4" name="TextBox 23"/>
          <p:cNvSpPr txBox="1"/>
          <p:nvPr/>
        </p:nvSpPr>
        <p:spPr>
          <a:xfrm>
            <a:off x="9765792" y="2231136"/>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the organiser</a:t>
            </a:r>
          </a:p>
        </p:txBody>
      </p:sp>
      <p:cxnSp>
        <p:nvCxnSpPr>
          <p:cNvPr id="25" name="Connector 24"/>
          <p:cNvCxnSpPr/>
          <p:nvPr/>
        </p:nvCxnSpPr>
        <p:spPr>
          <a:xfrm>
            <a:off x="566928" y="2706624"/>
            <a:ext cx="11055096" cy="0"/>
          </a:xfrm>
          <a:prstGeom prst="line">
            <a:avLst/>
          </a:prstGeom>
          <a:ln w="9525">
            <a:solidFill>
              <a:srgbClr val="D5DCD1"/>
            </a:solidFill>
          </a:ln>
        </p:spPr>
      </p:cxnSp>
      <p:sp>
        <p:nvSpPr>
          <p:cNvPr id="26" name="TextBox 25"/>
          <p:cNvSpPr txBox="1"/>
          <p:nvPr/>
        </p:nvSpPr>
        <p:spPr>
          <a:xfrm>
            <a:off x="566928" y="2706624"/>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Price of an early turn</a:t>
            </a:r>
          </a:p>
        </p:txBody>
      </p:sp>
      <p:sp>
        <p:nvSpPr>
          <p:cNvPr id="27" name="Oval 26"/>
          <p:cNvSpPr/>
          <p:nvPr/>
        </p:nvSpPr>
        <p:spPr>
          <a:xfrm>
            <a:off x="270205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8" name="Oval 27"/>
          <p:cNvSpPr/>
          <p:nvPr/>
        </p:nvSpPr>
        <p:spPr>
          <a:xfrm>
            <a:off x="2702052" y="2857500"/>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29" name="TextBox 28"/>
          <p:cNvSpPr txBox="1"/>
          <p:nvPr/>
        </p:nvSpPr>
        <p:spPr>
          <a:xfrm>
            <a:off x="2953512" y="2706624"/>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one flat fee</a:t>
            </a:r>
          </a:p>
        </p:txBody>
      </p:sp>
      <p:sp>
        <p:nvSpPr>
          <p:cNvPr id="30" name="TextBox 29"/>
          <p:cNvSpPr txBox="1"/>
          <p:nvPr/>
        </p:nvSpPr>
        <p:spPr>
          <a:xfrm>
            <a:off x="5285232" y="2706624"/>
            <a:ext cx="1911096" cy="475488"/>
          </a:xfrm>
          <a:prstGeom prst="rect">
            <a:avLst/>
          </a:prstGeom>
          <a:noFill/>
        </p:spPr>
        <p:txBody>
          <a:bodyPr wrap="square" lIns="0" rIns="0" tIns="0" bIns="0" anchor="ctr">
            <a:noAutofit/>
          </a:bodyPr>
          <a:lstStyle/>
          <a:p>
            <a:pPr algn="l">
              <a:lnSpc>
                <a:spcPct val="110000"/>
              </a:lnSpc>
            </a:pPr>
            <a:r>
              <a:rPr sz="1100" b="0" i="0">
                <a:solidFill>
                  <a:srgbClr val="5B6456"/>
                </a:solidFill>
                <a:latin typeface="Arial"/>
              </a:rPr>
              <a:t>not published</a:t>
            </a:r>
          </a:p>
        </p:txBody>
      </p:sp>
      <p:sp>
        <p:nvSpPr>
          <p:cNvPr id="31" name="Oval 30"/>
          <p:cNvSpPr/>
          <p:nvPr/>
        </p:nvSpPr>
        <p:spPr>
          <a:xfrm>
            <a:off x="727405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2" name="TextBox 31"/>
          <p:cNvSpPr txBox="1"/>
          <p:nvPr/>
        </p:nvSpPr>
        <p:spPr>
          <a:xfrm>
            <a:off x="7525512" y="2706624"/>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up to 21% of the instalment a month [1]</a:t>
            </a:r>
          </a:p>
        </p:txBody>
      </p:sp>
      <p:sp>
        <p:nvSpPr>
          <p:cNvPr id="33" name="Oval 32"/>
          <p:cNvSpPr/>
          <p:nvPr/>
        </p:nvSpPr>
        <p:spPr>
          <a:xfrm>
            <a:off x="951433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4" name="Oval 33"/>
          <p:cNvSpPr/>
          <p:nvPr/>
        </p:nvSpPr>
        <p:spPr>
          <a:xfrm>
            <a:off x="9514332" y="2857500"/>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35" name="TextBox 34"/>
          <p:cNvSpPr txBox="1"/>
          <p:nvPr/>
        </p:nvSpPr>
        <p:spPr>
          <a:xfrm>
            <a:off x="9765792" y="2706624"/>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usually none</a:t>
            </a:r>
          </a:p>
        </p:txBody>
      </p:sp>
      <p:cxnSp>
        <p:nvCxnSpPr>
          <p:cNvPr id="36" name="Connector 35"/>
          <p:cNvCxnSpPr/>
          <p:nvPr/>
        </p:nvCxnSpPr>
        <p:spPr>
          <a:xfrm>
            <a:off x="566928" y="3182112"/>
            <a:ext cx="11055096" cy="0"/>
          </a:xfrm>
          <a:prstGeom prst="line">
            <a:avLst/>
          </a:prstGeom>
          <a:ln w="9525">
            <a:solidFill>
              <a:srgbClr val="D5DCD1"/>
            </a:solidFill>
          </a:ln>
        </p:spPr>
      </p:cxnSp>
      <p:sp>
        <p:nvSpPr>
          <p:cNvPr id="37" name="TextBox 36"/>
          <p:cNvSpPr txBox="1"/>
          <p:nvPr/>
        </p:nvSpPr>
        <p:spPr>
          <a:xfrm>
            <a:off x="566928" y="3182112"/>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Payout</a:t>
            </a:r>
          </a:p>
        </p:txBody>
      </p:sp>
      <p:sp>
        <p:nvSpPr>
          <p:cNvPr id="38" name="Oval 37"/>
          <p:cNvSpPr/>
          <p:nvPr/>
        </p:nvSpPr>
        <p:spPr>
          <a:xfrm>
            <a:off x="270205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9" name="Oval 38"/>
          <p:cNvSpPr/>
          <p:nvPr/>
        </p:nvSpPr>
        <p:spPr>
          <a:xfrm>
            <a:off x="2702052" y="3332987"/>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40" name="TextBox 39"/>
          <p:cNvSpPr txBox="1"/>
          <p:nvPr/>
        </p:nvSpPr>
        <p:spPr>
          <a:xfrm>
            <a:off x="2953512" y="3182112"/>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automatic, the same day</a:t>
            </a:r>
          </a:p>
        </p:txBody>
      </p:sp>
      <p:sp>
        <p:nvSpPr>
          <p:cNvPr id="41" name="Oval 40"/>
          <p:cNvSpPr/>
          <p:nvPr/>
        </p:nvSpPr>
        <p:spPr>
          <a:xfrm>
            <a:off x="503377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2" name="TextBox 41"/>
          <p:cNvSpPr txBox="1"/>
          <p:nvPr/>
        </p:nvSpPr>
        <p:spPr>
          <a:xfrm>
            <a:off x="5285232" y="3182112"/>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by hand, by the organiser [2]</a:t>
            </a:r>
          </a:p>
        </p:txBody>
      </p:sp>
      <p:sp>
        <p:nvSpPr>
          <p:cNvPr id="43" name="Oval 42"/>
          <p:cNvSpPr/>
          <p:nvPr/>
        </p:nvSpPr>
        <p:spPr>
          <a:xfrm>
            <a:off x="727405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4" name="Pie 43"/>
          <p:cNvSpPr/>
          <p:nvPr/>
        </p:nvSpPr>
        <p:spPr>
          <a:xfrm>
            <a:off x="7274052" y="3332987"/>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45" name="TextBox 44"/>
          <p:cNvSpPr txBox="1"/>
          <p:nvPr/>
        </p:nvSpPr>
        <p:spPr>
          <a:xfrm>
            <a:off x="7525512" y="3182112"/>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11th to 18th</a:t>
            </a:r>
          </a:p>
        </p:txBody>
      </p:sp>
      <p:sp>
        <p:nvSpPr>
          <p:cNvPr id="46" name="Oval 45"/>
          <p:cNvSpPr/>
          <p:nvPr/>
        </p:nvSpPr>
        <p:spPr>
          <a:xfrm>
            <a:off x="951433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7" name="TextBox 46"/>
          <p:cNvSpPr txBox="1"/>
          <p:nvPr/>
        </p:nvSpPr>
        <p:spPr>
          <a:xfrm>
            <a:off x="9765792" y="3182112"/>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by hand</a:t>
            </a:r>
          </a:p>
        </p:txBody>
      </p:sp>
      <p:cxnSp>
        <p:nvCxnSpPr>
          <p:cNvPr id="48" name="Connector 47"/>
          <p:cNvCxnSpPr/>
          <p:nvPr/>
        </p:nvCxnSpPr>
        <p:spPr>
          <a:xfrm>
            <a:off x="566928" y="3657600"/>
            <a:ext cx="11055096" cy="0"/>
          </a:xfrm>
          <a:prstGeom prst="line">
            <a:avLst/>
          </a:prstGeom>
          <a:ln w="9525">
            <a:solidFill>
              <a:srgbClr val="D5DCD1"/>
            </a:solidFill>
          </a:ln>
        </p:spPr>
      </p:cxnSp>
      <p:sp>
        <p:nvSpPr>
          <p:cNvPr id="49" name="TextBox 48"/>
          <p:cNvSpPr txBox="1"/>
          <p:nvPr/>
        </p:nvSpPr>
        <p:spPr>
          <a:xfrm>
            <a:off x="566928" y="3657600"/>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 checked</a:t>
            </a:r>
          </a:p>
        </p:txBody>
      </p:sp>
      <p:sp>
        <p:nvSpPr>
          <p:cNvPr id="50" name="Oval 49"/>
          <p:cNvSpPr/>
          <p:nvPr/>
        </p:nvSpPr>
        <p:spPr>
          <a:xfrm>
            <a:off x="270205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1" name="Oval 50"/>
          <p:cNvSpPr/>
          <p:nvPr/>
        </p:nvSpPr>
        <p:spPr>
          <a:xfrm>
            <a:off x="2702052" y="3808476"/>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2" name="TextBox 51"/>
          <p:cNvSpPr txBox="1"/>
          <p:nvPr/>
        </p:nvSpPr>
        <p:spPr>
          <a:xfrm>
            <a:off x="2953512" y="3657600"/>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identity, income, score</a:t>
            </a:r>
          </a:p>
        </p:txBody>
      </p:sp>
      <p:sp>
        <p:nvSpPr>
          <p:cNvPr id="53" name="Oval 52"/>
          <p:cNvSpPr/>
          <p:nvPr/>
        </p:nvSpPr>
        <p:spPr>
          <a:xfrm>
            <a:off x="503377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4" name="TextBox 53"/>
          <p:cNvSpPr txBox="1"/>
          <p:nvPr/>
        </p:nvSpPr>
        <p:spPr>
          <a:xfrm>
            <a:off x="5285232" y="3657600"/>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phone contacts</a:t>
            </a:r>
          </a:p>
        </p:txBody>
      </p:sp>
      <p:sp>
        <p:nvSpPr>
          <p:cNvPr id="55" name="Oval 54"/>
          <p:cNvSpPr/>
          <p:nvPr/>
        </p:nvSpPr>
        <p:spPr>
          <a:xfrm>
            <a:off x="727405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6" name="Pie 55"/>
          <p:cNvSpPr/>
          <p:nvPr/>
        </p:nvSpPr>
        <p:spPr>
          <a:xfrm>
            <a:off x="7274052" y="3808476"/>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57" name="TextBox 56"/>
          <p:cNvSpPr txBox="1"/>
          <p:nvPr/>
        </p:nvSpPr>
        <p:spPr>
          <a:xfrm>
            <a:off x="7525512" y="3657600"/>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device data, bureau</a:t>
            </a:r>
          </a:p>
        </p:txBody>
      </p:sp>
      <p:sp>
        <p:nvSpPr>
          <p:cNvPr id="58" name="Oval 57"/>
          <p:cNvSpPr/>
          <p:nvPr/>
        </p:nvSpPr>
        <p:spPr>
          <a:xfrm>
            <a:off x="951433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9" name="Pie 58"/>
          <p:cNvSpPr/>
          <p:nvPr/>
        </p:nvSpPr>
        <p:spPr>
          <a:xfrm>
            <a:off x="9514332" y="3808476"/>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60" name="TextBox 59"/>
          <p:cNvSpPr txBox="1"/>
          <p:nvPr/>
        </p:nvSpPr>
        <p:spPr>
          <a:xfrm>
            <a:off x="9765792" y="3657600"/>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people known</a:t>
            </a:r>
          </a:p>
        </p:txBody>
      </p:sp>
      <p:cxnSp>
        <p:nvCxnSpPr>
          <p:cNvPr id="61" name="Connector 60"/>
          <p:cNvCxnSpPr/>
          <p:nvPr/>
        </p:nvCxnSpPr>
        <p:spPr>
          <a:xfrm>
            <a:off x="566928" y="4133087"/>
            <a:ext cx="11055096" cy="0"/>
          </a:xfrm>
          <a:prstGeom prst="line">
            <a:avLst/>
          </a:prstGeom>
          <a:ln w="9525">
            <a:solidFill>
              <a:srgbClr val="D5DCD1"/>
            </a:solidFill>
          </a:ln>
        </p:spPr>
      </p:cxnSp>
      <p:sp>
        <p:nvSpPr>
          <p:cNvPr id="62" name="TextBox 61"/>
          <p:cNvSpPr txBox="1"/>
          <p:nvPr/>
        </p:nvSpPr>
        <p:spPr>
          <a:xfrm>
            <a:off x="566928" y="4133087"/>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Defaults covered</a:t>
            </a:r>
          </a:p>
        </p:txBody>
      </p:sp>
      <p:sp>
        <p:nvSpPr>
          <p:cNvPr id="63" name="Oval 62"/>
          <p:cNvSpPr/>
          <p:nvPr/>
        </p:nvSpPr>
        <p:spPr>
          <a:xfrm>
            <a:off x="270205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4" name="Oval 63"/>
          <p:cNvSpPr/>
          <p:nvPr/>
        </p:nvSpPr>
        <p:spPr>
          <a:xfrm>
            <a:off x="2702052" y="4283964"/>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5" name="TextBox 64"/>
          <p:cNvSpPr txBox="1"/>
          <p:nvPr/>
        </p:nvSpPr>
        <p:spPr>
          <a:xfrm>
            <a:off x="2953512" y="4133087"/>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takaful through the bank</a:t>
            </a:r>
          </a:p>
        </p:txBody>
      </p:sp>
      <p:sp>
        <p:nvSpPr>
          <p:cNvPr id="66" name="TextBox 65"/>
          <p:cNvSpPr txBox="1"/>
          <p:nvPr/>
        </p:nvSpPr>
        <p:spPr>
          <a:xfrm>
            <a:off x="5285232" y="4133087"/>
            <a:ext cx="1911096" cy="475488"/>
          </a:xfrm>
          <a:prstGeom prst="rect">
            <a:avLst/>
          </a:prstGeom>
          <a:noFill/>
        </p:spPr>
        <p:txBody>
          <a:bodyPr wrap="square" lIns="0" rIns="0" tIns="0" bIns="0" anchor="ctr">
            <a:noAutofit/>
          </a:bodyPr>
          <a:lstStyle/>
          <a:p>
            <a:pPr algn="l">
              <a:lnSpc>
                <a:spcPct val="110000"/>
              </a:lnSpc>
            </a:pPr>
            <a:r>
              <a:rPr sz="1100" b="0" i="0">
                <a:solidFill>
                  <a:srgbClr val="5B6456"/>
                </a:solidFill>
                <a:latin typeface="Arial"/>
              </a:rPr>
              <a:t>not stated</a:t>
            </a:r>
          </a:p>
        </p:txBody>
      </p:sp>
      <p:sp>
        <p:nvSpPr>
          <p:cNvPr id="67" name="Oval 66"/>
          <p:cNvSpPr/>
          <p:nvPr/>
        </p:nvSpPr>
        <p:spPr>
          <a:xfrm>
            <a:off x="727405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8" name="Pie 67"/>
          <p:cNvSpPr/>
          <p:nvPr/>
        </p:nvSpPr>
        <p:spPr>
          <a:xfrm>
            <a:off x="7274052" y="4283964"/>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69" name="TextBox 68"/>
          <p:cNvSpPr txBox="1"/>
          <p:nvPr/>
        </p:nvSpPr>
        <p:spPr>
          <a:xfrm>
            <a:off x="7525512" y="4133087"/>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Oraan's balance sheet</a:t>
            </a:r>
          </a:p>
        </p:txBody>
      </p:sp>
      <p:sp>
        <p:nvSpPr>
          <p:cNvPr id="70" name="Oval 69"/>
          <p:cNvSpPr/>
          <p:nvPr/>
        </p:nvSpPr>
        <p:spPr>
          <a:xfrm>
            <a:off x="951433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1" name="TextBox 70"/>
          <p:cNvSpPr txBox="1"/>
          <p:nvPr/>
        </p:nvSpPr>
        <p:spPr>
          <a:xfrm>
            <a:off x="9765792" y="4133087"/>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organiser's pocket</a:t>
            </a:r>
          </a:p>
        </p:txBody>
      </p:sp>
      <p:cxnSp>
        <p:nvCxnSpPr>
          <p:cNvPr id="72" name="Connector 71"/>
          <p:cNvCxnSpPr/>
          <p:nvPr/>
        </p:nvCxnSpPr>
        <p:spPr>
          <a:xfrm>
            <a:off x="566928" y="4608575"/>
            <a:ext cx="11055096" cy="0"/>
          </a:xfrm>
          <a:prstGeom prst="line">
            <a:avLst/>
          </a:prstGeom>
          <a:ln w="9525">
            <a:solidFill>
              <a:srgbClr val="D5DCD1"/>
            </a:solidFill>
          </a:ln>
        </p:spPr>
      </p:cxnSp>
      <p:sp>
        <p:nvSpPr>
          <p:cNvPr id="73" name="TextBox 72"/>
          <p:cNvSpPr txBox="1"/>
          <p:nvPr/>
        </p:nvSpPr>
        <p:spPr>
          <a:xfrm>
            <a:off x="566928" y="4608575"/>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Credit record</a:t>
            </a:r>
          </a:p>
        </p:txBody>
      </p:sp>
      <p:sp>
        <p:nvSpPr>
          <p:cNvPr id="74" name="Oval 73"/>
          <p:cNvSpPr/>
          <p:nvPr/>
        </p:nvSpPr>
        <p:spPr>
          <a:xfrm>
            <a:off x="270205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5" name="Oval 74"/>
          <p:cNvSpPr/>
          <p:nvPr/>
        </p:nvSpPr>
        <p:spPr>
          <a:xfrm>
            <a:off x="2702052" y="4759451"/>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6" name="TextBox 75"/>
          <p:cNvSpPr txBox="1"/>
          <p:nvPr/>
        </p:nvSpPr>
        <p:spPr>
          <a:xfrm>
            <a:off x="2953512" y="4608575"/>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every payment</a:t>
            </a:r>
          </a:p>
        </p:txBody>
      </p:sp>
      <p:sp>
        <p:nvSpPr>
          <p:cNvPr id="77" name="Oval 76"/>
          <p:cNvSpPr/>
          <p:nvPr/>
        </p:nvSpPr>
        <p:spPr>
          <a:xfrm>
            <a:off x="503377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8" name="TextBox 77"/>
          <p:cNvSpPr txBox="1"/>
          <p:nvPr/>
        </p:nvSpPr>
        <p:spPr>
          <a:xfrm>
            <a:off x="5285232" y="4608575"/>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a:t>
            </a:r>
          </a:p>
        </p:txBody>
      </p:sp>
      <p:sp>
        <p:nvSpPr>
          <p:cNvPr id="79" name="Oval 78"/>
          <p:cNvSpPr/>
          <p:nvPr/>
        </p:nvSpPr>
        <p:spPr>
          <a:xfrm>
            <a:off x="727405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0" name="Pie 79"/>
          <p:cNvSpPr/>
          <p:nvPr/>
        </p:nvSpPr>
        <p:spPr>
          <a:xfrm>
            <a:off x="7274052" y="4759451"/>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81" name="TextBox 80"/>
          <p:cNvSpPr txBox="1"/>
          <p:nvPr/>
        </p:nvSpPr>
        <p:spPr>
          <a:xfrm>
            <a:off x="7525512" y="4608575"/>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defaulters only</a:t>
            </a:r>
          </a:p>
        </p:txBody>
      </p:sp>
      <p:sp>
        <p:nvSpPr>
          <p:cNvPr id="82" name="Oval 81"/>
          <p:cNvSpPr/>
          <p:nvPr/>
        </p:nvSpPr>
        <p:spPr>
          <a:xfrm>
            <a:off x="951433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3" name="TextBox 82"/>
          <p:cNvSpPr txBox="1"/>
          <p:nvPr/>
        </p:nvSpPr>
        <p:spPr>
          <a:xfrm>
            <a:off x="9765792" y="4608575"/>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a:t>
            </a:r>
          </a:p>
        </p:txBody>
      </p:sp>
      <p:cxnSp>
        <p:nvCxnSpPr>
          <p:cNvPr id="84" name="Connector 83"/>
          <p:cNvCxnSpPr/>
          <p:nvPr/>
        </p:nvCxnSpPr>
        <p:spPr>
          <a:xfrm>
            <a:off x="566928" y="5084063"/>
            <a:ext cx="11055096" cy="0"/>
          </a:xfrm>
          <a:prstGeom prst="line">
            <a:avLst/>
          </a:prstGeom>
          <a:ln w="9525">
            <a:solidFill>
              <a:srgbClr val="D5DCD1"/>
            </a:solidFill>
          </a:ln>
        </p:spPr>
      </p:cxnSp>
      <p:sp>
        <p:nvSpPr>
          <p:cNvPr id="85" name="TextBox 84"/>
          <p:cNvSpPr txBox="1"/>
          <p:nvPr/>
        </p:nvSpPr>
        <p:spPr>
          <a:xfrm>
            <a:off x="566928" y="5084063"/>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A way out</a:t>
            </a:r>
          </a:p>
        </p:txBody>
      </p:sp>
      <p:sp>
        <p:nvSpPr>
          <p:cNvPr id="86" name="Oval 85"/>
          <p:cNvSpPr/>
          <p:nvPr/>
        </p:nvSpPr>
        <p:spPr>
          <a:xfrm>
            <a:off x="270205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7" name="Oval 86"/>
          <p:cNvSpPr/>
          <p:nvPr/>
        </p:nvSpPr>
        <p:spPr>
          <a:xfrm>
            <a:off x="2702052" y="5234939"/>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8" name="TextBox 87"/>
          <p:cNvSpPr txBox="1"/>
          <p:nvPr/>
        </p:nvSpPr>
        <p:spPr>
          <a:xfrm>
            <a:off x="2953512" y="5084063"/>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five set routes</a:t>
            </a:r>
          </a:p>
        </p:txBody>
      </p:sp>
      <p:sp>
        <p:nvSpPr>
          <p:cNvPr id="89" name="Oval 88"/>
          <p:cNvSpPr/>
          <p:nvPr/>
        </p:nvSpPr>
        <p:spPr>
          <a:xfrm>
            <a:off x="503377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0" name="TextBox 89"/>
          <p:cNvSpPr txBox="1"/>
          <p:nvPr/>
        </p:nvSpPr>
        <p:spPr>
          <a:xfrm>
            <a:off x="5285232" y="5084063"/>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 until the end</a:t>
            </a:r>
          </a:p>
        </p:txBody>
      </p:sp>
      <p:sp>
        <p:nvSpPr>
          <p:cNvPr id="91" name="Oval 90"/>
          <p:cNvSpPr/>
          <p:nvPr/>
        </p:nvSpPr>
        <p:spPr>
          <a:xfrm>
            <a:off x="727405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2" name="Pie 91"/>
          <p:cNvSpPr/>
          <p:nvPr/>
        </p:nvSpPr>
        <p:spPr>
          <a:xfrm>
            <a:off x="7274052" y="5234939"/>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93" name="TextBox 92"/>
          <p:cNvSpPr txBox="1"/>
          <p:nvPr/>
        </p:nvSpPr>
        <p:spPr>
          <a:xfrm>
            <a:off x="7525512" y="5084063"/>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before payout</a:t>
            </a:r>
          </a:p>
        </p:txBody>
      </p:sp>
      <p:sp>
        <p:nvSpPr>
          <p:cNvPr id="94" name="Oval 93"/>
          <p:cNvSpPr/>
          <p:nvPr/>
        </p:nvSpPr>
        <p:spPr>
          <a:xfrm>
            <a:off x="951433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5" name="Pie 94"/>
          <p:cNvSpPr/>
          <p:nvPr/>
        </p:nvSpPr>
        <p:spPr>
          <a:xfrm>
            <a:off x="9514332" y="5234939"/>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96" name="TextBox 95"/>
          <p:cNvSpPr txBox="1"/>
          <p:nvPr/>
        </p:nvSpPr>
        <p:spPr>
          <a:xfrm>
            <a:off x="9765792" y="5084063"/>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organiser's discretion</a:t>
            </a:r>
          </a:p>
        </p:txBody>
      </p:sp>
      <p:cxnSp>
        <p:nvCxnSpPr>
          <p:cNvPr id="97" name="Connector 96"/>
          <p:cNvCxnSpPr/>
          <p:nvPr/>
        </p:nvCxnSpPr>
        <p:spPr>
          <a:xfrm>
            <a:off x="566928" y="5559551"/>
            <a:ext cx="11055096" cy="0"/>
          </a:xfrm>
          <a:prstGeom prst="line">
            <a:avLst/>
          </a:prstGeom>
          <a:ln w="9525">
            <a:solidFill>
              <a:srgbClr val="D5DCD1"/>
            </a:solidFill>
          </a:ln>
        </p:spPr>
      </p:cxnSp>
      <p:sp>
        <p:nvSpPr>
          <p:cNvPr id="98" name="Oval 97"/>
          <p:cNvSpPr/>
          <p:nvPr/>
        </p:nvSpPr>
        <p:spPr>
          <a:xfrm>
            <a:off x="576072"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99" name="Oval 98"/>
          <p:cNvSpPr/>
          <p:nvPr/>
        </p:nvSpPr>
        <p:spPr>
          <a:xfrm>
            <a:off x="576072" y="5833872"/>
            <a:ext cx="164592" cy="164592"/>
          </a:xfrm>
          <a:prstGeom prst="ellipse">
            <a:avLst/>
          </a:prstGeom>
          <a:solidFill>
            <a:srgbClr val="41801A"/>
          </a:solidFill>
          <a:ln w="15875">
            <a:solidFill>
              <a:srgbClr val="41801A"/>
            </a:solidFill>
          </a:ln>
        </p:spPr>
        <p:txBody>
          <a:bodyPr rtlCol="0" anchor="ctr" lIns="0" rIns="0"/>
          <a:lstStyle/>
          <a:p>
            <a:pPr algn="ctr"/>
          </a:p>
        </p:txBody>
      </p:sp>
      <p:sp>
        <p:nvSpPr>
          <p:cNvPr id="100" name="TextBox 99"/>
          <p:cNvSpPr txBox="1"/>
          <p:nvPr/>
        </p:nvSpPr>
        <p:spPr>
          <a:xfrm>
            <a:off x="82296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yes</a:t>
            </a:r>
          </a:p>
        </p:txBody>
      </p:sp>
      <p:sp>
        <p:nvSpPr>
          <p:cNvPr id="101" name="Oval 100"/>
          <p:cNvSpPr/>
          <p:nvPr/>
        </p:nvSpPr>
        <p:spPr>
          <a:xfrm>
            <a:off x="1673351"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2" name="Pie 101"/>
          <p:cNvSpPr/>
          <p:nvPr/>
        </p:nvSpPr>
        <p:spPr>
          <a:xfrm>
            <a:off x="1673351" y="5833872"/>
            <a:ext cx="164592" cy="164592"/>
          </a:xfrm>
          <a:prstGeom prst="pie">
            <a:avLst>
              <a:gd name="adj1" fmla="val 16200000"/>
              <a:gd name="adj2" fmla="val 5400000"/>
            </a:avLst>
          </a:prstGeom>
          <a:solidFill>
            <a:srgbClr val="41801A"/>
          </a:solidFill>
          <a:ln>
            <a:noFill/>
          </a:ln>
        </p:spPr>
        <p:txBody>
          <a:bodyPr rtlCol="0" anchor="ctr" lIns="0" rIns="0"/>
          <a:lstStyle/>
          <a:p>
            <a:pPr algn="ctr"/>
          </a:p>
        </p:txBody>
      </p:sp>
      <p:sp>
        <p:nvSpPr>
          <p:cNvPr id="103" name="TextBox 102"/>
          <p:cNvSpPr txBox="1"/>
          <p:nvPr/>
        </p:nvSpPr>
        <p:spPr>
          <a:xfrm>
            <a:off x="192024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partly</a:t>
            </a:r>
          </a:p>
        </p:txBody>
      </p:sp>
      <p:sp>
        <p:nvSpPr>
          <p:cNvPr id="104" name="Oval 103"/>
          <p:cNvSpPr/>
          <p:nvPr/>
        </p:nvSpPr>
        <p:spPr>
          <a:xfrm>
            <a:off x="2770632"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5" name="TextBox 104"/>
          <p:cNvSpPr txBox="1"/>
          <p:nvPr/>
        </p:nvSpPr>
        <p:spPr>
          <a:xfrm>
            <a:off x="301752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no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Evidence from Other Markets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Digital committees scaled first in Saudi Arabia and Egypt, each with a regulator or a bank.</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Launch Base Africa, October 2025; The National, December 2023; CNBC, 11 December 2025; CB Insights; Halqa review of 25 earlier attempts, August 2026</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18</a:t>
            </a:r>
          </a:p>
        </p:txBody>
      </p:sp>
      <p:sp>
        <p:nvSpPr>
          <p:cNvPr id="7" name="TextBox 6"/>
          <p:cNvSpPr txBox="1"/>
          <p:nvPr/>
        </p:nvSpPr>
        <p:spPr>
          <a:xfrm>
            <a:off x="239572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2016</a:t>
            </a:r>
          </a:p>
        </p:txBody>
      </p:sp>
      <p:cxnSp>
        <p:nvCxnSpPr>
          <p:cNvPr id="8" name="Connector 7"/>
          <p:cNvCxnSpPr/>
          <p:nvPr/>
        </p:nvCxnSpPr>
        <p:spPr>
          <a:xfrm>
            <a:off x="2670048" y="2057400"/>
            <a:ext cx="0" cy="3337560"/>
          </a:xfrm>
          <a:prstGeom prst="line">
            <a:avLst/>
          </a:prstGeom>
          <a:ln w="6350">
            <a:solidFill>
              <a:srgbClr val="D5DCD1"/>
            </a:solidFill>
          </a:ln>
        </p:spPr>
      </p:cxnSp>
      <p:sp>
        <p:nvSpPr>
          <p:cNvPr id="9" name="TextBox 8"/>
          <p:cNvSpPr txBox="1"/>
          <p:nvPr/>
        </p:nvSpPr>
        <p:spPr>
          <a:xfrm>
            <a:off x="3072384"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2017</a:t>
            </a:r>
          </a:p>
        </p:txBody>
      </p:sp>
      <p:cxnSp>
        <p:nvCxnSpPr>
          <p:cNvPr id="10" name="Connector 9"/>
          <p:cNvCxnSpPr/>
          <p:nvPr/>
        </p:nvCxnSpPr>
        <p:spPr>
          <a:xfrm>
            <a:off x="3346704" y="2057400"/>
            <a:ext cx="0" cy="3337560"/>
          </a:xfrm>
          <a:prstGeom prst="line">
            <a:avLst/>
          </a:prstGeom>
          <a:ln w="6350">
            <a:solidFill>
              <a:srgbClr val="D5DCD1"/>
            </a:solidFill>
          </a:ln>
        </p:spPr>
      </p:cxnSp>
      <p:sp>
        <p:nvSpPr>
          <p:cNvPr id="11" name="TextBox 10"/>
          <p:cNvSpPr txBox="1"/>
          <p:nvPr/>
        </p:nvSpPr>
        <p:spPr>
          <a:xfrm>
            <a:off x="3749040"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2018</a:t>
            </a:r>
          </a:p>
        </p:txBody>
      </p:sp>
      <p:cxnSp>
        <p:nvCxnSpPr>
          <p:cNvPr id="12" name="Connector 11"/>
          <p:cNvCxnSpPr/>
          <p:nvPr/>
        </p:nvCxnSpPr>
        <p:spPr>
          <a:xfrm>
            <a:off x="4023360" y="2057400"/>
            <a:ext cx="0" cy="3337560"/>
          </a:xfrm>
          <a:prstGeom prst="line">
            <a:avLst/>
          </a:prstGeom>
          <a:ln w="6350">
            <a:solidFill>
              <a:srgbClr val="D5DCD1"/>
            </a:solidFill>
          </a:ln>
        </p:spPr>
      </p:cxnSp>
      <p:sp>
        <p:nvSpPr>
          <p:cNvPr id="13" name="TextBox 12"/>
          <p:cNvSpPr txBox="1"/>
          <p:nvPr/>
        </p:nvSpPr>
        <p:spPr>
          <a:xfrm>
            <a:off x="4425696"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2019</a:t>
            </a:r>
          </a:p>
        </p:txBody>
      </p:sp>
      <p:cxnSp>
        <p:nvCxnSpPr>
          <p:cNvPr id="14" name="Connector 13"/>
          <p:cNvCxnSpPr/>
          <p:nvPr/>
        </p:nvCxnSpPr>
        <p:spPr>
          <a:xfrm>
            <a:off x="4700016" y="2057400"/>
            <a:ext cx="0" cy="3337560"/>
          </a:xfrm>
          <a:prstGeom prst="line">
            <a:avLst/>
          </a:prstGeom>
          <a:ln w="6350">
            <a:solidFill>
              <a:srgbClr val="D5DCD1"/>
            </a:solidFill>
          </a:ln>
        </p:spPr>
      </p:cxnSp>
      <p:sp>
        <p:nvSpPr>
          <p:cNvPr id="15" name="TextBox 14"/>
          <p:cNvSpPr txBox="1"/>
          <p:nvPr/>
        </p:nvSpPr>
        <p:spPr>
          <a:xfrm>
            <a:off x="5102352"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2020</a:t>
            </a:r>
          </a:p>
        </p:txBody>
      </p:sp>
      <p:cxnSp>
        <p:nvCxnSpPr>
          <p:cNvPr id="16" name="Connector 15"/>
          <p:cNvCxnSpPr/>
          <p:nvPr/>
        </p:nvCxnSpPr>
        <p:spPr>
          <a:xfrm>
            <a:off x="5376672" y="2057400"/>
            <a:ext cx="0" cy="3337560"/>
          </a:xfrm>
          <a:prstGeom prst="line">
            <a:avLst/>
          </a:prstGeom>
          <a:ln w="6350">
            <a:solidFill>
              <a:srgbClr val="D5DCD1"/>
            </a:solidFill>
          </a:ln>
        </p:spPr>
      </p:cxnSp>
      <p:sp>
        <p:nvSpPr>
          <p:cNvPr id="17" name="TextBox 16"/>
          <p:cNvSpPr txBox="1"/>
          <p:nvPr/>
        </p:nvSpPr>
        <p:spPr>
          <a:xfrm>
            <a:off x="577900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2021</a:t>
            </a:r>
          </a:p>
        </p:txBody>
      </p:sp>
      <p:cxnSp>
        <p:nvCxnSpPr>
          <p:cNvPr id="18" name="Connector 17"/>
          <p:cNvCxnSpPr/>
          <p:nvPr/>
        </p:nvCxnSpPr>
        <p:spPr>
          <a:xfrm>
            <a:off x="6053328" y="2057400"/>
            <a:ext cx="0" cy="3337560"/>
          </a:xfrm>
          <a:prstGeom prst="line">
            <a:avLst/>
          </a:prstGeom>
          <a:ln w="6350">
            <a:solidFill>
              <a:srgbClr val="D5DCD1"/>
            </a:solidFill>
          </a:ln>
        </p:spPr>
      </p:cxnSp>
      <p:sp>
        <p:nvSpPr>
          <p:cNvPr id="19" name="TextBox 18"/>
          <p:cNvSpPr txBox="1"/>
          <p:nvPr/>
        </p:nvSpPr>
        <p:spPr>
          <a:xfrm>
            <a:off x="6455664"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2022</a:t>
            </a:r>
          </a:p>
        </p:txBody>
      </p:sp>
      <p:cxnSp>
        <p:nvCxnSpPr>
          <p:cNvPr id="20" name="Connector 19"/>
          <p:cNvCxnSpPr/>
          <p:nvPr/>
        </p:nvCxnSpPr>
        <p:spPr>
          <a:xfrm>
            <a:off x="6729983" y="2057400"/>
            <a:ext cx="0" cy="3337560"/>
          </a:xfrm>
          <a:prstGeom prst="line">
            <a:avLst/>
          </a:prstGeom>
          <a:ln w="6350">
            <a:solidFill>
              <a:srgbClr val="D5DCD1"/>
            </a:solidFill>
          </a:ln>
        </p:spPr>
      </p:cxnSp>
      <p:sp>
        <p:nvSpPr>
          <p:cNvPr id="21" name="TextBox 20"/>
          <p:cNvSpPr txBox="1"/>
          <p:nvPr/>
        </p:nvSpPr>
        <p:spPr>
          <a:xfrm>
            <a:off x="7132320"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2023</a:t>
            </a:r>
          </a:p>
        </p:txBody>
      </p:sp>
      <p:cxnSp>
        <p:nvCxnSpPr>
          <p:cNvPr id="22" name="Connector 21"/>
          <p:cNvCxnSpPr/>
          <p:nvPr/>
        </p:nvCxnSpPr>
        <p:spPr>
          <a:xfrm>
            <a:off x="7406640" y="2057400"/>
            <a:ext cx="0" cy="3337560"/>
          </a:xfrm>
          <a:prstGeom prst="line">
            <a:avLst/>
          </a:prstGeom>
          <a:ln w="6350">
            <a:solidFill>
              <a:srgbClr val="D5DCD1"/>
            </a:solidFill>
          </a:ln>
        </p:spPr>
      </p:cxnSp>
      <p:sp>
        <p:nvSpPr>
          <p:cNvPr id="23" name="TextBox 22"/>
          <p:cNvSpPr txBox="1"/>
          <p:nvPr/>
        </p:nvSpPr>
        <p:spPr>
          <a:xfrm>
            <a:off x="7808975"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2024</a:t>
            </a:r>
          </a:p>
        </p:txBody>
      </p:sp>
      <p:cxnSp>
        <p:nvCxnSpPr>
          <p:cNvPr id="24" name="Connector 23"/>
          <p:cNvCxnSpPr/>
          <p:nvPr/>
        </p:nvCxnSpPr>
        <p:spPr>
          <a:xfrm>
            <a:off x="8083296" y="2057400"/>
            <a:ext cx="0" cy="3337560"/>
          </a:xfrm>
          <a:prstGeom prst="line">
            <a:avLst/>
          </a:prstGeom>
          <a:ln w="6350">
            <a:solidFill>
              <a:srgbClr val="D5DCD1"/>
            </a:solidFill>
          </a:ln>
        </p:spPr>
      </p:cxnSp>
      <p:sp>
        <p:nvSpPr>
          <p:cNvPr id="25" name="TextBox 24"/>
          <p:cNvSpPr txBox="1"/>
          <p:nvPr/>
        </p:nvSpPr>
        <p:spPr>
          <a:xfrm>
            <a:off x="8485632"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2025</a:t>
            </a:r>
          </a:p>
        </p:txBody>
      </p:sp>
      <p:cxnSp>
        <p:nvCxnSpPr>
          <p:cNvPr id="26" name="Connector 25"/>
          <p:cNvCxnSpPr/>
          <p:nvPr/>
        </p:nvCxnSpPr>
        <p:spPr>
          <a:xfrm>
            <a:off x="8759952" y="2057400"/>
            <a:ext cx="0" cy="3337560"/>
          </a:xfrm>
          <a:prstGeom prst="line">
            <a:avLst/>
          </a:prstGeom>
          <a:ln w="6350">
            <a:solidFill>
              <a:srgbClr val="D5DCD1"/>
            </a:solidFill>
          </a:ln>
        </p:spPr>
      </p:cxnSp>
      <p:sp>
        <p:nvSpPr>
          <p:cNvPr id="27" name="TextBox 26"/>
          <p:cNvSpPr txBox="1"/>
          <p:nvPr/>
        </p:nvSpPr>
        <p:spPr>
          <a:xfrm>
            <a:off x="916228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2026</a:t>
            </a:r>
          </a:p>
        </p:txBody>
      </p:sp>
      <p:cxnSp>
        <p:nvCxnSpPr>
          <p:cNvPr id="28" name="Connector 27"/>
          <p:cNvCxnSpPr/>
          <p:nvPr/>
        </p:nvCxnSpPr>
        <p:spPr>
          <a:xfrm>
            <a:off x="9436608" y="2057400"/>
            <a:ext cx="0" cy="3337560"/>
          </a:xfrm>
          <a:prstGeom prst="line">
            <a:avLst/>
          </a:prstGeom>
          <a:ln w="6350">
            <a:solidFill>
              <a:srgbClr val="D5DCD1"/>
            </a:solidFill>
          </a:ln>
        </p:spPr>
      </p:cxnSp>
      <p:sp>
        <p:nvSpPr>
          <p:cNvPr id="29" name="TextBox 28"/>
          <p:cNvSpPr txBox="1"/>
          <p:nvPr/>
        </p:nvSpPr>
        <p:spPr>
          <a:xfrm>
            <a:off x="566928" y="214884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Hakbah</a:t>
            </a:r>
          </a:p>
        </p:txBody>
      </p:sp>
      <p:sp>
        <p:nvSpPr>
          <p:cNvPr id="30" name="TextBox 29"/>
          <p:cNvSpPr txBox="1"/>
          <p:nvPr/>
        </p:nvSpPr>
        <p:spPr>
          <a:xfrm>
            <a:off x="566928" y="240487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Saudi Arabia</a:t>
            </a:r>
          </a:p>
        </p:txBody>
      </p:sp>
      <p:cxnSp>
        <p:nvCxnSpPr>
          <p:cNvPr id="31" name="Connector 30"/>
          <p:cNvCxnSpPr/>
          <p:nvPr/>
        </p:nvCxnSpPr>
        <p:spPr>
          <a:xfrm>
            <a:off x="4023360" y="2331720"/>
            <a:ext cx="5413248" cy="0"/>
          </a:xfrm>
          <a:prstGeom prst="line">
            <a:avLst/>
          </a:prstGeom>
          <a:ln w="28575">
            <a:solidFill>
              <a:srgbClr val="41801A"/>
            </a:solidFill>
          </a:ln>
        </p:spPr>
      </p:cxnSp>
      <p:sp>
        <p:nvSpPr>
          <p:cNvPr id="32" name="Oval 31"/>
          <p:cNvSpPr/>
          <p:nvPr/>
        </p:nvSpPr>
        <p:spPr>
          <a:xfrm>
            <a:off x="3959352" y="226771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33" name="Oval 32"/>
          <p:cNvSpPr/>
          <p:nvPr/>
        </p:nvSpPr>
        <p:spPr>
          <a:xfrm>
            <a:off x="5298948" y="225399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34" name="TextBox 33"/>
          <p:cNvSpPr txBox="1"/>
          <p:nvPr/>
        </p:nvSpPr>
        <p:spPr>
          <a:xfrm>
            <a:off x="4553712" y="243230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central bank approval</a:t>
            </a:r>
          </a:p>
        </p:txBody>
      </p:sp>
      <p:sp>
        <p:nvSpPr>
          <p:cNvPr id="35" name="Oval 34"/>
          <p:cNvSpPr/>
          <p:nvPr/>
        </p:nvSpPr>
        <p:spPr>
          <a:xfrm>
            <a:off x="7328915" y="225399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36" name="TextBox 35"/>
          <p:cNvSpPr txBox="1"/>
          <p:nvPr/>
        </p:nvSpPr>
        <p:spPr>
          <a:xfrm>
            <a:off x="6583679" y="243230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Series A</a:t>
            </a:r>
          </a:p>
        </p:txBody>
      </p:sp>
      <p:sp>
        <p:nvSpPr>
          <p:cNvPr id="37" name="TextBox 36"/>
          <p:cNvSpPr txBox="1"/>
          <p:nvPr/>
        </p:nvSpPr>
        <p:spPr>
          <a:xfrm>
            <a:off x="9546336" y="219456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500,000+ users</a:t>
            </a:r>
          </a:p>
        </p:txBody>
      </p:sp>
      <p:sp>
        <p:nvSpPr>
          <p:cNvPr id="38" name="TextBox 37"/>
          <p:cNvSpPr txBox="1"/>
          <p:nvPr/>
        </p:nvSpPr>
        <p:spPr>
          <a:xfrm>
            <a:off x="566928" y="297180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Money Fellows</a:t>
            </a:r>
          </a:p>
        </p:txBody>
      </p:sp>
      <p:sp>
        <p:nvSpPr>
          <p:cNvPr id="39" name="TextBox 38"/>
          <p:cNvSpPr txBox="1"/>
          <p:nvPr/>
        </p:nvSpPr>
        <p:spPr>
          <a:xfrm>
            <a:off x="566928" y="322783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Egypt</a:t>
            </a:r>
          </a:p>
        </p:txBody>
      </p:sp>
      <p:cxnSp>
        <p:nvCxnSpPr>
          <p:cNvPr id="40" name="Connector 39"/>
          <p:cNvCxnSpPr/>
          <p:nvPr/>
        </p:nvCxnSpPr>
        <p:spPr>
          <a:xfrm>
            <a:off x="2670048" y="3154680"/>
            <a:ext cx="6766560" cy="0"/>
          </a:xfrm>
          <a:prstGeom prst="line">
            <a:avLst/>
          </a:prstGeom>
          <a:ln w="28575">
            <a:solidFill>
              <a:srgbClr val="41801A"/>
            </a:solidFill>
          </a:ln>
        </p:spPr>
      </p:cxnSp>
      <p:sp>
        <p:nvSpPr>
          <p:cNvPr id="41" name="Oval 40"/>
          <p:cNvSpPr/>
          <p:nvPr/>
        </p:nvSpPr>
        <p:spPr>
          <a:xfrm>
            <a:off x="2606040" y="309067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42" name="Oval 41"/>
          <p:cNvSpPr/>
          <p:nvPr/>
        </p:nvSpPr>
        <p:spPr>
          <a:xfrm>
            <a:off x="8682228" y="307695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43" name="TextBox 42"/>
          <p:cNvSpPr txBox="1"/>
          <p:nvPr/>
        </p:nvSpPr>
        <p:spPr>
          <a:xfrm>
            <a:off x="7936992" y="325526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profitable</a:t>
            </a:r>
          </a:p>
        </p:txBody>
      </p:sp>
      <p:sp>
        <p:nvSpPr>
          <p:cNvPr id="44" name="TextBox 43"/>
          <p:cNvSpPr txBox="1"/>
          <p:nvPr/>
        </p:nvSpPr>
        <p:spPr>
          <a:xfrm>
            <a:off x="9546336" y="301752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8.5 million users</a:t>
            </a:r>
          </a:p>
        </p:txBody>
      </p:sp>
      <p:sp>
        <p:nvSpPr>
          <p:cNvPr id="45" name="TextBox 44"/>
          <p:cNvSpPr txBox="1"/>
          <p:nvPr/>
        </p:nvSpPr>
        <p:spPr>
          <a:xfrm>
            <a:off x="566928" y="379476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Esusu</a:t>
            </a:r>
          </a:p>
        </p:txBody>
      </p:sp>
      <p:sp>
        <p:nvSpPr>
          <p:cNvPr id="46" name="TextBox 45"/>
          <p:cNvSpPr txBox="1"/>
          <p:nvPr/>
        </p:nvSpPr>
        <p:spPr>
          <a:xfrm>
            <a:off x="566928" y="405079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United States</a:t>
            </a:r>
          </a:p>
        </p:txBody>
      </p:sp>
      <p:cxnSp>
        <p:nvCxnSpPr>
          <p:cNvPr id="47" name="Connector 46"/>
          <p:cNvCxnSpPr/>
          <p:nvPr/>
        </p:nvCxnSpPr>
        <p:spPr>
          <a:xfrm>
            <a:off x="4023360" y="3977640"/>
            <a:ext cx="5413248" cy="0"/>
          </a:xfrm>
          <a:prstGeom prst="line">
            <a:avLst/>
          </a:prstGeom>
          <a:ln w="28575">
            <a:solidFill>
              <a:srgbClr val="41801A"/>
            </a:solidFill>
          </a:ln>
        </p:spPr>
      </p:cxnSp>
      <p:sp>
        <p:nvSpPr>
          <p:cNvPr id="48" name="Oval 47"/>
          <p:cNvSpPr/>
          <p:nvPr/>
        </p:nvSpPr>
        <p:spPr>
          <a:xfrm>
            <a:off x="3959352" y="391363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49" name="Oval 48"/>
          <p:cNvSpPr/>
          <p:nvPr/>
        </p:nvSpPr>
        <p:spPr>
          <a:xfrm>
            <a:off x="6652259" y="389991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50" name="TextBox 49"/>
          <p:cNvSpPr txBox="1"/>
          <p:nvPr/>
        </p:nvSpPr>
        <p:spPr>
          <a:xfrm>
            <a:off x="5907023" y="407822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US$1 billion value</a:t>
            </a:r>
          </a:p>
        </p:txBody>
      </p:sp>
      <p:sp>
        <p:nvSpPr>
          <p:cNvPr id="51" name="TextBox 50"/>
          <p:cNvSpPr txBox="1"/>
          <p:nvPr/>
        </p:nvSpPr>
        <p:spPr>
          <a:xfrm>
            <a:off x="9546336" y="384048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US$1.2 billion value</a:t>
            </a:r>
          </a:p>
        </p:txBody>
      </p:sp>
      <p:sp>
        <p:nvSpPr>
          <p:cNvPr id="52" name="TextBox 51"/>
          <p:cNvSpPr txBox="1"/>
          <p:nvPr/>
        </p:nvSpPr>
        <p:spPr>
          <a:xfrm>
            <a:off x="566928" y="461772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The Money Club</a:t>
            </a:r>
          </a:p>
        </p:txBody>
      </p:sp>
      <p:sp>
        <p:nvSpPr>
          <p:cNvPr id="53" name="TextBox 52"/>
          <p:cNvSpPr txBox="1"/>
          <p:nvPr/>
        </p:nvSpPr>
        <p:spPr>
          <a:xfrm>
            <a:off x="566928" y="487375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India</a:t>
            </a:r>
          </a:p>
        </p:txBody>
      </p:sp>
      <p:cxnSp>
        <p:nvCxnSpPr>
          <p:cNvPr id="54" name="Connector 53"/>
          <p:cNvCxnSpPr/>
          <p:nvPr/>
        </p:nvCxnSpPr>
        <p:spPr>
          <a:xfrm>
            <a:off x="2670048" y="4800600"/>
            <a:ext cx="6766560" cy="0"/>
          </a:xfrm>
          <a:prstGeom prst="line">
            <a:avLst/>
          </a:prstGeom>
          <a:ln w="28575">
            <a:solidFill>
              <a:srgbClr val="41801A"/>
            </a:solidFill>
          </a:ln>
        </p:spPr>
      </p:cxnSp>
      <p:sp>
        <p:nvSpPr>
          <p:cNvPr id="55" name="Oval 54"/>
          <p:cNvSpPr/>
          <p:nvPr/>
        </p:nvSpPr>
        <p:spPr>
          <a:xfrm>
            <a:off x="2606040" y="473659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56" name="TextBox 55"/>
          <p:cNvSpPr txBox="1"/>
          <p:nvPr/>
        </p:nvSpPr>
        <p:spPr>
          <a:xfrm>
            <a:off x="9546336" y="466344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about 200,000 users</a:t>
            </a:r>
          </a:p>
        </p:txBody>
      </p:sp>
      <p:cxnSp>
        <p:nvCxnSpPr>
          <p:cNvPr id="57" name="Connector 56"/>
          <p:cNvCxnSpPr/>
          <p:nvPr/>
        </p:nvCxnSpPr>
        <p:spPr>
          <a:xfrm>
            <a:off x="566928" y="5349240"/>
            <a:ext cx="11057839" cy="0"/>
          </a:xfrm>
          <a:prstGeom prst="line">
            <a:avLst/>
          </a:prstGeom>
          <a:ln w="9525">
            <a:solidFill>
              <a:srgbClr val="D5DCD1"/>
            </a:solidFill>
          </a:ln>
        </p:spPr>
      </p:cxnSp>
      <p:sp>
        <p:nvSpPr>
          <p:cNvPr id="58" name="TextBox 57"/>
          <p:cNvSpPr txBox="1"/>
          <p:nvPr/>
        </p:nvSpPr>
        <p:spPr>
          <a:xfrm>
            <a:off x="566928" y="5440680"/>
            <a:ext cx="11057839" cy="64008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The failures</a:t>
            </a:r>
            <a:r>
              <a:rPr sz="1300" b="0" i="0">
                <a:solidFill>
                  <a:srgbClr val="0C1408"/>
                </a:solidFill>
                <a:latin typeface="Arial"/>
              </a:rPr>
              <a:t> held members' money without a licence, or guaranteed payouts they could not carry.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Why Now</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Payments in Pakistan went digital. Committee savings did not.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State Bank of Pakistan payment systems reviews, FY2025 and Q3 FY2026   2  JazzCash release notes, August 2026   3  National Financial Inclusion Strategy 2024 to 2028   4  Constitution of Pakistan, Article 38(f), 26th Amendment</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19</a:t>
            </a:r>
          </a:p>
        </p:txBody>
      </p:sp>
      <p:sp>
        <p:nvSpPr>
          <p:cNvPr id="7" name="TextBox 6"/>
          <p:cNvSpPr txBox="1"/>
          <p:nvPr/>
        </p:nvSpPr>
        <p:spPr>
          <a:xfrm>
            <a:off x="566928" y="1783080"/>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Share of retail payments made digitally, %</a:t>
            </a:r>
          </a:p>
        </p:txBody>
      </p:sp>
      <p:sp>
        <p:nvSpPr>
          <p:cNvPr id="8" name="Rectangle 7"/>
          <p:cNvSpPr/>
          <p:nvPr/>
        </p:nvSpPr>
        <p:spPr>
          <a:xfrm>
            <a:off x="818387" y="2980944"/>
            <a:ext cx="731520" cy="2139696"/>
          </a:xfrm>
          <a:prstGeom prst="rect">
            <a:avLst/>
          </a:prstGeom>
          <a:solidFill>
            <a:srgbClr val="A9DE7F"/>
          </a:solidFill>
          <a:ln>
            <a:noFill/>
          </a:ln>
        </p:spPr>
        <p:txBody>
          <a:bodyPr rtlCol="0" anchor="ctr" lIns="0" rIns="0"/>
          <a:lstStyle/>
          <a:p>
            <a:pPr algn="ctr"/>
          </a:p>
        </p:txBody>
      </p:sp>
      <p:sp>
        <p:nvSpPr>
          <p:cNvPr id="9" name="TextBox 8"/>
          <p:cNvSpPr txBox="1"/>
          <p:nvPr/>
        </p:nvSpPr>
        <p:spPr>
          <a:xfrm>
            <a:off x="566927" y="2688336"/>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78%</a:t>
            </a:r>
          </a:p>
        </p:txBody>
      </p:sp>
      <p:sp>
        <p:nvSpPr>
          <p:cNvPr id="10" name="TextBox 9"/>
          <p:cNvSpPr txBox="1"/>
          <p:nvPr/>
        </p:nvSpPr>
        <p:spPr>
          <a:xfrm>
            <a:off x="566927"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FY2023</a:t>
            </a:r>
          </a:p>
        </p:txBody>
      </p:sp>
      <p:sp>
        <p:nvSpPr>
          <p:cNvPr id="11" name="Rectangle 10"/>
          <p:cNvSpPr/>
          <p:nvPr/>
        </p:nvSpPr>
        <p:spPr>
          <a:xfrm>
            <a:off x="2052828" y="2788920"/>
            <a:ext cx="731520" cy="2331720"/>
          </a:xfrm>
          <a:prstGeom prst="rect">
            <a:avLst/>
          </a:prstGeom>
          <a:solidFill>
            <a:srgbClr val="6DC72A"/>
          </a:solidFill>
          <a:ln>
            <a:noFill/>
          </a:ln>
        </p:spPr>
        <p:txBody>
          <a:bodyPr rtlCol="0" anchor="ctr" lIns="0" rIns="0"/>
          <a:lstStyle/>
          <a:p>
            <a:pPr algn="ctr"/>
          </a:p>
        </p:txBody>
      </p:sp>
      <p:sp>
        <p:nvSpPr>
          <p:cNvPr id="12" name="TextBox 11"/>
          <p:cNvSpPr txBox="1"/>
          <p:nvPr/>
        </p:nvSpPr>
        <p:spPr>
          <a:xfrm>
            <a:off x="1801368" y="2496312"/>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85%</a:t>
            </a:r>
          </a:p>
        </p:txBody>
      </p:sp>
      <p:sp>
        <p:nvSpPr>
          <p:cNvPr id="13" name="TextBox 12"/>
          <p:cNvSpPr txBox="1"/>
          <p:nvPr/>
        </p:nvSpPr>
        <p:spPr>
          <a:xfrm>
            <a:off x="180136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FY2024</a:t>
            </a:r>
          </a:p>
        </p:txBody>
      </p:sp>
      <p:sp>
        <p:nvSpPr>
          <p:cNvPr id="14" name="Rectangle 13"/>
          <p:cNvSpPr/>
          <p:nvPr/>
        </p:nvSpPr>
        <p:spPr>
          <a:xfrm>
            <a:off x="3287268" y="2706623"/>
            <a:ext cx="731520" cy="2414016"/>
          </a:xfrm>
          <a:prstGeom prst="rect">
            <a:avLst/>
          </a:prstGeom>
          <a:solidFill>
            <a:srgbClr val="6DC72A"/>
          </a:solidFill>
          <a:ln>
            <a:noFill/>
          </a:ln>
        </p:spPr>
        <p:txBody>
          <a:bodyPr rtlCol="0" anchor="ctr" lIns="0" rIns="0"/>
          <a:lstStyle/>
          <a:p>
            <a:pPr algn="ctr"/>
          </a:p>
        </p:txBody>
      </p:sp>
      <p:sp>
        <p:nvSpPr>
          <p:cNvPr id="15" name="TextBox 14"/>
          <p:cNvSpPr txBox="1"/>
          <p:nvPr/>
        </p:nvSpPr>
        <p:spPr>
          <a:xfrm>
            <a:off x="3035808" y="2414015"/>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88%</a:t>
            </a:r>
          </a:p>
        </p:txBody>
      </p:sp>
      <p:sp>
        <p:nvSpPr>
          <p:cNvPr id="16" name="TextBox 15"/>
          <p:cNvSpPr txBox="1"/>
          <p:nvPr/>
        </p:nvSpPr>
        <p:spPr>
          <a:xfrm>
            <a:off x="303580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FY2025</a:t>
            </a:r>
          </a:p>
        </p:txBody>
      </p:sp>
      <p:sp>
        <p:nvSpPr>
          <p:cNvPr id="17" name="Rectangle 16"/>
          <p:cNvSpPr/>
          <p:nvPr/>
        </p:nvSpPr>
        <p:spPr>
          <a:xfrm>
            <a:off x="4521708" y="2596896"/>
            <a:ext cx="731520" cy="2523744"/>
          </a:xfrm>
          <a:prstGeom prst="rect">
            <a:avLst/>
          </a:prstGeom>
          <a:solidFill>
            <a:srgbClr val="41801A"/>
          </a:solidFill>
          <a:ln>
            <a:noFill/>
          </a:ln>
        </p:spPr>
        <p:txBody>
          <a:bodyPr rtlCol="0" anchor="ctr" lIns="0" rIns="0"/>
          <a:lstStyle/>
          <a:p>
            <a:pPr algn="ctr"/>
          </a:p>
        </p:txBody>
      </p:sp>
      <p:sp>
        <p:nvSpPr>
          <p:cNvPr id="18" name="TextBox 17"/>
          <p:cNvSpPr txBox="1"/>
          <p:nvPr/>
        </p:nvSpPr>
        <p:spPr>
          <a:xfrm>
            <a:off x="4270248" y="2304288"/>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92%</a:t>
            </a:r>
          </a:p>
        </p:txBody>
      </p:sp>
      <p:sp>
        <p:nvSpPr>
          <p:cNvPr id="19" name="TextBox 18"/>
          <p:cNvSpPr txBox="1"/>
          <p:nvPr/>
        </p:nvSpPr>
        <p:spPr>
          <a:xfrm>
            <a:off x="427024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Jan to Mar</a:t>
            </a:r>
          </a:p>
          <a:p>
            <a:pPr algn="ctr">
              <a:lnSpc>
                <a:spcPct val="110000"/>
              </a:lnSpc>
            </a:pPr>
            <a:r>
              <a:rPr sz="1200" b="0" i="0">
                <a:solidFill>
                  <a:srgbClr val="0C1408"/>
                </a:solidFill>
                <a:latin typeface="Arial"/>
              </a:rPr>
              <a:t>2026</a:t>
            </a:r>
          </a:p>
        </p:txBody>
      </p:sp>
      <p:cxnSp>
        <p:nvCxnSpPr>
          <p:cNvPr id="20" name="Connector 19"/>
          <p:cNvCxnSpPr/>
          <p:nvPr/>
        </p:nvCxnSpPr>
        <p:spPr>
          <a:xfrm>
            <a:off x="566928" y="5120640"/>
            <a:ext cx="4937760" cy="0"/>
          </a:xfrm>
          <a:prstGeom prst="line">
            <a:avLst/>
          </a:prstGeom>
          <a:ln w="9525">
            <a:solidFill>
              <a:srgbClr val="0C1408"/>
            </a:solidFill>
          </a:ln>
        </p:spPr>
      </p:cxnSp>
      <p:cxnSp>
        <p:nvCxnSpPr>
          <p:cNvPr id="21" name="Connector 20"/>
          <p:cNvCxnSpPr/>
          <p:nvPr/>
        </p:nvCxnSpPr>
        <p:spPr>
          <a:xfrm>
            <a:off x="6355080" y="1810512"/>
            <a:ext cx="5257800" cy="0"/>
          </a:xfrm>
          <a:prstGeom prst="line">
            <a:avLst/>
          </a:prstGeom>
          <a:ln w="9525">
            <a:solidFill>
              <a:srgbClr val="D5DCD1"/>
            </a:solidFill>
          </a:ln>
        </p:spPr>
      </p:cxnSp>
      <p:sp>
        <p:nvSpPr>
          <p:cNvPr id="22" name="TextBox 21"/>
          <p:cNvSpPr txBox="1"/>
          <p:nvPr/>
        </p:nvSpPr>
        <p:spPr>
          <a:xfrm>
            <a:off x="6355080" y="1920240"/>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69 million</a:t>
            </a:r>
          </a:p>
        </p:txBody>
      </p:sp>
      <p:sp>
        <p:nvSpPr>
          <p:cNvPr id="23" name="TextBox 22"/>
          <p:cNvSpPr txBox="1"/>
          <p:nvPr/>
        </p:nvSpPr>
        <p:spPr>
          <a:xfrm>
            <a:off x="8595360" y="1938528"/>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mobile wallet users at the end of 2024 [1]</a:t>
            </a:r>
          </a:p>
        </p:txBody>
      </p:sp>
      <p:cxnSp>
        <p:nvCxnSpPr>
          <p:cNvPr id="24" name="Connector 23"/>
          <p:cNvCxnSpPr/>
          <p:nvPr/>
        </p:nvCxnSpPr>
        <p:spPr>
          <a:xfrm>
            <a:off x="6355080" y="2706624"/>
            <a:ext cx="5257800" cy="0"/>
          </a:xfrm>
          <a:prstGeom prst="line">
            <a:avLst/>
          </a:prstGeom>
          <a:ln w="9525">
            <a:solidFill>
              <a:srgbClr val="D5DCD1"/>
            </a:solidFill>
          </a:ln>
        </p:spPr>
      </p:cxnSp>
      <p:sp>
        <p:nvSpPr>
          <p:cNvPr id="25" name="TextBox 24"/>
          <p:cNvSpPr txBox="1"/>
          <p:nvPr/>
        </p:nvSpPr>
        <p:spPr>
          <a:xfrm>
            <a:off x="6355080" y="2816352"/>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Aug 2026</a:t>
            </a:r>
          </a:p>
        </p:txBody>
      </p:sp>
      <p:sp>
        <p:nvSpPr>
          <p:cNvPr id="26" name="TextBox 25"/>
          <p:cNvSpPr txBox="1"/>
          <p:nvPr/>
        </p:nvSpPr>
        <p:spPr>
          <a:xfrm>
            <a:off x="8595360" y="2834640"/>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JazzCash launched a committee feature; the pot sits in the organiser's wallet [2]</a:t>
            </a:r>
          </a:p>
        </p:txBody>
      </p:sp>
      <p:cxnSp>
        <p:nvCxnSpPr>
          <p:cNvPr id="27" name="Connector 26"/>
          <p:cNvCxnSpPr/>
          <p:nvPr/>
        </p:nvCxnSpPr>
        <p:spPr>
          <a:xfrm>
            <a:off x="6355080" y="3602736"/>
            <a:ext cx="5257800" cy="0"/>
          </a:xfrm>
          <a:prstGeom prst="line">
            <a:avLst/>
          </a:prstGeom>
          <a:ln w="9525">
            <a:solidFill>
              <a:srgbClr val="D5DCD1"/>
            </a:solidFill>
          </a:ln>
        </p:spPr>
      </p:cxnSp>
      <p:sp>
        <p:nvSpPr>
          <p:cNvPr id="28" name="TextBox 27"/>
          <p:cNvSpPr txBox="1"/>
          <p:nvPr/>
        </p:nvSpPr>
        <p:spPr>
          <a:xfrm>
            <a:off x="6355080" y="3712463"/>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75% by 2028</a:t>
            </a:r>
          </a:p>
        </p:txBody>
      </p:sp>
      <p:sp>
        <p:nvSpPr>
          <p:cNvPr id="29" name="TextBox 28"/>
          <p:cNvSpPr txBox="1"/>
          <p:nvPr/>
        </p:nvSpPr>
        <p:spPr>
          <a:xfrm>
            <a:off x="8595360" y="3730752"/>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national target for adults with a financial account, up from 64% in 2023 [3]</a:t>
            </a:r>
          </a:p>
        </p:txBody>
      </p:sp>
      <p:cxnSp>
        <p:nvCxnSpPr>
          <p:cNvPr id="30" name="Connector 29"/>
          <p:cNvCxnSpPr/>
          <p:nvPr/>
        </p:nvCxnSpPr>
        <p:spPr>
          <a:xfrm>
            <a:off x="6355080" y="4498848"/>
            <a:ext cx="5257800" cy="0"/>
          </a:xfrm>
          <a:prstGeom prst="line">
            <a:avLst/>
          </a:prstGeom>
          <a:ln w="9525">
            <a:solidFill>
              <a:srgbClr val="D5DCD1"/>
            </a:solidFill>
          </a:ln>
        </p:spPr>
      </p:cxnSp>
      <p:sp>
        <p:nvSpPr>
          <p:cNvPr id="31" name="TextBox 30"/>
          <p:cNvSpPr txBox="1"/>
          <p:nvPr/>
        </p:nvSpPr>
        <p:spPr>
          <a:xfrm>
            <a:off x="6355080" y="4608576"/>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1 Jan 2028</a:t>
            </a:r>
          </a:p>
        </p:txBody>
      </p:sp>
      <p:sp>
        <p:nvSpPr>
          <p:cNvPr id="32" name="TextBox 31"/>
          <p:cNvSpPr txBox="1"/>
          <p:nvPr/>
        </p:nvSpPr>
        <p:spPr>
          <a:xfrm>
            <a:off x="8595360" y="4626864"/>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the constitutional deadline to end riba in Pakistan [4]</a:t>
            </a:r>
          </a:p>
        </p:txBody>
      </p:sp>
      <p:cxnSp>
        <p:nvCxnSpPr>
          <p:cNvPr id="33" name="Connector 32"/>
          <p:cNvCxnSpPr/>
          <p:nvPr/>
        </p:nvCxnSpPr>
        <p:spPr>
          <a:xfrm>
            <a:off x="6355080" y="5394960"/>
            <a:ext cx="5257800" cy="0"/>
          </a:xfrm>
          <a:prstGeom prst="line">
            <a:avLst/>
          </a:prstGeom>
          <a:ln w="9525">
            <a:solidFill>
              <a:srgbClr val="D5DCD1"/>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Regulation and Readiness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application is built. State Bank regulation comes through Raqami's licence.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State Bank of Pakistan, Framework for Risk Management in Outsourcing Arrangements by Financial Institutions, 2017, revised 2019.</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20</a:t>
            </a:r>
          </a:p>
        </p:txBody>
      </p:sp>
      <p:sp>
        <p:nvSpPr>
          <p:cNvPr id="7" name="Rectangle 6"/>
          <p:cNvSpPr/>
          <p:nvPr/>
        </p:nvSpPr>
        <p:spPr>
          <a:xfrm>
            <a:off x="566928" y="1783080"/>
            <a:ext cx="5394960" cy="3246120"/>
          </a:xfrm>
          <a:prstGeom prst="rect">
            <a:avLst/>
          </a:prstGeom>
          <a:noFill/>
          <a:ln w="15875">
            <a:solidFill>
              <a:srgbClr val="0C1408"/>
            </a:solidFill>
          </a:ln>
        </p:spPr>
        <p:txBody>
          <a:bodyPr rtlCol="0" anchor="ctr" lIns="0" rIns="0"/>
          <a:lstStyle/>
          <a:p>
            <a:pPr algn="ctr"/>
          </a:p>
        </p:txBody>
      </p:sp>
      <p:sp>
        <p:nvSpPr>
          <p:cNvPr id="8" name="TextBox 7"/>
          <p:cNvSpPr txBox="1"/>
          <p:nvPr/>
        </p:nvSpPr>
        <p:spPr>
          <a:xfrm>
            <a:off x="704088" y="1874519"/>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State Bank of Pakistan</a:t>
            </a:r>
          </a:p>
        </p:txBody>
      </p:sp>
      <p:sp>
        <p:nvSpPr>
          <p:cNvPr id="9" name="Rectangle 8"/>
          <p:cNvSpPr/>
          <p:nvPr/>
        </p:nvSpPr>
        <p:spPr>
          <a:xfrm>
            <a:off x="841247" y="2313432"/>
            <a:ext cx="4846320" cy="2331720"/>
          </a:xfrm>
          <a:prstGeom prst="rect">
            <a:avLst/>
          </a:prstGeom>
          <a:noFill/>
          <a:ln w="15875">
            <a:solidFill>
              <a:srgbClr val="3B4148"/>
            </a:solidFill>
          </a:ln>
        </p:spPr>
        <p:txBody>
          <a:bodyPr rtlCol="0" anchor="ctr" lIns="0" rIns="0"/>
          <a:lstStyle/>
          <a:p>
            <a:pPr algn="ctr"/>
          </a:p>
        </p:txBody>
      </p:sp>
      <p:sp>
        <p:nvSpPr>
          <p:cNvPr id="10" name="TextBox 9"/>
          <p:cNvSpPr txBox="1"/>
          <p:nvPr/>
        </p:nvSpPr>
        <p:spPr>
          <a:xfrm>
            <a:off x="978407" y="2404872"/>
            <a:ext cx="4572000" cy="274320"/>
          </a:xfrm>
          <a:prstGeom prst="rect">
            <a:avLst/>
          </a:prstGeom>
          <a:noFill/>
        </p:spPr>
        <p:txBody>
          <a:bodyPr wrap="square" lIns="0" rIns="0" tIns="0" bIns="0" anchor="t">
            <a:noAutofit/>
          </a:bodyPr>
          <a:lstStyle/>
          <a:p>
            <a:pPr algn="l">
              <a:lnSpc>
                <a:spcPct val="110000"/>
              </a:lnSpc>
            </a:pPr>
            <a:r>
              <a:rPr sz="1300" b="1" i="0">
                <a:solidFill>
                  <a:srgbClr val="3B4148"/>
                </a:solidFill>
                <a:latin typeface="Arial"/>
              </a:rPr>
              <a:t>Raqami Islamic Digital Bank</a:t>
            </a:r>
          </a:p>
        </p:txBody>
      </p:sp>
      <p:sp>
        <p:nvSpPr>
          <p:cNvPr id="11" name="Rectangle 10"/>
          <p:cNvSpPr/>
          <p:nvPr/>
        </p:nvSpPr>
        <p:spPr>
          <a:xfrm>
            <a:off x="1115568" y="2843784"/>
            <a:ext cx="4297680" cy="1417319"/>
          </a:xfrm>
          <a:prstGeom prst="rect">
            <a:avLst/>
          </a:prstGeom>
          <a:solidFill>
            <a:srgbClr val="F3FCE7"/>
          </a:solidFill>
          <a:ln w="15875">
            <a:solidFill>
              <a:srgbClr val="41801A"/>
            </a:solidFill>
          </a:ln>
        </p:spPr>
        <p:txBody>
          <a:bodyPr rtlCol="0" anchor="ctr" lIns="0" rIns="0"/>
          <a:lstStyle/>
          <a:p>
            <a:pPr algn="ctr"/>
          </a:p>
        </p:txBody>
      </p:sp>
      <p:sp>
        <p:nvSpPr>
          <p:cNvPr id="12" name="TextBox 11"/>
          <p:cNvSpPr txBox="1"/>
          <p:nvPr/>
        </p:nvSpPr>
        <p:spPr>
          <a:xfrm>
            <a:off x="1252728" y="2935224"/>
            <a:ext cx="4023360" cy="274320"/>
          </a:xfrm>
          <a:prstGeom prst="rect">
            <a:avLst/>
          </a:prstGeom>
          <a:noFill/>
        </p:spPr>
        <p:txBody>
          <a:bodyPr wrap="square" lIns="0" rIns="0" tIns="0" bIns="0" anchor="t">
            <a:noAutofit/>
          </a:bodyPr>
          <a:lstStyle/>
          <a:p>
            <a:pPr algn="l">
              <a:lnSpc>
                <a:spcPct val="110000"/>
              </a:lnSpc>
            </a:pPr>
            <a:r>
              <a:rPr sz="1300" b="1" i="0">
                <a:solidFill>
                  <a:srgbClr val="41801A"/>
                </a:solidFill>
                <a:latin typeface="Arial"/>
              </a:rPr>
              <a:t>Halqa, the bank's service provider</a:t>
            </a:r>
          </a:p>
        </p:txBody>
      </p:sp>
      <p:sp>
        <p:nvSpPr>
          <p:cNvPr id="13" name="TextBox 12"/>
          <p:cNvSpPr txBox="1"/>
          <p:nvPr/>
        </p:nvSpPr>
        <p:spPr>
          <a:xfrm>
            <a:off x="1252728" y="3227832"/>
            <a:ext cx="4023360" cy="960119"/>
          </a:xfrm>
          <a:prstGeom prst="rect">
            <a:avLst/>
          </a:prstGeom>
          <a:noFill/>
        </p:spPr>
        <p:txBody>
          <a:bodyPr wrap="square" lIns="0" rIns="0" tIns="0" bIns="0" anchor="t">
            <a:noAutofit/>
          </a:bodyPr>
          <a:lstStyle/>
          <a:p>
            <a:pPr algn="l">
              <a:lnSpc>
                <a:spcPct val="110000"/>
              </a:lnSpc>
            </a:pPr>
            <a:r>
              <a:rPr sz="1200" b="0" i="0">
                <a:solidFill>
                  <a:srgbClr val="0C1408"/>
                </a:solidFill>
                <a:latin typeface="Arial"/>
              </a:rPr>
              <a:t>Rules, checks, application and records, under the State Bank's outsourcing framework.</a:t>
            </a:r>
          </a:p>
        </p:txBody>
      </p:sp>
      <p:sp>
        <p:nvSpPr>
          <p:cNvPr id="14" name="TextBox 13"/>
          <p:cNvSpPr txBox="1"/>
          <p:nvPr/>
        </p:nvSpPr>
        <p:spPr>
          <a:xfrm>
            <a:off x="566928" y="5230368"/>
            <a:ext cx="5394960" cy="7315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Halqa takes no licence of its own and never holds member money.</a:t>
            </a:r>
          </a:p>
        </p:txBody>
      </p:sp>
      <p:cxnSp>
        <p:nvCxnSpPr>
          <p:cNvPr id="15" name="Connector 14"/>
          <p:cNvCxnSpPr/>
          <p:nvPr/>
        </p:nvCxnSpPr>
        <p:spPr>
          <a:xfrm>
            <a:off x="6400800" y="1810512"/>
            <a:ext cx="5212080" cy="0"/>
          </a:xfrm>
          <a:prstGeom prst="line">
            <a:avLst/>
          </a:prstGeom>
          <a:ln w="9525">
            <a:solidFill>
              <a:srgbClr val="D5DCD1"/>
            </a:solidFill>
          </a:ln>
        </p:spPr>
      </p:cxnSp>
      <p:sp>
        <p:nvSpPr>
          <p:cNvPr id="16" name="TextBox 15"/>
          <p:cNvSpPr txBox="1"/>
          <p:nvPr/>
        </p:nvSpPr>
        <p:spPr>
          <a:xfrm>
            <a:off x="6400800" y="1901952"/>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Built</a:t>
            </a:r>
          </a:p>
        </p:txBody>
      </p:sp>
      <p:sp>
        <p:nvSpPr>
          <p:cNvPr id="17" name="TextBox 16"/>
          <p:cNvSpPr txBox="1"/>
          <p:nvPr/>
        </p:nvSpPr>
        <p:spPr>
          <a:xfrm>
            <a:off x="7680960" y="1920240"/>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Application and decision engines live since 20 July 2026; closed to the public; payments in a test environment.</a:t>
            </a:r>
          </a:p>
        </p:txBody>
      </p:sp>
      <p:cxnSp>
        <p:nvCxnSpPr>
          <p:cNvPr id="18" name="Connector 17"/>
          <p:cNvCxnSpPr/>
          <p:nvPr/>
        </p:nvCxnSpPr>
        <p:spPr>
          <a:xfrm>
            <a:off x="6400800" y="2798064"/>
            <a:ext cx="5212080" cy="0"/>
          </a:xfrm>
          <a:prstGeom prst="line">
            <a:avLst/>
          </a:prstGeom>
          <a:ln w="9525">
            <a:solidFill>
              <a:srgbClr val="D5DCD1"/>
            </a:solidFill>
          </a:ln>
        </p:spPr>
      </p:cxnSp>
      <p:sp>
        <p:nvSpPr>
          <p:cNvPr id="19" name="TextBox 18"/>
          <p:cNvSpPr txBox="1"/>
          <p:nvPr/>
        </p:nvSpPr>
        <p:spPr>
          <a:xfrm>
            <a:off x="6400800" y="2889504"/>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Connection</a:t>
            </a:r>
          </a:p>
        </p:txBody>
      </p:sp>
      <p:sp>
        <p:nvSpPr>
          <p:cNvPr id="20" name="TextBox 19"/>
          <p:cNvSpPr txBox="1"/>
          <p:nvPr/>
        </p:nvSpPr>
        <p:spPr>
          <a:xfrm>
            <a:off x="7680960" y="2907792"/>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Seven messages through Raqami's open platform, from account opening to the daily statement.</a:t>
            </a:r>
          </a:p>
        </p:txBody>
      </p:sp>
      <p:cxnSp>
        <p:nvCxnSpPr>
          <p:cNvPr id="21" name="Connector 20"/>
          <p:cNvCxnSpPr/>
          <p:nvPr/>
        </p:nvCxnSpPr>
        <p:spPr>
          <a:xfrm>
            <a:off x="6400800" y="3785616"/>
            <a:ext cx="5212080" cy="0"/>
          </a:xfrm>
          <a:prstGeom prst="line">
            <a:avLst/>
          </a:prstGeom>
          <a:ln w="9525">
            <a:solidFill>
              <a:srgbClr val="D5DCD1"/>
            </a:solidFill>
          </a:ln>
        </p:spPr>
      </p:cxnSp>
      <p:sp>
        <p:nvSpPr>
          <p:cNvPr id="22" name="TextBox 21"/>
          <p:cNvSpPr txBox="1"/>
          <p:nvPr/>
        </p:nvSpPr>
        <p:spPr>
          <a:xfrm>
            <a:off x="6400800" y="3877056"/>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Shariah</a:t>
            </a:r>
          </a:p>
        </p:txBody>
      </p:sp>
      <p:sp>
        <p:nvSpPr>
          <p:cNvPr id="23" name="TextBox 22"/>
          <p:cNvSpPr txBox="1"/>
          <p:nvPr/>
        </p:nvSpPr>
        <p:spPr>
          <a:xfrm>
            <a:off x="7680960" y="3895344"/>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Each part set out for Raqami's Shariah Board before launch.</a:t>
            </a:r>
          </a:p>
        </p:txBody>
      </p:sp>
      <p:cxnSp>
        <p:nvCxnSpPr>
          <p:cNvPr id="24" name="Connector 23"/>
          <p:cNvCxnSpPr/>
          <p:nvPr/>
        </p:nvCxnSpPr>
        <p:spPr>
          <a:xfrm>
            <a:off x="6400800" y="4773168"/>
            <a:ext cx="5212080" cy="0"/>
          </a:xfrm>
          <a:prstGeom prst="line">
            <a:avLst/>
          </a:prstGeom>
          <a:ln w="9525">
            <a:solidFill>
              <a:srgbClr val="D5DCD1"/>
            </a:solidFill>
          </a:ln>
        </p:spPr>
      </p:cxnSp>
      <p:sp>
        <p:nvSpPr>
          <p:cNvPr id="25" name="TextBox 24"/>
          <p:cNvSpPr txBox="1"/>
          <p:nvPr/>
        </p:nvSpPr>
        <p:spPr>
          <a:xfrm>
            <a:off x="6400800" y="4864608"/>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To do</a:t>
            </a:r>
          </a:p>
        </p:txBody>
      </p:sp>
      <p:sp>
        <p:nvSpPr>
          <p:cNvPr id="26" name="TextBox 25"/>
          <p:cNvSpPr txBox="1"/>
          <p:nvPr/>
        </p:nvSpPr>
        <p:spPr>
          <a:xfrm>
            <a:off x="7680960" y="4882896"/>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Incorporation, the agreement and the Raqami connection.</a:t>
            </a:r>
          </a:p>
        </p:txBody>
      </p:sp>
      <p:cxnSp>
        <p:nvCxnSpPr>
          <p:cNvPr id="27" name="Connector 26"/>
          <p:cNvCxnSpPr/>
          <p:nvPr/>
        </p:nvCxnSpPr>
        <p:spPr>
          <a:xfrm>
            <a:off x="6400800" y="5760720"/>
            <a:ext cx="5212080" cy="0"/>
          </a:xfrm>
          <a:prstGeom prst="line">
            <a:avLst/>
          </a:prstGeom>
          <a:ln w="9525">
            <a:solidFill>
              <a:srgbClr val="D5DCD1"/>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Pilot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One live month with about 1,000 members, after eight weeks of agreement, approvals and connection.</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21</a:t>
            </a:r>
          </a:p>
        </p:txBody>
      </p:sp>
      <p:sp>
        <p:nvSpPr>
          <p:cNvPr id="6" name="TextBox 5"/>
          <p:cNvSpPr txBox="1"/>
          <p:nvPr/>
        </p:nvSpPr>
        <p:spPr>
          <a:xfrm>
            <a:off x="566928" y="1783080"/>
            <a:ext cx="1920239" cy="274320"/>
          </a:xfrm>
          <a:prstGeom prst="rect">
            <a:avLst/>
          </a:prstGeom>
          <a:noFill/>
        </p:spPr>
        <p:txBody>
          <a:bodyPr wrap="square" lIns="0" rIns="0" tIns="0" bIns="0" anchor="t">
            <a:noAutofit/>
          </a:bodyPr>
          <a:lstStyle/>
          <a:p>
            <a:pPr algn="r">
              <a:lnSpc>
                <a:spcPct val="110000"/>
              </a:lnSpc>
            </a:pPr>
            <a:r>
              <a:rPr sz="1100" b="0" i="0">
                <a:solidFill>
                  <a:srgbClr val="5B6456"/>
                </a:solidFill>
                <a:latin typeface="Arial"/>
              </a:rPr>
              <a:t>Week</a:t>
            </a:r>
          </a:p>
        </p:txBody>
      </p:sp>
      <p:sp>
        <p:nvSpPr>
          <p:cNvPr id="7" name="TextBox 6"/>
          <p:cNvSpPr txBox="1"/>
          <p:nvPr/>
        </p:nvSpPr>
        <p:spPr>
          <a:xfrm>
            <a:off x="2670048"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a:t>
            </a:r>
          </a:p>
        </p:txBody>
      </p:sp>
      <p:cxnSp>
        <p:nvCxnSpPr>
          <p:cNvPr id="8" name="Connector 7"/>
          <p:cNvCxnSpPr/>
          <p:nvPr/>
        </p:nvCxnSpPr>
        <p:spPr>
          <a:xfrm>
            <a:off x="2670048" y="2093976"/>
            <a:ext cx="0" cy="2578608"/>
          </a:xfrm>
          <a:prstGeom prst="line">
            <a:avLst/>
          </a:prstGeom>
          <a:ln w="6350">
            <a:solidFill>
              <a:srgbClr val="D5DCD1"/>
            </a:solidFill>
          </a:ln>
        </p:spPr>
      </p:cxnSp>
      <p:sp>
        <p:nvSpPr>
          <p:cNvPr id="9" name="TextBox 8"/>
          <p:cNvSpPr txBox="1"/>
          <p:nvPr/>
        </p:nvSpPr>
        <p:spPr>
          <a:xfrm>
            <a:off x="3303596"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2</a:t>
            </a:r>
          </a:p>
        </p:txBody>
      </p:sp>
      <p:cxnSp>
        <p:nvCxnSpPr>
          <p:cNvPr id="10" name="Connector 9"/>
          <p:cNvCxnSpPr/>
          <p:nvPr/>
        </p:nvCxnSpPr>
        <p:spPr>
          <a:xfrm>
            <a:off x="3303596" y="2093976"/>
            <a:ext cx="0" cy="2578608"/>
          </a:xfrm>
          <a:prstGeom prst="line">
            <a:avLst/>
          </a:prstGeom>
          <a:ln w="6350">
            <a:solidFill>
              <a:srgbClr val="D5DCD1"/>
            </a:solidFill>
          </a:ln>
        </p:spPr>
      </p:cxnSp>
      <p:sp>
        <p:nvSpPr>
          <p:cNvPr id="11" name="TextBox 10"/>
          <p:cNvSpPr txBox="1"/>
          <p:nvPr/>
        </p:nvSpPr>
        <p:spPr>
          <a:xfrm>
            <a:off x="3937145"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3</a:t>
            </a:r>
          </a:p>
        </p:txBody>
      </p:sp>
      <p:cxnSp>
        <p:nvCxnSpPr>
          <p:cNvPr id="12" name="Connector 11"/>
          <p:cNvCxnSpPr/>
          <p:nvPr/>
        </p:nvCxnSpPr>
        <p:spPr>
          <a:xfrm>
            <a:off x="3937145" y="2093976"/>
            <a:ext cx="0" cy="2578608"/>
          </a:xfrm>
          <a:prstGeom prst="line">
            <a:avLst/>
          </a:prstGeom>
          <a:ln w="6350">
            <a:solidFill>
              <a:srgbClr val="D5DCD1"/>
            </a:solidFill>
          </a:ln>
        </p:spPr>
      </p:cxnSp>
      <p:sp>
        <p:nvSpPr>
          <p:cNvPr id="13" name="TextBox 12"/>
          <p:cNvSpPr txBox="1"/>
          <p:nvPr/>
        </p:nvSpPr>
        <p:spPr>
          <a:xfrm>
            <a:off x="4570693"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4</a:t>
            </a:r>
          </a:p>
        </p:txBody>
      </p:sp>
      <p:cxnSp>
        <p:nvCxnSpPr>
          <p:cNvPr id="14" name="Connector 13"/>
          <p:cNvCxnSpPr/>
          <p:nvPr/>
        </p:nvCxnSpPr>
        <p:spPr>
          <a:xfrm>
            <a:off x="4570693" y="2093976"/>
            <a:ext cx="0" cy="2578608"/>
          </a:xfrm>
          <a:prstGeom prst="line">
            <a:avLst/>
          </a:prstGeom>
          <a:ln w="6350">
            <a:solidFill>
              <a:srgbClr val="D5DCD1"/>
            </a:solidFill>
          </a:ln>
        </p:spPr>
      </p:cxnSp>
      <p:sp>
        <p:nvSpPr>
          <p:cNvPr id="15" name="TextBox 14"/>
          <p:cNvSpPr txBox="1"/>
          <p:nvPr/>
        </p:nvSpPr>
        <p:spPr>
          <a:xfrm>
            <a:off x="5204242"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5</a:t>
            </a:r>
          </a:p>
        </p:txBody>
      </p:sp>
      <p:cxnSp>
        <p:nvCxnSpPr>
          <p:cNvPr id="16" name="Connector 15"/>
          <p:cNvCxnSpPr/>
          <p:nvPr/>
        </p:nvCxnSpPr>
        <p:spPr>
          <a:xfrm>
            <a:off x="5204242" y="2093976"/>
            <a:ext cx="0" cy="2578608"/>
          </a:xfrm>
          <a:prstGeom prst="line">
            <a:avLst/>
          </a:prstGeom>
          <a:ln w="6350">
            <a:solidFill>
              <a:srgbClr val="D5DCD1"/>
            </a:solidFill>
          </a:ln>
        </p:spPr>
      </p:cxnSp>
      <p:sp>
        <p:nvSpPr>
          <p:cNvPr id="17" name="TextBox 16"/>
          <p:cNvSpPr txBox="1"/>
          <p:nvPr/>
        </p:nvSpPr>
        <p:spPr>
          <a:xfrm>
            <a:off x="5837790"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6</a:t>
            </a:r>
          </a:p>
        </p:txBody>
      </p:sp>
      <p:cxnSp>
        <p:nvCxnSpPr>
          <p:cNvPr id="18" name="Connector 17"/>
          <p:cNvCxnSpPr/>
          <p:nvPr/>
        </p:nvCxnSpPr>
        <p:spPr>
          <a:xfrm>
            <a:off x="5837790" y="2093976"/>
            <a:ext cx="0" cy="2578608"/>
          </a:xfrm>
          <a:prstGeom prst="line">
            <a:avLst/>
          </a:prstGeom>
          <a:ln w="6350">
            <a:solidFill>
              <a:srgbClr val="D5DCD1"/>
            </a:solidFill>
          </a:ln>
        </p:spPr>
      </p:cxnSp>
      <p:sp>
        <p:nvSpPr>
          <p:cNvPr id="19" name="TextBox 18"/>
          <p:cNvSpPr txBox="1"/>
          <p:nvPr/>
        </p:nvSpPr>
        <p:spPr>
          <a:xfrm>
            <a:off x="6471339"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7</a:t>
            </a:r>
          </a:p>
        </p:txBody>
      </p:sp>
      <p:cxnSp>
        <p:nvCxnSpPr>
          <p:cNvPr id="20" name="Connector 19"/>
          <p:cNvCxnSpPr/>
          <p:nvPr/>
        </p:nvCxnSpPr>
        <p:spPr>
          <a:xfrm>
            <a:off x="6471339" y="2093976"/>
            <a:ext cx="0" cy="2578608"/>
          </a:xfrm>
          <a:prstGeom prst="line">
            <a:avLst/>
          </a:prstGeom>
          <a:ln w="6350">
            <a:solidFill>
              <a:srgbClr val="D5DCD1"/>
            </a:solidFill>
          </a:ln>
        </p:spPr>
      </p:cxnSp>
      <p:sp>
        <p:nvSpPr>
          <p:cNvPr id="21" name="TextBox 20"/>
          <p:cNvSpPr txBox="1"/>
          <p:nvPr/>
        </p:nvSpPr>
        <p:spPr>
          <a:xfrm>
            <a:off x="7104888"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8</a:t>
            </a:r>
          </a:p>
        </p:txBody>
      </p:sp>
      <p:cxnSp>
        <p:nvCxnSpPr>
          <p:cNvPr id="22" name="Connector 21"/>
          <p:cNvCxnSpPr/>
          <p:nvPr/>
        </p:nvCxnSpPr>
        <p:spPr>
          <a:xfrm>
            <a:off x="7104888" y="2093976"/>
            <a:ext cx="0" cy="2578608"/>
          </a:xfrm>
          <a:prstGeom prst="line">
            <a:avLst/>
          </a:prstGeom>
          <a:ln w="6350">
            <a:solidFill>
              <a:srgbClr val="D5DCD1"/>
            </a:solidFill>
          </a:ln>
        </p:spPr>
      </p:cxnSp>
      <p:sp>
        <p:nvSpPr>
          <p:cNvPr id="23" name="TextBox 22"/>
          <p:cNvSpPr txBox="1"/>
          <p:nvPr/>
        </p:nvSpPr>
        <p:spPr>
          <a:xfrm>
            <a:off x="7738436"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9</a:t>
            </a:r>
          </a:p>
        </p:txBody>
      </p:sp>
      <p:cxnSp>
        <p:nvCxnSpPr>
          <p:cNvPr id="24" name="Connector 23"/>
          <p:cNvCxnSpPr/>
          <p:nvPr/>
        </p:nvCxnSpPr>
        <p:spPr>
          <a:xfrm>
            <a:off x="7738436" y="2093976"/>
            <a:ext cx="0" cy="2578608"/>
          </a:xfrm>
          <a:prstGeom prst="line">
            <a:avLst/>
          </a:prstGeom>
          <a:ln w="6350">
            <a:solidFill>
              <a:srgbClr val="D5DCD1"/>
            </a:solidFill>
          </a:ln>
        </p:spPr>
      </p:cxnSp>
      <p:sp>
        <p:nvSpPr>
          <p:cNvPr id="25" name="TextBox 24"/>
          <p:cNvSpPr txBox="1"/>
          <p:nvPr/>
        </p:nvSpPr>
        <p:spPr>
          <a:xfrm>
            <a:off x="8371985"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10</a:t>
            </a:r>
          </a:p>
        </p:txBody>
      </p:sp>
      <p:cxnSp>
        <p:nvCxnSpPr>
          <p:cNvPr id="26" name="Connector 25"/>
          <p:cNvCxnSpPr/>
          <p:nvPr/>
        </p:nvCxnSpPr>
        <p:spPr>
          <a:xfrm>
            <a:off x="8371985" y="2093976"/>
            <a:ext cx="0" cy="2578608"/>
          </a:xfrm>
          <a:prstGeom prst="line">
            <a:avLst/>
          </a:prstGeom>
          <a:ln w="6350">
            <a:solidFill>
              <a:srgbClr val="D5DCD1"/>
            </a:solidFill>
          </a:ln>
        </p:spPr>
      </p:cxnSp>
      <p:sp>
        <p:nvSpPr>
          <p:cNvPr id="27" name="TextBox 26"/>
          <p:cNvSpPr txBox="1"/>
          <p:nvPr/>
        </p:nvSpPr>
        <p:spPr>
          <a:xfrm>
            <a:off x="9005533"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11</a:t>
            </a:r>
          </a:p>
        </p:txBody>
      </p:sp>
      <p:cxnSp>
        <p:nvCxnSpPr>
          <p:cNvPr id="28" name="Connector 27"/>
          <p:cNvCxnSpPr/>
          <p:nvPr/>
        </p:nvCxnSpPr>
        <p:spPr>
          <a:xfrm>
            <a:off x="9005533" y="2093976"/>
            <a:ext cx="0" cy="2578608"/>
          </a:xfrm>
          <a:prstGeom prst="line">
            <a:avLst/>
          </a:prstGeom>
          <a:ln w="6350">
            <a:solidFill>
              <a:srgbClr val="D5DCD1"/>
            </a:solidFill>
          </a:ln>
        </p:spPr>
      </p:cxnSp>
      <p:sp>
        <p:nvSpPr>
          <p:cNvPr id="29" name="TextBox 28"/>
          <p:cNvSpPr txBox="1"/>
          <p:nvPr/>
        </p:nvSpPr>
        <p:spPr>
          <a:xfrm>
            <a:off x="9639082"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12</a:t>
            </a:r>
          </a:p>
        </p:txBody>
      </p:sp>
      <p:cxnSp>
        <p:nvCxnSpPr>
          <p:cNvPr id="30" name="Connector 29"/>
          <p:cNvCxnSpPr/>
          <p:nvPr/>
        </p:nvCxnSpPr>
        <p:spPr>
          <a:xfrm>
            <a:off x="9639082" y="2093976"/>
            <a:ext cx="0" cy="2578608"/>
          </a:xfrm>
          <a:prstGeom prst="line">
            <a:avLst/>
          </a:prstGeom>
          <a:ln w="6350">
            <a:solidFill>
              <a:srgbClr val="D5DCD1"/>
            </a:solidFill>
          </a:ln>
        </p:spPr>
      </p:cxnSp>
      <p:sp>
        <p:nvSpPr>
          <p:cNvPr id="31" name="TextBox 30"/>
          <p:cNvSpPr txBox="1"/>
          <p:nvPr/>
        </p:nvSpPr>
        <p:spPr>
          <a:xfrm>
            <a:off x="10272630"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13</a:t>
            </a:r>
          </a:p>
        </p:txBody>
      </p:sp>
      <p:cxnSp>
        <p:nvCxnSpPr>
          <p:cNvPr id="32" name="Connector 31"/>
          <p:cNvCxnSpPr/>
          <p:nvPr/>
        </p:nvCxnSpPr>
        <p:spPr>
          <a:xfrm>
            <a:off x="10272630" y="2093976"/>
            <a:ext cx="0" cy="2578608"/>
          </a:xfrm>
          <a:prstGeom prst="line">
            <a:avLst/>
          </a:prstGeom>
          <a:ln w="6350">
            <a:solidFill>
              <a:srgbClr val="D5DCD1"/>
            </a:solidFill>
          </a:ln>
        </p:spPr>
      </p:cxnSp>
      <p:sp>
        <p:nvSpPr>
          <p:cNvPr id="33" name="TextBox 32"/>
          <p:cNvSpPr txBox="1"/>
          <p:nvPr/>
        </p:nvSpPr>
        <p:spPr>
          <a:xfrm>
            <a:off x="10906179"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14</a:t>
            </a:r>
          </a:p>
        </p:txBody>
      </p:sp>
      <p:cxnSp>
        <p:nvCxnSpPr>
          <p:cNvPr id="34" name="Connector 33"/>
          <p:cNvCxnSpPr/>
          <p:nvPr/>
        </p:nvCxnSpPr>
        <p:spPr>
          <a:xfrm>
            <a:off x="10906179" y="2093976"/>
            <a:ext cx="0" cy="2578608"/>
          </a:xfrm>
          <a:prstGeom prst="line">
            <a:avLst/>
          </a:prstGeom>
          <a:ln w="6350">
            <a:solidFill>
              <a:srgbClr val="D5DCD1"/>
            </a:solidFill>
          </a:ln>
        </p:spPr>
      </p:cxnSp>
      <p:cxnSp>
        <p:nvCxnSpPr>
          <p:cNvPr id="35" name="Connector 34"/>
          <p:cNvCxnSpPr/>
          <p:nvPr/>
        </p:nvCxnSpPr>
        <p:spPr>
          <a:xfrm>
            <a:off x="11539728" y="2093976"/>
            <a:ext cx="0" cy="2578608"/>
          </a:xfrm>
          <a:prstGeom prst="line">
            <a:avLst/>
          </a:prstGeom>
          <a:ln w="6350">
            <a:solidFill>
              <a:srgbClr val="D5DCD1"/>
            </a:solidFill>
          </a:ln>
        </p:spPr>
      </p:cxnSp>
      <p:sp>
        <p:nvSpPr>
          <p:cNvPr id="36" name="TextBox 35"/>
          <p:cNvSpPr txBox="1"/>
          <p:nvPr/>
        </p:nvSpPr>
        <p:spPr>
          <a:xfrm>
            <a:off x="566928" y="2167128"/>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Agreement</a:t>
            </a:r>
          </a:p>
        </p:txBody>
      </p:sp>
      <p:sp>
        <p:nvSpPr>
          <p:cNvPr id="37" name="Rectangle 36"/>
          <p:cNvSpPr/>
          <p:nvPr/>
        </p:nvSpPr>
        <p:spPr>
          <a:xfrm>
            <a:off x="2697479" y="2258568"/>
            <a:ext cx="2479330" cy="237744"/>
          </a:xfrm>
          <a:prstGeom prst="rect">
            <a:avLst/>
          </a:prstGeom>
          <a:solidFill>
            <a:srgbClr val="41801A"/>
          </a:solidFill>
          <a:ln>
            <a:noFill/>
          </a:ln>
        </p:spPr>
        <p:txBody>
          <a:bodyPr rtlCol="0" anchor="ctr" lIns="0" rIns="0"/>
          <a:lstStyle/>
          <a:p>
            <a:pPr algn="ctr"/>
          </a:p>
        </p:txBody>
      </p:sp>
      <p:sp>
        <p:nvSpPr>
          <p:cNvPr id="38" name="TextBox 37"/>
          <p:cNvSpPr txBox="1"/>
          <p:nvPr/>
        </p:nvSpPr>
        <p:spPr>
          <a:xfrm>
            <a:off x="566928" y="2587752"/>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Approvals</a:t>
            </a:r>
          </a:p>
        </p:txBody>
      </p:sp>
      <p:sp>
        <p:nvSpPr>
          <p:cNvPr id="39" name="Rectangle 38"/>
          <p:cNvSpPr/>
          <p:nvPr/>
        </p:nvSpPr>
        <p:spPr>
          <a:xfrm>
            <a:off x="2697479" y="2679192"/>
            <a:ext cx="5013524" cy="237744"/>
          </a:xfrm>
          <a:prstGeom prst="rect">
            <a:avLst/>
          </a:prstGeom>
          <a:solidFill>
            <a:srgbClr val="41801A"/>
          </a:solidFill>
          <a:ln>
            <a:noFill/>
          </a:ln>
        </p:spPr>
        <p:txBody>
          <a:bodyPr rtlCol="0" anchor="ctr" lIns="0" rIns="0"/>
          <a:lstStyle/>
          <a:p>
            <a:pPr algn="ctr"/>
          </a:p>
        </p:txBody>
      </p:sp>
      <p:sp>
        <p:nvSpPr>
          <p:cNvPr id="40" name="TextBox 39"/>
          <p:cNvSpPr txBox="1"/>
          <p:nvPr/>
        </p:nvSpPr>
        <p:spPr>
          <a:xfrm>
            <a:off x="566928" y="3008376"/>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Connection and tests</a:t>
            </a:r>
          </a:p>
        </p:txBody>
      </p:sp>
      <p:sp>
        <p:nvSpPr>
          <p:cNvPr id="41" name="Rectangle 40"/>
          <p:cNvSpPr/>
          <p:nvPr/>
        </p:nvSpPr>
        <p:spPr>
          <a:xfrm>
            <a:off x="5231674" y="3099816"/>
            <a:ext cx="2479330" cy="237744"/>
          </a:xfrm>
          <a:prstGeom prst="rect">
            <a:avLst/>
          </a:prstGeom>
          <a:solidFill>
            <a:srgbClr val="6DC72A"/>
          </a:solidFill>
          <a:ln>
            <a:noFill/>
          </a:ln>
        </p:spPr>
        <p:txBody>
          <a:bodyPr rtlCol="0" anchor="ctr" lIns="0" rIns="0"/>
          <a:lstStyle/>
          <a:p>
            <a:pPr algn="ctr"/>
          </a:p>
        </p:txBody>
      </p:sp>
      <p:sp>
        <p:nvSpPr>
          <p:cNvPr id="42" name="TextBox 41"/>
          <p:cNvSpPr txBox="1"/>
          <p:nvPr/>
        </p:nvSpPr>
        <p:spPr>
          <a:xfrm>
            <a:off x="566928" y="3429000"/>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Live month</a:t>
            </a:r>
          </a:p>
        </p:txBody>
      </p:sp>
      <p:sp>
        <p:nvSpPr>
          <p:cNvPr id="43" name="Rectangle 42"/>
          <p:cNvSpPr/>
          <p:nvPr/>
        </p:nvSpPr>
        <p:spPr>
          <a:xfrm>
            <a:off x="7765868" y="3520440"/>
            <a:ext cx="2479330" cy="237744"/>
          </a:xfrm>
          <a:prstGeom prst="rect">
            <a:avLst/>
          </a:prstGeom>
          <a:solidFill>
            <a:srgbClr val="6DC72A"/>
          </a:solidFill>
          <a:ln>
            <a:noFill/>
          </a:ln>
        </p:spPr>
        <p:txBody>
          <a:bodyPr rtlCol="0" anchor="ctr" lIns="0" rIns="0"/>
          <a:lstStyle/>
          <a:p>
            <a:pPr algn="ctr"/>
          </a:p>
        </p:txBody>
      </p:sp>
      <p:sp>
        <p:nvSpPr>
          <p:cNvPr id="44" name="TextBox 43"/>
          <p:cNvSpPr txBox="1"/>
          <p:nvPr/>
        </p:nvSpPr>
        <p:spPr>
          <a:xfrm>
            <a:off x="566928" y="3849624"/>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Review</a:t>
            </a:r>
          </a:p>
        </p:txBody>
      </p:sp>
      <p:sp>
        <p:nvSpPr>
          <p:cNvPr id="45" name="Rectangle 44"/>
          <p:cNvSpPr/>
          <p:nvPr/>
        </p:nvSpPr>
        <p:spPr>
          <a:xfrm>
            <a:off x="10300062" y="3941063"/>
            <a:ext cx="578684" cy="237744"/>
          </a:xfrm>
          <a:prstGeom prst="rect">
            <a:avLst/>
          </a:prstGeom>
          <a:solidFill>
            <a:srgbClr val="A9DE7F"/>
          </a:solidFill>
          <a:ln>
            <a:noFill/>
          </a:ln>
        </p:spPr>
        <p:txBody>
          <a:bodyPr rtlCol="0" anchor="ctr" lIns="0" rIns="0"/>
          <a:lstStyle/>
          <a:p>
            <a:pPr algn="ctr"/>
          </a:p>
        </p:txBody>
      </p:sp>
      <p:sp>
        <p:nvSpPr>
          <p:cNvPr id="46" name="TextBox 45"/>
          <p:cNvSpPr txBox="1"/>
          <p:nvPr/>
        </p:nvSpPr>
        <p:spPr>
          <a:xfrm>
            <a:off x="566928" y="4270248"/>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Scale decision</a:t>
            </a:r>
          </a:p>
        </p:txBody>
      </p:sp>
      <p:sp>
        <p:nvSpPr>
          <p:cNvPr id="47" name="Rectangle 46"/>
          <p:cNvSpPr/>
          <p:nvPr/>
        </p:nvSpPr>
        <p:spPr>
          <a:xfrm>
            <a:off x="10933611" y="4361688"/>
            <a:ext cx="578684" cy="237744"/>
          </a:xfrm>
          <a:prstGeom prst="rect">
            <a:avLst/>
          </a:prstGeom>
          <a:solidFill>
            <a:srgbClr val="41801A"/>
          </a:solidFill>
          <a:ln>
            <a:noFill/>
          </a:ln>
        </p:spPr>
        <p:txBody>
          <a:bodyPr rtlCol="0" anchor="ctr" lIns="0" rIns="0"/>
          <a:lstStyle/>
          <a:p>
            <a:pPr algn="ctr"/>
          </a:p>
        </p:txBody>
      </p:sp>
      <p:cxnSp>
        <p:nvCxnSpPr>
          <p:cNvPr id="48" name="Connector 47"/>
          <p:cNvCxnSpPr/>
          <p:nvPr/>
        </p:nvCxnSpPr>
        <p:spPr>
          <a:xfrm>
            <a:off x="566928" y="4754880"/>
            <a:ext cx="11057839" cy="0"/>
          </a:xfrm>
          <a:prstGeom prst="line">
            <a:avLst/>
          </a:prstGeom>
          <a:ln w="9525">
            <a:solidFill>
              <a:srgbClr val="D5DCD1"/>
            </a:solidFill>
          </a:ln>
        </p:spPr>
      </p:cxnSp>
      <p:sp>
        <p:nvSpPr>
          <p:cNvPr id="49" name="TextBox 48"/>
          <p:cNvSpPr txBox="1"/>
          <p:nvPr/>
        </p:nvSpPr>
        <p:spPr>
          <a:xfrm>
            <a:off x="566928"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Scope</a:t>
            </a:r>
          </a:p>
        </p:txBody>
      </p:sp>
      <p:sp>
        <p:nvSpPr>
          <p:cNvPr id="50" name="TextBox 49"/>
          <p:cNvSpPr txBox="1"/>
          <p:nvPr/>
        </p:nvSpPr>
        <p:spPr>
          <a:xfrm>
            <a:off x="566928"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Up to 100 known circles, about 1,000 members, all with Raqami accounts.</a:t>
            </a:r>
          </a:p>
        </p:txBody>
      </p:sp>
      <p:sp>
        <p:nvSpPr>
          <p:cNvPr id="51" name="TextBox 50"/>
          <p:cNvSpPr txBox="1"/>
          <p:nvPr/>
        </p:nvSpPr>
        <p:spPr>
          <a:xfrm>
            <a:off x="4252874"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Measured</a:t>
            </a:r>
          </a:p>
        </p:txBody>
      </p:sp>
      <p:sp>
        <p:nvSpPr>
          <p:cNvPr id="52" name="TextBox 51"/>
          <p:cNvSpPr txBox="1"/>
          <p:nvPr/>
        </p:nvSpPr>
        <p:spPr>
          <a:xfrm>
            <a:off x="4252874"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Accounts, balances, on time debits, same day payouts, circles per host, complaints, cost per member.</a:t>
            </a:r>
          </a:p>
        </p:txBody>
      </p:sp>
      <p:sp>
        <p:nvSpPr>
          <p:cNvPr id="53" name="TextBox 52"/>
          <p:cNvSpPr txBox="1"/>
          <p:nvPr/>
        </p:nvSpPr>
        <p:spPr>
          <a:xfrm>
            <a:off x="7938820"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Then</a:t>
            </a:r>
          </a:p>
        </p:txBody>
      </p:sp>
      <p:sp>
        <p:nvSpPr>
          <p:cNvPr id="54" name="TextBox 53"/>
          <p:cNvSpPr txBox="1"/>
          <p:nvPr/>
        </p:nvSpPr>
        <p:spPr>
          <a:xfrm>
            <a:off x="7938820"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Circles of strangers, asset circles, then Hyper.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Requests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Seven decisions to start.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22</a:t>
            </a:r>
          </a:p>
        </p:txBody>
      </p:sp>
      <p:cxnSp>
        <p:nvCxnSpPr>
          <p:cNvPr id="6" name="Connector 5"/>
          <p:cNvCxnSpPr/>
          <p:nvPr/>
        </p:nvCxnSpPr>
        <p:spPr>
          <a:xfrm>
            <a:off x="566928" y="1828800"/>
            <a:ext cx="5254599" cy="0"/>
          </a:xfrm>
          <a:prstGeom prst="line">
            <a:avLst/>
          </a:prstGeom>
          <a:ln w="9525">
            <a:solidFill>
              <a:srgbClr val="D5DCD1"/>
            </a:solidFill>
          </a:ln>
        </p:spPr>
      </p:cxnSp>
      <p:sp>
        <p:nvSpPr>
          <p:cNvPr id="7" name="TextBox 6"/>
          <p:cNvSpPr txBox="1"/>
          <p:nvPr/>
        </p:nvSpPr>
        <p:spPr>
          <a:xfrm>
            <a:off x="566928" y="1956816"/>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1</a:t>
            </a:r>
          </a:p>
        </p:txBody>
      </p:sp>
      <p:sp>
        <p:nvSpPr>
          <p:cNvPr id="8" name="TextBox 7"/>
          <p:cNvSpPr txBox="1"/>
          <p:nvPr/>
        </p:nvSpPr>
        <p:spPr>
          <a:xfrm>
            <a:off x="1161288" y="1993392"/>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Approve the partnership, with Halqa as service provider under the outsourcing framework.</a:t>
            </a:r>
          </a:p>
        </p:txBody>
      </p:sp>
      <p:cxnSp>
        <p:nvCxnSpPr>
          <p:cNvPr id="9" name="Connector 8"/>
          <p:cNvCxnSpPr/>
          <p:nvPr/>
        </p:nvCxnSpPr>
        <p:spPr>
          <a:xfrm>
            <a:off x="566928" y="2816352"/>
            <a:ext cx="5254599" cy="0"/>
          </a:xfrm>
          <a:prstGeom prst="line">
            <a:avLst/>
          </a:prstGeom>
          <a:ln w="9525">
            <a:solidFill>
              <a:srgbClr val="D5DCD1"/>
            </a:solidFill>
          </a:ln>
        </p:spPr>
      </p:cxnSp>
      <p:sp>
        <p:nvSpPr>
          <p:cNvPr id="10" name="TextBox 9"/>
          <p:cNvSpPr txBox="1"/>
          <p:nvPr/>
        </p:nvSpPr>
        <p:spPr>
          <a:xfrm>
            <a:off x="566928" y="2944368"/>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2</a:t>
            </a:r>
          </a:p>
        </p:txBody>
      </p:sp>
      <p:sp>
        <p:nvSpPr>
          <p:cNvPr id="11" name="TextBox 10"/>
          <p:cNvSpPr txBox="1"/>
          <p:nvPr/>
        </p:nvSpPr>
        <p:spPr>
          <a:xfrm>
            <a:off x="1161288" y="2980944"/>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Take the committee structure to the Shariah Board for a ruling.</a:t>
            </a:r>
          </a:p>
        </p:txBody>
      </p:sp>
      <p:cxnSp>
        <p:nvCxnSpPr>
          <p:cNvPr id="12" name="Connector 11"/>
          <p:cNvCxnSpPr/>
          <p:nvPr/>
        </p:nvCxnSpPr>
        <p:spPr>
          <a:xfrm>
            <a:off x="566928" y="3803904"/>
            <a:ext cx="5254599" cy="0"/>
          </a:xfrm>
          <a:prstGeom prst="line">
            <a:avLst/>
          </a:prstGeom>
          <a:ln w="9525">
            <a:solidFill>
              <a:srgbClr val="D5DCD1"/>
            </a:solidFill>
          </a:ln>
        </p:spPr>
      </p:cxnSp>
      <p:sp>
        <p:nvSpPr>
          <p:cNvPr id="13" name="TextBox 12"/>
          <p:cNvSpPr txBox="1"/>
          <p:nvPr/>
        </p:nvSpPr>
        <p:spPr>
          <a:xfrm>
            <a:off x="566928" y="3931920"/>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3</a:t>
            </a:r>
          </a:p>
        </p:txBody>
      </p:sp>
      <p:sp>
        <p:nvSpPr>
          <p:cNvPr id="14" name="TextBox 13"/>
          <p:cNvSpPr txBox="1"/>
          <p:nvPr/>
        </p:nvSpPr>
        <p:spPr>
          <a:xfrm>
            <a:off x="1161288" y="3968496"/>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Take the product to the State Bank for approval or notice.</a:t>
            </a:r>
          </a:p>
        </p:txBody>
      </p:sp>
      <p:cxnSp>
        <p:nvCxnSpPr>
          <p:cNvPr id="15" name="Connector 14"/>
          <p:cNvCxnSpPr/>
          <p:nvPr/>
        </p:nvCxnSpPr>
        <p:spPr>
          <a:xfrm>
            <a:off x="566928" y="4791456"/>
            <a:ext cx="5254599" cy="0"/>
          </a:xfrm>
          <a:prstGeom prst="line">
            <a:avLst/>
          </a:prstGeom>
          <a:ln w="9525">
            <a:solidFill>
              <a:srgbClr val="D5DCD1"/>
            </a:solidFill>
          </a:ln>
        </p:spPr>
      </p:cxnSp>
      <p:sp>
        <p:nvSpPr>
          <p:cNvPr id="16" name="TextBox 15"/>
          <p:cNvSpPr txBox="1"/>
          <p:nvPr/>
        </p:nvSpPr>
        <p:spPr>
          <a:xfrm>
            <a:off x="566928" y="4919472"/>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4</a:t>
            </a:r>
          </a:p>
        </p:txBody>
      </p:sp>
      <p:sp>
        <p:nvSpPr>
          <p:cNvPr id="17" name="TextBox 16"/>
          <p:cNvSpPr txBox="1"/>
          <p:nvPr/>
        </p:nvSpPr>
        <p:spPr>
          <a:xfrm>
            <a:off x="1161288" y="4956048"/>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Open accounts and automatic debits inside the Halqa application.</a:t>
            </a:r>
          </a:p>
        </p:txBody>
      </p:sp>
      <p:cxnSp>
        <p:nvCxnSpPr>
          <p:cNvPr id="18" name="Connector 17"/>
          <p:cNvCxnSpPr/>
          <p:nvPr/>
        </p:nvCxnSpPr>
        <p:spPr>
          <a:xfrm>
            <a:off x="6187287" y="1828800"/>
            <a:ext cx="5254600" cy="0"/>
          </a:xfrm>
          <a:prstGeom prst="line">
            <a:avLst/>
          </a:prstGeom>
          <a:ln w="9525">
            <a:solidFill>
              <a:srgbClr val="D5DCD1"/>
            </a:solidFill>
          </a:ln>
        </p:spPr>
      </p:cxnSp>
      <p:sp>
        <p:nvSpPr>
          <p:cNvPr id="19" name="TextBox 18"/>
          <p:cNvSpPr txBox="1"/>
          <p:nvPr/>
        </p:nvSpPr>
        <p:spPr>
          <a:xfrm>
            <a:off x="6187287" y="1956816"/>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5</a:t>
            </a:r>
          </a:p>
        </p:txBody>
      </p:sp>
      <p:sp>
        <p:nvSpPr>
          <p:cNvPr id="20" name="TextBox 19"/>
          <p:cNvSpPr txBox="1"/>
          <p:nvPr/>
        </p:nvSpPr>
        <p:spPr>
          <a:xfrm>
            <a:off x="6781647" y="1993392"/>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Place instalments in the 7 day term deposit; return profit as points.</a:t>
            </a:r>
          </a:p>
        </p:txBody>
      </p:sp>
      <p:cxnSp>
        <p:nvCxnSpPr>
          <p:cNvPr id="21" name="Connector 20"/>
          <p:cNvCxnSpPr/>
          <p:nvPr/>
        </p:nvCxnSpPr>
        <p:spPr>
          <a:xfrm>
            <a:off x="6187287" y="2816352"/>
            <a:ext cx="5254600" cy="0"/>
          </a:xfrm>
          <a:prstGeom prst="line">
            <a:avLst/>
          </a:prstGeom>
          <a:ln w="9525">
            <a:solidFill>
              <a:srgbClr val="D5DCD1"/>
            </a:solidFill>
          </a:ln>
        </p:spPr>
      </p:cxnSp>
      <p:sp>
        <p:nvSpPr>
          <p:cNvPr id="22" name="TextBox 21"/>
          <p:cNvSpPr txBox="1"/>
          <p:nvPr/>
        </p:nvSpPr>
        <p:spPr>
          <a:xfrm>
            <a:off x="6187287" y="2944368"/>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6</a:t>
            </a:r>
          </a:p>
        </p:txBody>
      </p:sp>
      <p:sp>
        <p:nvSpPr>
          <p:cNvPr id="23" name="TextBox 22"/>
          <p:cNvSpPr txBox="1"/>
          <p:nvPr/>
        </p:nvSpPr>
        <p:spPr>
          <a:xfrm>
            <a:off x="6781647" y="2980944"/>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Arrange takaful cover and the credit reporting route.</a:t>
            </a:r>
          </a:p>
        </p:txBody>
      </p:sp>
      <p:cxnSp>
        <p:nvCxnSpPr>
          <p:cNvPr id="24" name="Connector 23"/>
          <p:cNvCxnSpPr/>
          <p:nvPr/>
        </p:nvCxnSpPr>
        <p:spPr>
          <a:xfrm>
            <a:off x="6187287" y="3803904"/>
            <a:ext cx="5254600" cy="0"/>
          </a:xfrm>
          <a:prstGeom prst="line">
            <a:avLst/>
          </a:prstGeom>
          <a:ln w="9525">
            <a:solidFill>
              <a:srgbClr val="D5DCD1"/>
            </a:solidFill>
          </a:ln>
        </p:spPr>
      </p:cxnSp>
      <p:sp>
        <p:nvSpPr>
          <p:cNvPr id="25" name="TextBox 24"/>
          <p:cNvSpPr txBox="1"/>
          <p:nvPr/>
        </p:nvSpPr>
        <p:spPr>
          <a:xfrm>
            <a:off x="6187287" y="3931920"/>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7</a:t>
            </a:r>
          </a:p>
        </p:txBody>
      </p:sp>
      <p:sp>
        <p:nvSpPr>
          <p:cNvPr id="26" name="TextBox 25"/>
          <p:cNvSpPr txBox="1"/>
          <p:nvPr/>
        </p:nvSpPr>
        <p:spPr>
          <a:xfrm>
            <a:off x="6781647" y="3968496"/>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Agree the income share and a one month pilot.</a:t>
            </a:r>
          </a:p>
        </p:txBody>
      </p:sp>
      <p:cxnSp>
        <p:nvCxnSpPr>
          <p:cNvPr id="27" name="Connector 26"/>
          <p:cNvCxnSpPr/>
          <p:nvPr/>
        </p:nvCxnSpPr>
        <p:spPr>
          <a:xfrm>
            <a:off x="566928" y="5779008"/>
            <a:ext cx="5254599" cy="0"/>
          </a:xfrm>
          <a:prstGeom prst="line">
            <a:avLst/>
          </a:prstGeom>
          <a:ln w="9525">
            <a:solidFill>
              <a:srgbClr val="D5DCD1"/>
            </a:solidFill>
          </a:ln>
        </p:spPr>
      </p:cxnSp>
      <p:cxnSp>
        <p:nvCxnSpPr>
          <p:cNvPr id="28" name="Connector 27"/>
          <p:cNvCxnSpPr/>
          <p:nvPr/>
        </p:nvCxnSpPr>
        <p:spPr>
          <a:xfrm>
            <a:off x="6187287" y="4791456"/>
            <a:ext cx="5254600" cy="0"/>
          </a:xfrm>
          <a:prstGeom prst="line">
            <a:avLst/>
          </a:prstGeom>
          <a:ln w="9525">
            <a:solidFill>
              <a:srgbClr val="D5DCD1"/>
            </a:solidFill>
          </a:ln>
        </p:spPr>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lqa_logo.png"/>
          <p:cNvPicPr>
            <a:picLocks noChangeAspect="1"/>
          </p:cNvPicPr>
          <p:nvPr/>
        </p:nvPicPr>
        <p:blipFill>
          <a:blip r:embed="rId3"/>
          <a:stretch>
            <a:fillRect/>
          </a:stretch>
        </p:blipFill>
        <p:spPr>
          <a:xfrm>
            <a:off x="566928" y="658368"/>
            <a:ext cx="1504709" cy="457200"/>
          </a:xfrm>
          <a:prstGeom prst="rect">
            <a:avLst/>
          </a:prstGeom>
        </p:spPr>
      </p:pic>
      <p:cxnSp>
        <p:nvCxnSpPr>
          <p:cNvPr id="3" name="Connector 2"/>
          <p:cNvCxnSpPr/>
          <p:nvPr/>
        </p:nvCxnSpPr>
        <p:spPr>
          <a:xfrm>
            <a:off x="2350008" y="548640"/>
            <a:ext cx="0" cy="777240"/>
          </a:xfrm>
          <a:prstGeom prst="line">
            <a:avLst/>
          </a:prstGeom>
          <a:ln w="12700">
            <a:solidFill>
              <a:srgbClr val="C9D1C4"/>
            </a:solidFill>
          </a:ln>
        </p:spPr>
      </p:cxnSp>
      <p:sp>
        <p:nvSpPr>
          <p:cNvPr id="4" name="TextBox 3"/>
          <p:cNvSpPr txBox="1"/>
          <p:nvPr/>
        </p:nvSpPr>
        <p:spPr>
          <a:xfrm>
            <a:off x="2624328" y="566928"/>
            <a:ext cx="2926080" cy="548640"/>
          </a:xfrm>
          <a:prstGeom prst="rect">
            <a:avLst/>
          </a:prstGeom>
          <a:noFill/>
        </p:spPr>
        <p:txBody>
          <a:bodyPr wrap="square" lIns="0" rIns="0" tIns="0" bIns="0" anchor="t">
            <a:noAutofit/>
          </a:bodyPr>
          <a:lstStyle/>
          <a:p>
            <a:pPr algn="l">
              <a:lnSpc>
                <a:spcPct val="100000"/>
              </a:lnSpc>
            </a:pPr>
            <a:r>
              <a:rPr sz="1500" b="1" i="0">
                <a:solidFill>
                  <a:srgbClr val="0C1408"/>
                </a:solidFill>
                <a:latin typeface="Arial"/>
              </a:rPr>
              <a:t>Raqami Islamic Digital Bank</a:t>
            </a:r>
          </a:p>
        </p:txBody>
      </p:sp>
      <p:sp>
        <p:nvSpPr>
          <p:cNvPr id="5" name="TextBox 4"/>
          <p:cNvSpPr txBox="1"/>
          <p:nvPr/>
        </p:nvSpPr>
        <p:spPr>
          <a:xfrm>
            <a:off x="566928" y="2148840"/>
            <a:ext cx="6400800" cy="1463040"/>
          </a:xfrm>
          <a:prstGeom prst="rect">
            <a:avLst/>
          </a:prstGeom>
          <a:noFill/>
        </p:spPr>
        <p:txBody>
          <a:bodyPr wrap="square" lIns="0" rIns="0" tIns="0" bIns="0" anchor="t">
            <a:noAutofit/>
          </a:bodyPr>
          <a:lstStyle/>
          <a:p>
            <a:pPr algn="l">
              <a:lnSpc>
                <a:spcPct val="100000"/>
              </a:lnSpc>
            </a:pPr>
            <a:r>
              <a:rPr sz="4000" b="0" i="0">
                <a:solidFill>
                  <a:srgbClr val="0C1408"/>
                </a:solidFill>
                <a:latin typeface="Georgia"/>
              </a:rPr>
              <a:t>Halqa is the system.</a:t>
            </a:r>
          </a:p>
          <a:p>
            <a:pPr algn="l">
              <a:lnSpc>
                <a:spcPct val="100000"/>
              </a:lnSpc>
            </a:pPr>
            <a:r>
              <a:rPr sz="4000" b="0" i="0">
                <a:solidFill>
                  <a:srgbClr val="0C1408"/>
                </a:solidFill>
                <a:latin typeface="Georgia"/>
              </a:rPr>
              <a:t>The bank is the machine.</a:t>
            </a:r>
          </a:p>
        </p:txBody>
      </p:sp>
      <p:sp>
        <p:nvSpPr>
          <p:cNvPr id="6" name="TextBox 5"/>
          <p:cNvSpPr txBox="1"/>
          <p:nvPr/>
        </p:nvSpPr>
        <p:spPr>
          <a:xfrm>
            <a:off x="566928" y="3794760"/>
            <a:ext cx="6309360" cy="731520"/>
          </a:xfrm>
          <a:prstGeom prst="rect">
            <a:avLst/>
          </a:prstGeom>
          <a:noFill/>
        </p:spPr>
        <p:txBody>
          <a:bodyPr wrap="square" lIns="0" rIns="0" tIns="0" bIns="0" anchor="t">
            <a:noAutofit/>
          </a:bodyPr>
          <a:lstStyle/>
          <a:p>
            <a:pPr algn="l">
              <a:lnSpc>
                <a:spcPct val="110000"/>
              </a:lnSpc>
            </a:pPr>
            <a:r>
              <a:rPr sz="1600" b="0" i="0">
                <a:solidFill>
                  <a:srgbClr val="41801A"/>
                </a:solidFill>
                <a:latin typeface="Arial"/>
              </a:rPr>
              <a:t>Committees run by Halqa, on Raqami accounts.</a:t>
            </a:r>
          </a:p>
        </p:txBody>
      </p:sp>
      <p:sp>
        <p:nvSpPr>
          <p:cNvPr id="7" name="TextBox 6"/>
          <p:cNvSpPr txBox="1"/>
          <p:nvPr/>
        </p:nvSpPr>
        <p:spPr>
          <a:xfrm>
            <a:off x="566928" y="5074920"/>
            <a:ext cx="5486400"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Taha Amjed, Chairman, Halqa</a:t>
            </a:r>
          </a:p>
        </p:txBody>
      </p:sp>
      <p:sp>
        <p:nvSpPr>
          <p:cNvPr id="8" name="TextBox 7"/>
          <p:cNvSpPr txBox="1"/>
          <p:nvPr/>
        </p:nvSpPr>
        <p:spPr>
          <a:xfrm>
            <a:off x="566928" y="5376672"/>
            <a:ext cx="6217920" cy="27432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A detailed reference on the law, the product, the economics and the evidence is available.</a:t>
            </a:r>
          </a:p>
        </p:txBody>
      </p:sp>
      <p:sp>
        <p:nvSpPr>
          <p:cNvPr id="9" name="Rectangle 8"/>
          <p:cNvSpPr/>
          <p:nvPr/>
        </p:nvSpPr>
        <p:spPr>
          <a:xfrm>
            <a:off x="7360920" y="0"/>
            <a:ext cx="4830775" cy="6858000"/>
          </a:xfrm>
          <a:prstGeom prst="rect">
            <a:avLst/>
          </a:prstGeom>
          <a:solidFill>
            <a:srgbClr val="6DC72A"/>
          </a:solidFill>
          <a:ln>
            <a:noFill/>
          </a:ln>
        </p:spPr>
        <p:txBody>
          <a:bodyPr rtlCol="0" anchor="ctr" lIns="0" rIns="0"/>
          <a:lstStyle/>
          <a:p>
            <a:pPr algn="ctr"/>
          </a:p>
        </p:txBody>
      </p:sp>
      <p:pic>
        <p:nvPicPr>
          <p:cNvPr id="10" name="Picture 9" descr="screen_activity.png"/>
          <p:cNvPicPr>
            <a:picLocks noChangeAspect="1"/>
          </p:cNvPicPr>
          <p:nvPr/>
        </p:nvPicPr>
        <p:blipFill>
          <a:blip r:embed="rId4"/>
          <a:stretch>
            <a:fillRect/>
          </a:stretch>
        </p:blipFill>
        <p:spPr>
          <a:xfrm>
            <a:off x="8468715" y="713232"/>
            <a:ext cx="2612267" cy="54864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Appendix</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Reference pages for questions.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24</a:t>
            </a:r>
          </a:p>
        </p:txBody>
      </p:sp>
      <p:cxnSp>
        <p:nvCxnSpPr>
          <p:cNvPr id="6" name="Connector 5"/>
          <p:cNvCxnSpPr/>
          <p:nvPr/>
        </p:nvCxnSpPr>
        <p:spPr>
          <a:xfrm>
            <a:off x="566928" y="1920240"/>
            <a:ext cx="5943600" cy="0"/>
          </a:xfrm>
          <a:prstGeom prst="line">
            <a:avLst/>
          </a:prstGeom>
          <a:ln w="9525">
            <a:solidFill>
              <a:srgbClr val="D5DCD1"/>
            </a:solidFill>
          </a:ln>
        </p:spPr>
      </p:cxnSp>
      <p:sp>
        <p:nvSpPr>
          <p:cNvPr id="7" name="TextBox 6"/>
          <p:cNvSpPr txBox="1"/>
          <p:nvPr/>
        </p:nvSpPr>
        <p:spPr>
          <a:xfrm>
            <a:off x="566928" y="2029968"/>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A1</a:t>
            </a:r>
          </a:p>
        </p:txBody>
      </p:sp>
      <p:sp>
        <p:nvSpPr>
          <p:cNvPr id="8" name="TextBox 7"/>
          <p:cNvSpPr txBox="1"/>
          <p:nvPr/>
        </p:nvSpPr>
        <p:spPr>
          <a:xfrm>
            <a:off x="1207007" y="2039112"/>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Risks and controls</a:t>
            </a:r>
          </a:p>
        </p:txBody>
      </p:sp>
      <p:cxnSp>
        <p:nvCxnSpPr>
          <p:cNvPr id="9" name="Connector 8"/>
          <p:cNvCxnSpPr/>
          <p:nvPr/>
        </p:nvCxnSpPr>
        <p:spPr>
          <a:xfrm>
            <a:off x="566928" y="2450592"/>
            <a:ext cx="5943600" cy="0"/>
          </a:xfrm>
          <a:prstGeom prst="line">
            <a:avLst/>
          </a:prstGeom>
          <a:ln w="9525">
            <a:solidFill>
              <a:srgbClr val="D5DCD1"/>
            </a:solidFill>
          </a:ln>
        </p:spPr>
      </p:cxnSp>
      <p:sp>
        <p:nvSpPr>
          <p:cNvPr id="10" name="TextBox 9"/>
          <p:cNvSpPr txBox="1"/>
          <p:nvPr/>
        </p:nvSpPr>
        <p:spPr>
          <a:xfrm>
            <a:off x="566928" y="2560320"/>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A2</a:t>
            </a:r>
          </a:p>
        </p:txBody>
      </p:sp>
      <p:sp>
        <p:nvSpPr>
          <p:cNvPr id="11" name="TextBox 10"/>
          <p:cNvSpPr txBox="1"/>
          <p:nvPr/>
        </p:nvSpPr>
        <p:spPr>
          <a:xfrm>
            <a:off x="1207007" y="2569464"/>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Integration</a:t>
            </a:r>
          </a:p>
        </p:txBody>
      </p:sp>
      <p:cxnSp>
        <p:nvCxnSpPr>
          <p:cNvPr id="12" name="Connector 11"/>
          <p:cNvCxnSpPr/>
          <p:nvPr/>
        </p:nvCxnSpPr>
        <p:spPr>
          <a:xfrm>
            <a:off x="566928" y="2980944"/>
            <a:ext cx="5943600" cy="0"/>
          </a:xfrm>
          <a:prstGeom prst="line">
            <a:avLst/>
          </a:prstGeom>
          <a:ln w="9525">
            <a:solidFill>
              <a:srgbClr val="D5DCD1"/>
            </a:solidFill>
          </a:ln>
        </p:spPr>
      </p:cxnSp>
      <p:sp>
        <p:nvSpPr>
          <p:cNvPr id="13" name="TextBox 12"/>
          <p:cNvSpPr txBox="1"/>
          <p:nvPr/>
        </p:nvSpPr>
        <p:spPr>
          <a:xfrm>
            <a:off x="566928" y="3090672"/>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A3</a:t>
            </a:r>
          </a:p>
        </p:txBody>
      </p:sp>
      <p:sp>
        <p:nvSpPr>
          <p:cNvPr id="14" name="TextBox 13"/>
          <p:cNvSpPr txBox="1"/>
          <p:nvPr/>
        </p:nvSpPr>
        <p:spPr>
          <a:xfrm>
            <a:off x="1207007" y="3099816"/>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Points and turn swaps</a:t>
            </a:r>
          </a:p>
        </p:txBody>
      </p:sp>
      <p:cxnSp>
        <p:nvCxnSpPr>
          <p:cNvPr id="15" name="Connector 14"/>
          <p:cNvCxnSpPr/>
          <p:nvPr/>
        </p:nvCxnSpPr>
        <p:spPr>
          <a:xfrm>
            <a:off x="566928" y="3511296"/>
            <a:ext cx="5943600" cy="0"/>
          </a:xfrm>
          <a:prstGeom prst="line">
            <a:avLst/>
          </a:prstGeom>
          <a:ln w="9525">
            <a:solidFill>
              <a:srgbClr val="D5DCD1"/>
            </a:solidFill>
          </a:ln>
        </p:spPr>
      </p:cxnSp>
      <p:sp>
        <p:nvSpPr>
          <p:cNvPr id="16" name="TextBox 15"/>
          <p:cNvSpPr txBox="1"/>
          <p:nvPr/>
        </p:nvSpPr>
        <p:spPr>
          <a:xfrm>
            <a:off x="566928" y="3621024"/>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A4</a:t>
            </a:r>
          </a:p>
        </p:txBody>
      </p:sp>
      <p:sp>
        <p:nvSpPr>
          <p:cNvPr id="17" name="TextBox 16"/>
          <p:cNvSpPr txBox="1"/>
          <p:nvPr/>
        </p:nvSpPr>
        <p:spPr>
          <a:xfrm>
            <a:off x="1207007" y="3630168"/>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Hyper: daily circles</a:t>
            </a:r>
          </a:p>
        </p:txBody>
      </p:sp>
      <p:cxnSp>
        <p:nvCxnSpPr>
          <p:cNvPr id="18" name="Connector 17"/>
          <p:cNvCxnSpPr/>
          <p:nvPr/>
        </p:nvCxnSpPr>
        <p:spPr>
          <a:xfrm>
            <a:off x="566928" y="4041648"/>
            <a:ext cx="5943600" cy="0"/>
          </a:xfrm>
          <a:prstGeom prst="line">
            <a:avLst/>
          </a:prstGeom>
          <a:ln w="9525">
            <a:solidFill>
              <a:srgbClr val="D5DCD1"/>
            </a:solidFill>
          </a:ln>
        </p:spPr>
      </p:cxnSp>
      <p:sp>
        <p:nvSpPr>
          <p:cNvPr id="19" name="TextBox 18"/>
          <p:cNvSpPr txBox="1"/>
          <p:nvPr/>
        </p:nvSpPr>
        <p:spPr>
          <a:xfrm>
            <a:off x="566928" y="4151376"/>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A5</a:t>
            </a:r>
          </a:p>
        </p:txBody>
      </p:sp>
      <p:sp>
        <p:nvSpPr>
          <p:cNvPr id="20" name="TextBox 19"/>
          <p:cNvSpPr txBox="1"/>
          <p:nvPr/>
        </p:nvSpPr>
        <p:spPr>
          <a:xfrm>
            <a:off x="1207007" y="4160520"/>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Leaving a circle</a:t>
            </a:r>
          </a:p>
        </p:txBody>
      </p:sp>
      <p:cxnSp>
        <p:nvCxnSpPr>
          <p:cNvPr id="21" name="Connector 20"/>
          <p:cNvCxnSpPr/>
          <p:nvPr/>
        </p:nvCxnSpPr>
        <p:spPr>
          <a:xfrm>
            <a:off x="566928" y="4572000"/>
            <a:ext cx="5943600" cy="0"/>
          </a:xfrm>
          <a:prstGeom prst="line">
            <a:avLst/>
          </a:prstGeom>
          <a:ln w="9525">
            <a:solidFill>
              <a:srgbClr val="D5DCD1"/>
            </a:solidFill>
          </a:ln>
        </p:spPr>
      </p:cxnSp>
      <p:sp>
        <p:nvSpPr>
          <p:cNvPr id="22" name="TextBox 21"/>
          <p:cNvSpPr txBox="1"/>
          <p:nvPr/>
        </p:nvSpPr>
        <p:spPr>
          <a:xfrm>
            <a:off x="566928" y="4681728"/>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A6</a:t>
            </a:r>
          </a:p>
        </p:txBody>
      </p:sp>
      <p:sp>
        <p:nvSpPr>
          <p:cNvPr id="23" name="TextBox 22"/>
          <p:cNvSpPr txBox="1"/>
          <p:nvPr/>
        </p:nvSpPr>
        <p:spPr>
          <a:xfrm>
            <a:off x="1207007" y="4690872"/>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Unit costs</a:t>
            </a:r>
          </a:p>
        </p:txBody>
      </p:sp>
      <p:cxnSp>
        <p:nvCxnSpPr>
          <p:cNvPr id="24" name="Connector 23"/>
          <p:cNvCxnSpPr/>
          <p:nvPr/>
        </p:nvCxnSpPr>
        <p:spPr>
          <a:xfrm>
            <a:off x="566928" y="5102352"/>
            <a:ext cx="5943600" cy="0"/>
          </a:xfrm>
          <a:prstGeom prst="line">
            <a:avLst/>
          </a:prstGeom>
          <a:ln w="9525">
            <a:solidFill>
              <a:srgbClr val="D5DCD1"/>
            </a:solidFill>
          </a:ln>
        </p:spPr>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Risks and Controls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Each risk Raqami would carry has a stated control.</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25</a:t>
            </a:r>
          </a:p>
        </p:txBody>
      </p:sp>
      <p:sp>
        <p:nvSpPr>
          <p:cNvPr id="6" name="TextBox 5"/>
          <p:cNvSpPr txBox="1"/>
          <p:nvPr/>
        </p:nvSpPr>
        <p:spPr>
          <a:xfrm>
            <a:off x="566928" y="1801368"/>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Credit</a:t>
            </a:r>
          </a:p>
        </p:txBody>
      </p:sp>
      <p:sp>
        <p:nvSpPr>
          <p:cNvPr id="7" name="TextBox 6"/>
          <p:cNvSpPr txBox="1"/>
          <p:nvPr/>
        </p:nvSpPr>
        <p:spPr>
          <a:xfrm>
            <a:off x="3017520" y="1801368"/>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Turn bands on every turn; affordability limits; arrears set off from the late member's own pot; takaful for circles of strangers; no daily circle opens once losses would exceed cover.</a:t>
            </a:r>
          </a:p>
        </p:txBody>
      </p:sp>
      <p:cxnSp>
        <p:nvCxnSpPr>
          <p:cNvPr id="8" name="Connector 7"/>
          <p:cNvCxnSpPr/>
          <p:nvPr/>
        </p:nvCxnSpPr>
        <p:spPr>
          <a:xfrm>
            <a:off x="566928" y="2404872"/>
            <a:ext cx="11057839" cy="0"/>
          </a:xfrm>
          <a:prstGeom prst="line">
            <a:avLst/>
          </a:prstGeom>
          <a:ln w="9525">
            <a:solidFill>
              <a:srgbClr val="D5DCD1"/>
            </a:solidFill>
          </a:ln>
        </p:spPr>
      </p:cxnSp>
      <p:sp>
        <p:nvSpPr>
          <p:cNvPr id="9" name="TextBox 8"/>
          <p:cNvSpPr txBox="1"/>
          <p:nvPr/>
        </p:nvSpPr>
        <p:spPr>
          <a:xfrm>
            <a:off x="566928" y="2404872"/>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Fraud and money laundering</a:t>
            </a:r>
          </a:p>
        </p:txBody>
      </p:sp>
      <p:sp>
        <p:nvSpPr>
          <p:cNvPr id="10" name="TextBox 9"/>
          <p:cNvSpPr txBox="1"/>
          <p:nvPr/>
        </p:nvSpPr>
        <p:spPr>
          <a:xfrm>
            <a:off x="3017520" y="2404872"/>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Raqami's due diligence at account opening; payouts only to accounts in the member's own name; fixed amounts on a fixed schedule; review of turn swaps.</a:t>
            </a:r>
          </a:p>
        </p:txBody>
      </p:sp>
      <p:cxnSp>
        <p:nvCxnSpPr>
          <p:cNvPr id="11" name="Connector 10"/>
          <p:cNvCxnSpPr/>
          <p:nvPr/>
        </p:nvCxnSpPr>
        <p:spPr>
          <a:xfrm>
            <a:off x="566928" y="3008376"/>
            <a:ext cx="11057839" cy="0"/>
          </a:xfrm>
          <a:prstGeom prst="line">
            <a:avLst/>
          </a:prstGeom>
          <a:ln w="9525">
            <a:solidFill>
              <a:srgbClr val="D5DCD1"/>
            </a:solidFill>
          </a:ln>
        </p:spPr>
      </p:cxnSp>
      <p:sp>
        <p:nvSpPr>
          <p:cNvPr id="12" name="TextBox 11"/>
          <p:cNvSpPr txBox="1"/>
          <p:nvPr/>
        </p:nvSpPr>
        <p:spPr>
          <a:xfrm>
            <a:off x="566928" y="3008376"/>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Technology and outsourcing</a:t>
            </a:r>
          </a:p>
        </p:txBody>
      </p:sp>
      <p:sp>
        <p:nvSpPr>
          <p:cNvPr id="13" name="TextBox 12"/>
          <p:cNvSpPr txBox="1"/>
          <p:nvPr/>
        </p:nvSpPr>
        <p:spPr>
          <a:xfrm>
            <a:off x="3017520" y="3008376"/>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An agreement under the State Bank's outsourcing framework; security testing; audit logs on both sides; inspection rights for Raqami and the State Bank.</a:t>
            </a:r>
          </a:p>
        </p:txBody>
      </p:sp>
      <p:cxnSp>
        <p:nvCxnSpPr>
          <p:cNvPr id="14" name="Connector 13"/>
          <p:cNvCxnSpPr/>
          <p:nvPr/>
        </p:nvCxnSpPr>
        <p:spPr>
          <a:xfrm>
            <a:off x="566928" y="3611880"/>
            <a:ext cx="11057839" cy="0"/>
          </a:xfrm>
          <a:prstGeom prst="line">
            <a:avLst/>
          </a:prstGeom>
          <a:ln w="9525">
            <a:solidFill>
              <a:srgbClr val="D5DCD1"/>
            </a:solidFill>
          </a:ln>
        </p:spPr>
      </p:cxnSp>
      <p:sp>
        <p:nvSpPr>
          <p:cNvPr id="15" name="TextBox 14"/>
          <p:cNvSpPr txBox="1"/>
          <p:nvPr/>
        </p:nvSpPr>
        <p:spPr>
          <a:xfrm>
            <a:off x="566928" y="3611880"/>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Conduct</a:t>
            </a:r>
          </a:p>
        </p:txBody>
      </p:sp>
      <p:sp>
        <p:nvSpPr>
          <p:cNvPr id="16" name="TextBox 15"/>
          <p:cNvSpPr txBox="1"/>
          <p:nvPr/>
        </p:nvSpPr>
        <p:spPr>
          <a:xfrm>
            <a:off x="3017520" y="3611880"/>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Instalments within a third of income; the full cost shown before joining; 24 hours to withdraw; recovery by stated steps, never by harassment.</a:t>
            </a:r>
          </a:p>
        </p:txBody>
      </p:sp>
      <p:cxnSp>
        <p:nvCxnSpPr>
          <p:cNvPr id="17" name="Connector 16"/>
          <p:cNvCxnSpPr/>
          <p:nvPr/>
        </p:nvCxnSpPr>
        <p:spPr>
          <a:xfrm>
            <a:off x="566928" y="4215383"/>
            <a:ext cx="11057839" cy="0"/>
          </a:xfrm>
          <a:prstGeom prst="line">
            <a:avLst/>
          </a:prstGeom>
          <a:ln w="9525">
            <a:solidFill>
              <a:srgbClr val="D5DCD1"/>
            </a:solidFill>
          </a:ln>
        </p:spPr>
      </p:cxnSp>
      <p:sp>
        <p:nvSpPr>
          <p:cNvPr id="18" name="TextBox 17"/>
          <p:cNvSpPr txBox="1"/>
          <p:nvPr/>
        </p:nvSpPr>
        <p:spPr>
          <a:xfrm>
            <a:off x="566928" y="4215383"/>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Shariah</a:t>
            </a:r>
          </a:p>
        </p:txBody>
      </p:sp>
      <p:sp>
        <p:nvSpPr>
          <p:cNvPr id="19" name="TextBox 18"/>
          <p:cNvSpPr txBox="1"/>
          <p:nvPr/>
        </p:nvSpPr>
        <p:spPr>
          <a:xfrm>
            <a:off x="3017520" y="4215383"/>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Every part ruled on by the Shariah Board before launch; penalties to charity; turns swapped, never sold; points never bought with money.</a:t>
            </a:r>
          </a:p>
        </p:txBody>
      </p:sp>
      <p:cxnSp>
        <p:nvCxnSpPr>
          <p:cNvPr id="20" name="Connector 19"/>
          <p:cNvCxnSpPr/>
          <p:nvPr/>
        </p:nvCxnSpPr>
        <p:spPr>
          <a:xfrm>
            <a:off x="566928" y="4818888"/>
            <a:ext cx="11057839" cy="0"/>
          </a:xfrm>
          <a:prstGeom prst="line">
            <a:avLst/>
          </a:prstGeom>
          <a:ln w="9525">
            <a:solidFill>
              <a:srgbClr val="D5DCD1"/>
            </a:solidFill>
          </a:ln>
        </p:spPr>
      </p:cxnSp>
      <p:sp>
        <p:nvSpPr>
          <p:cNvPr id="21" name="TextBox 20"/>
          <p:cNvSpPr txBox="1"/>
          <p:nvPr/>
        </p:nvSpPr>
        <p:spPr>
          <a:xfrm>
            <a:off x="566928" y="4818888"/>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Reputation</a:t>
            </a:r>
          </a:p>
        </p:txBody>
      </p:sp>
      <p:sp>
        <p:nvSpPr>
          <p:cNvPr id="22" name="TextBox 21"/>
          <p:cNvSpPr txBox="1"/>
          <p:nvPr/>
        </p:nvSpPr>
        <p:spPr>
          <a:xfrm>
            <a:off x="3017520" y="4818888"/>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New members start in the last turns; published rules for every circle; Hyper labelled experimental; no public list of defaulters.</a:t>
            </a:r>
          </a:p>
        </p:txBody>
      </p:sp>
      <p:cxnSp>
        <p:nvCxnSpPr>
          <p:cNvPr id="23" name="Connector 22"/>
          <p:cNvCxnSpPr/>
          <p:nvPr/>
        </p:nvCxnSpPr>
        <p:spPr>
          <a:xfrm>
            <a:off x="566928" y="5422392"/>
            <a:ext cx="11057839" cy="0"/>
          </a:xfrm>
          <a:prstGeom prst="line">
            <a:avLst/>
          </a:prstGeom>
          <a:ln w="9525">
            <a:solidFill>
              <a:srgbClr val="D5DCD1"/>
            </a:solidFill>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Integration</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sends instructions. Raqami moves the money and confirms every step.</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Interfaces proposed, not agreed. Governed by the State Bank's outsourcing framework.</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26</a:t>
            </a:r>
          </a:p>
        </p:txBody>
      </p:sp>
      <p:sp>
        <p:nvSpPr>
          <p:cNvPr id="7" name="Rectangle 6"/>
          <p:cNvSpPr/>
          <p:nvPr/>
        </p:nvSpPr>
        <p:spPr>
          <a:xfrm>
            <a:off x="566928" y="1783080"/>
            <a:ext cx="1645920" cy="411480"/>
          </a:xfrm>
          <a:prstGeom prst="rect">
            <a:avLst/>
          </a:prstGeom>
          <a:noFill/>
          <a:ln w="15875">
            <a:solidFill>
              <a:srgbClr val="0C1408"/>
            </a:solidFill>
          </a:ln>
        </p:spPr>
        <p:txBody>
          <a:bodyPr rtlCol="0" anchor="ctr" lIns="0" rIns="0"/>
          <a:lstStyle/>
          <a:p>
            <a:pPr algn="ctr"/>
          </a:p>
        </p:txBody>
      </p:sp>
      <p:sp>
        <p:nvSpPr>
          <p:cNvPr id="8" name="TextBox 7"/>
          <p:cNvSpPr txBox="1"/>
          <p:nvPr/>
        </p:nvSpPr>
        <p:spPr>
          <a:xfrm>
            <a:off x="566928" y="1783080"/>
            <a:ext cx="1645920" cy="411480"/>
          </a:xfrm>
          <a:prstGeom prst="rect">
            <a:avLst/>
          </a:prstGeom>
          <a:noFill/>
        </p:spPr>
        <p:txBody>
          <a:bodyPr wrap="square" lIns="0" rIns="0" tIns="0" bIns="0" anchor="ctr">
            <a:noAutofit/>
          </a:bodyPr>
          <a:lstStyle/>
          <a:p>
            <a:pPr algn="ctr">
              <a:lnSpc>
                <a:spcPct val="110000"/>
              </a:lnSpc>
            </a:pPr>
            <a:r>
              <a:rPr sz="1200" b="1" i="0">
                <a:solidFill>
                  <a:srgbClr val="0C1408"/>
                </a:solidFill>
                <a:latin typeface="Arial"/>
              </a:rPr>
              <a:t>Member</a:t>
            </a:r>
          </a:p>
        </p:txBody>
      </p:sp>
      <p:cxnSp>
        <p:nvCxnSpPr>
          <p:cNvPr id="9" name="Connector 8"/>
          <p:cNvCxnSpPr/>
          <p:nvPr/>
        </p:nvCxnSpPr>
        <p:spPr>
          <a:xfrm>
            <a:off x="1389888" y="2194560"/>
            <a:ext cx="0" cy="3703320"/>
          </a:xfrm>
          <a:prstGeom prst="line">
            <a:avLst/>
          </a:prstGeom>
          <a:ln w="12700">
            <a:solidFill>
              <a:srgbClr val="D5DCD1"/>
            </a:solidFill>
            <a:prstDash val="dash"/>
          </a:ln>
        </p:spPr>
      </p:cxnSp>
      <p:sp>
        <p:nvSpPr>
          <p:cNvPr id="10" name="Rectangle 9"/>
          <p:cNvSpPr/>
          <p:nvPr/>
        </p:nvSpPr>
        <p:spPr>
          <a:xfrm>
            <a:off x="3172968" y="1783080"/>
            <a:ext cx="1645920" cy="411480"/>
          </a:xfrm>
          <a:prstGeom prst="rect">
            <a:avLst/>
          </a:prstGeom>
          <a:solidFill>
            <a:srgbClr val="F3FCE7"/>
          </a:solidFill>
          <a:ln w="15875">
            <a:solidFill>
              <a:srgbClr val="41801A"/>
            </a:solidFill>
          </a:ln>
        </p:spPr>
        <p:txBody>
          <a:bodyPr rtlCol="0" anchor="ctr" lIns="0" rIns="0"/>
          <a:lstStyle/>
          <a:p>
            <a:pPr algn="ctr"/>
          </a:p>
        </p:txBody>
      </p:sp>
      <p:sp>
        <p:nvSpPr>
          <p:cNvPr id="11" name="TextBox 10"/>
          <p:cNvSpPr txBox="1"/>
          <p:nvPr/>
        </p:nvSpPr>
        <p:spPr>
          <a:xfrm>
            <a:off x="3172968" y="1783080"/>
            <a:ext cx="1645920" cy="411480"/>
          </a:xfrm>
          <a:prstGeom prst="rect">
            <a:avLst/>
          </a:prstGeom>
          <a:noFill/>
        </p:spPr>
        <p:txBody>
          <a:bodyPr wrap="square" lIns="0" rIns="0" tIns="0" bIns="0" anchor="ctr">
            <a:noAutofit/>
          </a:bodyPr>
          <a:lstStyle/>
          <a:p>
            <a:pPr algn="ctr">
              <a:lnSpc>
                <a:spcPct val="110000"/>
              </a:lnSpc>
            </a:pPr>
            <a:r>
              <a:rPr sz="1200" b="1" i="0">
                <a:solidFill>
                  <a:srgbClr val="41801A"/>
                </a:solidFill>
                <a:latin typeface="Arial"/>
              </a:rPr>
              <a:t>Halqa platform</a:t>
            </a:r>
          </a:p>
        </p:txBody>
      </p:sp>
      <p:cxnSp>
        <p:nvCxnSpPr>
          <p:cNvPr id="12" name="Connector 11"/>
          <p:cNvCxnSpPr/>
          <p:nvPr/>
        </p:nvCxnSpPr>
        <p:spPr>
          <a:xfrm>
            <a:off x="3995928" y="2194560"/>
            <a:ext cx="0" cy="3703320"/>
          </a:xfrm>
          <a:prstGeom prst="line">
            <a:avLst/>
          </a:prstGeom>
          <a:ln w="12700">
            <a:solidFill>
              <a:srgbClr val="D5DCD1"/>
            </a:solidFill>
            <a:prstDash val="dash"/>
          </a:ln>
        </p:spPr>
      </p:cxnSp>
      <p:sp>
        <p:nvSpPr>
          <p:cNvPr id="13" name="Rectangle 12"/>
          <p:cNvSpPr/>
          <p:nvPr/>
        </p:nvSpPr>
        <p:spPr>
          <a:xfrm>
            <a:off x="5779007" y="1783080"/>
            <a:ext cx="1645920" cy="411480"/>
          </a:xfrm>
          <a:prstGeom prst="rect">
            <a:avLst/>
          </a:prstGeom>
          <a:noFill/>
          <a:ln w="15875">
            <a:solidFill>
              <a:srgbClr val="3B4148"/>
            </a:solidFill>
          </a:ln>
        </p:spPr>
        <p:txBody>
          <a:bodyPr rtlCol="0" anchor="ctr" lIns="0" rIns="0"/>
          <a:lstStyle/>
          <a:p>
            <a:pPr algn="ctr"/>
          </a:p>
        </p:txBody>
      </p:sp>
      <p:sp>
        <p:nvSpPr>
          <p:cNvPr id="14" name="TextBox 13"/>
          <p:cNvSpPr txBox="1"/>
          <p:nvPr/>
        </p:nvSpPr>
        <p:spPr>
          <a:xfrm>
            <a:off x="5779007" y="1783080"/>
            <a:ext cx="1645920" cy="411480"/>
          </a:xfrm>
          <a:prstGeom prst="rect">
            <a:avLst/>
          </a:prstGeom>
          <a:noFill/>
        </p:spPr>
        <p:txBody>
          <a:bodyPr wrap="square" lIns="0" rIns="0" tIns="0" bIns="0" anchor="ctr">
            <a:noAutofit/>
          </a:bodyPr>
          <a:lstStyle/>
          <a:p>
            <a:pPr algn="ctr">
              <a:lnSpc>
                <a:spcPct val="110000"/>
              </a:lnSpc>
            </a:pPr>
            <a:r>
              <a:rPr sz="1200" b="1" i="0">
                <a:solidFill>
                  <a:srgbClr val="3B4148"/>
                </a:solidFill>
                <a:latin typeface="Arial"/>
              </a:rPr>
              <a:t>Raqami systems</a:t>
            </a:r>
          </a:p>
        </p:txBody>
      </p:sp>
      <p:cxnSp>
        <p:nvCxnSpPr>
          <p:cNvPr id="15" name="Connector 14"/>
          <p:cNvCxnSpPr/>
          <p:nvPr/>
        </p:nvCxnSpPr>
        <p:spPr>
          <a:xfrm>
            <a:off x="6601968" y="2194560"/>
            <a:ext cx="0" cy="3703320"/>
          </a:xfrm>
          <a:prstGeom prst="line">
            <a:avLst/>
          </a:prstGeom>
          <a:ln w="12700">
            <a:solidFill>
              <a:srgbClr val="D5DCD1"/>
            </a:solidFill>
            <a:prstDash val="dash"/>
          </a:ln>
        </p:spPr>
      </p:cxnSp>
      <p:cxnSp>
        <p:nvCxnSpPr>
          <p:cNvPr id="16" name="Connector 15"/>
          <p:cNvCxnSpPr/>
          <p:nvPr/>
        </p:nvCxnSpPr>
        <p:spPr>
          <a:xfrm>
            <a:off x="1389888" y="2697480"/>
            <a:ext cx="5212080" cy="0"/>
          </a:xfrm>
          <a:prstGeom prst="line">
            <a:avLst/>
          </a:prstGeom>
          <a:ln w="12700">
            <a:solidFill>
              <a:srgbClr val="0C1408"/>
            </a:solidFill>
            <a:tailEnd type="triangle" w="med" len="med"/>
          </a:ln>
        </p:spPr>
      </p:cxnSp>
      <p:sp>
        <p:nvSpPr>
          <p:cNvPr id="17" name="TextBox 16"/>
          <p:cNvSpPr txBox="1"/>
          <p:nvPr/>
        </p:nvSpPr>
        <p:spPr>
          <a:xfrm>
            <a:off x="1463040" y="2450592"/>
            <a:ext cx="506577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1  opens an account in the application</a:t>
            </a:r>
          </a:p>
        </p:txBody>
      </p:sp>
      <p:cxnSp>
        <p:nvCxnSpPr>
          <p:cNvPr id="18" name="Connector 17"/>
          <p:cNvCxnSpPr/>
          <p:nvPr/>
        </p:nvCxnSpPr>
        <p:spPr>
          <a:xfrm flipH="1">
            <a:off x="3995928" y="3154680"/>
            <a:ext cx="2606040" cy="0"/>
          </a:xfrm>
          <a:prstGeom prst="line">
            <a:avLst/>
          </a:prstGeom>
          <a:ln w="12700">
            <a:solidFill>
              <a:srgbClr val="0C1408"/>
            </a:solidFill>
            <a:tailEnd type="triangle" w="med" len="med"/>
          </a:ln>
        </p:spPr>
      </p:cxnSp>
      <p:sp>
        <p:nvSpPr>
          <p:cNvPr id="19" name="TextBox 18"/>
          <p:cNvSpPr txBox="1"/>
          <p:nvPr/>
        </p:nvSpPr>
        <p:spPr>
          <a:xfrm>
            <a:off x="4069080" y="29077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2  account and mandate references</a:t>
            </a:r>
          </a:p>
        </p:txBody>
      </p:sp>
      <p:cxnSp>
        <p:nvCxnSpPr>
          <p:cNvPr id="20" name="Connector 19"/>
          <p:cNvCxnSpPr/>
          <p:nvPr/>
        </p:nvCxnSpPr>
        <p:spPr>
          <a:xfrm>
            <a:off x="3995928" y="3611880"/>
            <a:ext cx="2606040" cy="0"/>
          </a:xfrm>
          <a:prstGeom prst="line">
            <a:avLst/>
          </a:prstGeom>
          <a:ln w="12700">
            <a:solidFill>
              <a:srgbClr val="0C1408"/>
            </a:solidFill>
            <a:tailEnd type="triangle" w="med" len="med"/>
          </a:ln>
        </p:spPr>
      </p:cxnSp>
      <p:sp>
        <p:nvSpPr>
          <p:cNvPr id="21" name="TextBox 20"/>
          <p:cNvSpPr txBox="1"/>
          <p:nvPr/>
        </p:nvSpPr>
        <p:spPr>
          <a:xfrm>
            <a:off x="4069080" y="33649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3  collection file on the due date</a:t>
            </a:r>
          </a:p>
        </p:txBody>
      </p:sp>
      <p:cxnSp>
        <p:nvCxnSpPr>
          <p:cNvPr id="22" name="Connector 21"/>
          <p:cNvCxnSpPr/>
          <p:nvPr/>
        </p:nvCxnSpPr>
        <p:spPr>
          <a:xfrm flipH="1">
            <a:off x="3995928" y="4069080"/>
            <a:ext cx="2606040" cy="0"/>
          </a:xfrm>
          <a:prstGeom prst="line">
            <a:avLst/>
          </a:prstGeom>
          <a:ln w="12700">
            <a:solidFill>
              <a:srgbClr val="0C1408"/>
            </a:solidFill>
            <a:tailEnd type="triangle" w="med" len="med"/>
          </a:ln>
        </p:spPr>
      </p:cxnSp>
      <p:sp>
        <p:nvSpPr>
          <p:cNvPr id="23" name="TextBox 22"/>
          <p:cNvSpPr txBox="1"/>
          <p:nvPr/>
        </p:nvSpPr>
        <p:spPr>
          <a:xfrm>
            <a:off x="4069080" y="3822191"/>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4  signed confirmation of each debit</a:t>
            </a:r>
          </a:p>
        </p:txBody>
      </p:sp>
      <p:cxnSp>
        <p:nvCxnSpPr>
          <p:cNvPr id="24" name="Connector 23"/>
          <p:cNvCxnSpPr/>
          <p:nvPr/>
        </p:nvCxnSpPr>
        <p:spPr>
          <a:xfrm flipH="1">
            <a:off x="1389888" y="4526280"/>
            <a:ext cx="2606040" cy="0"/>
          </a:xfrm>
          <a:prstGeom prst="line">
            <a:avLst/>
          </a:prstGeom>
          <a:ln w="12700">
            <a:solidFill>
              <a:srgbClr val="0C1408"/>
            </a:solidFill>
            <a:tailEnd type="triangle" w="med" len="med"/>
          </a:ln>
        </p:spPr>
      </p:cxnSp>
      <p:sp>
        <p:nvSpPr>
          <p:cNvPr id="25" name="TextBox 24"/>
          <p:cNvSpPr txBox="1"/>
          <p:nvPr/>
        </p:nvSpPr>
        <p:spPr>
          <a:xfrm>
            <a:off x="1463040" y="4279392"/>
            <a:ext cx="2459736"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5  receipt; ledger and schedule updated</a:t>
            </a:r>
          </a:p>
        </p:txBody>
      </p:sp>
      <p:cxnSp>
        <p:nvCxnSpPr>
          <p:cNvPr id="26" name="Connector 25"/>
          <p:cNvCxnSpPr/>
          <p:nvPr/>
        </p:nvCxnSpPr>
        <p:spPr>
          <a:xfrm>
            <a:off x="3995928" y="4983480"/>
            <a:ext cx="2606040" cy="0"/>
          </a:xfrm>
          <a:prstGeom prst="line">
            <a:avLst/>
          </a:prstGeom>
          <a:ln w="12700">
            <a:solidFill>
              <a:srgbClr val="0C1408"/>
            </a:solidFill>
            <a:tailEnd type="triangle" w="med" len="med"/>
          </a:ln>
        </p:spPr>
      </p:cxnSp>
      <p:sp>
        <p:nvSpPr>
          <p:cNvPr id="27" name="TextBox 26"/>
          <p:cNvSpPr txBox="1"/>
          <p:nvPr/>
        </p:nvSpPr>
        <p:spPr>
          <a:xfrm>
            <a:off x="4069080" y="47365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6  payout instruction: the pot, less arrears</a:t>
            </a:r>
          </a:p>
        </p:txBody>
      </p:sp>
      <p:cxnSp>
        <p:nvCxnSpPr>
          <p:cNvPr id="28" name="Connector 27"/>
          <p:cNvCxnSpPr/>
          <p:nvPr/>
        </p:nvCxnSpPr>
        <p:spPr>
          <a:xfrm flipH="1">
            <a:off x="3995928" y="5440680"/>
            <a:ext cx="2606040" cy="0"/>
          </a:xfrm>
          <a:prstGeom prst="line">
            <a:avLst/>
          </a:prstGeom>
          <a:ln w="12700">
            <a:solidFill>
              <a:srgbClr val="0C1408"/>
            </a:solidFill>
            <a:tailEnd type="triangle" w="med" len="med"/>
          </a:ln>
        </p:spPr>
      </p:cxnSp>
      <p:sp>
        <p:nvSpPr>
          <p:cNvPr id="29" name="TextBox 28"/>
          <p:cNvSpPr txBox="1"/>
          <p:nvPr/>
        </p:nvSpPr>
        <p:spPr>
          <a:xfrm>
            <a:off x="4069080" y="51937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7  statement each morning to reconcile</a:t>
            </a:r>
          </a:p>
        </p:txBody>
      </p:sp>
      <p:cxnSp>
        <p:nvCxnSpPr>
          <p:cNvPr id="30" name="Connector 29"/>
          <p:cNvCxnSpPr/>
          <p:nvPr/>
        </p:nvCxnSpPr>
        <p:spPr>
          <a:xfrm>
            <a:off x="7772400" y="1810512"/>
            <a:ext cx="3840480" cy="0"/>
          </a:xfrm>
          <a:prstGeom prst="line">
            <a:avLst/>
          </a:prstGeom>
          <a:ln w="9525">
            <a:solidFill>
              <a:srgbClr val="D5DCD1"/>
            </a:solidFill>
          </a:ln>
        </p:spPr>
      </p:cxnSp>
      <p:sp>
        <p:nvSpPr>
          <p:cNvPr id="31" name="TextBox 30"/>
          <p:cNvSpPr txBox="1"/>
          <p:nvPr/>
        </p:nvSpPr>
        <p:spPr>
          <a:xfrm>
            <a:off x="7772400" y="1883664"/>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Messages.</a:t>
            </a:r>
            <a:r>
              <a:rPr sz="1200" b="0" i="0">
                <a:solidFill>
                  <a:srgbClr val="0C1408"/>
                </a:solidFill>
                <a:latin typeface="Arial"/>
              </a:rPr>
              <a:t> Signed and encrypted, with audit logs on both sides.</a:t>
            </a:r>
          </a:p>
        </p:txBody>
      </p:sp>
      <p:cxnSp>
        <p:nvCxnSpPr>
          <p:cNvPr id="32" name="Connector 31"/>
          <p:cNvCxnSpPr/>
          <p:nvPr/>
        </p:nvCxnSpPr>
        <p:spPr>
          <a:xfrm>
            <a:off x="7772400" y="2505456"/>
            <a:ext cx="3840480" cy="0"/>
          </a:xfrm>
          <a:prstGeom prst="line">
            <a:avLst/>
          </a:prstGeom>
          <a:ln w="9525">
            <a:solidFill>
              <a:srgbClr val="D5DCD1"/>
            </a:solidFill>
          </a:ln>
        </p:spPr>
      </p:cxnSp>
      <p:sp>
        <p:nvSpPr>
          <p:cNvPr id="33" name="TextBox 32"/>
          <p:cNvSpPr txBox="1"/>
          <p:nvPr/>
        </p:nvSpPr>
        <p:spPr>
          <a:xfrm>
            <a:off x="7772400" y="2578608"/>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Credentials.</a:t>
            </a:r>
            <a:r>
              <a:rPr sz="1200" b="0" i="0">
                <a:solidFill>
                  <a:srgbClr val="0C1408"/>
                </a:solidFill>
                <a:latin typeface="Arial"/>
              </a:rPr>
              <a:t> Halqa stores no card number, password, banking credential or face image.</a:t>
            </a:r>
          </a:p>
        </p:txBody>
      </p:sp>
      <p:cxnSp>
        <p:nvCxnSpPr>
          <p:cNvPr id="34" name="Connector 33"/>
          <p:cNvCxnSpPr/>
          <p:nvPr/>
        </p:nvCxnSpPr>
        <p:spPr>
          <a:xfrm>
            <a:off x="7772400" y="3200400"/>
            <a:ext cx="3840480" cy="0"/>
          </a:xfrm>
          <a:prstGeom prst="line">
            <a:avLst/>
          </a:prstGeom>
          <a:ln w="9525">
            <a:solidFill>
              <a:srgbClr val="D5DCD1"/>
            </a:solidFill>
          </a:ln>
        </p:spPr>
      </p:cxnSp>
      <p:sp>
        <p:nvSpPr>
          <p:cNvPr id="35" name="TextBox 34"/>
          <p:cNvSpPr txBox="1"/>
          <p:nvPr/>
        </p:nvSpPr>
        <p:spPr>
          <a:xfrm>
            <a:off x="7772400" y="3273552"/>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Access.</a:t>
            </a:r>
            <a:r>
              <a:rPr sz="1200" b="0" i="0">
                <a:solidFill>
                  <a:srgbClr val="0C1408"/>
                </a:solidFill>
                <a:latin typeface="Arial"/>
              </a:rPr>
              <a:t> Least privilege for staff and systems; penetration tests every year.</a:t>
            </a:r>
          </a:p>
        </p:txBody>
      </p:sp>
      <p:cxnSp>
        <p:nvCxnSpPr>
          <p:cNvPr id="36" name="Connector 35"/>
          <p:cNvCxnSpPr/>
          <p:nvPr/>
        </p:nvCxnSpPr>
        <p:spPr>
          <a:xfrm>
            <a:off x="7772400" y="3895344"/>
            <a:ext cx="3840480" cy="0"/>
          </a:xfrm>
          <a:prstGeom prst="line">
            <a:avLst/>
          </a:prstGeom>
          <a:ln w="9525">
            <a:solidFill>
              <a:srgbClr val="D5DCD1"/>
            </a:solidFill>
          </a:ln>
        </p:spPr>
      </p:cxnSp>
      <p:sp>
        <p:nvSpPr>
          <p:cNvPr id="37" name="TextBox 36"/>
          <p:cNvSpPr txBox="1"/>
          <p:nvPr/>
        </p:nvSpPr>
        <p:spPr>
          <a:xfrm>
            <a:off x="7772400" y="3968496"/>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Data.</a:t>
            </a:r>
            <a:r>
              <a:rPr sz="1200" b="0" i="0">
                <a:solidFill>
                  <a:srgbClr val="0C1408"/>
                </a:solidFill>
                <a:latin typeface="Arial"/>
              </a:rPr>
              <a:t> Hosted where Raqami and the State Bank require; the database moves to Pakistan if asked.</a:t>
            </a:r>
          </a:p>
        </p:txBody>
      </p:sp>
      <p:cxnSp>
        <p:nvCxnSpPr>
          <p:cNvPr id="38" name="Connector 37"/>
          <p:cNvCxnSpPr/>
          <p:nvPr/>
        </p:nvCxnSpPr>
        <p:spPr>
          <a:xfrm>
            <a:off x="7772400" y="4590288"/>
            <a:ext cx="3840480" cy="0"/>
          </a:xfrm>
          <a:prstGeom prst="line">
            <a:avLst/>
          </a:prstGeom>
          <a:ln w="9525">
            <a:solidFill>
              <a:srgbClr val="D5DCD1"/>
            </a:solidFill>
          </a:ln>
        </p:spPr>
      </p:cxnSp>
      <p:sp>
        <p:nvSpPr>
          <p:cNvPr id="39" name="TextBox 38"/>
          <p:cNvSpPr txBox="1"/>
          <p:nvPr/>
        </p:nvSpPr>
        <p:spPr>
          <a:xfrm>
            <a:off x="7772400" y="4663440"/>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Agreement.</a:t>
            </a:r>
            <a:r>
              <a:rPr sz="1200" b="0" i="0">
                <a:solidFill>
                  <a:srgbClr val="0C1408"/>
                </a:solidFill>
                <a:latin typeface="Arial"/>
              </a:rPr>
              <a:t> Service levels, audit and inspection rights, complaints, continuity and exit.</a:t>
            </a:r>
          </a:p>
        </p:txBody>
      </p:sp>
      <p:cxnSp>
        <p:nvCxnSpPr>
          <p:cNvPr id="40" name="Connector 39"/>
          <p:cNvCxnSpPr/>
          <p:nvPr/>
        </p:nvCxnSpPr>
        <p:spPr>
          <a:xfrm>
            <a:off x="7772400" y="5285231"/>
            <a:ext cx="3840480" cy="0"/>
          </a:xfrm>
          <a:prstGeom prst="line">
            <a:avLst/>
          </a:prstGeom>
          <a:ln w="9525">
            <a:solidFill>
              <a:srgbClr val="D5DCD1"/>
            </a:solidFill>
          </a:ln>
        </p:spPr>
      </p:cxnSp>
      <p:sp>
        <p:nvSpPr>
          <p:cNvPr id="41" name="TextBox 40"/>
          <p:cNvSpPr txBox="1"/>
          <p:nvPr/>
        </p:nvSpPr>
        <p:spPr>
          <a:xfrm>
            <a:off x="7772400" y="5358383"/>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Back up.</a:t>
            </a:r>
            <a:r>
              <a:rPr sz="1200" b="0" i="0">
                <a:solidFill>
                  <a:srgbClr val="0C1408"/>
                </a:solidFill>
                <a:latin typeface="Arial"/>
              </a:rPr>
              <a:t> Card, wallet or Raast through Safepay, a licensed payment service provider, for money coming from other banks.</a:t>
            </a:r>
          </a:p>
        </p:txBody>
      </p:sp>
      <p:cxnSp>
        <p:nvCxnSpPr>
          <p:cNvPr id="42" name="Connector 41"/>
          <p:cNvCxnSpPr/>
          <p:nvPr/>
        </p:nvCxnSpPr>
        <p:spPr>
          <a:xfrm>
            <a:off x="7772400" y="5980175"/>
            <a:ext cx="3840480" cy="0"/>
          </a:xfrm>
          <a:prstGeom prst="line">
            <a:avLst/>
          </a:prstGeom>
          <a:ln w="9525">
            <a:solidFill>
              <a:srgbClr val="D5DCD1"/>
            </a:solidFill>
          </a:ln>
        </p:spPr>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Points and Turn Swaps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Points are earned, never bought. Turns may be swapped, never sold.</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Seat exchange and points design, 25 September 2026, restricted here to what an Islamic bank can offer.</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27</a:t>
            </a:r>
          </a:p>
        </p:txBody>
      </p:sp>
      <p:sp>
        <p:nvSpPr>
          <p:cNvPr id="7" name="TextBox 6"/>
          <p:cNvSpPr txBox="1"/>
          <p:nvPr/>
        </p:nvSpPr>
        <p:spPr>
          <a:xfrm>
            <a:off x="566928" y="1783080"/>
            <a:ext cx="475488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Points</a:t>
            </a:r>
          </a:p>
        </p:txBody>
      </p:sp>
      <p:sp>
        <p:nvSpPr>
          <p:cNvPr id="8" name="TextBox 7"/>
          <p:cNvSpPr txBox="1"/>
          <p:nvPr/>
        </p:nvSpPr>
        <p:spPr>
          <a:xfrm>
            <a:off x="566928" y="2167128"/>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Paid on time</a:t>
            </a:r>
          </a:p>
        </p:txBody>
      </p:sp>
      <p:sp>
        <p:nvSpPr>
          <p:cNvPr id="9" name="TextBox 8"/>
          <p:cNvSpPr txBox="1"/>
          <p:nvPr/>
        </p:nvSpPr>
        <p:spPr>
          <a:xfrm>
            <a:off x="3383280" y="2167128"/>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60 points</a:t>
            </a:r>
          </a:p>
        </p:txBody>
      </p:sp>
      <p:cxnSp>
        <p:nvCxnSpPr>
          <p:cNvPr id="10" name="Connector 9"/>
          <p:cNvCxnSpPr/>
          <p:nvPr/>
        </p:nvCxnSpPr>
        <p:spPr>
          <a:xfrm>
            <a:off x="566928" y="2569464"/>
            <a:ext cx="4846320" cy="0"/>
          </a:xfrm>
          <a:prstGeom prst="line">
            <a:avLst/>
          </a:prstGeom>
          <a:ln w="9525">
            <a:solidFill>
              <a:srgbClr val="D5DCD1"/>
            </a:solidFill>
          </a:ln>
        </p:spPr>
      </p:cxnSp>
      <p:sp>
        <p:nvSpPr>
          <p:cNvPr id="11" name="TextBox 10"/>
          <p:cNvSpPr txBox="1"/>
          <p:nvPr/>
        </p:nvSpPr>
        <p:spPr>
          <a:xfrm>
            <a:off x="566928" y="2569464"/>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Five on time in a row</a:t>
            </a:r>
          </a:p>
        </p:txBody>
      </p:sp>
      <p:sp>
        <p:nvSpPr>
          <p:cNvPr id="12" name="TextBox 11"/>
          <p:cNvSpPr txBox="1"/>
          <p:nvPr/>
        </p:nvSpPr>
        <p:spPr>
          <a:xfrm>
            <a:off x="3383280" y="2569464"/>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100 more</a:t>
            </a:r>
          </a:p>
        </p:txBody>
      </p:sp>
      <p:cxnSp>
        <p:nvCxnSpPr>
          <p:cNvPr id="13" name="Connector 12"/>
          <p:cNvCxnSpPr/>
          <p:nvPr/>
        </p:nvCxnSpPr>
        <p:spPr>
          <a:xfrm>
            <a:off x="566928" y="2971800"/>
            <a:ext cx="4846320" cy="0"/>
          </a:xfrm>
          <a:prstGeom prst="line">
            <a:avLst/>
          </a:prstGeom>
          <a:ln w="9525">
            <a:solidFill>
              <a:srgbClr val="D5DCD1"/>
            </a:solidFill>
          </a:ln>
        </p:spPr>
      </p:cxnSp>
      <p:sp>
        <p:nvSpPr>
          <p:cNvPr id="14" name="TextBox 13"/>
          <p:cNvSpPr txBox="1"/>
          <p:nvPr/>
        </p:nvSpPr>
        <p:spPr>
          <a:xfrm>
            <a:off x="566928" y="2971800"/>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Hosting a clean circle</a:t>
            </a:r>
          </a:p>
        </p:txBody>
      </p:sp>
      <p:sp>
        <p:nvSpPr>
          <p:cNvPr id="15" name="TextBox 14"/>
          <p:cNvSpPr txBox="1"/>
          <p:nvPr/>
        </p:nvSpPr>
        <p:spPr>
          <a:xfrm>
            <a:off x="3383280" y="2971800"/>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2,500</a:t>
            </a:r>
          </a:p>
        </p:txBody>
      </p:sp>
      <p:cxnSp>
        <p:nvCxnSpPr>
          <p:cNvPr id="16" name="Connector 15"/>
          <p:cNvCxnSpPr/>
          <p:nvPr/>
        </p:nvCxnSpPr>
        <p:spPr>
          <a:xfrm>
            <a:off x="566928" y="3374136"/>
            <a:ext cx="4846320" cy="0"/>
          </a:xfrm>
          <a:prstGeom prst="line">
            <a:avLst/>
          </a:prstGeom>
          <a:ln w="9525">
            <a:solidFill>
              <a:srgbClr val="D5DCD1"/>
            </a:solidFill>
          </a:ln>
        </p:spPr>
      </p:cxnSp>
      <p:sp>
        <p:nvSpPr>
          <p:cNvPr id="17" name="TextBox 16"/>
          <p:cNvSpPr txBox="1"/>
          <p:nvPr/>
        </p:nvSpPr>
        <p:spPr>
          <a:xfrm>
            <a:off x="566928" y="3374136"/>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Referral who completes a circle</a:t>
            </a:r>
          </a:p>
        </p:txBody>
      </p:sp>
      <p:sp>
        <p:nvSpPr>
          <p:cNvPr id="18" name="TextBox 17"/>
          <p:cNvSpPr txBox="1"/>
          <p:nvPr/>
        </p:nvSpPr>
        <p:spPr>
          <a:xfrm>
            <a:off x="3383280" y="3374136"/>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1,000</a:t>
            </a:r>
          </a:p>
        </p:txBody>
      </p:sp>
      <p:cxnSp>
        <p:nvCxnSpPr>
          <p:cNvPr id="19" name="Connector 18"/>
          <p:cNvCxnSpPr/>
          <p:nvPr/>
        </p:nvCxnSpPr>
        <p:spPr>
          <a:xfrm>
            <a:off x="566928" y="3776472"/>
            <a:ext cx="4846320" cy="0"/>
          </a:xfrm>
          <a:prstGeom prst="line">
            <a:avLst/>
          </a:prstGeom>
          <a:ln w="9525">
            <a:solidFill>
              <a:srgbClr val="D5DCD1"/>
            </a:solidFill>
          </a:ln>
        </p:spPr>
      </p:cxnSp>
      <p:sp>
        <p:nvSpPr>
          <p:cNvPr id="20" name="TextBox 19"/>
          <p:cNvSpPr txBox="1"/>
          <p:nvPr/>
        </p:nvSpPr>
        <p:spPr>
          <a:xfrm>
            <a:off x="566928" y="3776472"/>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Share of profit on balances</a:t>
            </a:r>
          </a:p>
        </p:txBody>
      </p:sp>
      <p:sp>
        <p:nvSpPr>
          <p:cNvPr id="21" name="TextBox 20"/>
          <p:cNvSpPr txBox="1"/>
          <p:nvPr/>
        </p:nvSpPr>
        <p:spPr>
          <a:xfrm>
            <a:off x="3383280" y="3776472"/>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 point a rupee</a:t>
            </a:r>
          </a:p>
        </p:txBody>
      </p:sp>
      <p:cxnSp>
        <p:nvCxnSpPr>
          <p:cNvPr id="22" name="Connector 21"/>
          <p:cNvCxnSpPr/>
          <p:nvPr/>
        </p:nvCxnSpPr>
        <p:spPr>
          <a:xfrm>
            <a:off x="566928" y="4178808"/>
            <a:ext cx="4846320" cy="0"/>
          </a:xfrm>
          <a:prstGeom prst="line">
            <a:avLst/>
          </a:prstGeom>
          <a:ln w="9525">
            <a:solidFill>
              <a:srgbClr val="D5DCD1"/>
            </a:solidFill>
          </a:ln>
        </p:spPr>
      </p:cxnSp>
      <p:sp>
        <p:nvSpPr>
          <p:cNvPr id="23" name="TextBox 22"/>
          <p:cNvSpPr txBox="1"/>
          <p:nvPr/>
        </p:nvSpPr>
        <p:spPr>
          <a:xfrm>
            <a:off x="566928" y="4178808"/>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Spent on</a:t>
            </a:r>
          </a:p>
        </p:txBody>
      </p:sp>
      <p:sp>
        <p:nvSpPr>
          <p:cNvPr id="24" name="TextBox 23"/>
          <p:cNvSpPr txBox="1"/>
          <p:nvPr/>
        </p:nvSpPr>
        <p:spPr>
          <a:xfrm>
            <a:off x="3383280" y="4178808"/>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goods and fees</a:t>
            </a:r>
          </a:p>
        </p:txBody>
      </p:sp>
      <p:cxnSp>
        <p:nvCxnSpPr>
          <p:cNvPr id="25" name="Connector 24"/>
          <p:cNvCxnSpPr/>
          <p:nvPr/>
        </p:nvCxnSpPr>
        <p:spPr>
          <a:xfrm>
            <a:off x="566928" y="4581144"/>
            <a:ext cx="4846320" cy="0"/>
          </a:xfrm>
          <a:prstGeom prst="line">
            <a:avLst/>
          </a:prstGeom>
          <a:ln w="9525">
            <a:solidFill>
              <a:srgbClr val="D5DCD1"/>
            </a:solidFill>
          </a:ln>
        </p:spPr>
      </p:cxnSp>
      <p:sp>
        <p:nvSpPr>
          <p:cNvPr id="26" name="TextBox 25"/>
          <p:cNvSpPr txBox="1"/>
          <p:nvPr/>
        </p:nvSpPr>
        <p:spPr>
          <a:xfrm>
            <a:off x="566928" y="5074920"/>
            <a:ext cx="4937760" cy="914400"/>
          </a:xfrm>
          <a:prstGeom prst="rect">
            <a:avLst/>
          </a:prstGeom>
          <a:noFill/>
        </p:spPr>
        <p:txBody>
          <a:bodyPr wrap="square" lIns="0" rIns="0" tIns="0" bIns="0" anchor="t">
            <a:noAutofit/>
          </a:bodyPr>
          <a:lstStyle/>
          <a:p>
            <a:pPr algn="l">
              <a:lnSpc>
                <a:spcPct val="105000"/>
              </a:lnSpc>
            </a:pPr>
            <a:r>
              <a:rPr sz="1150" b="0" i="0">
                <a:solidFill>
                  <a:srgbClr val="0C1408"/>
                </a:solidFill>
                <a:latin typeface="Arial"/>
              </a:rPr>
              <a:t>Never cashed out and never sold. The rupee value of earned points is set before launch, subject to the Shariah Board.</a:t>
            </a:r>
          </a:p>
        </p:txBody>
      </p:sp>
      <p:sp>
        <p:nvSpPr>
          <p:cNvPr id="27" name="TextBox 26"/>
          <p:cNvSpPr txBox="1"/>
          <p:nvPr/>
        </p:nvSpPr>
        <p:spPr>
          <a:xfrm>
            <a:off x="6172200" y="1783080"/>
            <a:ext cx="539496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Turn swaps</a:t>
            </a:r>
          </a:p>
        </p:txBody>
      </p:sp>
      <p:cxnSp>
        <p:nvCxnSpPr>
          <p:cNvPr id="28" name="Connector 27"/>
          <p:cNvCxnSpPr/>
          <p:nvPr/>
        </p:nvCxnSpPr>
        <p:spPr>
          <a:xfrm>
            <a:off x="6583680" y="2542032"/>
            <a:ext cx="4572000" cy="0"/>
          </a:xfrm>
          <a:prstGeom prst="line">
            <a:avLst/>
          </a:prstGeom>
          <a:ln w="28575">
            <a:solidFill>
              <a:srgbClr val="41801A"/>
            </a:solidFill>
          </a:ln>
        </p:spPr>
      </p:cxnSp>
      <p:sp>
        <p:nvSpPr>
          <p:cNvPr id="29" name="Oval 28"/>
          <p:cNvSpPr/>
          <p:nvPr/>
        </p:nvSpPr>
        <p:spPr>
          <a:xfrm>
            <a:off x="6492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0" name="TextBox 29"/>
          <p:cNvSpPr txBox="1"/>
          <p:nvPr/>
        </p:nvSpPr>
        <p:spPr>
          <a:xfrm>
            <a:off x="6103620"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Ask</a:t>
            </a:r>
          </a:p>
        </p:txBody>
      </p:sp>
      <p:sp>
        <p:nvSpPr>
          <p:cNvPr id="31" name="TextBox 30"/>
          <p:cNvSpPr txBox="1"/>
          <p:nvPr/>
        </p:nvSpPr>
        <p:spPr>
          <a:xfrm>
            <a:off x="6103620"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a member asks to swap</a:t>
            </a:r>
          </a:p>
        </p:txBody>
      </p:sp>
      <p:sp>
        <p:nvSpPr>
          <p:cNvPr id="32" name="Oval 31"/>
          <p:cNvSpPr/>
          <p:nvPr/>
        </p:nvSpPr>
        <p:spPr>
          <a:xfrm>
            <a:off x="7635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3" name="TextBox 32"/>
          <p:cNvSpPr txBox="1"/>
          <p:nvPr/>
        </p:nvSpPr>
        <p:spPr>
          <a:xfrm>
            <a:off x="7246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Match</a:t>
            </a:r>
          </a:p>
        </p:txBody>
      </p:sp>
      <p:sp>
        <p:nvSpPr>
          <p:cNvPr id="34" name="TextBox 33"/>
          <p:cNvSpPr txBox="1"/>
          <p:nvPr/>
        </p:nvSpPr>
        <p:spPr>
          <a:xfrm>
            <a:off x="7246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a willing member</a:t>
            </a:r>
          </a:p>
        </p:txBody>
      </p:sp>
      <p:sp>
        <p:nvSpPr>
          <p:cNvPr id="35" name="Oval 34"/>
          <p:cNvSpPr/>
          <p:nvPr/>
        </p:nvSpPr>
        <p:spPr>
          <a:xfrm>
            <a:off x="8778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6" name="TextBox 35"/>
          <p:cNvSpPr txBox="1"/>
          <p:nvPr/>
        </p:nvSpPr>
        <p:spPr>
          <a:xfrm>
            <a:off x="8389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Check</a:t>
            </a:r>
          </a:p>
        </p:txBody>
      </p:sp>
      <p:sp>
        <p:nvSpPr>
          <p:cNvPr id="37" name="TextBox 36"/>
          <p:cNvSpPr txBox="1"/>
          <p:nvPr/>
        </p:nvSpPr>
        <p:spPr>
          <a:xfrm>
            <a:off x="8389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both bands allow it</a:t>
            </a:r>
          </a:p>
        </p:txBody>
      </p:sp>
      <p:sp>
        <p:nvSpPr>
          <p:cNvPr id="38" name="Oval 37"/>
          <p:cNvSpPr/>
          <p:nvPr/>
        </p:nvSpPr>
        <p:spPr>
          <a:xfrm>
            <a:off x="9921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9" name="TextBox 38"/>
          <p:cNvSpPr txBox="1"/>
          <p:nvPr/>
        </p:nvSpPr>
        <p:spPr>
          <a:xfrm>
            <a:off x="9532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Approve</a:t>
            </a:r>
          </a:p>
        </p:txBody>
      </p:sp>
      <p:sp>
        <p:nvSpPr>
          <p:cNvPr id="40" name="TextBox 39"/>
          <p:cNvSpPr txBox="1"/>
          <p:nvPr/>
        </p:nvSpPr>
        <p:spPr>
          <a:xfrm>
            <a:off x="9532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the host agrees</a:t>
            </a:r>
          </a:p>
        </p:txBody>
      </p:sp>
      <p:sp>
        <p:nvSpPr>
          <p:cNvPr id="41" name="Oval 40"/>
          <p:cNvSpPr/>
          <p:nvPr/>
        </p:nvSpPr>
        <p:spPr>
          <a:xfrm>
            <a:off x="11064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42" name="TextBox 41"/>
          <p:cNvSpPr txBox="1"/>
          <p:nvPr/>
        </p:nvSpPr>
        <p:spPr>
          <a:xfrm>
            <a:off x="10675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Swap</a:t>
            </a:r>
          </a:p>
        </p:txBody>
      </p:sp>
      <p:sp>
        <p:nvSpPr>
          <p:cNvPr id="43" name="TextBox 42"/>
          <p:cNvSpPr txBox="1"/>
          <p:nvPr/>
        </p:nvSpPr>
        <p:spPr>
          <a:xfrm>
            <a:off x="10675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turns change; no money</a:t>
            </a:r>
          </a:p>
        </p:txBody>
      </p:sp>
      <p:cxnSp>
        <p:nvCxnSpPr>
          <p:cNvPr id="44" name="Connector 43"/>
          <p:cNvCxnSpPr/>
          <p:nvPr/>
        </p:nvCxnSpPr>
        <p:spPr>
          <a:xfrm>
            <a:off x="6172200" y="3931920"/>
            <a:ext cx="5440680" cy="0"/>
          </a:xfrm>
          <a:prstGeom prst="line">
            <a:avLst/>
          </a:prstGeom>
          <a:ln w="9525">
            <a:solidFill>
              <a:srgbClr val="D5DCD1"/>
            </a:solidFill>
          </a:ln>
        </p:spPr>
      </p:cxnSp>
      <p:sp>
        <p:nvSpPr>
          <p:cNvPr id="45" name="TextBox 44"/>
          <p:cNvSpPr txBox="1"/>
          <p:nvPr/>
        </p:nvSpPr>
        <p:spPr>
          <a:xfrm>
            <a:off x="6172200" y="4005072"/>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Where.</a:t>
            </a:r>
            <a:r>
              <a:rPr sz="1150" b="0" i="0">
                <a:solidFill>
                  <a:srgbClr val="0C1408"/>
                </a:solidFill>
                <a:latin typeface="Arial"/>
              </a:rPr>
              <a:t> Monthly circles only; never on Hyper or asset circles.</a:t>
            </a:r>
          </a:p>
        </p:txBody>
      </p:sp>
      <p:cxnSp>
        <p:nvCxnSpPr>
          <p:cNvPr id="46" name="Connector 45"/>
          <p:cNvCxnSpPr/>
          <p:nvPr/>
        </p:nvCxnSpPr>
        <p:spPr>
          <a:xfrm>
            <a:off x="6172200" y="4443983"/>
            <a:ext cx="5440680" cy="0"/>
          </a:xfrm>
          <a:prstGeom prst="line">
            <a:avLst/>
          </a:prstGeom>
          <a:ln w="9525">
            <a:solidFill>
              <a:srgbClr val="D5DCD1"/>
            </a:solidFill>
          </a:ln>
        </p:spPr>
      </p:cxnSp>
      <p:sp>
        <p:nvSpPr>
          <p:cNvPr id="47" name="TextBox 46"/>
          <p:cNvSpPr txBox="1"/>
          <p:nvPr/>
        </p:nvSpPr>
        <p:spPr>
          <a:xfrm>
            <a:off x="6172200" y="4517136"/>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Price.</a:t>
            </a:r>
            <a:r>
              <a:rPr sz="1150" b="0" i="0">
                <a:solidFill>
                  <a:srgbClr val="0C1408"/>
                </a:solidFill>
                <a:latin typeface="Arial"/>
              </a:rPr>
              <a:t> None. A turn is never sold for money or points.</a:t>
            </a:r>
          </a:p>
        </p:txBody>
      </p:sp>
      <p:cxnSp>
        <p:nvCxnSpPr>
          <p:cNvPr id="48" name="Connector 47"/>
          <p:cNvCxnSpPr/>
          <p:nvPr/>
        </p:nvCxnSpPr>
        <p:spPr>
          <a:xfrm>
            <a:off x="6172200" y="4956048"/>
            <a:ext cx="5440680" cy="0"/>
          </a:xfrm>
          <a:prstGeom prst="line">
            <a:avLst/>
          </a:prstGeom>
          <a:ln w="9525">
            <a:solidFill>
              <a:srgbClr val="D5DCD1"/>
            </a:solidFill>
          </a:ln>
        </p:spPr>
      </p:cxnSp>
      <p:sp>
        <p:nvSpPr>
          <p:cNvPr id="49" name="TextBox 48"/>
          <p:cNvSpPr txBox="1"/>
          <p:nvPr/>
        </p:nvSpPr>
        <p:spPr>
          <a:xfrm>
            <a:off x="6172200" y="5029200"/>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Checks.</a:t>
            </a:r>
            <a:r>
              <a:rPr sz="1150" b="0" i="0">
                <a:solidFill>
                  <a:srgbClr val="0C1408"/>
                </a:solidFill>
                <a:latin typeface="Arial"/>
              </a:rPr>
              <a:t> Both members re-checked for their new turns before the swap.</a:t>
            </a:r>
          </a:p>
        </p:txBody>
      </p:sp>
      <p:cxnSp>
        <p:nvCxnSpPr>
          <p:cNvPr id="50" name="Connector 49"/>
          <p:cNvCxnSpPr/>
          <p:nvPr/>
        </p:nvCxnSpPr>
        <p:spPr>
          <a:xfrm>
            <a:off x="6172200" y="5468112"/>
            <a:ext cx="5440680" cy="0"/>
          </a:xfrm>
          <a:prstGeom prst="line">
            <a:avLst/>
          </a:prstGeom>
          <a:ln w="9525">
            <a:solidFill>
              <a:srgbClr val="D5DCD1"/>
            </a:solidFill>
          </a:ln>
        </p:spPr>
      </p:cxnSp>
      <p:sp>
        <p:nvSpPr>
          <p:cNvPr id="51" name="TextBox 50"/>
          <p:cNvSpPr txBox="1"/>
          <p:nvPr/>
        </p:nvSpPr>
        <p:spPr>
          <a:xfrm>
            <a:off x="6172200" y="5541264"/>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Record.</a:t>
            </a:r>
            <a:r>
              <a:rPr sz="1150" b="0" i="0">
                <a:solidFill>
                  <a:srgbClr val="0C1408"/>
                </a:solidFill>
                <a:latin typeface="Arial"/>
              </a:rPr>
              <a:t> Every swap is recorded on the circle's ledger.</a:t>
            </a:r>
          </a:p>
        </p:txBody>
      </p:sp>
      <p:cxnSp>
        <p:nvCxnSpPr>
          <p:cNvPr id="52" name="Connector 51"/>
          <p:cNvCxnSpPr/>
          <p:nvPr/>
        </p:nvCxnSpPr>
        <p:spPr>
          <a:xfrm>
            <a:off x="6172200" y="5980176"/>
            <a:ext cx="5440680" cy="0"/>
          </a:xfrm>
          <a:prstGeom prst="line">
            <a:avLst/>
          </a:prstGeom>
          <a:ln w="9525">
            <a:solidFill>
              <a:srgbClr val="D5DCD1"/>
            </a:solidFill>
          </a:ln>
        </p:spPr>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Hyper: Daily Circles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For members with daily income. Labelled experimental, with a hard stop on losses.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Two options fixed on 23 September 2026. Pot = daily contribution x days; roster = collectors a day x days.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28</a:t>
            </a:r>
          </a:p>
        </p:txBody>
      </p:sp>
      <p:sp>
        <p:nvSpPr>
          <p:cNvPr id="7" name="TextBox 6"/>
          <p:cNvSpPr txBox="1"/>
          <p:nvPr/>
        </p:nvSpPr>
        <p:spPr>
          <a:xfrm>
            <a:off x="566928" y="1783080"/>
            <a:ext cx="2852928" cy="393192"/>
          </a:xfrm>
          <a:prstGeom prst="rect">
            <a:avLst/>
          </a:prstGeom>
          <a:noFill/>
        </p:spPr>
        <p:txBody>
          <a:bodyPr wrap="square" lIns="0" rIns="0" tIns="0" bIns="0" anchor="b">
            <a:noAutofit/>
          </a:bodyPr>
          <a:lstStyle/>
          <a:p>
            <a:pPr algn="l">
              <a:lnSpc>
                <a:spcPct val="110000"/>
              </a:lnSpc>
            </a:pPr>
          </a:p>
        </p:txBody>
      </p:sp>
      <p:sp>
        <p:nvSpPr>
          <p:cNvPr id="8" name="TextBox 7"/>
          <p:cNvSpPr txBox="1"/>
          <p:nvPr/>
        </p:nvSpPr>
        <p:spPr>
          <a:xfrm>
            <a:off x="3566160" y="1783080"/>
            <a:ext cx="1664207" cy="393192"/>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Option 1</a:t>
            </a:r>
          </a:p>
        </p:txBody>
      </p:sp>
      <p:sp>
        <p:nvSpPr>
          <p:cNvPr id="9" name="TextBox 8"/>
          <p:cNvSpPr txBox="1"/>
          <p:nvPr/>
        </p:nvSpPr>
        <p:spPr>
          <a:xfrm>
            <a:off x="5303520" y="1783080"/>
            <a:ext cx="1664207" cy="393192"/>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Option 2</a:t>
            </a:r>
          </a:p>
        </p:txBody>
      </p:sp>
      <p:cxnSp>
        <p:nvCxnSpPr>
          <p:cNvPr id="10" name="Connector 9"/>
          <p:cNvCxnSpPr/>
          <p:nvPr/>
        </p:nvCxnSpPr>
        <p:spPr>
          <a:xfrm>
            <a:off x="566928" y="2212848"/>
            <a:ext cx="6400800" cy="0"/>
          </a:xfrm>
          <a:prstGeom prst="line">
            <a:avLst/>
          </a:prstGeom>
          <a:ln w="12700">
            <a:solidFill>
              <a:srgbClr val="0C1408"/>
            </a:solidFill>
          </a:ln>
        </p:spPr>
      </p:cxnSp>
      <p:sp>
        <p:nvSpPr>
          <p:cNvPr id="11" name="TextBox 10"/>
          <p:cNvSpPr txBox="1"/>
          <p:nvPr/>
        </p:nvSpPr>
        <p:spPr>
          <a:xfrm>
            <a:off x="566928" y="2194560"/>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Members</a:t>
            </a:r>
          </a:p>
        </p:txBody>
      </p:sp>
      <p:sp>
        <p:nvSpPr>
          <p:cNvPr id="12" name="TextBox 11"/>
          <p:cNvSpPr txBox="1"/>
          <p:nvPr/>
        </p:nvSpPr>
        <p:spPr>
          <a:xfrm>
            <a:off x="3566160" y="219456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400</a:t>
            </a:r>
          </a:p>
        </p:txBody>
      </p:sp>
      <p:sp>
        <p:nvSpPr>
          <p:cNvPr id="13" name="TextBox 12"/>
          <p:cNvSpPr txBox="1"/>
          <p:nvPr/>
        </p:nvSpPr>
        <p:spPr>
          <a:xfrm>
            <a:off x="5303520" y="219456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390</a:t>
            </a:r>
          </a:p>
        </p:txBody>
      </p:sp>
      <p:cxnSp>
        <p:nvCxnSpPr>
          <p:cNvPr id="14" name="Connector 13"/>
          <p:cNvCxnSpPr/>
          <p:nvPr/>
        </p:nvCxnSpPr>
        <p:spPr>
          <a:xfrm>
            <a:off x="566928" y="2587752"/>
            <a:ext cx="6400800" cy="0"/>
          </a:xfrm>
          <a:prstGeom prst="line">
            <a:avLst/>
          </a:prstGeom>
          <a:ln w="9525">
            <a:solidFill>
              <a:srgbClr val="D5DCD1"/>
            </a:solidFill>
          </a:ln>
        </p:spPr>
      </p:cxnSp>
      <p:sp>
        <p:nvSpPr>
          <p:cNvPr id="15" name="TextBox 14"/>
          <p:cNvSpPr txBox="1"/>
          <p:nvPr/>
        </p:nvSpPr>
        <p:spPr>
          <a:xfrm>
            <a:off x="566928" y="2587752"/>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Days</a:t>
            </a:r>
          </a:p>
        </p:txBody>
      </p:sp>
      <p:sp>
        <p:nvSpPr>
          <p:cNvPr id="16" name="TextBox 15"/>
          <p:cNvSpPr txBox="1"/>
          <p:nvPr/>
        </p:nvSpPr>
        <p:spPr>
          <a:xfrm>
            <a:off x="3566160" y="258775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50</a:t>
            </a:r>
          </a:p>
        </p:txBody>
      </p:sp>
      <p:sp>
        <p:nvSpPr>
          <p:cNvPr id="17" name="TextBox 16"/>
          <p:cNvSpPr txBox="1"/>
          <p:nvPr/>
        </p:nvSpPr>
        <p:spPr>
          <a:xfrm>
            <a:off x="5303520" y="258775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26, Sundays off</a:t>
            </a:r>
          </a:p>
        </p:txBody>
      </p:sp>
      <p:cxnSp>
        <p:nvCxnSpPr>
          <p:cNvPr id="18" name="Connector 17"/>
          <p:cNvCxnSpPr/>
          <p:nvPr/>
        </p:nvCxnSpPr>
        <p:spPr>
          <a:xfrm>
            <a:off x="566928" y="2980944"/>
            <a:ext cx="6400800" cy="0"/>
          </a:xfrm>
          <a:prstGeom prst="line">
            <a:avLst/>
          </a:prstGeom>
          <a:ln w="9525">
            <a:solidFill>
              <a:srgbClr val="D5DCD1"/>
            </a:solidFill>
          </a:ln>
        </p:spPr>
      </p:cxnSp>
      <p:sp>
        <p:nvSpPr>
          <p:cNvPr id="19" name="TextBox 18"/>
          <p:cNvSpPr txBox="1"/>
          <p:nvPr/>
        </p:nvSpPr>
        <p:spPr>
          <a:xfrm>
            <a:off x="566928" y="2980944"/>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Members collecting each day</a:t>
            </a:r>
          </a:p>
        </p:txBody>
      </p:sp>
      <p:sp>
        <p:nvSpPr>
          <p:cNvPr id="20" name="TextBox 19"/>
          <p:cNvSpPr txBox="1"/>
          <p:nvPr/>
        </p:nvSpPr>
        <p:spPr>
          <a:xfrm>
            <a:off x="3566160" y="2980944"/>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8</a:t>
            </a:r>
          </a:p>
        </p:txBody>
      </p:sp>
      <p:sp>
        <p:nvSpPr>
          <p:cNvPr id="21" name="TextBox 20"/>
          <p:cNvSpPr txBox="1"/>
          <p:nvPr/>
        </p:nvSpPr>
        <p:spPr>
          <a:xfrm>
            <a:off x="5303520" y="2980944"/>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15</a:t>
            </a:r>
          </a:p>
        </p:txBody>
      </p:sp>
      <p:cxnSp>
        <p:nvCxnSpPr>
          <p:cNvPr id="22" name="Connector 21"/>
          <p:cNvCxnSpPr/>
          <p:nvPr/>
        </p:nvCxnSpPr>
        <p:spPr>
          <a:xfrm>
            <a:off x="566928" y="3374136"/>
            <a:ext cx="6400800" cy="0"/>
          </a:xfrm>
          <a:prstGeom prst="line">
            <a:avLst/>
          </a:prstGeom>
          <a:ln w="9525">
            <a:solidFill>
              <a:srgbClr val="D5DCD1"/>
            </a:solidFill>
          </a:ln>
        </p:spPr>
      </p:cxnSp>
      <p:sp>
        <p:nvSpPr>
          <p:cNvPr id="23" name="TextBox 22"/>
          <p:cNvSpPr txBox="1"/>
          <p:nvPr/>
        </p:nvSpPr>
        <p:spPr>
          <a:xfrm>
            <a:off x="566928" y="3374136"/>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Paid each day</a:t>
            </a:r>
          </a:p>
        </p:txBody>
      </p:sp>
      <p:sp>
        <p:nvSpPr>
          <p:cNvPr id="24" name="TextBox 23"/>
          <p:cNvSpPr txBox="1"/>
          <p:nvPr/>
        </p:nvSpPr>
        <p:spPr>
          <a:xfrm>
            <a:off x="3566160" y="3374136"/>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450</a:t>
            </a:r>
          </a:p>
        </p:txBody>
      </p:sp>
      <p:sp>
        <p:nvSpPr>
          <p:cNvPr id="25" name="TextBox 24"/>
          <p:cNvSpPr txBox="1"/>
          <p:nvPr/>
        </p:nvSpPr>
        <p:spPr>
          <a:xfrm>
            <a:off x="5303520" y="3374136"/>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500</a:t>
            </a:r>
          </a:p>
        </p:txBody>
      </p:sp>
      <p:cxnSp>
        <p:nvCxnSpPr>
          <p:cNvPr id="26" name="Connector 25"/>
          <p:cNvCxnSpPr/>
          <p:nvPr/>
        </p:nvCxnSpPr>
        <p:spPr>
          <a:xfrm>
            <a:off x="566928" y="3767328"/>
            <a:ext cx="6400800" cy="0"/>
          </a:xfrm>
          <a:prstGeom prst="line">
            <a:avLst/>
          </a:prstGeom>
          <a:ln w="9525">
            <a:solidFill>
              <a:srgbClr val="D5DCD1"/>
            </a:solidFill>
          </a:ln>
        </p:spPr>
      </p:cxnSp>
      <p:sp>
        <p:nvSpPr>
          <p:cNvPr id="27" name="TextBox 26"/>
          <p:cNvSpPr txBox="1"/>
          <p:nvPr/>
        </p:nvSpPr>
        <p:spPr>
          <a:xfrm>
            <a:off x="566928" y="3767328"/>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to the pot</a:t>
            </a:r>
          </a:p>
        </p:txBody>
      </p:sp>
      <p:sp>
        <p:nvSpPr>
          <p:cNvPr id="28" name="TextBox 27"/>
          <p:cNvSpPr txBox="1"/>
          <p:nvPr/>
        </p:nvSpPr>
        <p:spPr>
          <a:xfrm>
            <a:off x="3566160" y="3767328"/>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300</a:t>
            </a:r>
          </a:p>
        </p:txBody>
      </p:sp>
      <p:sp>
        <p:nvSpPr>
          <p:cNvPr id="29" name="TextBox 28"/>
          <p:cNvSpPr txBox="1"/>
          <p:nvPr/>
        </p:nvSpPr>
        <p:spPr>
          <a:xfrm>
            <a:off x="5303520" y="3767328"/>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333.33</a:t>
            </a:r>
          </a:p>
        </p:txBody>
      </p:sp>
      <p:cxnSp>
        <p:nvCxnSpPr>
          <p:cNvPr id="30" name="Connector 29"/>
          <p:cNvCxnSpPr/>
          <p:nvPr/>
        </p:nvCxnSpPr>
        <p:spPr>
          <a:xfrm>
            <a:off x="566928" y="4160520"/>
            <a:ext cx="6400800" cy="0"/>
          </a:xfrm>
          <a:prstGeom prst="line">
            <a:avLst/>
          </a:prstGeom>
          <a:ln w="9525">
            <a:solidFill>
              <a:srgbClr val="D5DCD1"/>
            </a:solidFill>
          </a:ln>
        </p:spPr>
      </p:cxnSp>
      <p:sp>
        <p:nvSpPr>
          <p:cNvPr id="31" name="TextBox 30"/>
          <p:cNvSpPr txBox="1"/>
          <p:nvPr/>
        </p:nvSpPr>
        <p:spPr>
          <a:xfrm>
            <a:off x="566928" y="4160520"/>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to takaful</a:t>
            </a:r>
          </a:p>
        </p:txBody>
      </p:sp>
      <p:sp>
        <p:nvSpPr>
          <p:cNvPr id="32" name="TextBox 31"/>
          <p:cNvSpPr txBox="1"/>
          <p:nvPr/>
        </p:nvSpPr>
        <p:spPr>
          <a:xfrm>
            <a:off x="3566160" y="416052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75</a:t>
            </a:r>
          </a:p>
        </p:txBody>
      </p:sp>
      <p:sp>
        <p:nvSpPr>
          <p:cNvPr id="33" name="TextBox 32"/>
          <p:cNvSpPr txBox="1"/>
          <p:nvPr/>
        </p:nvSpPr>
        <p:spPr>
          <a:xfrm>
            <a:off x="5303520" y="416052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83.33</a:t>
            </a:r>
          </a:p>
        </p:txBody>
      </p:sp>
      <p:cxnSp>
        <p:nvCxnSpPr>
          <p:cNvPr id="34" name="Connector 33"/>
          <p:cNvCxnSpPr/>
          <p:nvPr/>
        </p:nvCxnSpPr>
        <p:spPr>
          <a:xfrm>
            <a:off x="566928" y="4553712"/>
            <a:ext cx="6400800" cy="0"/>
          </a:xfrm>
          <a:prstGeom prst="line">
            <a:avLst/>
          </a:prstGeom>
          <a:ln w="9525">
            <a:solidFill>
              <a:srgbClr val="D5DCD1"/>
            </a:solidFill>
          </a:ln>
        </p:spPr>
      </p:cxnSp>
      <p:sp>
        <p:nvSpPr>
          <p:cNvPr id="35" name="TextBox 34"/>
          <p:cNvSpPr txBox="1"/>
          <p:nvPr/>
        </p:nvSpPr>
        <p:spPr>
          <a:xfrm>
            <a:off x="566928" y="4553712"/>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fee</a:t>
            </a:r>
          </a:p>
        </p:txBody>
      </p:sp>
      <p:sp>
        <p:nvSpPr>
          <p:cNvPr id="36" name="TextBox 35"/>
          <p:cNvSpPr txBox="1"/>
          <p:nvPr/>
        </p:nvSpPr>
        <p:spPr>
          <a:xfrm>
            <a:off x="3566160" y="455371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75</a:t>
            </a:r>
          </a:p>
        </p:txBody>
      </p:sp>
      <p:sp>
        <p:nvSpPr>
          <p:cNvPr id="37" name="TextBox 36"/>
          <p:cNvSpPr txBox="1"/>
          <p:nvPr/>
        </p:nvSpPr>
        <p:spPr>
          <a:xfrm>
            <a:off x="5303520" y="455371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83.33</a:t>
            </a:r>
          </a:p>
        </p:txBody>
      </p:sp>
      <p:cxnSp>
        <p:nvCxnSpPr>
          <p:cNvPr id="38" name="Connector 37"/>
          <p:cNvCxnSpPr/>
          <p:nvPr/>
        </p:nvCxnSpPr>
        <p:spPr>
          <a:xfrm>
            <a:off x="566928" y="4946903"/>
            <a:ext cx="6400800" cy="0"/>
          </a:xfrm>
          <a:prstGeom prst="line">
            <a:avLst/>
          </a:prstGeom>
          <a:ln w="9525">
            <a:solidFill>
              <a:srgbClr val="D5DCD1"/>
            </a:solidFill>
          </a:ln>
        </p:spPr>
      </p:cxnSp>
      <p:sp>
        <p:nvSpPr>
          <p:cNvPr id="39" name="TextBox 38"/>
          <p:cNvSpPr txBox="1"/>
          <p:nvPr/>
        </p:nvSpPr>
        <p:spPr>
          <a:xfrm>
            <a:off x="566928" y="4946903"/>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Pot, collected once</a:t>
            </a:r>
          </a:p>
        </p:txBody>
      </p:sp>
      <p:sp>
        <p:nvSpPr>
          <p:cNvPr id="40" name="TextBox 39"/>
          <p:cNvSpPr txBox="1"/>
          <p:nvPr/>
        </p:nvSpPr>
        <p:spPr>
          <a:xfrm>
            <a:off x="3566160" y="4946903"/>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15,000</a:t>
            </a:r>
          </a:p>
        </p:txBody>
      </p:sp>
      <p:sp>
        <p:nvSpPr>
          <p:cNvPr id="41" name="TextBox 40"/>
          <p:cNvSpPr txBox="1"/>
          <p:nvPr/>
        </p:nvSpPr>
        <p:spPr>
          <a:xfrm>
            <a:off x="5303520" y="4946903"/>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8,666.67</a:t>
            </a:r>
          </a:p>
        </p:txBody>
      </p:sp>
      <p:cxnSp>
        <p:nvCxnSpPr>
          <p:cNvPr id="42" name="Connector 41"/>
          <p:cNvCxnSpPr/>
          <p:nvPr/>
        </p:nvCxnSpPr>
        <p:spPr>
          <a:xfrm>
            <a:off x="566928" y="5340095"/>
            <a:ext cx="6400800" cy="0"/>
          </a:xfrm>
          <a:prstGeom prst="line">
            <a:avLst/>
          </a:prstGeom>
          <a:ln w="9525">
            <a:solidFill>
              <a:srgbClr val="D5DCD1"/>
            </a:solidFill>
          </a:ln>
        </p:spPr>
      </p:cxnSp>
      <p:sp>
        <p:nvSpPr>
          <p:cNvPr id="43" name="TextBox 42"/>
          <p:cNvSpPr txBox="1"/>
          <p:nvPr/>
        </p:nvSpPr>
        <p:spPr>
          <a:xfrm>
            <a:off x="566928" y="5340095"/>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Paid over the cycle</a:t>
            </a:r>
          </a:p>
        </p:txBody>
      </p:sp>
      <p:sp>
        <p:nvSpPr>
          <p:cNvPr id="44" name="TextBox 43"/>
          <p:cNvSpPr txBox="1"/>
          <p:nvPr/>
        </p:nvSpPr>
        <p:spPr>
          <a:xfrm>
            <a:off x="3566160" y="5340095"/>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22,500</a:t>
            </a:r>
          </a:p>
        </p:txBody>
      </p:sp>
      <p:sp>
        <p:nvSpPr>
          <p:cNvPr id="45" name="TextBox 44"/>
          <p:cNvSpPr txBox="1"/>
          <p:nvPr/>
        </p:nvSpPr>
        <p:spPr>
          <a:xfrm>
            <a:off x="5303520" y="5340095"/>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13,000</a:t>
            </a:r>
          </a:p>
        </p:txBody>
      </p:sp>
      <p:cxnSp>
        <p:nvCxnSpPr>
          <p:cNvPr id="46" name="Connector 45"/>
          <p:cNvCxnSpPr/>
          <p:nvPr/>
        </p:nvCxnSpPr>
        <p:spPr>
          <a:xfrm>
            <a:off x="566928" y="5733287"/>
            <a:ext cx="6400800" cy="0"/>
          </a:xfrm>
          <a:prstGeom prst="line">
            <a:avLst/>
          </a:prstGeom>
          <a:ln w="9525">
            <a:solidFill>
              <a:srgbClr val="D5DCD1"/>
            </a:solidFill>
          </a:ln>
        </p:spPr>
      </p:cxnSp>
      <p:cxnSp>
        <p:nvCxnSpPr>
          <p:cNvPr id="47" name="Connector 46"/>
          <p:cNvCxnSpPr/>
          <p:nvPr/>
        </p:nvCxnSpPr>
        <p:spPr>
          <a:xfrm>
            <a:off x="7498079" y="1810512"/>
            <a:ext cx="4114801" cy="0"/>
          </a:xfrm>
          <a:prstGeom prst="line">
            <a:avLst/>
          </a:prstGeom>
          <a:ln w="9525">
            <a:solidFill>
              <a:srgbClr val="D5DCD1"/>
            </a:solidFill>
          </a:ln>
        </p:spPr>
      </p:cxnSp>
      <p:sp>
        <p:nvSpPr>
          <p:cNvPr id="48" name="TextBox 47"/>
          <p:cNvSpPr txBox="1"/>
          <p:nvPr/>
        </p:nvSpPr>
        <p:spPr>
          <a:xfrm>
            <a:off x="7498079" y="190195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Who.</a:t>
            </a:r>
            <a:r>
              <a:rPr sz="1250" b="0" i="0">
                <a:solidFill>
                  <a:srgbClr val="0C1408"/>
                </a:solidFill>
                <a:latin typeface="Arial"/>
              </a:rPr>
              <a:t> Drivers, riders and traders paid daily, often through employers and associations as hosts.</a:t>
            </a:r>
          </a:p>
        </p:txBody>
      </p:sp>
      <p:cxnSp>
        <p:nvCxnSpPr>
          <p:cNvPr id="49" name="Connector 48"/>
          <p:cNvCxnSpPr/>
          <p:nvPr/>
        </p:nvCxnSpPr>
        <p:spPr>
          <a:xfrm>
            <a:off x="7498079" y="2633472"/>
            <a:ext cx="4114801" cy="0"/>
          </a:xfrm>
          <a:prstGeom prst="line">
            <a:avLst/>
          </a:prstGeom>
          <a:ln w="9525">
            <a:solidFill>
              <a:srgbClr val="D5DCD1"/>
            </a:solidFill>
          </a:ln>
        </p:spPr>
      </p:cxnSp>
      <p:sp>
        <p:nvSpPr>
          <p:cNvPr id="50" name="TextBox 49"/>
          <p:cNvSpPr txBox="1"/>
          <p:nvPr/>
        </p:nvSpPr>
        <p:spPr>
          <a:xfrm>
            <a:off x="7498079" y="272491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Cash.</a:t>
            </a:r>
            <a:r>
              <a:rPr sz="1250" b="0" i="0">
                <a:solidFill>
                  <a:srgbClr val="0C1408"/>
                </a:solidFill>
                <a:latin typeface="Arial"/>
              </a:rPr>
              <a:t> Members paid in cash deposit it free at over 700 Askari Bank branches.</a:t>
            </a:r>
          </a:p>
        </p:txBody>
      </p:sp>
      <p:cxnSp>
        <p:nvCxnSpPr>
          <p:cNvPr id="51" name="Connector 50"/>
          <p:cNvCxnSpPr/>
          <p:nvPr/>
        </p:nvCxnSpPr>
        <p:spPr>
          <a:xfrm>
            <a:off x="7498079" y="3456432"/>
            <a:ext cx="4114801" cy="0"/>
          </a:xfrm>
          <a:prstGeom prst="line">
            <a:avLst/>
          </a:prstGeom>
          <a:ln w="9525">
            <a:solidFill>
              <a:srgbClr val="D5DCD1"/>
            </a:solidFill>
          </a:ln>
        </p:spPr>
      </p:cxnSp>
      <p:sp>
        <p:nvSpPr>
          <p:cNvPr id="52" name="TextBox 51"/>
          <p:cNvSpPr txBox="1"/>
          <p:nvPr/>
        </p:nvSpPr>
        <p:spPr>
          <a:xfrm>
            <a:off x="7498079" y="354787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Entry.</a:t>
            </a:r>
            <a:r>
              <a:rPr sz="1250" b="0" i="0">
                <a:solidFill>
                  <a:srgbClr val="0C1408"/>
                </a:solidFill>
                <a:latin typeface="Arial"/>
              </a:rPr>
              <a:t> Rs 1,000 or more received on five days a week for eight weeks; two clean circles; one Hyper circle at a time.</a:t>
            </a:r>
          </a:p>
        </p:txBody>
      </p:sp>
      <p:cxnSp>
        <p:nvCxnSpPr>
          <p:cNvPr id="53" name="Connector 52"/>
          <p:cNvCxnSpPr/>
          <p:nvPr/>
        </p:nvCxnSpPr>
        <p:spPr>
          <a:xfrm>
            <a:off x="7498079" y="4279392"/>
            <a:ext cx="4114801" cy="0"/>
          </a:xfrm>
          <a:prstGeom prst="line">
            <a:avLst/>
          </a:prstGeom>
          <a:ln w="9525">
            <a:solidFill>
              <a:srgbClr val="D5DCD1"/>
            </a:solidFill>
          </a:ln>
        </p:spPr>
      </p:cxnSp>
      <p:sp>
        <p:nvSpPr>
          <p:cNvPr id="54" name="TextBox 53"/>
          <p:cNvSpPr txBox="1"/>
          <p:nvPr/>
        </p:nvSpPr>
        <p:spPr>
          <a:xfrm>
            <a:off x="7498079" y="4370831"/>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Always.</a:t>
            </a:r>
            <a:r>
              <a:rPr sz="1250" b="0" i="0">
                <a:solidFill>
                  <a:srgbClr val="0C1408"/>
                </a:solidFill>
                <a:latin typeface="Arial"/>
              </a:rPr>
              <a:t> Automatic debit and takaful for every member; one flat fee, never graded by the day of collection.</a:t>
            </a:r>
          </a:p>
        </p:txBody>
      </p:sp>
      <p:cxnSp>
        <p:nvCxnSpPr>
          <p:cNvPr id="55" name="Connector 54"/>
          <p:cNvCxnSpPr/>
          <p:nvPr/>
        </p:nvCxnSpPr>
        <p:spPr>
          <a:xfrm>
            <a:off x="7498079" y="5102352"/>
            <a:ext cx="4114801" cy="0"/>
          </a:xfrm>
          <a:prstGeom prst="line">
            <a:avLst/>
          </a:prstGeom>
          <a:ln w="9525">
            <a:solidFill>
              <a:srgbClr val="D5DCD1"/>
            </a:solidFill>
          </a:ln>
        </p:spPr>
      </p:cxnSp>
      <p:sp>
        <p:nvSpPr>
          <p:cNvPr id="56" name="TextBox 55"/>
          <p:cNvSpPr txBox="1"/>
          <p:nvPr/>
        </p:nvSpPr>
        <p:spPr>
          <a:xfrm>
            <a:off x="7498079" y="519379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Hard stop.</a:t>
            </a:r>
            <a:r>
              <a:rPr sz="1250" b="0" i="0">
                <a:solidFill>
                  <a:srgbClr val="0C1408"/>
                </a:solidFill>
                <a:latin typeface="Arial"/>
              </a:rPr>
              <a:t> No new day opens once unrecovered losses would exceed the takaful cover. Penalties go to charity.</a:t>
            </a:r>
          </a:p>
        </p:txBody>
      </p:sp>
      <p:cxnSp>
        <p:nvCxnSpPr>
          <p:cNvPr id="57" name="Connector 56"/>
          <p:cNvCxnSpPr/>
          <p:nvPr/>
        </p:nvCxnSpPr>
        <p:spPr>
          <a:xfrm>
            <a:off x="7498079" y="5925312"/>
            <a:ext cx="4114801" cy="0"/>
          </a:xfrm>
          <a:prstGeom prst="line">
            <a:avLst/>
          </a:prstGeom>
          <a:ln w="9525">
            <a:solidFill>
              <a:srgbClr val="D5DCD1"/>
            </a:solidFill>
          </a:ln>
        </p:spPr>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Leaving a Circle</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There is no cancel button. A member who has not collected leaves by one of five set routes.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29</a:t>
            </a:r>
          </a:p>
        </p:txBody>
      </p:sp>
      <p:cxnSp>
        <p:nvCxnSpPr>
          <p:cNvPr id="6" name="Connector 5"/>
          <p:cNvCxnSpPr/>
          <p:nvPr/>
        </p:nvCxnSpPr>
        <p:spPr>
          <a:xfrm>
            <a:off x="1481328" y="2148840"/>
            <a:ext cx="9235439" cy="0"/>
          </a:xfrm>
          <a:prstGeom prst="line">
            <a:avLst/>
          </a:prstGeom>
          <a:ln w="28575">
            <a:solidFill>
              <a:srgbClr val="41801A"/>
            </a:solidFill>
          </a:ln>
        </p:spPr>
      </p:cxnSp>
      <p:sp>
        <p:nvSpPr>
          <p:cNvPr id="7" name="Oval 6"/>
          <p:cNvSpPr/>
          <p:nvPr/>
        </p:nvSpPr>
        <p:spPr>
          <a:xfrm>
            <a:off x="138988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8" name="TextBox 7"/>
          <p:cNvSpPr txBox="1"/>
          <p:nvPr/>
        </p:nvSpPr>
        <p:spPr>
          <a:xfrm>
            <a:off x="52120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Window</a:t>
            </a:r>
          </a:p>
        </p:txBody>
      </p:sp>
      <p:sp>
        <p:nvSpPr>
          <p:cNvPr id="9" name="TextBox 8"/>
          <p:cNvSpPr txBox="1"/>
          <p:nvPr/>
        </p:nvSpPr>
        <p:spPr>
          <a:xfrm>
            <a:off x="52120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inside the 24 hours before the start: free, no record</a:t>
            </a:r>
          </a:p>
        </p:txBody>
      </p:sp>
      <p:sp>
        <p:nvSpPr>
          <p:cNvPr id="10" name="Oval 9"/>
          <p:cNvSpPr/>
          <p:nvPr/>
        </p:nvSpPr>
        <p:spPr>
          <a:xfrm>
            <a:off x="369874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1" name="TextBox 10"/>
          <p:cNvSpPr txBox="1"/>
          <p:nvPr/>
        </p:nvSpPr>
        <p:spPr>
          <a:xfrm>
            <a:off x="283006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Substitute</a:t>
            </a:r>
          </a:p>
        </p:txBody>
      </p:sp>
      <p:sp>
        <p:nvSpPr>
          <p:cNvPr id="12" name="TextBox 11"/>
          <p:cNvSpPr txBox="1"/>
          <p:nvPr/>
        </p:nvSpPr>
        <p:spPr>
          <a:xfrm>
            <a:off x="283006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a replacement takes the turn and repays the leaver</a:t>
            </a:r>
          </a:p>
        </p:txBody>
      </p:sp>
      <p:sp>
        <p:nvSpPr>
          <p:cNvPr id="13" name="Oval 12"/>
          <p:cNvSpPr/>
          <p:nvPr/>
        </p:nvSpPr>
        <p:spPr>
          <a:xfrm>
            <a:off x="600760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4" name="TextBox 13"/>
          <p:cNvSpPr txBox="1"/>
          <p:nvPr/>
        </p:nvSpPr>
        <p:spPr>
          <a:xfrm>
            <a:off x="513892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Group vote</a:t>
            </a:r>
          </a:p>
        </p:txBody>
      </p:sp>
      <p:sp>
        <p:nvSpPr>
          <p:cNvPr id="15" name="TextBox 14"/>
          <p:cNvSpPr txBox="1"/>
          <p:nvPr/>
        </p:nvSpPr>
        <p:spPr>
          <a:xfrm>
            <a:off x="513892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72 hour vote; fine of one instalment; money back at the close</a:t>
            </a:r>
          </a:p>
        </p:txBody>
      </p:sp>
      <p:sp>
        <p:nvSpPr>
          <p:cNvPr id="16" name="Oval 15"/>
          <p:cNvSpPr/>
          <p:nvPr/>
        </p:nvSpPr>
        <p:spPr>
          <a:xfrm>
            <a:off x="831646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7" name="TextBox 16"/>
          <p:cNvSpPr txBox="1"/>
          <p:nvPr/>
        </p:nvSpPr>
        <p:spPr>
          <a:xfrm>
            <a:off x="744778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Hardship</a:t>
            </a:r>
          </a:p>
        </p:txBody>
      </p:sp>
      <p:sp>
        <p:nvSpPr>
          <p:cNvPr id="18" name="TextBox 17"/>
          <p:cNvSpPr txBox="1"/>
          <p:nvPr/>
        </p:nvSpPr>
        <p:spPr>
          <a:xfrm>
            <a:off x="744778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recorded statement; fine waived; recorded as hardship</a:t>
            </a:r>
          </a:p>
        </p:txBody>
      </p:sp>
      <p:sp>
        <p:nvSpPr>
          <p:cNvPr id="19" name="Oval 18"/>
          <p:cNvSpPr/>
          <p:nvPr/>
        </p:nvSpPr>
        <p:spPr>
          <a:xfrm>
            <a:off x="1062532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20" name="TextBox 19"/>
          <p:cNvSpPr txBox="1"/>
          <p:nvPr/>
        </p:nvSpPr>
        <p:spPr>
          <a:xfrm>
            <a:off x="9756647"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Abandon</a:t>
            </a:r>
          </a:p>
        </p:txBody>
      </p:sp>
      <p:sp>
        <p:nvSpPr>
          <p:cNvPr id="21" name="TextBox 20"/>
          <p:cNvSpPr txBox="1"/>
          <p:nvPr/>
        </p:nvSpPr>
        <p:spPr>
          <a:xfrm>
            <a:off x="9756647"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not an exit: the recovery steps apply</a:t>
            </a:r>
          </a:p>
        </p:txBody>
      </p:sp>
      <p:cxnSp>
        <p:nvCxnSpPr>
          <p:cNvPr id="22" name="Connector 21"/>
          <p:cNvCxnSpPr/>
          <p:nvPr/>
        </p:nvCxnSpPr>
        <p:spPr>
          <a:xfrm>
            <a:off x="566928" y="3703320"/>
            <a:ext cx="11057839" cy="0"/>
          </a:xfrm>
          <a:prstGeom prst="line">
            <a:avLst/>
          </a:prstGeom>
          <a:ln w="9525">
            <a:solidFill>
              <a:srgbClr val="D5DCD1"/>
            </a:solidFill>
          </a:ln>
        </p:spPr>
      </p:cxnSp>
      <p:sp>
        <p:nvSpPr>
          <p:cNvPr id="23" name="TextBox 22"/>
          <p:cNvSpPr txBox="1"/>
          <p:nvPr/>
        </p:nvSpPr>
        <p:spPr>
          <a:xfrm>
            <a:off x="566928" y="3840480"/>
            <a:ext cx="457200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Worked example</a:t>
            </a:r>
          </a:p>
        </p:txBody>
      </p:sp>
      <p:sp>
        <p:nvSpPr>
          <p:cNvPr id="24" name="TextBox 23"/>
          <p:cNvSpPr txBox="1"/>
          <p:nvPr/>
        </p:nvSpPr>
        <p:spPr>
          <a:xfrm>
            <a:off x="566928" y="4206240"/>
            <a:ext cx="5486400" cy="1737360"/>
          </a:xfrm>
          <a:prstGeom prst="rect">
            <a:avLst/>
          </a:prstGeom>
          <a:noFill/>
        </p:spPr>
        <p:txBody>
          <a:bodyPr wrap="square" lIns="0" rIns="0" tIns="0" bIns="0" anchor="t">
            <a:noAutofit/>
          </a:bodyPr>
          <a:lstStyle/>
          <a:p>
            <a:pPr algn="l">
              <a:lnSpc>
                <a:spcPct val="110000"/>
              </a:lnSpc>
              <a:spcAft>
                <a:spcPts val="600"/>
              </a:spcAft>
            </a:pPr>
            <a:r>
              <a:rPr sz="1300" b="0" i="0">
                <a:solidFill>
                  <a:srgbClr val="0C1408"/>
                </a:solidFill>
                <a:latin typeface="Arial"/>
              </a:rPr>
              <a:t>Twelve members at Rs 10,000. One leaves after round 4, having paid Rs 40,000.</a:t>
            </a:r>
          </a:p>
          <a:p>
            <a:pPr algn="l">
              <a:lnSpc>
                <a:spcPct val="110000"/>
              </a:lnSpc>
              <a:spcAft>
                <a:spcPts val="600"/>
              </a:spcAft>
            </a:pPr>
            <a:r>
              <a:rPr sz="1300" b="0" i="0">
                <a:solidFill>
                  <a:srgbClr val="0C1408"/>
                </a:solidFill>
                <a:latin typeface="Arial"/>
              </a:rPr>
              <a:t>The circle continues with eleven, so each later pot is Rs 10,000 smaller.</a:t>
            </a:r>
          </a:p>
          <a:p>
            <a:pPr algn="l">
              <a:lnSpc>
                <a:spcPct val="110000"/>
              </a:lnSpc>
              <a:spcAft>
                <a:spcPts val="600"/>
              </a:spcAft>
            </a:pPr>
            <a:r>
              <a:rPr sz="1300" b="0" i="0">
                <a:solidFill>
                  <a:srgbClr val="0C1408"/>
                </a:solidFill>
                <a:latin typeface="Arial"/>
              </a:rPr>
              <a:t>The four members who already collected full pots each return Rs 10,000 at the close.</a:t>
            </a:r>
          </a:p>
        </p:txBody>
      </p:sp>
      <p:sp>
        <p:nvSpPr>
          <p:cNvPr id="25" name="TextBox 24"/>
          <p:cNvSpPr txBox="1"/>
          <p:nvPr/>
        </p:nvSpPr>
        <p:spPr>
          <a:xfrm>
            <a:off x="6675120" y="3840480"/>
            <a:ext cx="4846320" cy="51816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Rs 40,000</a:t>
            </a:r>
          </a:p>
        </p:txBody>
      </p:sp>
      <p:sp>
        <p:nvSpPr>
          <p:cNvPr id="26" name="TextBox 25"/>
          <p:cNvSpPr txBox="1"/>
          <p:nvPr/>
        </p:nvSpPr>
        <p:spPr>
          <a:xfrm>
            <a:off x="6675120" y="4376928"/>
            <a:ext cx="4846320" cy="82296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returned to the leaver at the end of the circle, less any fine, with no profit. The wait is the deterrent.</a:t>
            </a:r>
          </a:p>
        </p:txBody>
      </p:sp>
      <p:sp>
        <p:nvSpPr>
          <p:cNvPr id="27" name="TextBox 26"/>
          <p:cNvSpPr txBox="1"/>
          <p:nvPr/>
        </p:nvSpPr>
        <p:spPr>
          <a:xfrm>
            <a:off x="6675120" y="5349240"/>
            <a:ext cx="4846320" cy="54864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Fines go to charity; neither Raqami nor Halqa keeps them.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Unit Costs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costs Halqa carries, and what the bank route changes.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Business Model and Unit Costs, 25 September 2026, before the bank's terms. Planning figures are marked.</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30</a:t>
            </a:r>
          </a:p>
        </p:txBody>
      </p:sp>
      <p:sp>
        <p:nvSpPr>
          <p:cNvPr id="7" name="TextBox 6"/>
          <p:cNvSpPr txBox="1"/>
          <p:nvPr/>
        </p:nvSpPr>
        <p:spPr>
          <a:xfrm>
            <a:off x="566928" y="1783080"/>
            <a:ext cx="438912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Prices used</a:t>
            </a:r>
          </a:p>
        </p:txBody>
      </p:sp>
      <p:sp>
        <p:nvSpPr>
          <p:cNvPr id="8" name="TextBox 7"/>
          <p:cNvSpPr txBox="1"/>
          <p:nvPr/>
        </p:nvSpPr>
        <p:spPr>
          <a:xfrm>
            <a:off x="566928" y="2167128"/>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WhatsApp message</a:t>
            </a:r>
          </a:p>
        </p:txBody>
      </p:sp>
      <p:sp>
        <p:nvSpPr>
          <p:cNvPr id="9" name="TextBox 8"/>
          <p:cNvSpPr txBox="1"/>
          <p:nvPr/>
        </p:nvSpPr>
        <p:spPr>
          <a:xfrm>
            <a:off x="3291840" y="2167128"/>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4.35</a:t>
            </a:r>
          </a:p>
        </p:txBody>
      </p:sp>
      <p:cxnSp>
        <p:nvCxnSpPr>
          <p:cNvPr id="10" name="Connector 9"/>
          <p:cNvCxnSpPr/>
          <p:nvPr/>
        </p:nvCxnSpPr>
        <p:spPr>
          <a:xfrm>
            <a:off x="566928" y="2587752"/>
            <a:ext cx="4389120" cy="0"/>
          </a:xfrm>
          <a:prstGeom prst="line">
            <a:avLst/>
          </a:prstGeom>
          <a:ln w="9525">
            <a:solidFill>
              <a:srgbClr val="D5DCD1"/>
            </a:solidFill>
          </a:ln>
        </p:spPr>
      </p:cxnSp>
      <p:sp>
        <p:nvSpPr>
          <p:cNvPr id="11" name="TextBox 10"/>
          <p:cNvSpPr txBox="1"/>
          <p:nvPr/>
        </p:nvSpPr>
        <p:spPr>
          <a:xfrm>
            <a:off x="566928" y="2587752"/>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Identity check, NADRA</a:t>
            </a:r>
          </a:p>
        </p:txBody>
      </p:sp>
      <p:sp>
        <p:nvSpPr>
          <p:cNvPr id="12" name="TextBox 11"/>
          <p:cNvSpPr txBox="1"/>
          <p:nvPr/>
        </p:nvSpPr>
        <p:spPr>
          <a:xfrm>
            <a:off x="3291840" y="2587752"/>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50, planning</a:t>
            </a:r>
          </a:p>
        </p:txBody>
      </p:sp>
      <p:cxnSp>
        <p:nvCxnSpPr>
          <p:cNvPr id="13" name="Connector 12"/>
          <p:cNvCxnSpPr/>
          <p:nvPr/>
        </p:nvCxnSpPr>
        <p:spPr>
          <a:xfrm>
            <a:off x="566928" y="3008376"/>
            <a:ext cx="4389120" cy="0"/>
          </a:xfrm>
          <a:prstGeom prst="line">
            <a:avLst/>
          </a:prstGeom>
          <a:ln w="9525">
            <a:solidFill>
              <a:srgbClr val="D5DCD1"/>
            </a:solidFill>
          </a:ln>
        </p:spPr>
      </p:cxnSp>
      <p:sp>
        <p:nvSpPr>
          <p:cNvPr id="14" name="TextBox 13"/>
          <p:cNvSpPr txBox="1"/>
          <p:nvPr/>
        </p:nvSpPr>
        <p:spPr>
          <a:xfrm>
            <a:off x="566928" y="3008376"/>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Credit report</a:t>
            </a:r>
          </a:p>
        </p:txBody>
      </p:sp>
      <p:sp>
        <p:nvSpPr>
          <p:cNvPr id="15" name="TextBox 14"/>
          <p:cNvSpPr txBox="1"/>
          <p:nvPr/>
        </p:nvSpPr>
        <p:spPr>
          <a:xfrm>
            <a:off x="3291840" y="3008376"/>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200, planning</a:t>
            </a:r>
          </a:p>
        </p:txBody>
      </p:sp>
      <p:cxnSp>
        <p:nvCxnSpPr>
          <p:cNvPr id="16" name="Connector 15"/>
          <p:cNvCxnSpPr/>
          <p:nvPr/>
        </p:nvCxnSpPr>
        <p:spPr>
          <a:xfrm>
            <a:off x="566928" y="3429000"/>
            <a:ext cx="4389120" cy="0"/>
          </a:xfrm>
          <a:prstGeom prst="line">
            <a:avLst/>
          </a:prstGeom>
          <a:ln w="9525">
            <a:solidFill>
              <a:srgbClr val="D5DCD1"/>
            </a:solidFill>
          </a:ln>
        </p:spPr>
      </p:cxnSp>
      <p:sp>
        <p:nvSpPr>
          <p:cNvPr id="17" name="TextBox 16"/>
          <p:cNvSpPr txBox="1"/>
          <p:nvPr/>
        </p:nvSpPr>
        <p:spPr>
          <a:xfrm>
            <a:off x="566928" y="3429000"/>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Support agent a month</a:t>
            </a:r>
          </a:p>
        </p:txBody>
      </p:sp>
      <p:sp>
        <p:nvSpPr>
          <p:cNvPr id="18" name="TextBox 17"/>
          <p:cNvSpPr txBox="1"/>
          <p:nvPr/>
        </p:nvSpPr>
        <p:spPr>
          <a:xfrm>
            <a:off x="3291840" y="3429000"/>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60,000</a:t>
            </a:r>
          </a:p>
        </p:txBody>
      </p:sp>
      <p:cxnSp>
        <p:nvCxnSpPr>
          <p:cNvPr id="19" name="Connector 18"/>
          <p:cNvCxnSpPr/>
          <p:nvPr/>
        </p:nvCxnSpPr>
        <p:spPr>
          <a:xfrm>
            <a:off x="566928" y="3849624"/>
            <a:ext cx="4389120" cy="0"/>
          </a:xfrm>
          <a:prstGeom prst="line">
            <a:avLst/>
          </a:prstGeom>
          <a:ln w="9525">
            <a:solidFill>
              <a:srgbClr val="D5DCD1"/>
            </a:solidFill>
          </a:ln>
        </p:spPr>
      </p:cxnSp>
      <p:sp>
        <p:nvSpPr>
          <p:cNvPr id="20" name="TextBox 19"/>
          <p:cNvSpPr txBox="1"/>
          <p:nvPr/>
        </p:nvSpPr>
        <p:spPr>
          <a:xfrm>
            <a:off x="566928" y="3849624"/>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Cloud, a member a month</a:t>
            </a:r>
          </a:p>
        </p:txBody>
      </p:sp>
      <p:sp>
        <p:nvSpPr>
          <p:cNvPr id="21" name="TextBox 20"/>
          <p:cNvSpPr txBox="1"/>
          <p:nvPr/>
        </p:nvSpPr>
        <p:spPr>
          <a:xfrm>
            <a:off x="3291840" y="3849624"/>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a:t>
            </a:r>
          </a:p>
        </p:txBody>
      </p:sp>
      <p:cxnSp>
        <p:nvCxnSpPr>
          <p:cNvPr id="22" name="Connector 21"/>
          <p:cNvCxnSpPr/>
          <p:nvPr/>
        </p:nvCxnSpPr>
        <p:spPr>
          <a:xfrm>
            <a:off x="566928" y="4270248"/>
            <a:ext cx="4389120" cy="0"/>
          </a:xfrm>
          <a:prstGeom prst="line">
            <a:avLst/>
          </a:prstGeom>
          <a:ln w="9525">
            <a:solidFill>
              <a:srgbClr val="D5DCD1"/>
            </a:solidFill>
          </a:ln>
        </p:spPr>
      </p:cxnSp>
      <p:sp>
        <p:nvSpPr>
          <p:cNvPr id="23" name="TextBox 22"/>
          <p:cNvSpPr txBox="1"/>
          <p:nvPr/>
        </p:nvSpPr>
        <p:spPr>
          <a:xfrm>
            <a:off x="566928" y="4270248"/>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Acquiring a member</a:t>
            </a:r>
          </a:p>
        </p:txBody>
      </p:sp>
      <p:sp>
        <p:nvSpPr>
          <p:cNvPr id="24" name="TextBox 23"/>
          <p:cNvSpPr txBox="1"/>
          <p:nvPr/>
        </p:nvSpPr>
        <p:spPr>
          <a:xfrm>
            <a:off x="3291840" y="4270248"/>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250, planning</a:t>
            </a:r>
          </a:p>
        </p:txBody>
      </p:sp>
      <p:cxnSp>
        <p:nvCxnSpPr>
          <p:cNvPr id="25" name="Connector 24"/>
          <p:cNvCxnSpPr/>
          <p:nvPr/>
        </p:nvCxnSpPr>
        <p:spPr>
          <a:xfrm>
            <a:off x="566928" y="4690872"/>
            <a:ext cx="4389120" cy="0"/>
          </a:xfrm>
          <a:prstGeom prst="line">
            <a:avLst/>
          </a:prstGeom>
          <a:ln w="9525">
            <a:solidFill>
              <a:srgbClr val="D5DCD1"/>
            </a:solidFill>
          </a:ln>
        </p:spPr>
      </p:cxnSp>
      <p:sp>
        <p:nvSpPr>
          <p:cNvPr id="26" name="TextBox 25"/>
          <p:cNvSpPr txBox="1"/>
          <p:nvPr/>
        </p:nvSpPr>
        <p:spPr>
          <a:xfrm>
            <a:off x="5486400" y="1783080"/>
            <a:ext cx="603504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What the bank route changes</a:t>
            </a:r>
          </a:p>
        </p:txBody>
      </p:sp>
      <p:sp>
        <p:nvSpPr>
          <p:cNvPr id="27" name="TextBox 26"/>
          <p:cNvSpPr txBox="1"/>
          <p:nvPr/>
        </p:nvSpPr>
        <p:spPr>
          <a:xfrm>
            <a:off x="5486400" y="2148840"/>
            <a:ext cx="1527048" cy="548640"/>
          </a:xfrm>
          <a:prstGeom prst="rect">
            <a:avLst/>
          </a:prstGeom>
          <a:noFill/>
        </p:spPr>
        <p:txBody>
          <a:bodyPr wrap="square" lIns="0" rIns="0" tIns="0" bIns="0" anchor="b">
            <a:noAutofit/>
          </a:bodyPr>
          <a:lstStyle/>
          <a:p>
            <a:pPr algn="l">
              <a:lnSpc>
                <a:spcPct val="110000"/>
              </a:lnSpc>
            </a:pPr>
          </a:p>
        </p:txBody>
      </p:sp>
      <p:sp>
        <p:nvSpPr>
          <p:cNvPr id="28" name="TextBox 27"/>
          <p:cNvSpPr txBox="1"/>
          <p:nvPr/>
        </p:nvSpPr>
        <p:spPr>
          <a:xfrm>
            <a:off x="7159752" y="2148840"/>
            <a:ext cx="2075688" cy="548640"/>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Before</a:t>
            </a:r>
          </a:p>
        </p:txBody>
      </p:sp>
      <p:sp>
        <p:nvSpPr>
          <p:cNvPr id="29" name="TextBox 28"/>
          <p:cNvSpPr txBox="1"/>
          <p:nvPr/>
        </p:nvSpPr>
        <p:spPr>
          <a:xfrm>
            <a:off x="9308592" y="2148840"/>
            <a:ext cx="2304288" cy="548640"/>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With Raqami</a:t>
            </a:r>
          </a:p>
        </p:txBody>
      </p:sp>
      <p:cxnSp>
        <p:nvCxnSpPr>
          <p:cNvPr id="30" name="Connector 29"/>
          <p:cNvCxnSpPr/>
          <p:nvPr/>
        </p:nvCxnSpPr>
        <p:spPr>
          <a:xfrm>
            <a:off x="5486400" y="2734056"/>
            <a:ext cx="6126480" cy="0"/>
          </a:xfrm>
          <a:prstGeom prst="line">
            <a:avLst/>
          </a:prstGeom>
          <a:ln w="12700">
            <a:solidFill>
              <a:srgbClr val="0C1408"/>
            </a:solidFill>
          </a:ln>
        </p:spPr>
      </p:cxnSp>
      <p:sp>
        <p:nvSpPr>
          <p:cNvPr id="31" name="TextBox 30"/>
          <p:cNvSpPr txBox="1"/>
          <p:nvPr/>
        </p:nvSpPr>
        <p:spPr>
          <a:xfrm>
            <a:off x="5486400" y="271576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Member fee</a:t>
            </a:r>
          </a:p>
        </p:txBody>
      </p:sp>
      <p:sp>
        <p:nvSpPr>
          <p:cNvPr id="32" name="TextBox 31"/>
          <p:cNvSpPr txBox="1"/>
          <p:nvPr/>
        </p:nvSpPr>
        <p:spPr>
          <a:xfrm>
            <a:off x="7159752" y="271576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Rs 100 to 500, to Halqa</a:t>
            </a:r>
          </a:p>
        </p:txBody>
      </p:sp>
      <p:sp>
        <p:nvSpPr>
          <p:cNvPr id="33" name="TextBox 32"/>
          <p:cNvSpPr txBox="1"/>
          <p:nvPr/>
        </p:nvSpPr>
        <p:spPr>
          <a:xfrm>
            <a:off x="9308592" y="271576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Collected by Raqami as ujrah</a:t>
            </a:r>
          </a:p>
        </p:txBody>
      </p:sp>
      <p:cxnSp>
        <p:nvCxnSpPr>
          <p:cNvPr id="34" name="Connector 33"/>
          <p:cNvCxnSpPr/>
          <p:nvPr/>
        </p:nvCxnSpPr>
        <p:spPr>
          <a:xfrm>
            <a:off x="5486400" y="3264408"/>
            <a:ext cx="6126480" cy="0"/>
          </a:xfrm>
          <a:prstGeom prst="line">
            <a:avLst/>
          </a:prstGeom>
          <a:ln w="9525">
            <a:solidFill>
              <a:srgbClr val="D5DCD1"/>
            </a:solidFill>
          </a:ln>
        </p:spPr>
      </p:cxnSp>
      <p:sp>
        <p:nvSpPr>
          <p:cNvPr id="35" name="TextBox 34"/>
          <p:cNvSpPr txBox="1"/>
          <p:nvPr/>
        </p:nvSpPr>
        <p:spPr>
          <a:xfrm>
            <a:off x="5486400" y="326440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Halqa income</a:t>
            </a:r>
          </a:p>
        </p:txBody>
      </p:sp>
      <p:sp>
        <p:nvSpPr>
          <p:cNvPr id="36" name="TextBox 35"/>
          <p:cNvSpPr txBox="1"/>
          <p:nvPr/>
        </p:nvSpPr>
        <p:spPr>
          <a:xfrm>
            <a:off x="7159752" y="326440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Fees and takaful commission</a:t>
            </a:r>
          </a:p>
        </p:txBody>
      </p:sp>
      <p:sp>
        <p:nvSpPr>
          <p:cNvPr id="37" name="TextBox 36"/>
          <p:cNvSpPr txBox="1"/>
          <p:nvPr/>
        </p:nvSpPr>
        <p:spPr>
          <a:xfrm>
            <a:off x="9308592" y="326440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An agreed share of Raqami's income</a:t>
            </a:r>
          </a:p>
        </p:txBody>
      </p:sp>
      <p:cxnSp>
        <p:nvCxnSpPr>
          <p:cNvPr id="38" name="Connector 37"/>
          <p:cNvCxnSpPr/>
          <p:nvPr/>
        </p:nvCxnSpPr>
        <p:spPr>
          <a:xfrm>
            <a:off x="5486400" y="3813048"/>
            <a:ext cx="6126480" cy="0"/>
          </a:xfrm>
          <a:prstGeom prst="line">
            <a:avLst/>
          </a:prstGeom>
          <a:ln w="9525">
            <a:solidFill>
              <a:srgbClr val="D5DCD1"/>
            </a:solidFill>
          </a:ln>
        </p:spPr>
      </p:cxnSp>
      <p:sp>
        <p:nvSpPr>
          <p:cNvPr id="39" name="TextBox 38"/>
          <p:cNvSpPr txBox="1"/>
          <p:nvPr/>
        </p:nvSpPr>
        <p:spPr>
          <a:xfrm>
            <a:off x="5486400" y="381304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Collection</a:t>
            </a:r>
          </a:p>
        </p:txBody>
      </p:sp>
      <p:sp>
        <p:nvSpPr>
          <p:cNvPr id="40" name="TextBox 39"/>
          <p:cNvSpPr txBox="1"/>
          <p:nvPr/>
        </p:nvSpPr>
        <p:spPr>
          <a:xfrm>
            <a:off x="7159752" y="381304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1%, capped at Rs 10 a debit, through Safepay</a:t>
            </a:r>
          </a:p>
        </p:txBody>
      </p:sp>
      <p:sp>
        <p:nvSpPr>
          <p:cNvPr id="41" name="TextBox 40"/>
          <p:cNvSpPr txBox="1"/>
          <p:nvPr/>
        </p:nvSpPr>
        <p:spPr>
          <a:xfrm>
            <a:off x="9308592" y="381304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A transfer inside one bank, near nil</a:t>
            </a:r>
          </a:p>
        </p:txBody>
      </p:sp>
      <p:cxnSp>
        <p:nvCxnSpPr>
          <p:cNvPr id="42" name="Connector 41"/>
          <p:cNvCxnSpPr/>
          <p:nvPr/>
        </p:nvCxnSpPr>
        <p:spPr>
          <a:xfrm>
            <a:off x="5486400" y="4361688"/>
            <a:ext cx="6126480" cy="0"/>
          </a:xfrm>
          <a:prstGeom prst="line">
            <a:avLst/>
          </a:prstGeom>
          <a:ln w="9525">
            <a:solidFill>
              <a:srgbClr val="D5DCD1"/>
            </a:solidFill>
          </a:ln>
        </p:spPr>
      </p:cxnSp>
      <p:sp>
        <p:nvSpPr>
          <p:cNvPr id="43" name="TextBox 42"/>
          <p:cNvSpPr txBox="1"/>
          <p:nvPr/>
        </p:nvSpPr>
        <p:spPr>
          <a:xfrm>
            <a:off x="5486400" y="436168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Cover</a:t>
            </a:r>
          </a:p>
        </p:txBody>
      </p:sp>
      <p:sp>
        <p:nvSpPr>
          <p:cNvPr id="44" name="TextBox 43"/>
          <p:cNvSpPr txBox="1"/>
          <p:nvPr/>
        </p:nvSpPr>
        <p:spPr>
          <a:xfrm>
            <a:off x="7159752" y="436168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Takaful, Halqa as agent</a:t>
            </a:r>
          </a:p>
        </p:txBody>
      </p:sp>
      <p:sp>
        <p:nvSpPr>
          <p:cNvPr id="45" name="TextBox 44"/>
          <p:cNvSpPr txBox="1"/>
          <p:nvPr/>
        </p:nvSpPr>
        <p:spPr>
          <a:xfrm>
            <a:off x="9308592" y="436168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Takaful arranged through Raqami</a:t>
            </a:r>
          </a:p>
        </p:txBody>
      </p:sp>
      <p:cxnSp>
        <p:nvCxnSpPr>
          <p:cNvPr id="46" name="Connector 45"/>
          <p:cNvCxnSpPr/>
          <p:nvPr/>
        </p:nvCxnSpPr>
        <p:spPr>
          <a:xfrm>
            <a:off x="5486400" y="4910327"/>
            <a:ext cx="6126480" cy="0"/>
          </a:xfrm>
          <a:prstGeom prst="line">
            <a:avLst/>
          </a:prstGeom>
          <a:ln w="9525">
            <a:solidFill>
              <a:srgbClr val="D5DCD1"/>
            </a:solidFill>
          </a:ln>
        </p:spPr>
      </p:cxnSp>
      <p:sp>
        <p:nvSpPr>
          <p:cNvPr id="47" name="TextBox 46"/>
          <p:cNvSpPr txBox="1"/>
          <p:nvPr/>
        </p:nvSpPr>
        <p:spPr>
          <a:xfrm>
            <a:off x="5486400" y="4910327"/>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Credit reports</a:t>
            </a:r>
          </a:p>
        </p:txBody>
      </p:sp>
      <p:sp>
        <p:nvSpPr>
          <p:cNvPr id="48" name="TextBox 47"/>
          <p:cNvSpPr txBox="1"/>
          <p:nvPr/>
        </p:nvSpPr>
        <p:spPr>
          <a:xfrm>
            <a:off x="7159752" y="4910327"/>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Rs 200 a report</a:t>
            </a:r>
          </a:p>
        </p:txBody>
      </p:sp>
      <p:sp>
        <p:nvSpPr>
          <p:cNvPr id="49" name="TextBox 48"/>
          <p:cNvSpPr txBox="1"/>
          <p:nvPr/>
        </p:nvSpPr>
        <p:spPr>
          <a:xfrm>
            <a:off x="9308592" y="4910327"/>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Reported through Raqami, or by Halqa</a:t>
            </a:r>
          </a:p>
        </p:txBody>
      </p:sp>
      <p:cxnSp>
        <p:nvCxnSpPr>
          <p:cNvPr id="50" name="Connector 49"/>
          <p:cNvCxnSpPr/>
          <p:nvPr/>
        </p:nvCxnSpPr>
        <p:spPr>
          <a:xfrm>
            <a:off x="5486400" y="5458967"/>
            <a:ext cx="6126480" cy="0"/>
          </a:xfrm>
          <a:prstGeom prst="line">
            <a:avLst/>
          </a:prstGeom>
          <a:ln w="9525">
            <a:solidFill>
              <a:srgbClr val="D5DCD1"/>
            </a:solidFill>
          </a:ln>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