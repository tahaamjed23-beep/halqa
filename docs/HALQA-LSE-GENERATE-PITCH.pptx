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10058400" cy="365760"/>
          </a:xfrm>
          <a:prstGeom prst="rect">
            <a:avLst/>
          </a:prstGeom>
          <a:noFill/>
        </p:spPr>
        <p:txBody>
          <a:bodyPr wrap="square" lIns="0" rIns="0" tIns="0" bIns="0">
            <a:spAutoFit/>
          </a:bodyPr>
          <a:lstStyle/>
          <a:p>
            <a:pPr algn="l">
              <a:lnSpc>
                <a:spcPct val="125000"/>
              </a:lnSpc>
            </a:pPr>
            <a:r>
              <a:rPr sz="1600" b="1" i="0">
                <a:solidFill>
                  <a:srgbClr val="A9E76A"/>
                </a:solidFill>
                <a:latin typeface="Segoe UI"/>
              </a:rPr>
              <a:t>HALQA</a:t>
            </a:r>
          </a:p>
        </p:txBody>
      </p:sp>
      <p:sp>
        <p:nvSpPr>
          <p:cNvPr id="5" name="TextBox 4"/>
          <p:cNvSpPr txBox="1"/>
          <p:nvPr/>
        </p:nvSpPr>
        <p:spPr>
          <a:xfrm>
            <a:off x="777240" y="1965960"/>
            <a:ext cx="10424160" cy="2377440"/>
          </a:xfrm>
          <a:prstGeom prst="rect">
            <a:avLst/>
          </a:prstGeom>
          <a:noFill/>
        </p:spPr>
        <p:txBody>
          <a:bodyPr wrap="square" lIns="0" rIns="0" tIns="0" bIns="0">
            <a:spAutoFit/>
          </a:bodyPr>
          <a:lstStyle/>
          <a:p>
            <a:pPr algn="l">
              <a:lnSpc>
                <a:spcPct val="122000"/>
              </a:lnSpc>
            </a:pPr>
            <a:r>
              <a:rPr sz="3800" b="1" i="0">
                <a:solidFill>
                  <a:srgbClr val="FFFFFF"/>
                </a:solidFill>
                <a:latin typeface="Segoe UI"/>
              </a:rPr>
              <a:t>Pakistan's savings committees move</a:t>
            </a:r>
          </a:p>
          <a:p>
            <a:pPr algn="l">
              <a:lnSpc>
                <a:spcPct val="122000"/>
              </a:lnSpc>
              <a:spcBef>
                <a:spcPts val="0"/>
              </a:spcBef>
            </a:pPr>
            <a:r>
              <a:rPr sz="3800" b="1" i="0">
                <a:solidFill>
                  <a:srgbClr val="FFFFFF"/>
                </a:solidFill>
                <a:latin typeface="Segoe UI"/>
              </a:rPr>
              <a:t>four trillion rupees a year.</a:t>
            </a:r>
          </a:p>
          <a:p>
            <a:pPr algn="l">
              <a:lnSpc>
                <a:spcPct val="122000"/>
              </a:lnSpc>
              <a:spcBef>
                <a:spcPts val="0"/>
              </a:spcBef>
            </a:pPr>
            <a:r>
              <a:rPr sz="3800" b="1" i="0">
                <a:solidFill>
                  <a:srgbClr val="FFFFFF"/>
                </a:solidFill>
                <a:latin typeface="Segoe UI"/>
              </a:rPr>
              <a:t>None of it is written down.</a:t>
            </a:r>
          </a:p>
        </p:txBody>
      </p:sp>
      <p:sp>
        <p:nvSpPr>
          <p:cNvPr id="6" name="Rectangle 5"/>
          <p:cNvSpPr/>
          <p:nvPr/>
        </p:nvSpPr>
        <p:spPr>
          <a:xfrm>
            <a:off x="777240" y="4709160"/>
            <a:ext cx="146304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029200"/>
            <a:ext cx="9692640" cy="822960"/>
          </a:xfrm>
          <a:prstGeom prst="rect">
            <a:avLst/>
          </a:prstGeom>
          <a:noFill/>
        </p:spPr>
        <p:txBody>
          <a:bodyPr wrap="square" lIns="0" rIns="0" tIns="0" bIns="0">
            <a:spAutoFit/>
          </a:bodyPr>
          <a:lstStyle/>
          <a:p>
            <a:pPr algn="l">
              <a:lnSpc>
                <a:spcPct val="140000"/>
              </a:lnSpc>
            </a:pPr>
            <a:r>
              <a:rPr sz="1700" b="0" i="0">
                <a:solidFill>
                  <a:srgbClr val="C9F09C"/>
                </a:solidFill>
                <a:latin typeface="Segoe UI"/>
              </a:rPr>
              <a:t>We built the platform that writes it down, without ever touching the money.</a:t>
            </a:r>
          </a:p>
        </p:txBody>
      </p:sp>
      <p:sp>
        <p:nvSpPr>
          <p:cNvPr id="8" name="TextBox 7"/>
          <p:cNvSpPr txBox="1"/>
          <p:nvPr/>
        </p:nvSpPr>
        <p:spPr>
          <a:xfrm>
            <a:off x="777240" y="5989320"/>
            <a:ext cx="8229600" cy="274320"/>
          </a:xfrm>
          <a:prstGeom prst="rect">
            <a:avLst/>
          </a:prstGeom>
          <a:noFill/>
        </p:spPr>
        <p:txBody>
          <a:bodyPr wrap="square" lIns="0" rIns="0" tIns="0" bIns="0">
            <a:spAutoFit/>
          </a:bodyPr>
          <a:lstStyle/>
          <a:p>
            <a:pPr algn="l">
              <a:lnSpc>
                <a:spcPct val="125000"/>
              </a:lnSpc>
            </a:pPr>
            <a:r>
              <a:rPr sz="1100" b="0" i="0">
                <a:solidFill>
                  <a:srgbClr val="8AA872"/>
                </a:solidFill>
                <a:latin typeface="Segoe UI"/>
              </a:rPr>
              <a:t>Live in production since 20 July 2026        LSE Generate Global Innovation Challenge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PROBLEM</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Fifty two million people, no record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a:t>
            </a:r>
          </a:p>
        </p:txBody>
      </p:sp>
      <p:sp>
        <p:nvSpPr>
          <p:cNvPr id="7" name="TextBox 6"/>
          <p:cNvSpPr txBox="1"/>
          <p:nvPr/>
        </p:nvSpPr>
        <p:spPr>
          <a:xfrm>
            <a:off x="777240" y="1965960"/>
            <a:ext cx="5852160" cy="2194560"/>
          </a:xfrm>
          <a:prstGeom prst="rect">
            <a:avLst/>
          </a:prstGeom>
          <a:noFill/>
        </p:spPr>
        <p:txBody>
          <a:bodyPr wrap="square" lIns="0" rIns="0" tIns="0" bIns="0">
            <a:spAutoFit/>
          </a:bodyPr>
          <a:lstStyle/>
          <a:p>
            <a:pPr algn="l">
              <a:lnSpc>
                <a:spcPct val="150000"/>
              </a:lnSpc>
            </a:pPr>
            <a:r>
              <a:rPr sz="1450" b="0" i="0">
                <a:solidFill>
                  <a:srgbClr val="26301F"/>
                </a:solidFill>
                <a:latin typeface="Segoe UI"/>
              </a:rPr>
              <a:t>A committee is the oldest savings product there is. Twelve people each pay Rs 10,000 a month, and each month one of them takes the whole Rs 120,000. Everyone gets a turn.</a:t>
            </a:r>
          </a:p>
          <a:p>
            <a:pPr algn="l">
              <a:lnSpc>
                <a:spcPct val="150000"/>
              </a:lnSpc>
              <a:spcBef>
                <a:spcPts val="1000"/>
              </a:spcBef>
            </a:pPr>
            <a:r>
              <a:rPr sz="1450" b="0" i="0">
                <a:solidFill>
                  <a:srgbClr val="26301F"/>
                </a:solidFill>
                <a:latin typeface="Segoe UI"/>
              </a:rPr>
              <a:t/>
            </a:r>
          </a:p>
          <a:p>
            <a:pPr algn="l">
              <a:lnSpc>
                <a:spcPct val="150000"/>
              </a:lnSpc>
              <a:spcBef>
                <a:spcPts val="1000"/>
              </a:spcBef>
            </a:pPr>
            <a:r>
              <a:rPr sz="1450" b="0" i="0">
                <a:solidFill>
                  <a:srgbClr val="26301F"/>
                </a:solidFill>
                <a:latin typeface="Segoe UI"/>
              </a:rPr>
              <a:t>Thirty seven per cent of Pakistani adults are in one. Only thirteen per cent have a bank account.</a:t>
            </a:r>
          </a:p>
        </p:txBody>
      </p:sp>
      <p:sp>
        <p:nvSpPr>
          <p:cNvPr id="8" name="TextBox 7"/>
          <p:cNvSpPr txBox="1"/>
          <p:nvPr/>
        </p:nvSpPr>
        <p:spPr>
          <a:xfrm>
            <a:off x="777240" y="4434840"/>
            <a:ext cx="5852160" cy="1463040"/>
          </a:xfrm>
          <a:prstGeom prst="rect">
            <a:avLst/>
          </a:prstGeom>
          <a:noFill/>
        </p:spPr>
        <p:txBody>
          <a:bodyPr wrap="square" lIns="0" rIns="0" tIns="0" bIns="0">
            <a:spAutoFit/>
          </a:bodyPr>
          <a:lstStyle/>
          <a:p>
            <a:pPr algn="l">
              <a:lnSpc>
                <a:spcPct val="145000"/>
              </a:lnSpc>
            </a:pPr>
            <a:r>
              <a:rPr sz="1500" b="1" i="0">
                <a:solidFill>
                  <a:srgbClr val="0C1408"/>
                </a:solidFill>
                <a:latin typeface="Segoe UI"/>
              </a:rPr>
              <a:t>It runs on a notebook, a WhatsApp group, and one person's memory. When the cycle ends, the record disappears.</a:t>
            </a:r>
          </a:p>
        </p:txBody>
      </p:sp>
      <p:pic>
        <p:nvPicPr>
          <p:cNvPr id="9" name="Picture 8" descr="b_market.png"/>
          <p:cNvPicPr>
            <a:picLocks noChangeAspect="1"/>
          </p:cNvPicPr>
          <p:nvPr/>
        </p:nvPicPr>
        <p:blipFill>
          <a:blip r:embed="rId2"/>
          <a:stretch>
            <a:fillRect/>
          </a:stretch>
        </p:blipFill>
        <p:spPr>
          <a:xfrm>
            <a:off x="7086600" y="2103120"/>
            <a:ext cx="4297680" cy="1894984"/>
          </a:xfrm>
          <a:prstGeom prst="rect">
            <a:avLst/>
          </a:prstGeom>
        </p:spPr>
      </p:pic>
      <p:sp>
        <p:nvSpPr>
          <p:cNvPr id="10" name="TextBox 9"/>
          <p:cNvSpPr txBox="1"/>
          <p:nvPr/>
        </p:nvSpPr>
        <p:spPr>
          <a:xfrm>
            <a:off x="7086600" y="4343400"/>
            <a:ext cx="4297680" cy="146304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So a tailor who has paid on the first of the month, eleven months running, walks into a bank and is a total stranger. He has proved exactly what a lender spends money trying to find out, and nobody wrote it 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PROBLEM</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Twenty one people have tried this. Every one hit the same wall.</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a:t>
            </a:r>
          </a:p>
        </p:txBody>
      </p:sp>
      <p:sp>
        <p:nvSpPr>
          <p:cNvPr id="7" name="Rectangle 6"/>
          <p:cNvSpPr/>
          <p:nvPr/>
        </p:nvSpPr>
        <p:spPr>
          <a:xfrm>
            <a:off x="777240" y="2286000"/>
            <a:ext cx="5190591" cy="228600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86000"/>
            <a:ext cx="5190591"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487168"/>
            <a:ext cx="4788255"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Hold the money</a:t>
            </a:r>
          </a:p>
        </p:txBody>
      </p:sp>
      <p:sp>
        <p:nvSpPr>
          <p:cNvPr id="10" name="TextBox 9"/>
          <p:cNvSpPr txBox="1"/>
          <p:nvPr/>
        </p:nvSpPr>
        <p:spPr>
          <a:xfrm>
            <a:off x="978408" y="2852928"/>
            <a:ext cx="4788255" cy="15544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You now need a banking licence, or you become the fraud. The largest Pakistani case took Rs 420 million from 200 people across 117 committees. She kept no records and disappeared.</a:t>
            </a:r>
          </a:p>
        </p:txBody>
      </p:sp>
      <p:sp>
        <p:nvSpPr>
          <p:cNvPr id="11" name="Rectangle 10"/>
          <p:cNvSpPr/>
          <p:nvPr/>
        </p:nvSpPr>
        <p:spPr>
          <a:xfrm>
            <a:off x="6223863" y="2286000"/>
            <a:ext cx="5190591" cy="228600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23863" y="2286000"/>
            <a:ext cx="5190591"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5031" y="2487168"/>
            <a:ext cx="4788255"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Or record it only</a:t>
            </a:r>
          </a:p>
        </p:txBody>
      </p:sp>
      <p:sp>
        <p:nvSpPr>
          <p:cNvPr id="14" name="TextBox 13"/>
          <p:cNvSpPr txBox="1"/>
          <p:nvPr/>
        </p:nvSpPr>
        <p:spPr>
          <a:xfrm>
            <a:off x="6425031" y="2852928"/>
            <a:ext cx="4788255" cy="15544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Two Pakistani apps let the organiser tick a box saying who paid. No money moves through them, so the entry is somebody's claim, not proof. A bank cannot use it and a court will not weigh it.</a:t>
            </a:r>
          </a:p>
        </p:txBody>
      </p:sp>
      <p:sp>
        <p:nvSpPr>
          <p:cNvPr id="15" name="TextBox 14"/>
          <p:cNvSpPr txBox="1"/>
          <p:nvPr/>
        </p:nvSpPr>
        <p:spPr>
          <a:xfrm>
            <a:off x="777240" y="4892040"/>
            <a:ext cx="10607040" cy="1097280"/>
          </a:xfrm>
          <a:prstGeom prst="rect">
            <a:avLst/>
          </a:prstGeom>
          <a:noFill/>
        </p:spPr>
        <p:txBody>
          <a:bodyPr wrap="square" lIns="0" rIns="0" tIns="0" bIns="0">
            <a:spAutoFit/>
          </a:bodyPr>
          <a:lstStyle/>
          <a:p>
            <a:pPr algn="l">
              <a:lnSpc>
                <a:spcPct val="140000"/>
              </a:lnSpc>
            </a:pPr>
            <a:r>
              <a:rPr sz="1600" b="1" i="0">
                <a:solidFill>
                  <a:srgbClr val="0C1408"/>
                </a:solidFill>
                <a:latin typeface="Segoe UI"/>
              </a:rPr>
              <a:t>Everybody assumed those were the only two options. Take custody and carry the licence, or take no custody and record nothing worth having.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417320"/>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INSIGHT</a:t>
            </a:r>
          </a:p>
        </p:txBody>
      </p:sp>
      <p:sp>
        <p:nvSpPr>
          <p:cNvPr id="4" name="TextBox 3"/>
          <p:cNvSpPr txBox="1"/>
          <p:nvPr/>
        </p:nvSpPr>
        <p:spPr>
          <a:xfrm>
            <a:off x="777240" y="1828800"/>
            <a:ext cx="9966960" cy="1828800"/>
          </a:xfrm>
          <a:prstGeom prst="rect">
            <a:avLst/>
          </a:prstGeom>
          <a:noFill/>
        </p:spPr>
        <p:txBody>
          <a:bodyPr wrap="square" lIns="0" rIns="0" tIns="0" bIns="0">
            <a:spAutoFit/>
          </a:bodyPr>
          <a:lstStyle/>
          <a:p>
            <a:pPr algn="l">
              <a:lnSpc>
                <a:spcPct val="135000"/>
              </a:lnSpc>
            </a:pPr>
            <a:r>
              <a:rPr sz="2500" b="1" i="0">
                <a:solidFill>
                  <a:srgbClr val="0C1408"/>
                </a:solidFill>
                <a:latin typeface="Segoe UI"/>
              </a:rPr>
              <a:t>We are not trying to move the money.</a:t>
            </a:r>
          </a:p>
          <a:p>
            <a:pPr algn="l">
              <a:lnSpc>
                <a:spcPct val="135000"/>
              </a:lnSpc>
              <a:spcBef>
                <a:spcPts val="0"/>
              </a:spcBef>
            </a:pPr>
            <a:r>
              <a:rPr sz="2500" b="1" i="0">
                <a:solidFill>
                  <a:srgbClr val="0C1408"/>
                </a:solidFill>
                <a:latin typeface="Segoe UI"/>
              </a:rPr>
              <a:t>We are trying to prove it moved.</a:t>
            </a:r>
          </a:p>
        </p:txBody>
      </p:sp>
      <p:sp>
        <p:nvSpPr>
          <p:cNvPr id="5" name="Rectangle 4"/>
          <p:cNvSpPr/>
          <p:nvPr/>
        </p:nvSpPr>
        <p:spPr>
          <a:xfrm>
            <a:off x="777240" y="3977639"/>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297680"/>
            <a:ext cx="9692640" cy="128016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The money goes directly from one member's bank account to another's, over Pakistan's own instant payment rail. Halqa never holds a single rupee. We schedule it, we watch it settle, and we write it into a permanent record tied to a national identity number.</a:t>
            </a:r>
          </a:p>
        </p:txBody>
      </p:sp>
      <p:sp>
        <p:nvSpPr>
          <p:cNvPr id="7" name="TextBox 6"/>
          <p:cNvSpPr txBox="1"/>
          <p:nvPr/>
        </p:nvSpPr>
        <p:spPr>
          <a:xfrm>
            <a:off x="777240" y="5760720"/>
            <a:ext cx="9692640" cy="36576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That one decision removes the licence, removes the fraud, and leaves us with the only thing that was ever actually valuable.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HOW IT WORKS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Where the money actually goes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a:t>
            </a:r>
          </a:p>
        </p:txBody>
      </p:sp>
      <p:sp>
        <p:nvSpPr>
          <p:cNvPr id="7" name="TextBox 6"/>
          <p:cNvSpPr txBox="1"/>
          <p:nvPr/>
        </p:nvSpPr>
        <p:spPr>
          <a:xfrm>
            <a:off x="777240" y="214884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1</a:t>
            </a:r>
          </a:p>
        </p:txBody>
      </p:sp>
      <p:sp>
        <p:nvSpPr>
          <p:cNvPr id="8" name="TextBox 7"/>
          <p:cNvSpPr txBox="1"/>
          <p:nvPr/>
        </p:nvSpPr>
        <p:spPr>
          <a:xfrm>
            <a:off x="777240" y="267919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Payday</a:t>
            </a:r>
          </a:p>
        </p:txBody>
      </p:sp>
      <p:sp>
        <p:nvSpPr>
          <p:cNvPr id="9" name="TextBox 8"/>
          <p:cNvSpPr txBox="1"/>
          <p:nvPr/>
        </p:nvSpPr>
        <p:spPr>
          <a:xfrm>
            <a:off x="777240" y="299008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We collect on the morning your pay lands, not on the due date, because that is when the money is actually there</a:t>
            </a:r>
          </a:p>
        </p:txBody>
      </p:sp>
      <p:sp>
        <p:nvSpPr>
          <p:cNvPr id="10" name="TextBox 9"/>
          <p:cNvSpPr txBox="1"/>
          <p:nvPr/>
        </p:nvSpPr>
        <p:spPr>
          <a:xfrm>
            <a:off x="3436543" y="214884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2</a:t>
            </a:r>
          </a:p>
        </p:txBody>
      </p:sp>
      <p:sp>
        <p:nvSpPr>
          <p:cNvPr id="11" name="TextBox 10"/>
          <p:cNvSpPr txBox="1"/>
          <p:nvPr/>
        </p:nvSpPr>
        <p:spPr>
          <a:xfrm>
            <a:off x="3436543" y="267919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Direct</a:t>
            </a:r>
          </a:p>
        </p:txBody>
      </p:sp>
      <p:sp>
        <p:nvSpPr>
          <p:cNvPr id="12" name="TextBox 11"/>
          <p:cNvSpPr txBox="1"/>
          <p:nvPr/>
        </p:nvSpPr>
        <p:spPr>
          <a:xfrm>
            <a:off x="3436543" y="299008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It moves from the payer's account to the receiver's account on the national rail. It never stops with us</a:t>
            </a:r>
          </a:p>
        </p:txBody>
      </p:sp>
      <p:sp>
        <p:nvSpPr>
          <p:cNvPr id="13" name="Rectangle 12"/>
          <p:cNvSpPr/>
          <p:nvPr/>
        </p:nvSpPr>
        <p:spPr>
          <a:xfrm>
            <a:off x="3308527" y="225856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5847" y="214884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3</a:t>
            </a:r>
          </a:p>
        </p:txBody>
      </p:sp>
      <p:sp>
        <p:nvSpPr>
          <p:cNvPr id="15" name="TextBox 14"/>
          <p:cNvSpPr txBox="1"/>
          <p:nvPr/>
        </p:nvSpPr>
        <p:spPr>
          <a:xfrm>
            <a:off x="6095847" y="267919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Recorded</a:t>
            </a:r>
          </a:p>
        </p:txBody>
      </p:sp>
      <p:sp>
        <p:nvSpPr>
          <p:cNvPr id="16" name="TextBox 15"/>
          <p:cNvSpPr txBox="1"/>
          <p:nvPr/>
        </p:nvSpPr>
        <p:spPr>
          <a:xfrm>
            <a:off x="6095847" y="299008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Both sides get a receipt. Two matching ledger entries. Tied to a CNIC</a:t>
            </a:r>
          </a:p>
        </p:txBody>
      </p:sp>
      <p:sp>
        <p:nvSpPr>
          <p:cNvPr id="17" name="Rectangle 16"/>
          <p:cNvSpPr/>
          <p:nvPr/>
        </p:nvSpPr>
        <p:spPr>
          <a:xfrm>
            <a:off x="5967831" y="225856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5151" y="214884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4</a:t>
            </a:r>
          </a:p>
        </p:txBody>
      </p:sp>
      <p:sp>
        <p:nvSpPr>
          <p:cNvPr id="19" name="TextBox 18"/>
          <p:cNvSpPr txBox="1"/>
          <p:nvPr/>
        </p:nvSpPr>
        <p:spPr>
          <a:xfrm>
            <a:off x="8755151" y="267919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Furnished</a:t>
            </a:r>
          </a:p>
        </p:txBody>
      </p:sp>
      <p:sp>
        <p:nvSpPr>
          <p:cNvPr id="20" name="TextBox 19"/>
          <p:cNvSpPr txBox="1"/>
          <p:nvPr/>
        </p:nvSpPr>
        <p:spPr>
          <a:xfrm>
            <a:off x="8755151" y="299008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record goes to a licensed credit bureau, so it counts outside Halqa</a:t>
            </a:r>
          </a:p>
        </p:txBody>
      </p:sp>
      <p:sp>
        <p:nvSpPr>
          <p:cNvPr id="21" name="Rectangle 20"/>
          <p:cNvSpPr/>
          <p:nvPr/>
        </p:nvSpPr>
        <p:spPr>
          <a:xfrm>
            <a:off x="8627135" y="225856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892040"/>
            <a:ext cx="10607040" cy="1188720"/>
          </a:xfrm>
          <a:prstGeom prst="rect">
            <a:avLst/>
          </a:prstGeom>
          <a:noFill/>
        </p:spPr>
        <p:txBody>
          <a:bodyPr wrap="square" lIns="0" rIns="0" tIns="0" bIns="0">
            <a:spAutoFit/>
          </a:bodyPr>
          <a:lstStyle/>
          <a:p>
            <a:pPr algn="l">
              <a:lnSpc>
                <a:spcPct val="150000"/>
              </a:lnSpc>
            </a:pPr>
            <a:r>
              <a:rPr sz="1500" b="0" i="0">
                <a:solidFill>
                  <a:srgbClr val="26301F"/>
                </a:solidFill>
                <a:latin typeface="Segoe UI"/>
              </a:rPr>
              <a:t>Because nothing is ever held, there is no pool to steal, no balance to lose, and no licence to wait for. What we need is a merchant agreement, which is the same contract any online shop signs.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FEASIBILITY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This is not a concept. It is running.</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a:t>
            </a:r>
          </a:p>
        </p:txBody>
      </p:sp>
      <p:sp>
        <p:nvSpPr>
          <p:cNvPr id="7" name="TextBox 6"/>
          <p:cNvSpPr txBox="1"/>
          <p:nvPr/>
        </p:nvSpPr>
        <p:spPr>
          <a:xfrm>
            <a:off x="777240"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Live</a:t>
            </a:r>
          </a:p>
        </p:txBody>
      </p:sp>
      <p:sp>
        <p:nvSpPr>
          <p:cNvPr id="8" name="TextBox 7"/>
          <p:cNvSpPr txBox="1"/>
          <p:nvPr/>
        </p:nvSpPr>
        <p:spPr>
          <a:xfrm>
            <a:off x="777240"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In production since 20 July 2026</a:t>
            </a:r>
          </a:p>
        </p:txBody>
      </p:sp>
      <p:sp>
        <p:nvSpPr>
          <p:cNvPr id="9" name="TextBox 8"/>
          <p:cNvSpPr txBox="1"/>
          <p:nvPr/>
        </p:nvSpPr>
        <p:spPr>
          <a:xfrm>
            <a:off x="3436543"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412</a:t>
            </a:r>
          </a:p>
        </p:txBody>
      </p:sp>
      <p:sp>
        <p:nvSpPr>
          <p:cNvPr id="10" name="TextBox 9"/>
          <p:cNvSpPr txBox="1"/>
          <p:nvPr/>
        </p:nvSpPr>
        <p:spPr>
          <a:xfrm>
            <a:off x="3436543"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Automated tests, all passing</a:t>
            </a:r>
          </a:p>
        </p:txBody>
      </p:sp>
      <p:sp>
        <p:nvSpPr>
          <p:cNvPr id="11" name="TextBox 10"/>
          <p:cNvSpPr txBox="1"/>
          <p:nvPr/>
        </p:nvSpPr>
        <p:spPr>
          <a:xfrm>
            <a:off x="6095847"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0</a:t>
            </a:r>
          </a:p>
        </p:txBody>
      </p:sp>
      <p:sp>
        <p:nvSpPr>
          <p:cNvPr id="12" name="TextBox 11"/>
          <p:cNvSpPr txBox="1"/>
          <p:nvPr/>
        </p:nvSpPr>
        <p:spPr>
          <a:xfrm>
            <a:off x="6095847"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What a member pays to join</a:t>
            </a:r>
          </a:p>
        </p:txBody>
      </p:sp>
      <p:sp>
        <p:nvSpPr>
          <p:cNvPr id="13" name="TextBox 12"/>
          <p:cNvSpPr txBox="1"/>
          <p:nvPr/>
        </p:nvSpPr>
        <p:spPr>
          <a:xfrm>
            <a:off x="8755151"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11</a:t>
            </a:r>
          </a:p>
        </p:txBody>
      </p:sp>
      <p:sp>
        <p:nvSpPr>
          <p:cNvPr id="14" name="TextBox 13"/>
          <p:cNvSpPr txBox="1"/>
          <p:nvPr/>
        </p:nvSpPr>
        <p:spPr>
          <a:xfrm>
            <a:off x="8755151"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Screens built, in Urdu and English</a:t>
            </a:r>
          </a:p>
        </p:txBody>
      </p:sp>
      <p:sp>
        <p:nvSpPr>
          <p:cNvPr id="15" name="TextBox 14"/>
          <p:cNvSpPr txBox="1"/>
          <p:nvPr/>
        </p:nvSpPr>
        <p:spPr>
          <a:xfrm>
            <a:off x="777240" y="3749039"/>
            <a:ext cx="10607040" cy="502920"/>
          </a:xfrm>
          <a:prstGeom prst="rect">
            <a:avLst/>
          </a:prstGeom>
          <a:noFill/>
        </p:spPr>
        <p:txBody>
          <a:bodyPr wrap="square" lIns="0" rIns="0" tIns="0" bIns="0">
            <a:spAutoFit/>
          </a:bodyPr>
          <a:lstStyle/>
          <a:p>
            <a:pPr algn="l">
              <a:lnSpc>
                <a:spcPct val="125000"/>
              </a:lnSpc>
            </a:pPr>
            <a:r>
              <a:rPr sz="1500" b="1" i="0">
                <a:solidFill>
                  <a:srgbClr val="0C1408"/>
                </a:solidFill>
                <a:latin typeface="Segoe UI"/>
              </a:rPr>
              <a:t>Everything below is built and working today, not on a roadmap.</a:t>
            </a:r>
          </a:p>
        </p:txBody>
      </p:sp>
      <p:graphicFrame>
        <p:nvGraphicFramePr>
          <p:cNvPr id="16" name="Table 15"/>
          <p:cNvGraphicFramePr>
            <a:graphicFrameLocks noGrp="1"/>
          </p:cNvGraphicFramePr>
          <p:nvPr/>
        </p:nvGraphicFramePr>
        <p:xfrm>
          <a:off x="777240" y="4389120"/>
          <a:ext cx="10607040" cy="1245220"/>
        </p:xfrm>
        <a:graphic>
          <a:graphicData uri="http://schemas.openxmlformats.org/drawingml/2006/table">
            <a:tbl>
              <a:tblPr>
                <a:tableStyleId>{5C22544A-7EE6-4342-B048-85BDC9FD1C3A}</a:tableStyleId>
              </a:tblPr>
              <a:tblGrid>
                <a:gridCol w="5303520"/>
                <a:gridCol w="5303520"/>
              </a:tblGrid>
              <a:tr h="249044">
                <a:tc>
                  <a:txBody>
                    <a:bodyPr wrap="square"/>
                    <a:lstStyle/>
                    <a:p>
                      <a:r>
                        <a:rPr sz="800" b="1">
                          <a:solidFill>
                            <a:srgbClr val="41801A"/>
                          </a:solidFill>
                          <a:latin typeface="Segoe UI"/>
                        </a:rPr>
                        <a:t>WHAT THE MEMBER TOUCHES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RUNS BEHIND IT</a:t>
                      </a:r>
                    </a:p>
                  </a:txBody>
                  <a:tcPr marL="45720" marR="109728" marT="27432" marB="27432" anchor="ctr">
                    <a:lnB w="9525" cap="flat" cmpd="sng" algn="ctr">
                      <a:solidFill>
                        <a:srgbClr val="41801A"/>
                      </a:solidFill>
                    </a:lnB>
                    <a:solidFill>
                      <a:srgbClr val="FFFFFF"/>
                    </a:solidFill>
                  </a:tcPr>
                </a:tc>
              </a:tr>
              <a:tr h="249044">
                <a:tc>
                  <a:txBody>
                    <a:bodyPr wrap="square"/>
                    <a:lstStyle/>
                    <a:p>
                      <a:r>
                        <a:rPr sz="800" b="0">
                          <a:solidFill>
                            <a:srgbClr val="26301F"/>
                          </a:solidFill>
                          <a:latin typeface="Segoe UI"/>
                        </a:rPr>
                        <a:t>Ten step signup with CNIC capture and live location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Automatic collection on the member's payday</a:t>
                      </a:r>
                    </a:p>
                  </a:txBody>
                  <a:tcPr marL="45720" marR="109728" marT="27432" marB="27432" anchor="ctr">
                    <a:lnB w="9525" cap="flat" cmpd="sng" algn="ctr">
                      <a:solidFill>
                        <a:srgbClr val="DCE3D6"/>
                      </a:solidFill>
                    </a:lnB>
                    <a:solidFill>
                      <a:srgbClr val="FFFFFF"/>
                    </a:solidFill>
                  </a:tcPr>
                </a:tc>
              </a:tr>
              <a:tr h="249044">
                <a:tc>
                  <a:txBody>
                    <a:bodyPr wrap="square"/>
                    <a:lstStyle/>
                    <a:p>
                      <a:r>
                        <a:rPr sz="800" b="0">
                          <a:solidFill>
                            <a:srgbClr val="26301F"/>
                          </a:solidFill>
                          <a:latin typeface="Segoe UI"/>
                        </a:rPr>
                        <a:t>App PIN on every open, plus device biometric</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Credit score 300 to 850 with an exportable report</a:t>
                      </a:r>
                    </a:p>
                  </a:txBody>
                  <a:tcPr marL="45720" marR="109728" marT="27432" marB="27432" anchor="ctr">
                    <a:lnB w="9525" cap="flat" cmpd="sng" algn="ctr">
                      <a:solidFill>
                        <a:srgbClr val="DCE3D6"/>
                      </a:solidFill>
                    </a:lnB>
                    <a:solidFill>
                      <a:srgbClr val="FFFFFF"/>
                    </a:solidFill>
                  </a:tcPr>
                </a:tc>
              </a:tr>
              <a:tr h="249044">
                <a:tc>
                  <a:txBody>
                    <a:bodyPr wrap="square"/>
                    <a:lstStyle/>
                    <a:p>
                      <a:r>
                        <a:rPr sz="800" b="0">
                          <a:solidFill>
                            <a:srgbClr val="26301F"/>
                          </a:solidFill>
                          <a:latin typeface="Segoe UI"/>
                        </a:rPr>
                        <a:t>Every Pakistani payment rail at checkout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Daily overdue sweep and recovery cases</a:t>
                      </a:r>
                    </a:p>
                  </a:txBody>
                  <a:tcPr marL="45720" marR="109728" marT="27432" marB="27432" anchor="ctr">
                    <a:lnB w="9525" cap="flat" cmpd="sng" algn="ctr">
                      <a:solidFill>
                        <a:srgbClr val="DCE3D6"/>
                      </a:solidFill>
                    </a:lnB>
                    <a:solidFill>
                      <a:srgbClr val="FFFFFF"/>
                    </a:solidFill>
                  </a:tcPr>
                </a:tc>
              </a:tr>
              <a:tr h="249044">
                <a:tc>
                  <a:txBody>
                    <a:bodyPr wrap="square"/>
                    <a:lstStyle/>
                    <a:p>
                      <a:r>
                        <a:rPr sz="800" b="0">
                          <a:solidFill>
                            <a:srgbClr val="26301F"/>
                          </a:solidFill>
                          <a:latin typeface="Segoe UI"/>
                        </a:rPr>
                        <a:t>Receipts with a reference for every settlement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Turn marketplace, rewards and streaks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INNOVATION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nobody else has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a:t>
            </a:r>
          </a:p>
        </p:txBody>
      </p:sp>
      <p:graphicFrame>
        <p:nvGraphicFramePr>
          <p:cNvPr id="7" name="Table 6"/>
          <p:cNvGraphicFramePr>
            <a:graphicFrameLocks noGrp="1"/>
          </p:cNvGraphicFramePr>
          <p:nvPr/>
        </p:nvGraphicFramePr>
        <p:xfrm>
          <a:off x="777240" y="1965960"/>
          <a:ext cx="10607040" cy="3401568"/>
        </p:xfrm>
        <a:graphic>
          <a:graphicData uri="http://schemas.openxmlformats.org/drawingml/2006/table">
            <a:tbl>
              <a:tblPr>
                <a:tableStyleId>{5C22544A-7EE6-4342-B048-85BDC9FD1C3A}</a:tableStyleId>
              </a:tblPr>
              <a:tblGrid>
                <a:gridCol w="365760"/>
                <a:gridCol w="3291840"/>
                <a:gridCol w="6949440"/>
              </a:tblGrid>
              <a:tr h="566928">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WE DO</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IT IS NEW</a:t>
                      </a:r>
                    </a:p>
                  </a:txBody>
                  <a:tcPr marL="45720" marR="109728" marT="27432" marB="27432" anchor="ctr">
                    <a:lnB w="9525" cap="flat" cmpd="sng" algn="ctr">
                      <a:solidFill>
                        <a:srgbClr val="41801A"/>
                      </a:solidFill>
                    </a:lnB>
                    <a:solidFill>
                      <a:srgbClr val="FFFFFF"/>
                    </a:solidFill>
                  </a:tcPr>
                </a:tc>
              </a:tr>
              <a:tr h="566928">
                <a:tc>
                  <a:txBody>
                    <a:bodyPr wrap="square"/>
                    <a:lstStyle/>
                    <a:p>
                      <a:r>
                        <a:rPr sz="10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Collect on payday, not on the due date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It removes the failure where the money arrived and was spent before the deadline. It came from a member saying he pays as soon as his pay arrives</a:t>
                      </a:r>
                    </a:p>
                  </a:txBody>
                  <a:tcPr marL="45720" marR="109728" marT="27432" marB="27432" anchor="ctr">
                    <a:lnB w="9525" cap="flat" cmpd="sng" algn="ctr">
                      <a:solidFill>
                        <a:srgbClr val="DCE3D6"/>
                      </a:solidFill>
                    </a:lnB>
                    <a:solidFill>
                      <a:srgbClr val="FFFFFF"/>
                    </a:solidFill>
                  </a:tcPr>
                </a:tc>
              </a:tr>
              <a:tr h="566928">
                <a:tc>
                  <a:txBody>
                    <a:bodyPr wrap="square"/>
                    <a:lstStyle/>
                    <a:p>
                      <a:r>
                        <a:rPr sz="10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Your position in the queue is the collateral</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New members can only take the last turns, so the most they can cost anyone is tiny. No deposit, no guarantor, no cash held</a:t>
                      </a:r>
                    </a:p>
                  </a:txBody>
                  <a:tcPr marL="45720" marR="109728" marT="27432" marB="27432" anchor="ctr">
                    <a:lnB w="9525" cap="flat" cmpd="sng" algn="ctr">
                      <a:solidFill>
                        <a:srgbClr val="DCE3D6"/>
                      </a:solidFill>
                    </a:lnB>
                    <a:solidFill>
                      <a:srgbClr val="FFFFFF"/>
                    </a:solidFill>
                  </a:tcPr>
                </a:tc>
              </a:tr>
              <a:tr h="566928">
                <a:tc>
                  <a:txBody>
                    <a:bodyPr wrap="square"/>
                    <a:lstStyle/>
                    <a:p>
                      <a:r>
                        <a:rPr sz="10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record is furnished from the day you join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Not from the day you collect. A member has eleven months of proven history before they touch a rupee</a:t>
                      </a:r>
                    </a:p>
                  </a:txBody>
                  <a:tcPr marL="45720" marR="109728" marT="27432" marB="27432" anchor="ctr">
                    <a:lnB w="9525" cap="flat" cmpd="sng" algn="ctr">
                      <a:solidFill>
                        <a:srgbClr val="DCE3D6"/>
                      </a:solidFill>
                    </a:lnB>
                    <a:solidFill>
                      <a:srgbClr val="FFFFFF"/>
                    </a:solidFill>
                  </a:tcPr>
                </a:tc>
              </a:tr>
              <a:tr h="566928">
                <a:tc>
                  <a:txBody>
                    <a:bodyPr wrap="square"/>
                    <a:lstStyle/>
                    <a:p>
                      <a:r>
                        <a:rPr sz="10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There is no cancel button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Leaving is a ladder of five steps, and the money owed back is settled by the members who already collected. It needs no reserve, only arithmetic</a:t>
                      </a:r>
                    </a:p>
                  </a:txBody>
                  <a:tcPr marL="45720" marR="109728" marT="27432" marB="27432" anchor="ctr">
                    <a:lnB w="9525" cap="flat" cmpd="sng" algn="ctr">
                      <a:solidFill>
                        <a:srgbClr val="DCE3D6"/>
                      </a:solidFill>
                    </a:lnB>
                    <a:solidFill>
                      <a:srgbClr val="FFFFFF"/>
                    </a:solidFill>
                  </a:tcPr>
                </a:tc>
              </a:tr>
              <a:tr h="566928">
                <a:tc>
                  <a:txBody>
                    <a:bodyPr wrap="square"/>
                    <a:lstStyle/>
                    <a:p>
                      <a:r>
                        <a:rPr sz="10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 verifiable draw</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ballot is the ritual. We commit to a hashed seed, every member adds entropy, and the seed is published so anyone can recheck it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REAL-WORLD POTENTIAL</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It scales because the behaviour already exists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8</a:t>
            </a:r>
          </a:p>
        </p:txBody>
      </p:sp>
      <p:sp>
        <p:nvSpPr>
          <p:cNvPr id="7" name="TextBox 6"/>
          <p:cNvSpPr txBox="1"/>
          <p:nvPr/>
        </p:nvSpPr>
        <p:spPr>
          <a:xfrm>
            <a:off x="777240"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4tn</a:t>
            </a:r>
          </a:p>
        </p:txBody>
      </p:sp>
      <p:sp>
        <p:nvSpPr>
          <p:cNvPr id="8" name="TextBox 7"/>
          <p:cNvSpPr txBox="1"/>
          <p:nvPr/>
        </p:nvSpPr>
        <p:spPr>
          <a:xfrm>
            <a:off x="777240"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Moves through Pakistani committees every year</a:t>
            </a:r>
          </a:p>
        </p:txBody>
      </p:sp>
      <p:sp>
        <p:nvSpPr>
          <p:cNvPr id="9" name="TextBox 8"/>
          <p:cNvSpPr txBox="1"/>
          <p:nvPr/>
        </p:nvSpPr>
        <p:spPr>
          <a:xfrm>
            <a:off x="3436543"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52m</a:t>
            </a:r>
          </a:p>
        </p:txBody>
      </p:sp>
      <p:sp>
        <p:nvSpPr>
          <p:cNvPr id="10" name="TextBox 9"/>
          <p:cNvSpPr txBox="1"/>
          <p:nvPr/>
        </p:nvSpPr>
        <p:spPr>
          <a:xfrm>
            <a:off x="3436543"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Adults already taking part</a:t>
            </a:r>
          </a:p>
        </p:txBody>
      </p:sp>
      <p:sp>
        <p:nvSpPr>
          <p:cNvPr id="11" name="TextBox 10"/>
          <p:cNvSpPr txBox="1"/>
          <p:nvPr/>
        </p:nvSpPr>
        <p:spPr>
          <a:xfrm>
            <a:off x="6095847"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3%</a:t>
            </a:r>
          </a:p>
        </p:txBody>
      </p:sp>
      <p:sp>
        <p:nvSpPr>
          <p:cNvPr id="12" name="TextBox 11"/>
          <p:cNvSpPr txBox="1"/>
          <p:nvPr/>
        </p:nvSpPr>
        <p:spPr>
          <a:xfrm>
            <a:off x="6095847"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Of adults have any formal credit record at all</a:t>
            </a:r>
          </a:p>
        </p:txBody>
      </p:sp>
      <p:sp>
        <p:nvSpPr>
          <p:cNvPr id="13" name="TextBox 12"/>
          <p:cNvSpPr txBox="1"/>
          <p:nvPr/>
        </p:nvSpPr>
        <p:spPr>
          <a:xfrm>
            <a:off x="8755151" y="210312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2x</a:t>
            </a:r>
          </a:p>
        </p:txBody>
      </p:sp>
      <p:sp>
        <p:nvSpPr>
          <p:cNvPr id="14" name="TextBox 13"/>
          <p:cNvSpPr txBox="1"/>
          <p:nvPr/>
        </p:nvSpPr>
        <p:spPr>
          <a:xfrm>
            <a:off x="8755151" y="267004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Women participate at twice the rate of men</a:t>
            </a:r>
          </a:p>
        </p:txBody>
      </p:sp>
      <p:sp>
        <p:nvSpPr>
          <p:cNvPr id="15" name="TextBox 14"/>
          <p:cNvSpPr txBox="1"/>
          <p:nvPr/>
        </p:nvSpPr>
        <p:spPr>
          <a:xfrm>
            <a:off x="777240" y="3794760"/>
            <a:ext cx="10607040" cy="1371600"/>
          </a:xfrm>
          <a:prstGeom prst="rect">
            <a:avLst/>
          </a:prstGeom>
          <a:noFill/>
        </p:spPr>
        <p:txBody>
          <a:bodyPr wrap="square" lIns="0" rIns="0" tIns="0" bIns="0">
            <a:spAutoFit/>
          </a:bodyPr>
          <a:lstStyle/>
          <a:p>
            <a:pPr algn="l">
              <a:lnSpc>
                <a:spcPct val="150000"/>
              </a:lnSpc>
            </a:pPr>
            <a:r>
              <a:rPr sz="1500" b="0" i="0">
                <a:solidFill>
                  <a:srgbClr val="26301F"/>
                </a:solidFill>
                <a:latin typeface="Segoe UI"/>
              </a:rPr>
              <a:t>We are not asking anybody to change what they do. Fifty two million people already run committees, every month, with their own money. We are writing down what they were already doing, and handing them a credit identity they could never build before.</a:t>
            </a:r>
          </a:p>
        </p:txBody>
      </p:sp>
      <p:sp>
        <p:nvSpPr>
          <p:cNvPr id="16" name="Rectangle 15"/>
          <p:cNvSpPr/>
          <p:nvPr/>
        </p:nvSpPr>
        <p:spPr>
          <a:xfrm>
            <a:off x="777240" y="5257800"/>
            <a:ext cx="10607040" cy="1270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486400"/>
            <a:ext cx="10607040" cy="685800"/>
          </a:xfrm>
          <a:prstGeom prst="rect">
            <a:avLst/>
          </a:prstGeom>
          <a:noFill/>
        </p:spPr>
        <p:txBody>
          <a:bodyPr wrap="square" lIns="0" rIns="0" tIns="0" bIns="0">
            <a:spAutoFit/>
          </a:bodyPr>
          <a:lstStyle/>
          <a:p>
            <a:pPr algn="l">
              <a:lnSpc>
                <a:spcPct val="145000"/>
              </a:lnSpc>
            </a:pPr>
            <a:r>
              <a:rPr sz="1300" b="1" i="0">
                <a:solidFill>
                  <a:srgbClr val="41801A"/>
                </a:solidFill>
                <a:latin typeface="Segoe UI"/>
              </a:rPr>
              <a:t>UN Sustainable Development Goal 8, target 8.10: strengthen the capacity of domestic financial institutions to expand access to banking and financial services for all. That target reads as though it were written for this.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MODEL</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How it pays for itself</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9</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25000"/>
              </a:lnSpc>
            </a:pPr>
            <a:r>
              <a:rPr sz="1600" b="1" i="0">
                <a:solidFill>
                  <a:srgbClr val="0C1408"/>
                </a:solidFill>
                <a:latin typeface="Segoe UI"/>
              </a:rPr>
              <a:t>A member pays nothing to join and nothing to receive their turn.</a:t>
            </a:r>
          </a:p>
        </p:txBody>
      </p:sp>
      <p:graphicFrame>
        <p:nvGraphicFramePr>
          <p:cNvPr id="8" name="Table 7"/>
          <p:cNvGraphicFramePr>
            <a:graphicFrameLocks noGrp="1"/>
          </p:cNvGraphicFramePr>
          <p:nvPr/>
        </p:nvGraphicFramePr>
        <p:xfrm>
          <a:off x="777240" y="2606040"/>
          <a:ext cx="10607040" cy="2633472"/>
        </p:xfrm>
        <a:graphic>
          <a:graphicData uri="http://schemas.openxmlformats.org/drawingml/2006/table">
            <a:tbl>
              <a:tblPr>
                <a:tableStyleId>{5C22544A-7EE6-4342-B048-85BDC9FD1C3A}</a:tableStyleId>
              </a:tblPr>
              <a:tblGrid>
                <a:gridCol w="6583680"/>
                <a:gridCol w="4023360"/>
              </a:tblGrid>
              <a:tr h="438912">
                <a:tc>
                  <a:txBody>
                    <a:bodyPr wrap="square"/>
                    <a:lstStyle/>
                    <a:p>
                      <a:r>
                        <a:rPr sz="900" b="1">
                          <a:solidFill>
                            <a:srgbClr val="41801A"/>
                          </a:solidFill>
                          <a:latin typeface="Segoe UI"/>
                        </a:rPr>
                        <a:t>WHERE THE MONEY COMES FROM</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WHO PAYS</a:t>
                      </a:r>
                    </a:p>
                  </a:txBody>
                  <a:tcPr marL="45720" marR="109728" marT="27432" marB="27432" anchor="ctr">
                    <a:lnB w="9525" cap="flat" cmpd="sng" algn="ctr">
                      <a:solidFill>
                        <a:srgbClr val="41801A"/>
                      </a:solidFill>
                    </a:lnB>
                    <a:solidFill>
                      <a:srgbClr val="FFFFFF"/>
                    </a:solidFill>
                  </a:tcPr>
                </a:tc>
              </a:tr>
              <a:tr h="438912">
                <a:tc>
                  <a:txBody>
                    <a:bodyPr wrap="square"/>
                    <a:lstStyle/>
                    <a:p>
                      <a:r>
                        <a:rPr sz="1150" b="0">
                          <a:solidFill>
                            <a:srgbClr val="26301F"/>
                          </a:solidFill>
                          <a:latin typeface="Segoe UI"/>
                        </a:rPr>
                        <a:t>A small flat fee on each contribution, around one per cent</a:t>
                      </a:r>
                    </a:p>
                  </a:txBody>
                  <a:tcPr marL="45720" marR="109728" marT="27432" marB="27432" anchor="ctr">
                    <a:lnB w="9525" cap="flat" cmpd="sng" algn="ctr">
                      <a:solidFill>
                        <a:srgbClr val="DCE3D6"/>
                      </a:solidFill>
                    </a:lnB>
                    <a:solidFill>
                      <a:srgbClr val="FFFFFF"/>
                    </a:solidFill>
                  </a:tcPr>
                </a:tc>
                <a:tc>
                  <a:txBody>
                    <a:bodyPr wrap="square"/>
                    <a:lstStyle/>
                    <a:p>
                      <a:r>
                        <a:rPr sz="1150" b="0">
                          <a:solidFill>
                            <a:srgbClr val="26301F"/>
                          </a:solidFill>
                          <a:latin typeface="Segoe UI"/>
                        </a:rPr>
                        <a:t>The member, and it is the only thing they pay</a:t>
                      </a:r>
                    </a:p>
                  </a:txBody>
                  <a:tcPr marL="45720" marR="109728" marT="27432" marB="27432" anchor="ctr">
                    <a:lnB w="9525" cap="flat" cmpd="sng" algn="ctr">
                      <a:solidFill>
                        <a:srgbClr val="DCE3D6"/>
                      </a:solidFill>
                    </a:lnB>
                    <a:solidFill>
                      <a:srgbClr val="FFFFFF"/>
                    </a:solidFill>
                  </a:tcPr>
                </a:tc>
              </a:tr>
              <a:tr h="438912">
                <a:tc>
                  <a:txBody>
                    <a:bodyPr wrap="square"/>
                    <a:lstStyle/>
                    <a:p>
                      <a:r>
                        <a:rPr sz="1150" b="0">
                          <a:solidFill>
                            <a:srgbClr val="26301F"/>
                          </a:solidFill>
                          <a:latin typeface="Segoe UI"/>
                        </a:rPr>
                        <a:t>A fee if you want an early turn, which is genuinely worth more</a:t>
                      </a:r>
                    </a:p>
                  </a:txBody>
                  <a:tcPr marL="45720" marR="109728" marT="27432" marB="27432" anchor="ctr">
                    <a:lnB w="9525" cap="flat" cmpd="sng" algn="ctr">
                      <a:solidFill>
                        <a:srgbClr val="DCE3D6"/>
                      </a:solidFill>
                    </a:lnB>
                    <a:solidFill>
                      <a:srgbClr val="FFFFFF"/>
                    </a:solidFill>
                  </a:tcPr>
                </a:tc>
                <a:tc>
                  <a:txBody>
                    <a:bodyPr wrap="square"/>
                    <a:lstStyle/>
                    <a:p>
                      <a:r>
                        <a:rPr sz="1150" b="0">
                          <a:solidFill>
                            <a:srgbClr val="26301F"/>
                          </a:solidFill>
                          <a:latin typeface="Segoe UI"/>
                        </a:rPr>
                        <a:t>Only members who choose one</a:t>
                      </a:r>
                    </a:p>
                  </a:txBody>
                  <a:tcPr marL="45720" marR="109728" marT="27432" marB="27432" anchor="ctr">
                    <a:lnB w="9525" cap="flat" cmpd="sng" algn="ctr">
                      <a:solidFill>
                        <a:srgbClr val="DCE3D6"/>
                      </a:solidFill>
                    </a:lnB>
                    <a:solidFill>
                      <a:srgbClr val="FFFFFF"/>
                    </a:solidFill>
                  </a:tcPr>
                </a:tc>
              </a:tr>
              <a:tr h="438912">
                <a:tc>
                  <a:txBody>
                    <a:bodyPr wrap="square"/>
                    <a:lstStyle/>
                    <a:p>
                      <a:r>
                        <a:rPr sz="1150" b="0">
                          <a:solidFill>
                            <a:srgbClr val="26301F"/>
                          </a:solidFill>
                          <a:latin typeface="Segoe UI"/>
                        </a:rPr>
                        <a:t>Commission when a member buys something with a partner retailer</a:t>
                      </a:r>
                    </a:p>
                  </a:txBody>
                  <a:tcPr marL="45720" marR="109728" marT="27432" marB="27432" anchor="ctr">
                    <a:lnB w="9525" cap="flat" cmpd="sng" algn="ctr">
                      <a:solidFill>
                        <a:srgbClr val="DCE3D6"/>
                      </a:solidFill>
                    </a:lnB>
                    <a:solidFill>
                      <a:srgbClr val="FFFFFF"/>
                    </a:solidFill>
                  </a:tcPr>
                </a:tc>
                <a:tc>
                  <a:txBody>
                    <a:bodyPr wrap="square"/>
                    <a:lstStyle/>
                    <a:p>
                      <a:r>
                        <a:rPr sz="1150" b="0">
                          <a:solidFill>
                            <a:srgbClr val="26301F"/>
                          </a:solidFill>
                          <a:latin typeface="Segoe UI"/>
                        </a:rPr>
                        <a:t>The retailer, as customer acquisition spend</a:t>
                      </a:r>
                    </a:p>
                  </a:txBody>
                  <a:tcPr marL="45720" marR="109728" marT="27432" marB="27432" anchor="ctr">
                    <a:lnB w="9525" cap="flat" cmpd="sng" algn="ctr">
                      <a:solidFill>
                        <a:srgbClr val="DCE3D6"/>
                      </a:solidFill>
                    </a:lnB>
                    <a:solidFill>
                      <a:srgbClr val="FFFFFF"/>
                    </a:solidFill>
                  </a:tcPr>
                </a:tc>
              </a:tr>
              <a:tr h="438912">
                <a:tc>
                  <a:txBody>
                    <a:bodyPr wrap="square"/>
                    <a:lstStyle/>
                    <a:p>
                      <a:r>
                        <a:rPr sz="1150" b="0">
                          <a:solidFill>
                            <a:srgbClr val="26301F"/>
                          </a:solidFill>
                          <a:latin typeface="Segoe UI"/>
                        </a:rPr>
                        <a:t>A share of the manager's fee on savings we introduce</a:t>
                      </a:r>
                    </a:p>
                  </a:txBody>
                  <a:tcPr marL="45720" marR="109728" marT="27432" marB="27432" anchor="ctr">
                    <a:lnB w="9525" cap="flat" cmpd="sng" algn="ctr">
                      <a:solidFill>
                        <a:srgbClr val="DCE3D6"/>
                      </a:solidFill>
                    </a:lnB>
                    <a:solidFill>
                      <a:srgbClr val="FFFFFF"/>
                    </a:solidFill>
                  </a:tcPr>
                </a:tc>
                <a:tc>
                  <a:txBody>
                    <a:bodyPr wrap="square"/>
                    <a:lstStyle/>
                    <a:p>
                      <a:r>
                        <a:rPr sz="1150" b="0">
                          <a:solidFill>
                            <a:srgbClr val="26301F"/>
                          </a:solidFill>
                          <a:latin typeface="Segoe UI"/>
                        </a:rPr>
                        <a:t>The asset manager, not the member</a:t>
                      </a:r>
                    </a:p>
                  </a:txBody>
                  <a:tcPr marL="45720" marR="109728" marT="27432" marB="27432" anchor="ctr">
                    <a:lnB w="9525" cap="flat" cmpd="sng" algn="ctr">
                      <a:solidFill>
                        <a:srgbClr val="DCE3D6"/>
                      </a:solidFill>
                    </a:lnB>
                    <a:solidFill>
                      <a:srgbClr val="FFFFFF"/>
                    </a:solidFill>
                  </a:tcPr>
                </a:tc>
              </a:tr>
              <a:tr h="438912">
                <a:tc>
                  <a:txBody>
                    <a:bodyPr wrap="square"/>
                    <a:lstStyle/>
                    <a:p>
                      <a:r>
                        <a:rPr sz="1150" b="0">
                          <a:solidFill>
                            <a:srgbClr val="26301F"/>
                          </a:solidFill>
                          <a:latin typeface="Segoe UI"/>
                        </a:rPr>
                        <a:t>Origination when a dealer sells a bike or a machine through a circle</a:t>
                      </a:r>
                    </a:p>
                  </a:txBody>
                  <a:tcPr marL="45720" marR="109728" marT="27432" marB="27432" anchor="ctr">
                    <a:lnB w="9525" cap="flat" cmpd="sng" algn="ctr">
                      <a:solidFill>
                        <a:srgbClr val="DCE3D6"/>
                      </a:solidFill>
                    </a:lnB>
                    <a:solidFill>
                      <a:srgbClr val="FFFFFF"/>
                    </a:solidFill>
                  </a:tcPr>
                </a:tc>
                <a:tc>
                  <a:txBody>
                    <a:bodyPr wrap="square"/>
                    <a:lstStyle/>
                    <a:p>
                      <a:r>
                        <a:rPr sz="1150" b="0">
                          <a:solidFill>
                            <a:srgbClr val="26301F"/>
                          </a:solidFill>
                          <a:latin typeface="Segoe UI"/>
                        </a:rPr>
                        <a:t>The dealer</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422392"/>
            <a:ext cx="10637215" cy="731520"/>
          </a:xfrm>
          <a:prstGeom prst="rect">
            <a:avLst/>
          </a:prstGeom>
          <a:noFill/>
        </p:spPr>
        <p:txBody>
          <a:bodyPr wrap="square" lIns="0" rIns="0" tIns="0" bIns="0">
            <a:spAutoFit/>
          </a:bodyPr>
          <a:lstStyle/>
          <a:p>
            <a:pPr algn="l">
              <a:lnSpc>
                <a:spcPct val="140000"/>
              </a:lnSpc>
            </a:pPr>
            <a:r>
              <a:rPr sz="1300" b="1" i="0">
                <a:solidFill>
                  <a:srgbClr val="0C1408"/>
                </a:solidFill>
                <a:latin typeface="Segoe UI"/>
              </a:rPr>
              <a:t>Four of those five are paid by somebody other than the member. On a one per cent share of a four trillion rupee market, the member facing fee alone is around Rs 680 million a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THE HARD QUESTIONS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we think you are about to ask</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LSE Generate Global Innovation Challenge 2026</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10</a:t>
            </a:r>
          </a:p>
        </p:txBody>
      </p:sp>
      <p:graphicFrame>
        <p:nvGraphicFramePr>
          <p:cNvPr id="7" name="Table 6"/>
          <p:cNvGraphicFramePr>
            <a:graphicFrameLocks noGrp="1"/>
          </p:cNvGraphicFramePr>
          <p:nvPr/>
        </p:nvGraphicFramePr>
        <p:xfrm>
          <a:off x="777240" y="1965960"/>
          <a:ext cx="10607040" cy="3490398"/>
        </p:xfrm>
        <a:graphic>
          <a:graphicData uri="http://schemas.openxmlformats.org/drawingml/2006/table">
            <a:tbl>
              <a:tblPr>
                <a:tableStyleId>{5C22544A-7EE6-4342-B048-85BDC9FD1C3A}</a:tableStyleId>
              </a:tblPr>
              <a:tblGrid>
                <a:gridCol w="2926080"/>
                <a:gridCol w="7680960"/>
              </a:tblGrid>
              <a:tr h="581733">
                <a:tc>
                  <a:txBody>
                    <a:bodyPr wrap="square"/>
                    <a:lstStyle/>
                    <a:p>
                      <a:r>
                        <a:rPr sz="900" b="1">
                          <a:solidFill>
                            <a:srgbClr val="41801A"/>
                          </a:solidFill>
                          <a:latin typeface="Segoe UI"/>
                        </a:rPr>
                        <a:t>THE QUESTION</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THE ANSWER</a:t>
                      </a:r>
                    </a:p>
                  </a:txBody>
                  <a:tcPr marL="45720" marR="109728" marT="27432" marB="27432" anchor="ctr">
                    <a:lnB w="9525" cap="flat" cmpd="sng" algn="ctr">
                      <a:solidFill>
                        <a:srgbClr val="41801A"/>
                      </a:solidFill>
                    </a:lnB>
                    <a:solidFill>
                      <a:srgbClr val="FFFFFF"/>
                    </a:solidFill>
                  </a:tcPr>
                </a:tc>
              </a:tr>
              <a:tr h="581733">
                <a:tc>
                  <a:txBody>
                    <a:bodyPr wrap="square"/>
                    <a:lstStyle/>
                    <a:p>
                      <a:r>
                        <a:rPr sz="950" b="0">
                          <a:solidFill>
                            <a:srgbClr val="26301F"/>
                          </a:solidFill>
                          <a:latin typeface="Segoe UI"/>
                        </a:rPr>
                        <a:t>Do you need a licence?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No. We issue no balance, lend nothing and hold nothing. We need a merchant agreement with a licensed payment aggregator, which is a commercial contract</a:t>
                      </a:r>
                    </a:p>
                  </a:txBody>
                  <a:tcPr marL="45720" marR="109728" marT="27432" marB="27432" anchor="ctr">
                    <a:lnB w="9525" cap="flat" cmpd="sng" algn="ctr">
                      <a:solidFill>
                        <a:srgbClr val="DCE3D6"/>
                      </a:solidFill>
                    </a:lnB>
                    <a:solidFill>
                      <a:srgbClr val="FFFFFF"/>
                    </a:solidFill>
                  </a:tcPr>
                </a:tc>
              </a:tr>
              <a:tr h="581733">
                <a:tc>
                  <a:txBody>
                    <a:bodyPr wrap="square"/>
                    <a:lstStyle/>
                    <a:p>
                      <a:r>
                        <a:rPr sz="950" b="0">
                          <a:solidFill>
                            <a:srgbClr val="26301F"/>
                          </a:solidFill>
                          <a:latin typeface="Segoe UI"/>
                        </a:rPr>
                        <a:t>What if somebody takes the pot and runs?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New members can only hold the last turns, where they have already paid in nearly everything they owe. The most an unproven member can cost a circle is two contributions</a:t>
                      </a:r>
                    </a:p>
                  </a:txBody>
                  <a:tcPr marL="45720" marR="109728" marT="27432" marB="27432" anchor="ctr">
                    <a:lnB w="9525" cap="flat" cmpd="sng" algn="ctr">
                      <a:solidFill>
                        <a:srgbClr val="DCE3D6"/>
                      </a:solidFill>
                    </a:lnB>
                    <a:solidFill>
                      <a:srgbClr val="FFFFFF"/>
                    </a:solidFill>
                  </a:tcPr>
                </a:tc>
              </a:tr>
              <a:tr h="581733">
                <a:tc>
                  <a:txBody>
                    <a:bodyPr wrap="square"/>
                    <a:lstStyle/>
                    <a:p>
                      <a:r>
                        <a:rPr sz="950" b="0">
                          <a:solidFill>
                            <a:srgbClr val="26301F"/>
                          </a:solidFill>
                          <a:latin typeface="Segoe UI"/>
                        </a:rPr>
                        <a:t>What is your default rate?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We do not know yet, and we say so. Every price is modelled from the academic literature and repriced against the first hundred completed circles</a:t>
                      </a:r>
                    </a:p>
                  </a:txBody>
                  <a:tcPr marL="45720" marR="109728" marT="27432" marB="27432" anchor="ctr">
                    <a:lnB w="9525" cap="flat" cmpd="sng" algn="ctr">
                      <a:solidFill>
                        <a:srgbClr val="DCE3D6"/>
                      </a:solidFill>
                    </a:lnB>
                    <a:solidFill>
                      <a:srgbClr val="FFFFFF"/>
                    </a:solidFill>
                  </a:tcPr>
                </a:tc>
              </a:tr>
              <a:tr h="581733">
                <a:tc>
                  <a:txBody>
                    <a:bodyPr wrap="square"/>
                    <a:lstStyle/>
                    <a:p>
                      <a:r>
                        <a:rPr sz="950" b="0">
                          <a:solidFill>
                            <a:srgbClr val="26301F"/>
                          </a:solidFill>
                          <a:latin typeface="Segoe UI"/>
                        </a:rPr>
                        <a:t>Why has nobody done this?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Everybody optimised for holding the money. The value was never the money, which nets to zero. Two American operators abandoned pooling entirely and one reached a billion dollar valuation on the record alone</a:t>
                      </a:r>
                    </a:p>
                  </a:txBody>
                  <a:tcPr marL="45720" marR="109728" marT="27432" marB="27432" anchor="ctr">
                    <a:lnB w="9525" cap="flat" cmpd="sng" algn="ctr">
                      <a:solidFill>
                        <a:srgbClr val="DCE3D6"/>
                      </a:solidFill>
                    </a:lnB>
                    <a:solidFill>
                      <a:srgbClr val="FFFFFF"/>
                    </a:solidFill>
                  </a:tcPr>
                </a:tc>
              </a:tr>
              <a:tr h="581733">
                <a:tc>
                  <a:txBody>
                    <a:bodyPr wrap="square"/>
                    <a:lstStyle/>
                    <a:p>
                      <a:r>
                        <a:rPr sz="950" b="0">
                          <a:solidFill>
                            <a:srgbClr val="26301F"/>
                          </a:solidFill>
                          <a:latin typeface="Segoe UI"/>
                        </a:rPr>
                        <a:t>Can a seventeen year old run this?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product is live, it has 412 passing tests, and the sitting Chairman of the SECP has met us twice and called it original</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11680"/>
            <a:ext cx="10241280" cy="2011680"/>
          </a:xfrm>
          <a:prstGeom prst="rect">
            <a:avLst/>
          </a:prstGeom>
          <a:noFill/>
        </p:spPr>
        <p:txBody>
          <a:bodyPr wrap="square" lIns="0" rIns="0" tIns="0" bIns="0">
            <a:spAutoFit/>
          </a:bodyPr>
          <a:lstStyle/>
          <a:p>
            <a:pPr algn="l">
              <a:lnSpc>
                <a:spcPct val="130000"/>
              </a:lnSpc>
            </a:pPr>
            <a:r>
              <a:rPr sz="3000" b="1" i="0">
                <a:solidFill>
                  <a:srgbClr val="FFFFFF"/>
                </a:solidFill>
                <a:latin typeface="Segoe UI"/>
              </a:rPr>
              <a:t>The committee is a thousand years old.</a:t>
            </a:r>
          </a:p>
          <a:p>
            <a:pPr algn="l">
              <a:lnSpc>
                <a:spcPct val="130000"/>
              </a:lnSpc>
              <a:spcBef>
                <a:spcPts val="0"/>
              </a:spcBef>
            </a:pPr>
            <a:r>
              <a:rPr sz="3000" b="1" i="0">
                <a:solidFill>
                  <a:srgbClr val="FFFFFF"/>
                </a:solidFill>
                <a:latin typeface="Segoe UI"/>
              </a:rPr>
              <a:t>Fifty two million Pakistanis are in one.</a:t>
            </a:r>
          </a:p>
          <a:p>
            <a:pPr algn="l">
              <a:lnSpc>
                <a:spcPct val="130000"/>
              </a:lnSpc>
              <a:spcBef>
                <a:spcPts val="0"/>
              </a:spcBef>
            </a:pPr>
            <a:r>
              <a:rPr sz="3000" b="1" i="0">
                <a:solidFill>
                  <a:srgbClr val="FFFFFF"/>
                </a:solidFill>
                <a:latin typeface="Segoe UI"/>
              </a:rPr>
              <a:t>The money is already moving.</a:t>
            </a:r>
          </a:p>
        </p:txBody>
      </p:sp>
      <p:sp>
        <p:nvSpPr>
          <p:cNvPr id="5" name="Rectangle 4"/>
          <p:cNvSpPr/>
          <p:nvPr/>
        </p:nvSpPr>
        <p:spPr>
          <a:xfrm>
            <a:off x="777240" y="4343400"/>
            <a:ext cx="146304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709160"/>
            <a:ext cx="9875520" cy="822960"/>
          </a:xfrm>
          <a:prstGeom prst="rect">
            <a:avLst/>
          </a:prstGeom>
          <a:noFill/>
        </p:spPr>
        <p:txBody>
          <a:bodyPr wrap="square" lIns="0" rIns="0" tIns="0" bIns="0">
            <a:spAutoFit/>
          </a:bodyPr>
          <a:lstStyle/>
          <a:p>
            <a:pPr algn="l">
              <a:lnSpc>
                <a:spcPct val="140000"/>
              </a:lnSpc>
            </a:pPr>
            <a:r>
              <a:rPr sz="1900" b="1" i="0">
                <a:solidFill>
                  <a:srgbClr val="C9F09C"/>
                </a:solidFill>
                <a:latin typeface="Segoe UI"/>
              </a:rPr>
              <a:t>What has never existed is the record. We built it, it is live, and it costs the member nothing.</a:t>
            </a:r>
          </a:p>
        </p:txBody>
      </p:sp>
      <p:sp>
        <p:nvSpPr>
          <p:cNvPr id="7" name="TextBox 6"/>
          <p:cNvSpPr txBox="1"/>
          <p:nvPr/>
        </p:nvSpPr>
        <p:spPr>
          <a:xfrm>
            <a:off x="777240" y="5943600"/>
            <a:ext cx="8229600" cy="274320"/>
          </a:xfrm>
          <a:prstGeom prst="rect">
            <a:avLst/>
          </a:prstGeom>
          <a:noFill/>
        </p:spPr>
        <p:txBody>
          <a:bodyPr wrap="square" lIns="0" rIns="0" tIns="0" bIns="0">
            <a:spAutoFit/>
          </a:bodyPr>
          <a:lstStyle/>
          <a:p>
            <a:pPr algn="l">
              <a:lnSpc>
                <a:spcPct val="125000"/>
              </a:lnSpc>
            </a:pPr>
            <a:r>
              <a:rPr sz="1300" b="0" i="0">
                <a:solidFill>
                  <a:srgbClr val="8AA872"/>
                </a:solidFill>
                <a:latin typeface="Segoe UI"/>
              </a:rPr>
              <a:t>halqa-seven.vercel.app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