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41801A"/>
              </a:solidFill>
            </c:spPr>
          </c:dPt>
          <c:dPt>
            <c:idx val="1"/>
            <c:spPr>
              <a:solidFill>
                <a:srgbClr val="6DC72A"/>
              </a:solidFill>
            </c:spPr>
          </c:dPt>
          <c:dPt>
            <c:idx val="2"/>
            <c:spPr>
              <a:solidFill>
                <a:srgbClr val="B9D69A"/>
              </a:solidFill>
            </c:spPr>
          </c:dPt>
          <c:dPt>
            <c:idx val="3"/>
            <c:spPr>
              <a:solidFill>
                <a:srgbClr val="DCE3D6"/>
              </a:solidFill>
            </c:spPr>
          </c:dPt>
          <c:cat>
            <c:strRef>
              <c:f>Sheet1!$A$2:$A$5</c:f>
              <c:strCache>
                <c:ptCount val="4"/>
                <c:pt idx="0">
                  <c:v>Cash at home</c:v>
                </c:pt>
                <c:pt idx="1">
                  <c:v>Committee</c:v>
                </c:pt>
                <c:pt idx="2">
                  <c:v>Bank account</c:v>
                </c:pt>
                <c:pt idx="3">
                  <c:v>Formal investment</c:v>
                </c:pt>
              </c:strCache>
            </c:strRef>
          </c:cat>
          <c:val>
            <c:numRef>
              <c:f>Sheet1!$B$2:$B$5</c:f>
              <c:numCache>
                <c:formatCode>General</c:formatCode>
                <c:ptCount val="4"/>
                <c:pt idx="0">
                  <c:v>63</c:v>
                </c:pt>
                <c:pt idx="1">
                  <c:v>33</c:v>
                </c:pt>
                <c:pt idx="2">
                  <c:v>13</c:v>
                </c:pt>
                <c:pt idx="3">
                  <c:v>4</c:v>
                </c:pt>
              </c:numCache>
            </c:numRef>
          </c:val>
        </c:ser>
        <c:gapWidth val="45"/>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6F7B68"/>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E1E7DC"/>
              </a:solidFill>
            </a:ln>
          </c:spPr>
        </c:majorGridlines>
        <c:numFmt formatCode="0&quot;%&quot;" sourceLinked="0"/>
        <c:majorTickMark val="out"/>
        <c:minorTickMark val="none"/>
        <c:tickLblPos val="nextTo"/>
        <c:txPr>
          <a:bodyPr/>
          <a:lstStyle/>
          <a:p>
            <a:pPr>
              <a:defRPr sz="900">
                <a:solidFill>
                  <a:srgbClr val="6F7B68"/>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6DC72A"/>
              </a:solidFill>
            </c:spPr>
          </c:dPt>
          <c:dPt>
            <c:idx val="1"/>
            <c:spPr>
              <a:solidFill>
                <a:srgbClr val="E08A00"/>
              </a:solidFill>
            </c:spPr>
          </c:dPt>
          <c:dPt>
            <c:idx val="2"/>
            <c:spPr>
              <a:solidFill>
                <a:srgbClr val="E0483C"/>
              </a:solidFill>
            </c:spPr>
          </c:dPt>
          <c:cat>
            <c:strRef>
              <c:f>Sheet1!$A$2:$A$4</c:f>
              <c:strCache>
                <c:ptCount val="3"/>
                <c:pt idx="0">
                  <c:v>Raast</c:v>
                </c:pt>
                <c:pt idx="1">
                  <c:v>Wallet</c:v>
                </c:pt>
                <c:pt idx="2">
                  <c:v>Card</c:v>
                </c:pt>
              </c:strCache>
            </c:strRef>
          </c:cat>
          <c:val>
            <c:numRef>
              <c:f>Sheet1!$B$2:$B$4</c:f>
              <c:numCache>
                <c:formatCode>General</c:formatCode>
                <c:ptCount val="3"/>
                <c:pt idx="0">
                  <c:v>0</c:v>
                </c:pt>
                <c:pt idx="1">
                  <c:v>450</c:v>
                </c:pt>
                <c:pt idx="2">
                  <c:v>693</c:v>
                </c:pt>
              </c:numCache>
            </c:numRef>
          </c:val>
        </c:ser>
        <c:gapWidth val="45"/>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6F7B68"/>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E1E7DC"/>
              </a:solidFill>
            </a:ln>
          </c:spPr>
        </c:majorGridlines>
        <c:numFmt formatCode="&quot;Rs &quot;0" sourceLinked="0"/>
        <c:majorTickMark val="out"/>
        <c:minorTickMark val="none"/>
        <c:tickLblPos val="nextTo"/>
        <c:txPr>
          <a:bodyPr/>
          <a:lstStyle/>
          <a:p>
            <a:pPr>
              <a:defRPr sz="900">
                <a:solidFill>
                  <a:srgbClr val="6F7B68"/>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6DC72A"/>
              </a:solidFill>
            </c:spPr>
          </c:dPt>
          <c:dPt>
            <c:idx val="1"/>
            <c:spPr>
              <a:solidFill>
                <a:srgbClr val="6DC72A"/>
              </a:solidFill>
            </c:spPr>
          </c:dPt>
          <c:dPt>
            <c:idx val="2"/>
            <c:spPr>
              <a:solidFill>
                <a:srgbClr val="6DC72A"/>
              </a:solidFill>
            </c:spPr>
          </c:dPt>
          <c:dPt>
            <c:idx val="3"/>
            <c:spPr>
              <a:solidFill>
                <a:srgbClr val="6DC72A"/>
              </a:solidFill>
            </c:spPr>
          </c:dPt>
          <c:dPt>
            <c:idx val="4"/>
            <c:spPr>
              <a:solidFill>
                <a:srgbClr val="41801A"/>
              </a:solidFill>
            </c:spPr>
          </c:dPt>
          <c:dPt>
            <c:idx val="5"/>
            <c:spPr>
              <a:solidFill>
                <a:srgbClr val="41801A"/>
              </a:solidFill>
            </c:spPr>
          </c:dPt>
          <c:dPt>
            <c:idx val="6"/>
            <c:spPr>
              <a:solidFill>
                <a:srgbClr val="41801A"/>
              </a:solidFill>
            </c:spPr>
          </c:dPt>
          <c:dPt>
            <c:idx val="7"/>
            <c:spPr>
              <a:solidFill>
                <a:srgbClr val="41801A"/>
              </a:solidFill>
            </c:spPr>
          </c:dPt>
          <c:dPt>
            <c:idx val="8"/>
            <c:spPr>
              <a:solidFill>
                <a:srgbClr val="B9D69A"/>
              </a:solidFill>
            </c:spPr>
          </c:dPt>
          <c:dPt>
            <c:idx val="9"/>
            <c:spPr>
              <a:solidFill>
                <a:srgbClr val="B9D69A"/>
              </a:solidFill>
            </c:spPr>
          </c:dPt>
          <c:dPt>
            <c:idx val="10"/>
            <c:spPr>
              <a:solidFill>
                <a:srgbClr val="B9D69A"/>
              </a:solidFill>
            </c:spPr>
          </c:dPt>
          <c:dPt>
            <c:idx val="11"/>
            <c:spPr>
              <a:solidFill>
                <a:srgbClr val="B9D69A"/>
              </a:solidFill>
            </c:spPr>
          </c:dPt>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110000</c:v>
                </c:pt>
                <c:pt idx="1">
                  <c:v>100000</c:v>
                </c:pt>
                <c:pt idx="2">
                  <c:v>90000</c:v>
                </c:pt>
                <c:pt idx="3">
                  <c:v>80000</c:v>
                </c:pt>
                <c:pt idx="4">
                  <c:v>70000</c:v>
                </c:pt>
                <c:pt idx="5">
                  <c:v>60000</c:v>
                </c:pt>
                <c:pt idx="6">
                  <c:v>50000</c:v>
                </c:pt>
                <c:pt idx="7">
                  <c:v>40000</c:v>
                </c:pt>
                <c:pt idx="8">
                  <c:v>30000</c:v>
                </c:pt>
                <c:pt idx="9">
                  <c:v>20000</c:v>
                </c:pt>
                <c:pt idx="10">
                  <c:v>10000</c:v>
                </c:pt>
                <c:pt idx="11">
                  <c:v>0</c:v>
                </c:pt>
              </c:numCache>
            </c:numRef>
          </c:val>
        </c:ser>
        <c:gapWidth val="45"/>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6F7B68"/>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E1E7DC"/>
              </a:solidFill>
            </a:ln>
          </c:spPr>
        </c:majorGridlines>
        <c:numFmt formatCode="#,##0" sourceLinked="0"/>
        <c:majorTickMark val="out"/>
        <c:minorTickMark val="none"/>
        <c:tickLblPos val="nextTo"/>
        <c:txPr>
          <a:bodyPr/>
          <a:lstStyle/>
          <a:p>
            <a:pPr>
              <a:defRPr sz="900">
                <a:solidFill>
                  <a:srgbClr val="6F7B68"/>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Premium collected that day</c:v>
                </c:pt>
              </c:strCache>
            </c:strRef>
          </c:tx>
          <c:spPr>
            <a:ln w="31750">
              <a:solidFill>
                <a:srgbClr val="6DC72A"/>
              </a:solidFill>
            </a:ln>
          </c:spPr>
          <c:marker>
            <c:symbol val="none"/>
          </c:marker>
          <c:cat>
            <c:strRef>
              <c:f>Sheet1!$A$2:$A$6</c:f>
              <c:strCache>
                <c:ptCount val="5"/>
                <c:pt idx="0">
                  <c:v>Day 1</c:v>
                </c:pt>
                <c:pt idx="1">
                  <c:v>15</c:v>
                </c:pt>
                <c:pt idx="2">
                  <c:v>26</c:v>
                </c:pt>
                <c:pt idx="3">
                  <c:v>45</c:v>
                </c:pt>
                <c:pt idx="4">
                  <c:v>60</c:v>
                </c:pt>
              </c:strCache>
            </c:strRef>
          </c:cat>
          <c:val>
            <c:numRef>
              <c:f>Sheet1!$B$2:$B$6</c:f>
              <c:numCache>
                <c:formatCode>General</c:formatCode>
                <c:ptCount val="5"/>
                <c:pt idx="0">
                  <c:v>14925</c:v>
                </c:pt>
                <c:pt idx="1">
                  <c:v>13875</c:v>
                </c:pt>
                <c:pt idx="2">
                  <c:v>13050</c:v>
                </c:pt>
                <c:pt idx="3">
                  <c:v>11625</c:v>
                </c:pt>
                <c:pt idx="4">
                  <c:v>10500</c:v>
                </c:pt>
              </c:numCache>
            </c:numRef>
          </c:val>
          <c:smooth val="0"/>
        </c:ser>
        <c:ser>
          <c:idx val="1"/>
          <c:order val="1"/>
          <c:tx>
            <c:strRef>
              <c:f>Sheet1!$C$1</c:f>
              <c:strCache>
                <c:ptCount val="1"/>
                <c:pt idx="0">
                  <c:v>Shortfall fronted that day</c:v>
                </c:pt>
              </c:strCache>
            </c:strRef>
          </c:tx>
          <c:spPr>
            <a:ln w="31750">
              <a:solidFill>
                <a:srgbClr val="E08A00"/>
              </a:solidFill>
            </a:ln>
          </c:spPr>
          <c:marker>
            <c:symbol val="none"/>
          </c:marker>
          <c:cat>
            <c:strRef>
              <c:f>Sheet1!$A$2:$A$6</c:f>
              <c:strCache>
                <c:ptCount val="5"/>
                <c:pt idx="0">
                  <c:v>Day 1</c:v>
                </c:pt>
                <c:pt idx="1">
                  <c:v>15</c:v>
                </c:pt>
                <c:pt idx="2">
                  <c:v>26</c:v>
                </c:pt>
                <c:pt idx="3">
                  <c:v>45</c:v>
                </c:pt>
                <c:pt idx="4">
                  <c:v>60</c:v>
                </c:pt>
              </c:strCache>
            </c:strRef>
          </c:cat>
          <c:val>
            <c:numRef>
              <c:f>Sheet1!$C$2:$C$6</c:f>
              <c:numCache>
                <c:formatCode>General</c:formatCode>
                <c:ptCount val="5"/>
                <c:pt idx="0">
                  <c:v>500</c:v>
                </c:pt>
                <c:pt idx="1">
                  <c:v>7500</c:v>
                </c:pt>
                <c:pt idx="2">
                  <c:v>13000</c:v>
                </c:pt>
                <c:pt idx="3">
                  <c:v>22500</c:v>
                </c:pt>
                <c:pt idx="4">
                  <c:v>30000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00">
                <a:solidFill>
                  <a:srgbClr val="6F7B68"/>
                </a:solidFill>
                <a:latin typeface="Segoe UI"/>
              </a:defRPr>
            </a:pPr>
          </a:p>
        </c:txPr>
        <c:crossAx val="2140495176"/>
        <c:crosses val="autoZero"/>
        <c:auto val="1"/>
        <c:lblAlgn val="ctr"/>
        <c:lblOffset val="100"/>
        <c:noMultiLvlLbl val="0"/>
      </c:catAx>
      <c:valAx>
        <c:axId val="2140495176"/>
        <c:scaling/>
        <c:delete val="0"/>
        <c:axPos val="l"/>
        <c:majorGridlines>
          <c:spPr>
            <a:ln>
              <a:solidFill>
                <a:srgbClr val="E1E7DC"/>
              </a:solidFill>
            </a:ln>
          </c:spPr>
        </c:majorGridlines>
        <c:numFmt formatCode="#,##0" sourceLinked="0"/>
        <c:majorTickMark val="out"/>
        <c:minorTickMark val="none"/>
        <c:tickLblPos val="nextTo"/>
        <c:txPr>
          <a:bodyPr/>
          <a:lstStyle/>
          <a:p>
            <a:pPr>
              <a:defRPr sz="900">
                <a:solidFill>
                  <a:srgbClr val="6F7B68"/>
                </a:solidFill>
                <a:latin typeface="Segoe UI"/>
              </a:defRPr>
            </a:pPr>
          </a:p>
        </c:txPr>
        <c:crossAx val="2118791784"/>
        <c:crosses val="autoZero"/>
      </c:valAx>
    </c:plotArea>
    <c:legend>
      <c:legendPos val="b"/>
      <c:overlay val="0"/>
      <c:txPr>
        <a:bodyPr/>
        <a:lstStyle/>
        <a:p>
          <a:pPr>
            <a:defRPr sz="900">
              <a:solidFill>
                <a:srgbClr val="6F7B68"/>
              </a:solidFill>
              <a:latin typeface="Segoe UI"/>
            </a:defRPr>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Asset value</c:v>
                </c:pt>
              </c:strCache>
            </c:strRef>
          </c:tx>
          <c:spPr>
            <a:ln w="31750">
              <a:solidFill>
                <a:srgbClr val="6F7B68"/>
              </a:solidFill>
            </a:ln>
          </c:spPr>
          <c:marker>
            <c:symbol val="none"/>
          </c:marker>
          <c:cat>
            <c:strRef>
              <c:f>Sheet1!$A$2:$A$5</c:f>
              <c:strCache>
                <c:ptCount val="4"/>
                <c:pt idx="0">
                  <c:v>Month 3</c:v>
                </c:pt>
                <c:pt idx="1">
                  <c:v>6</c:v>
                </c:pt>
                <c:pt idx="2">
                  <c:v>9</c:v>
                </c:pt>
                <c:pt idx="3">
                  <c:v>12</c:v>
                </c:pt>
              </c:strCache>
            </c:strRef>
          </c:cat>
          <c:val>
            <c:numRef>
              <c:f>Sheet1!$B$2:$B$5</c:f>
              <c:numCache>
                <c:formatCode>General</c:formatCode>
                <c:ptCount val="4"/>
                <c:pt idx="0">
                  <c:v>118000</c:v>
                </c:pt>
                <c:pt idx="1">
                  <c:v>112000</c:v>
                </c:pt>
                <c:pt idx="2">
                  <c:v>106000</c:v>
                </c:pt>
                <c:pt idx="3">
                  <c:v>100000</c:v>
                </c:pt>
              </c:numCache>
            </c:numRef>
          </c:val>
          <c:smooth val="0"/>
        </c:ser>
        <c:ser>
          <c:idx val="1"/>
          <c:order val="1"/>
          <c:tx>
            <c:strRef>
              <c:f>Sheet1!$C$1</c:f>
              <c:strCache>
                <c:ptCount val="1"/>
                <c:pt idx="0">
                  <c:v>Owed to the circle</c:v>
                </c:pt>
              </c:strCache>
            </c:strRef>
          </c:tx>
          <c:spPr>
            <a:ln w="31750">
              <a:solidFill>
                <a:srgbClr val="6DC72A"/>
              </a:solidFill>
            </a:ln>
          </c:spPr>
          <c:marker>
            <c:symbol val="none"/>
          </c:marker>
          <c:cat>
            <c:strRef>
              <c:f>Sheet1!$A$2:$A$5</c:f>
              <c:strCache>
                <c:ptCount val="4"/>
                <c:pt idx="0">
                  <c:v>Month 3</c:v>
                </c:pt>
                <c:pt idx="1">
                  <c:v>6</c:v>
                </c:pt>
                <c:pt idx="2">
                  <c:v>9</c:v>
                </c:pt>
                <c:pt idx="3">
                  <c:v>12</c:v>
                </c:pt>
              </c:strCache>
            </c:strRef>
          </c:cat>
          <c:val>
            <c:numRef>
              <c:f>Sheet1!$C$2:$C$5</c:f>
              <c:numCache>
                <c:formatCode>General</c:formatCode>
                <c:ptCount val="4"/>
                <c:pt idx="0">
                  <c:v>90000</c:v>
                </c:pt>
                <c:pt idx="1">
                  <c:v>60000</c:v>
                </c:pt>
                <c:pt idx="2">
                  <c:v>30000</c:v>
                </c:pt>
                <c:pt idx="3">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900">
                <a:solidFill>
                  <a:srgbClr val="6F7B68"/>
                </a:solidFill>
                <a:latin typeface="Segoe UI"/>
              </a:defRPr>
            </a:pPr>
          </a:p>
        </c:txPr>
        <c:crossAx val="2140495176"/>
        <c:crosses val="autoZero"/>
        <c:auto val="1"/>
        <c:lblAlgn val="ctr"/>
        <c:lblOffset val="100"/>
        <c:noMultiLvlLbl val="0"/>
      </c:catAx>
      <c:valAx>
        <c:axId val="2140495176"/>
        <c:scaling/>
        <c:delete val="0"/>
        <c:axPos val="l"/>
        <c:majorGridlines>
          <c:spPr>
            <a:ln>
              <a:solidFill>
                <a:srgbClr val="E1E7DC"/>
              </a:solidFill>
            </a:ln>
          </c:spPr>
        </c:majorGridlines>
        <c:numFmt formatCode="#,##0" sourceLinked="0"/>
        <c:majorTickMark val="out"/>
        <c:minorTickMark val="none"/>
        <c:tickLblPos val="nextTo"/>
        <c:txPr>
          <a:bodyPr/>
          <a:lstStyle/>
          <a:p>
            <a:pPr>
              <a:defRPr sz="900">
                <a:solidFill>
                  <a:srgbClr val="6F7B68"/>
                </a:solidFill>
                <a:latin typeface="Segoe UI"/>
              </a:defRPr>
            </a:pPr>
          </a:p>
        </c:txPr>
        <c:crossAx val="2118791784"/>
        <c:crosses val="autoZero"/>
      </c:valAx>
    </c:plotArea>
    <c:legend>
      <c:legendPos val="b"/>
      <c:overlay val="0"/>
      <c:txPr>
        <a:bodyPr/>
        <a:lstStyle/>
        <a:p>
          <a:pPr>
            <a:defRPr sz="900">
              <a:solidFill>
                <a:srgbClr val="6F7B68"/>
              </a:solidFill>
              <a:latin typeface="Segoe UI"/>
            </a:defRPr>
          </a:pPr>
        </a:p>
      </c:txPr>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B9D69A"/>
              </a:solidFill>
            </c:spPr>
          </c:dPt>
          <c:dPt>
            <c:idx val="1"/>
            <c:spPr>
              <a:solidFill>
                <a:srgbClr val="A9E76A"/>
              </a:solidFill>
            </c:spPr>
          </c:dPt>
          <c:dPt>
            <c:idx val="2"/>
            <c:spPr>
              <a:solidFill>
                <a:srgbClr val="6DC72A"/>
              </a:solidFill>
            </c:spPr>
          </c:dPt>
          <c:dPt>
            <c:idx val="3"/>
            <c:spPr>
              <a:solidFill>
                <a:srgbClr val="6DC72A"/>
              </a:solidFill>
            </c:spPr>
          </c:dPt>
          <c:dPt>
            <c:idx val="4"/>
            <c:spPr>
              <a:solidFill>
                <a:srgbClr val="41801A"/>
              </a:solidFill>
            </c:spPr>
          </c:dPt>
          <c:dPt>
            <c:idx val="5"/>
            <c:spPr>
              <a:solidFill>
                <a:srgbClr val="22450C"/>
              </a:solidFill>
            </c:spPr>
          </c:dPt>
          <c:cat>
            <c:strRef>
              <c:f>Sheet1!$A$2:$A$7</c:f>
              <c:strCache>
                <c:ptCount val="6"/>
                <c:pt idx="0">
                  <c:v>3</c:v>
                </c:pt>
                <c:pt idx="1">
                  <c:v>6</c:v>
                </c:pt>
                <c:pt idx="2">
                  <c:v>12</c:v>
                </c:pt>
                <c:pt idx="3">
                  <c:v>18</c:v>
                </c:pt>
                <c:pt idx="4">
                  <c:v>24</c:v>
                </c:pt>
                <c:pt idx="5">
                  <c:v>36</c:v>
                </c:pt>
              </c:strCache>
            </c:strRef>
          </c:cat>
          <c:val>
            <c:numRef>
              <c:f>Sheet1!$B$2:$B$7</c:f>
              <c:numCache>
                <c:formatCode>General</c:formatCode>
                <c:ptCount val="6"/>
                <c:pt idx="0">
                  <c:v>500</c:v>
                </c:pt>
                <c:pt idx="1">
                  <c:v>1000</c:v>
                </c:pt>
                <c:pt idx="2">
                  <c:v>2000</c:v>
                </c:pt>
                <c:pt idx="3">
                  <c:v>3000</c:v>
                </c:pt>
                <c:pt idx="4">
                  <c:v>4000</c:v>
                </c:pt>
                <c:pt idx="5">
                  <c:v>6000</c:v>
                </c:pt>
              </c:numCache>
            </c:numRef>
          </c:val>
        </c:ser>
        <c:gapWidth val="45"/>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6F7B68"/>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E1E7DC"/>
              </a:solidFill>
            </a:ln>
          </c:spPr>
        </c:majorGridlines>
        <c:numFmt formatCode="&quot;Rs &quot;#,##0" sourceLinked="0"/>
        <c:majorTickMark val="out"/>
        <c:minorTickMark val="none"/>
        <c:tickLblPos val="nextTo"/>
        <c:txPr>
          <a:bodyPr/>
          <a:lstStyle/>
          <a:p>
            <a:pPr>
              <a:defRPr sz="900">
                <a:solidFill>
                  <a:srgbClr val="6F7B68"/>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dPt>
            <c:idx val="0"/>
            <c:spPr>
              <a:solidFill>
                <a:srgbClr val="B9D69A"/>
              </a:solidFill>
            </c:spPr>
          </c:dPt>
          <c:dPt>
            <c:idx val="1"/>
            <c:spPr>
              <a:solidFill>
                <a:srgbClr val="A9E76A"/>
              </a:solidFill>
            </c:spPr>
          </c:dPt>
          <c:dPt>
            <c:idx val="2"/>
            <c:spPr>
              <a:solidFill>
                <a:srgbClr val="6DC72A"/>
              </a:solidFill>
            </c:spPr>
          </c:dPt>
          <c:dPt>
            <c:idx val="3"/>
            <c:spPr>
              <a:solidFill>
                <a:srgbClr val="41801A"/>
              </a:solidFill>
            </c:spPr>
          </c:dPt>
          <c:cat>
            <c:strRef>
              <c:f>Sheet1!$A$2:$A$5</c:f>
              <c:strCache>
                <c:ptCount val="4"/>
                <c:pt idx="0">
                  <c:v>0.1%</c:v>
                </c:pt>
                <c:pt idx="1">
                  <c:v>0.5%</c:v>
                </c:pt>
                <c:pt idx="2">
                  <c:v>1%</c:v>
                </c:pt>
                <c:pt idx="3">
                  <c:v>2%</c:v>
                </c:pt>
              </c:strCache>
            </c:strRef>
          </c:cat>
          <c:val>
            <c:numRef>
              <c:f>Sheet1!$B$2:$B$5</c:f>
              <c:numCache>
                <c:formatCode>General</c:formatCode>
                <c:ptCount val="4"/>
                <c:pt idx="0">
                  <c:v>68</c:v>
                </c:pt>
                <c:pt idx="1">
                  <c:v>340</c:v>
                </c:pt>
                <c:pt idx="2">
                  <c:v>680</c:v>
                </c:pt>
                <c:pt idx="3">
                  <c:v>1360</c:v>
                </c:pt>
              </c:numCache>
            </c:numRef>
          </c:val>
        </c:ser>
        <c:gapWidth val="45"/>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6F7B68"/>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E1E7DC"/>
              </a:solidFill>
            </a:ln>
          </c:spPr>
        </c:majorGridlines>
        <c:numFmt formatCode="&quot;Rs &quot;#,##0&quot;m&quot;" sourceLinked="0"/>
        <c:majorTickMark val="out"/>
        <c:minorTickMark val="none"/>
        <c:tickLblPos val="nextTo"/>
        <c:txPr>
          <a:bodyPr/>
          <a:lstStyle/>
          <a:p>
            <a:pPr>
              <a:defRPr sz="900">
                <a:solidFill>
                  <a:srgbClr val="6F7B68"/>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554480"/>
            <a:ext cx="8229600" cy="457200"/>
          </a:xfrm>
          <a:prstGeom prst="rect">
            <a:avLst/>
          </a:prstGeom>
          <a:noFill/>
        </p:spPr>
        <p:txBody>
          <a:bodyPr wrap="square" lIns="0" rIns="0" tIns="0" bIns="0">
            <a:spAutoFit/>
          </a:bodyPr>
          <a:lstStyle/>
          <a:p>
            <a:pPr algn="l">
              <a:lnSpc>
                <a:spcPct val="125000"/>
              </a:lnSpc>
            </a:pPr>
            <a:r>
              <a:rPr sz="2100" b="1" i="0">
                <a:solidFill>
                  <a:srgbClr val="0C1408"/>
                </a:solidFill>
                <a:latin typeface="Segoe UI"/>
              </a:rPr>
              <a:t>HALQA</a:t>
            </a:r>
          </a:p>
        </p:txBody>
      </p:sp>
      <p:sp>
        <p:nvSpPr>
          <p:cNvPr id="4" name="Rectangle 3"/>
          <p:cNvSpPr/>
          <p:nvPr/>
        </p:nvSpPr>
        <p:spPr>
          <a:xfrm>
            <a:off x="777240" y="2194560"/>
            <a:ext cx="8686800" cy="1270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14600"/>
            <a:ext cx="9601200" cy="731520"/>
          </a:xfrm>
          <a:prstGeom prst="rect">
            <a:avLst/>
          </a:prstGeom>
          <a:noFill/>
        </p:spPr>
        <p:txBody>
          <a:bodyPr wrap="square" lIns="0" rIns="0" tIns="0" bIns="0">
            <a:spAutoFit/>
          </a:bodyPr>
          <a:lstStyle/>
          <a:p>
            <a:pPr algn="l">
              <a:lnSpc>
                <a:spcPct val="110000"/>
              </a:lnSpc>
            </a:pPr>
            <a:r>
              <a:rPr sz="4000" b="1" i="0">
                <a:solidFill>
                  <a:srgbClr val="0C1408"/>
                </a:solidFill>
                <a:latin typeface="Segoe UI"/>
              </a:rPr>
              <a:t>Investor briefing</a:t>
            </a:r>
          </a:p>
        </p:txBody>
      </p:sp>
      <p:sp>
        <p:nvSpPr>
          <p:cNvPr id="6" name="TextBox 5"/>
          <p:cNvSpPr txBox="1"/>
          <p:nvPr/>
        </p:nvSpPr>
        <p:spPr>
          <a:xfrm>
            <a:off x="777240" y="3611880"/>
            <a:ext cx="8412480" cy="822960"/>
          </a:xfrm>
          <a:prstGeom prst="rect">
            <a:avLst/>
          </a:prstGeom>
          <a:noFill/>
        </p:spPr>
        <p:txBody>
          <a:bodyPr wrap="square" lIns="0" rIns="0" tIns="0" bIns="0">
            <a:spAutoFit/>
          </a:bodyPr>
          <a:lstStyle/>
          <a:p>
            <a:pPr algn="l">
              <a:lnSpc>
                <a:spcPct val="140000"/>
              </a:lnSpc>
            </a:pPr>
            <a:r>
              <a:rPr sz="1400" b="0" i="0">
                <a:solidFill>
                  <a:srgbClr val="6F7B68"/>
                </a:solidFill>
                <a:latin typeface="Segoe UI"/>
              </a:rPr>
              <a:t>The market, the instrument, the architecture, the mechanisms, the economics and the implementation status.</a:t>
            </a:r>
          </a:p>
        </p:txBody>
      </p:sp>
      <p:sp>
        <p:nvSpPr>
          <p:cNvPr id="7" name="Rectangle 6"/>
          <p:cNvSpPr/>
          <p:nvPr/>
        </p:nvSpPr>
        <p:spPr>
          <a:xfrm>
            <a:off x="777240" y="4846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166360"/>
            <a:ext cx="7315200" cy="274320"/>
          </a:xfrm>
          <a:prstGeom prst="rect">
            <a:avLst/>
          </a:prstGeom>
          <a:noFill/>
        </p:spPr>
        <p:txBody>
          <a:bodyPr wrap="square" lIns="0" rIns="0" tIns="0" bIns="0">
            <a:spAutoFit/>
          </a:bodyPr>
          <a:lstStyle/>
          <a:p>
            <a:pPr algn="l">
              <a:lnSpc>
                <a:spcPct val="125000"/>
              </a:lnSpc>
            </a:pPr>
            <a:r>
              <a:rPr sz="1100" b="0" i="0">
                <a:solidFill>
                  <a:srgbClr val="6F7B68"/>
                </a:solidFill>
                <a:latin typeface="Segoe UI"/>
              </a:rPr>
              <a:t>12 August 2026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CONTENTS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Contents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a:t>
            </a:r>
          </a:p>
        </p:txBody>
      </p:sp>
      <p:sp>
        <p:nvSpPr>
          <p:cNvPr id="7" name="TextBox 6"/>
          <p:cNvSpPr txBox="1"/>
          <p:nvPr/>
        </p:nvSpPr>
        <p:spPr>
          <a:xfrm>
            <a:off x="777240" y="2103120"/>
            <a:ext cx="3566160" cy="365760"/>
          </a:xfrm>
          <a:prstGeom prst="rect">
            <a:avLst/>
          </a:prstGeom>
          <a:noFill/>
        </p:spPr>
        <p:txBody>
          <a:bodyPr wrap="square" lIns="0" rIns="0" tIns="0" bIns="0">
            <a:spAutoFit/>
          </a:bodyPr>
          <a:lstStyle/>
          <a:p>
            <a:pPr>
              <a:lnSpc>
                <a:spcPct val="130000"/>
              </a:lnSpc>
            </a:pPr>
            <a:r>
              <a:rPr sz="1300">
                <a:solidFill>
                  <a:srgbClr val="26301F"/>
                </a:solidFill>
                <a:latin typeface="Segoe UI"/>
              </a:rPr>
              <a:t>1     The opportunity</a:t>
            </a:r>
          </a:p>
          <a:p>
            <a:pPr>
              <a:lnSpc>
                <a:spcPct val="130000"/>
              </a:lnSpc>
              <a:spcBef>
                <a:spcPts val="1300"/>
              </a:spcBef>
            </a:pPr>
            <a:r>
              <a:rPr sz="1300">
                <a:solidFill>
                  <a:srgbClr val="26301F"/>
                </a:solidFill>
                <a:latin typeface="Segoe UI"/>
              </a:rPr>
              <a:t>2     Prior attempts</a:t>
            </a:r>
          </a:p>
          <a:p>
            <a:pPr>
              <a:lnSpc>
                <a:spcPct val="130000"/>
              </a:lnSpc>
              <a:spcBef>
                <a:spcPts val="1300"/>
              </a:spcBef>
            </a:pPr>
            <a:r>
              <a:rPr sz="1300">
                <a:solidFill>
                  <a:srgbClr val="26301F"/>
                </a:solidFill>
                <a:latin typeface="Segoe UI"/>
              </a:rPr>
              <a:t>3     What Halqa is</a:t>
            </a:r>
          </a:p>
          <a:p>
            <a:pPr>
              <a:lnSpc>
                <a:spcPct val="130000"/>
              </a:lnSpc>
              <a:spcBef>
                <a:spcPts val="1300"/>
              </a:spcBef>
            </a:pPr>
            <a:r>
              <a:rPr sz="1300">
                <a:solidFill>
                  <a:srgbClr val="26301F"/>
                </a:solidFill>
                <a:latin typeface="Segoe UI"/>
              </a:rPr>
              <a:t>4     Function one, onboarding</a:t>
            </a:r>
          </a:p>
          <a:p>
            <a:pPr>
              <a:lnSpc>
                <a:spcPct val="130000"/>
              </a:lnSpc>
              <a:spcBef>
                <a:spcPts val="1300"/>
              </a:spcBef>
            </a:pPr>
            <a:r>
              <a:rPr sz="1300">
                <a:solidFill>
                  <a:srgbClr val="26301F"/>
                </a:solidFill>
                <a:latin typeface="Segoe UI"/>
              </a:rPr>
              <a:t>5     Function two, collection</a:t>
            </a:r>
          </a:p>
        </p:txBody>
      </p:sp>
      <p:sp>
        <p:nvSpPr>
          <p:cNvPr id="8" name="TextBox 7"/>
          <p:cNvSpPr txBox="1"/>
          <p:nvPr/>
        </p:nvSpPr>
        <p:spPr>
          <a:xfrm>
            <a:off x="4434840" y="2103120"/>
            <a:ext cx="3566160" cy="365760"/>
          </a:xfrm>
          <a:prstGeom prst="rect">
            <a:avLst/>
          </a:prstGeom>
          <a:noFill/>
        </p:spPr>
        <p:txBody>
          <a:bodyPr wrap="square" lIns="0" rIns="0" tIns="0" bIns="0">
            <a:spAutoFit/>
          </a:bodyPr>
          <a:lstStyle/>
          <a:p>
            <a:pPr>
              <a:lnSpc>
                <a:spcPct val="130000"/>
              </a:lnSpc>
            </a:pPr>
            <a:r>
              <a:rPr sz="1300">
                <a:solidFill>
                  <a:srgbClr val="26301F"/>
                </a:solidFill>
                <a:latin typeface="Segoe UI"/>
              </a:rPr>
              <a:t>6     Function three, the record</a:t>
            </a:r>
          </a:p>
          <a:p>
            <a:pPr>
              <a:lnSpc>
                <a:spcPct val="130000"/>
              </a:lnSpc>
              <a:spcBef>
                <a:spcPts val="1300"/>
              </a:spcBef>
            </a:pPr>
            <a:r>
              <a:rPr sz="1300">
                <a:solidFill>
                  <a:srgbClr val="26301F"/>
                </a:solidFill>
                <a:latin typeface="Segoe UI"/>
              </a:rPr>
              <a:t>7     Function four, protection</a:t>
            </a:r>
          </a:p>
          <a:p>
            <a:pPr>
              <a:lnSpc>
                <a:spcPct val="130000"/>
              </a:lnSpc>
              <a:spcBef>
                <a:spcPts val="1300"/>
              </a:spcBef>
            </a:pPr>
            <a:r>
              <a:rPr sz="1300">
                <a:solidFill>
                  <a:srgbClr val="26301F"/>
                </a:solidFill>
                <a:latin typeface="Segoe UI"/>
              </a:rPr>
              <a:t>8     Function five, recovery</a:t>
            </a:r>
          </a:p>
          <a:p>
            <a:pPr>
              <a:lnSpc>
                <a:spcPct val="130000"/>
              </a:lnSpc>
              <a:spcBef>
                <a:spcPts val="1300"/>
              </a:spcBef>
            </a:pPr>
            <a:r>
              <a:rPr sz="1300">
                <a:solidFill>
                  <a:srgbClr val="26301F"/>
                </a:solidFill>
                <a:latin typeface="Segoe UI"/>
              </a:rPr>
              <a:t>9     The products</a:t>
            </a:r>
          </a:p>
          <a:p>
            <a:pPr>
              <a:lnSpc>
                <a:spcPct val="130000"/>
              </a:lnSpc>
              <a:spcBef>
                <a:spcPts val="1300"/>
              </a:spcBef>
            </a:pPr>
            <a:r>
              <a:rPr sz="1300">
                <a:solidFill>
                  <a:srgbClr val="26301F"/>
                </a:solidFill>
                <a:latin typeface="Segoe UI"/>
              </a:rPr>
              <a:t>10   The mathematics</a:t>
            </a:r>
          </a:p>
        </p:txBody>
      </p:sp>
      <p:sp>
        <p:nvSpPr>
          <p:cNvPr id="9" name="TextBox 8"/>
          <p:cNvSpPr txBox="1"/>
          <p:nvPr/>
        </p:nvSpPr>
        <p:spPr>
          <a:xfrm>
            <a:off x="8092440" y="2103120"/>
            <a:ext cx="3566160" cy="365760"/>
          </a:xfrm>
          <a:prstGeom prst="rect">
            <a:avLst/>
          </a:prstGeom>
          <a:noFill/>
        </p:spPr>
        <p:txBody>
          <a:bodyPr wrap="square" lIns="0" rIns="0" tIns="0" bIns="0">
            <a:spAutoFit/>
          </a:bodyPr>
          <a:lstStyle/>
          <a:p>
            <a:pPr>
              <a:lnSpc>
                <a:spcPct val="130000"/>
              </a:lnSpc>
            </a:pPr>
            <a:r>
              <a:rPr sz="1300">
                <a:solidFill>
                  <a:srgbClr val="26301F"/>
                </a:solidFill>
                <a:latin typeface="Segoe UI"/>
              </a:rPr>
              <a:t>11   Rewards</a:t>
            </a:r>
          </a:p>
          <a:p>
            <a:pPr>
              <a:lnSpc>
                <a:spcPct val="130000"/>
              </a:lnSpc>
              <a:spcBef>
                <a:spcPts val="1300"/>
              </a:spcBef>
            </a:pPr>
            <a:r>
              <a:rPr sz="1300">
                <a:solidFill>
                  <a:srgbClr val="26301F"/>
                </a:solidFill>
                <a:latin typeface="Segoe UI"/>
              </a:rPr>
              <a:t>12   Engineering and security</a:t>
            </a:r>
          </a:p>
          <a:p>
            <a:pPr>
              <a:lnSpc>
                <a:spcPct val="130000"/>
              </a:lnSpc>
              <a:spcBef>
                <a:spcPts val="1300"/>
              </a:spcBef>
            </a:pPr>
            <a:r>
              <a:rPr sz="1300">
                <a:solidFill>
                  <a:srgbClr val="26301F"/>
                </a:solidFill>
                <a:latin typeface="Segoe UI"/>
              </a:rPr>
              <a:t>13   Economics</a:t>
            </a:r>
          </a:p>
          <a:p>
            <a:pPr>
              <a:lnSpc>
                <a:spcPct val="130000"/>
              </a:lnSpc>
              <a:spcBef>
                <a:spcPts val="1300"/>
              </a:spcBef>
            </a:pPr>
            <a:r>
              <a:rPr sz="1300">
                <a:solidFill>
                  <a:srgbClr val="26301F"/>
                </a:solidFill>
                <a:latin typeface="Segoe UI"/>
              </a:rPr>
              <a:t>14   Counterparties</a:t>
            </a:r>
          </a:p>
          <a:p>
            <a:pPr>
              <a:lnSpc>
                <a:spcPct val="130000"/>
              </a:lnSpc>
              <a:spcBef>
                <a:spcPts val="1300"/>
              </a:spcBef>
            </a:pPr>
            <a:r>
              <a:rPr sz="1300">
                <a:solidFill>
                  <a:srgbClr val="26301F"/>
                </a:solidFill>
                <a:latin typeface="Segoe UI"/>
              </a:rPr>
              <a:t>15   Implementation and measures</a:t>
            </a:r>
          </a:p>
        </p:txBody>
      </p:sp>
      <p:sp>
        <p:nvSpPr>
          <p:cNvPr id="10" name="TextBox 9"/>
          <p:cNvSpPr txBox="1"/>
          <p:nvPr/>
        </p:nvSpPr>
        <p:spPr>
          <a:xfrm>
            <a:off x="777240" y="5029200"/>
            <a:ext cx="10637215" cy="82296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Sections 3 to 8 are the five functions the platform performs, in the order money moves through them. Section 9 is what those functions are assembled into and sold as. Sections 1, 2 and 13 to 15 are the thirty minute briefing.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OPPORTUNITY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Market size and participation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a:t>
            </a:r>
          </a:p>
        </p:txBody>
      </p:sp>
      <p:sp>
        <p:nvSpPr>
          <p:cNvPr id="7" name="TextBox 6"/>
          <p:cNvSpPr txBox="1"/>
          <p:nvPr/>
        </p:nvSpPr>
        <p:spPr>
          <a:xfrm>
            <a:off x="777240"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Rs 4tn</a:t>
            </a:r>
          </a:p>
        </p:txBody>
      </p:sp>
      <p:sp>
        <p:nvSpPr>
          <p:cNvPr id="8" name="TextBox 7"/>
          <p:cNvSpPr txBox="1"/>
          <p:nvPr/>
        </p:nvSpPr>
        <p:spPr>
          <a:xfrm>
            <a:off x="777240"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Estimated annual flow through committees</a:t>
            </a:r>
          </a:p>
        </p:txBody>
      </p:sp>
      <p:sp>
        <p:nvSpPr>
          <p:cNvPr id="9" name="TextBox 8"/>
          <p:cNvSpPr txBox="1"/>
          <p:nvPr/>
        </p:nvSpPr>
        <p:spPr>
          <a:xfrm>
            <a:off x="3436543"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37%</a:t>
            </a:r>
          </a:p>
        </p:txBody>
      </p:sp>
      <p:sp>
        <p:nvSpPr>
          <p:cNvPr id="10" name="TextBox 9"/>
          <p:cNvSpPr txBox="1"/>
          <p:nvPr/>
        </p:nvSpPr>
        <p:spPr>
          <a:xfrm>
            <a:off x="3436543"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Of adults participate, roughly 52 million people</a:t>
            </a:r>
          </a:p>
        </p:txBody>
      </p:sp>
      <p:sp>
        <p:nvSpPr>
          <p:cNvPr id="11" name="TextBox 10"/>
          <p:cNvSpPr txBox="1"/>
          <p:nvPr/>
        </p:nvSpPr>
        <p:spPr>
          <a:xfrm>
            <a:off x="6095847"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13%</a:t>
            </a:r>
          </a:p>
        </p:txBody>
      </p:sp>
      <p:sp>
        <p:nvSpPr>
          <p:cNvPr id="12" name="TextBox 11"/>
          <p:cNvSpPr txBox="1"/>
          <p:nvPr/>
        </p:nvSpPr>
        <p:spPr>
          <a:xfrm>
            <a:off x="6095847"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Of adults hold a bank account</a:t>
            </a:r>
          </a:p>
        </p:txBody>
      </p:sp>
      <p:sp>
        <p:nvSpPr>
          <p:cNvPr id="13" name="TextBox 12"/>
          <p:cNvSpPr txBox="1"/>
          <p:nvPr/>
        </p:nvSpPr>
        <p:spPr>
          <a:xfrm>
            <a:off x="8755151"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63%</a:t>
            </a:r>
          </a:p>
        </p:txBody>
      </p:sp>
      <p:sp>
        <p:nvSpPr>
          <p:cNvPr id="14" name="TextBox 13"/>
          <p:cNvSpPr txBox="1"/>
          <p:nvPr/>
        </p:nvSpPr>
        <p:spPr>
          <a:xfrm>
            <a:off x="8755151"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Of savers keep their cash at home</a:t>
            </a:r>
          </a:p>
        </p:txBody>
      </p:sp>
      <p:sp>
        <p:nvSpPr>
          <p:cNvPr id="15" name="TextBox 14"/>
          <p:cNvSpPr txBox="1"/>
          <p:nvPr/>
        </p:nvSpPr>
        <p:spPr>
          <a:xfrm>
            <a:off x="777240" y="3840480"/>
            <a:ext cx="10637215" cy="128016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The committee is the third largest savings channel in the country. It is not competing with the banking system; it is competing with cash kept at home. Roughly a third of savers already use one.</a:t>
            </a:r>
          </a:p>
        </p:txBody>
      </p:sp>
      <p:graphicFrame>
        <p:nvGraphicFramePr>
          <p:cNvPr id="16" name="Chart 15"/>
          <p:cNvGraphicFramePr>
            <a:graphicFrameLocks noGrp="1"/>
          </p:cNvGraphicFramePr>
          <p:nvPr/>
        </p:nvGraphicFramePr>
        <p:xfrm>
          <a:off x="777240" y="4526280"/>
          <a:ext cx="10607040" cy="1554480"/>
        </p:xfrm>
        <a:graphic>
          <a:graphicData uri="http://schemas.openxmlformats.org/drawingml/2006/chart">
            <c:chart xmlns:c="http://schemas.openxmlformats.org/drawingml/2006/chart" r:id="rId2"/>
          </a:graphicData>
        </a:graphic>
      </p:graphicFrame>
      <p:sp>
        <p:nvSpPr>
          <p:cNvPr id="17" name="TextBox 16"/>
          <p:cNvSpPr txBox="1"/>
          <p:nvPr/>
        </p:nvSpPr>
        <p:spPr>
          <a:xfrm>
            <a:off x="777240" y="6144768"/>
            <a:ext cx="10637215" cy="27432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Where Pakistani savers keep money, per cent of savers. Published national estimates.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OPPORTUNITY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Who the member is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a:t>
            </a:r>
          </a:p>
        </p:txBody>
      </p:sp>
      <p:sp>
        <p:nvSpPr>
          <p:cNvPr id="7" name="TextBox 6"/>
          <p:cNvSpPr txBox="1"/>
          <p:nvPr/>
        </p:nvSpPr>
        <p:spPr>
          <a:xfrm>
            <a:off x="777240" y="1965960"/>
            <a:ext cx="10607040" cy="109728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The participant is not the destitute household. The academic work on Pakistani committees is consistent that regular income is a precondition of membership, and that groups exclude the irregularly paid themselves. Committees filter on the regularity of income rather than on its level.</a:t>
            </a:r>
          </a:p>
        </p:txBody>
      </p:sp>
      <p:graphicFrame>
        <p:nvGraphicFramePr>
          <p:cNvPr id="8" name="Table 7"/>
          <p:cNvGraphicFramePr>
            <a:graphicFrameLocks noGrp="1"/>
          </p:cNvGraphicFramePr>
          <p:nvPr/>
        </p:nvGraphicFramePr>
        <p:xfrm>
          <a:off x="777240" y="3246120"/>
          <a:ext cx="10607040" cy="2304288"/>
        </p:xfrm>
        <a:graphic>
          <a:graphicData uri="http://schemas.openxmlformats.org/drawingml/2006/table">
            <a:tbl>
              <a:tblPr>
                <a:tableStyleId>{5C22544A-7EE6-4342-B048-85BDC9FD1C3A}</a:tableStyleId>
              </a:tblPr>
              <a:tblGrid>
                <a:gridCol w="2377440"/>
                <a:gridCol w="1828800"/>
                <a:gridCol w="2194560"/>
                <a:gridCol w="4206240"/>
              </a:tblGrid>
              <a:tr h="384048">
                <a:tc>
                  <a:txBody>
                    <a:bodyPr wrap="square"/>
                    <a:lstStyle/>
                    <a:p>
                      <a:r>
                        <a:rPr sz="900" b="1">
                          <a:solidFill>
                            <a:srgbClr val="41801A"/>
                          </a:solidFill>
                          <a:latin typeface="Segoe UI"/>
                        </a:rPr>
                        <a:t>MEMBER</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MONTHLY INCOME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TYPICAL CONTRIBUTION</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WHY THEY QUALIFY</a:t>
                      </a:r>
                    </a:p>
                  </a:txBody>
                  <a:tcPr marL="45720" marR="109728" marT="27432" marB="27432" anchor="ctr">
                    <a:lnB w="9525" cap="flat" cmpd="sng" algn="ctr">
                      <a:solidFill>
                        <a:srgbClr val="41801A"/>
                      </a:solidFill>
                    </a:lnB>
                    <a:solidFill>
                      <a:srgbClr val="FFFFFF"/>
                    </a:solidFill>
                  </a:tcPr>
                </a:tc>
              </a:tr>
              <a:tr h="384048">
                <a:tc>
                  <a:txBody>
                    <a:bodyPr wrap="square"/>
                    <a:lstStyle/>
                    <a:p>
                      <a:r>
                        <a:rPr sz="1100" b="0">
                          <a:solidFill>
                            <a:srgbClr val="26301F"/>
                          </a:solidFill>
                          <a:latin typeface="Segoe UI"/>
                        </a:rPr>
                        <a:t>Tailor with a shop</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17,000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Rs 3,000 to 5,000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Daily trade, predictable weekly takings</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Driver, salaried</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22,000</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5,000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Salary lands on a fixed day</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Site engineer</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45,000</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10,000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Salaried, verifiable employer</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Shopkeeper</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60,000</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15,000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Daily takings, long trading history</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Daily wage labourer</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18,000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Rs 100 to 250 a day</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Income arrives daily, which is why HYPER exists</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33288"/>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That distinction is what makes the resulting record a usable credit signal, and it is why the claim is never that this serves the poorest.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OPPORTUNITY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recording gap</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a:t>
            </a:r>
          </a:p>
        </p:txBody>
      </p:sp>
      <p:sp>
        <p:nvSpPr>
          <p:cNvPr id="7" name="TextBox 6"/>
          <p:cNvSpPr txBox="1"/>
          <p:nvPr/>
        </p:nvSpPr>
        <p:spPr>
          <a:xfrm>
            <a:off x="777240" y="1965960"/>
            <a:ext cx="10607040" cy="914400"/>
          </a:xfrm>
          <a:prstGeom prst="rect">
            <a:avLst/>
          </a:prstGeom>
          <a:noFill/>
        </p:spPr>
        <p:txBody>
          <a:bodyPr wrap="square" lIns="0" rIns="0" tIns="0" bIns="0">
            <a:spAutoFit/>
          </a:bodyPr>
          <a:lstStyle/>
          <a:p>
            <a:pPr algn="l">
              <a:lnSpc>
                <a:spcPct val="145000"/>
              </a:lnSpc>
            </a:pPr>
            <a:r>
              <a:rPr sz="1400" b="0" i="0">
                <a:solidFill>
                  <a:srgbClr val="26301F"/>
                </a:solidFill>
                <a:latin typeface="Segoe UI"/>
              </a:rPr>
              <a:t>A tailor who has paid Rs 8,000 on the first of the month for eleven consecutive months has demonstrated exactly the behaviour a lender spends money trying to establish. That behaviour is recorded nowhere. It exists in a notebook, in a WhatsApp group, or in the memory of the organiser, and when the cycle ends it disappears.</a:t>
            </a:r>
          </a:p>
        </p:txBody>
      </p:sp>
      <p:sp>
        <p:nvSpPr>
          <p:cNvPr id="8" name="Rectangle 7"/>
          <p:cNvSpPr/>
          <p:nvPr/>
        </p:nvSpPr>
        <p:spPr>
          <a:xfrm>
            <a:off x="777240" y="3246120"/>
            <a:ext cx="10607040" cy="1270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66160"/>
            <a:ext cx="4754880"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Problem one</a:t>
            </a:r>
          </a:p>
        </p:txBody>
      </p:sp>
      <p:sp>
        <p:nvSpPr>
          <p:cNvPr id="10" name="TextBox 9"/>
          <p:cNvSpPr txBox="1"/>
          <p:nvPr/>
        </p:nvSpPr>
        <p:spPr>
          <a:xfrm>
            <a:off x="777240" y="3886200"/>
            <a:ext cx="4754880" cy="128016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The arrangement is fragile. It depends entirely on one person holding the money and on the group's memory of who has paid. There is no written record, no receipt and no recourse.</a:t>
            </a:r>
          </a:p>
        </p:txBody>
      </p:sp>
      <p:sp>
        <p:nvSpPr>
          <p:cNvPr id="11" name="TextBox 10"/>
          <p:cNvSpPr txBox="1"/>
          <p:nvPr/>
        </p:nvSpPr>
        <p:spPr>
          <a:xfrm>
            <a:off x="6629400" y="3566160"/>
            <a:ext cx="4754880"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Problem two</a:t>
            </a:r>
          </a:p>
        </p:txBody>
      </p:sp>
      <p:sp>
        <p:nvSpPr>
          <p:cNvPr id="12" name="TextBox 11"/>
          <p:cNvSpPr txBox="1"/>
          <p:nvPr/>
        </p:nvSpPr>
        <p:spPr>
          <a:xfrm>
            <a:off x="6629400" y="3886200"/>
            <a:ext cx="4754880" cy="128016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An entire class of credit data is generated at national scale and then thrown away. A household reliable for a decade arrives at a bank as a stranger.</a:t>
            </a:r>
          </a:p>
        </p:txBody>
      </p:sp>
      <p:sp>
        <p:nvSpPr>
          <p:cNvPr id="13" name="TextBox 12"/>
          <p:cNvSpPr txBox="1"/>
          <p:nvPr/>
        </p:nvSpPr>
        <p:spPr>
          <a:xfrm>
            <a:off x="777240" y="5394960"/>
            <a:ext cx="10607040" cy="548640"/>
          </a:xfrm>
          <a:prstGeom prst="rect">
            <a:avLst/>
          </a:prstGeom>
          <a:noFill/>
        </p:spPr>
        <p:txBody>
          <a:bodyPr wrap="square" lIns="0" rIns="0" tIns="0" bIns="0">
            <a:spAutoFit/>
          </a:bodyPr>
          <a:lstStyle/>
          <a:p>
            <a:pPr algn="l">
              <a:lnSpc>
                <a:spcPct val="125000"/>
              </a:lnSpc>
            </a:pPr>
            <a:r>
              <a:rPr sz="1300" b="1" i="0">
                <a:solidFill>
                  <a:srgbClr val="0C1408"/>
                </a:solidFill>
                <a:latin typeface="Segoe UI"/>
              </a:rPr>
              <a:t>Halqa addresses the second, and the first follows from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OPPORTUNITY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Definition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a:t>
            </a:r>
          </a:p>
        </p:txBody>
      </p:sp>
      <p:sp>
        <p:nvSpPr>
          <p:cNvPr id="7" name="TextBox 6"/>
          <p:cNvSpPr txBox="1"/>
          <p:nvPr/>
        </p:nvSpPr>
        <p:spPr>
          <a:xfrm>
            <a:off x="777240" y="1965960"/>
            <a:ext cx="5669280" cy="219456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Each member pays the same amount every period. Each period the entire pot goes to one member. After one rotation every member has paid the same total and received the same total.</a:t>
            </a:r>
          </a:p>
          <a:p>
            <a:pPr algn="l">
              <a:lnSpc>
                <a:spcPct val="145000"/>
              </a:lnSpc>
              <a:spcBef>
                <a:spcPts val="800"/>
              </a:spcBef>
            </a:pPr>
            <a:r>
              <a:rPr sz="1350" b="0" i="0">
                <a:solidFill>
                  <a:srgbClr val="26301F"/>
                </a:solidFill>
                <a:latin typeface="Segoe UI"/>
              </a:rPr>
              <a:t/>
            </a:r>
          </a:p>
          <a:p>
            <a:pPr algn="l">
              <a:lnSpc>
                <a:spcPct val="145000"/>
              </a:lnSpc>
              <a:spcBef>
                <a:spcPts val="800"/>
              </a:spcBef>
            </a:pPr>
            <a:r>
              <a:rPr sz="1350" b="0" i="0">
                <a:solidFill>
                  <a:srgbClr val="26301F"/>
                </a:solidFill>
                <a:latin typeface="Segoe UI"/>
              </a:rPr>
              <a:t>Total money in equals total money out. The arrangement holds nothing at rest, earns nothing for itself, and requires no lender and no capital. The only variable between members is when they collect.</a:t>
            </a:r>
          </a:p>
        </p:txBody>
      </p:sp>
      <p:graphicFrame>
        <p:nvGraphicFramePr>
          <p:cNvPr id="8" name="Table 7"/>
          <p:cNvGraphicFramePr>
            <a:graphicFrameLocks noGrp="1"/>
          </p:cNvGraphicFramePr>
          <p:nvPr/>
        </p:nvGraphicFramePr>
        <p:xfrm>
          <a:off x="6903720" y="1965960"/>
          <a:ext cx="4480560" cy="2286000"/>
        </p:xfrm>
        <a:graphic>
          <a:graphicData uri="http://schemas.openxmlformats.org/drawingml/2006/table">
            <a:tbl>
              <a:tblPr>
                <a:tableStyleId>{5C22544A-7EE6-4342-B048-85BDC9FD1C3A}</a:tableStyleId>
              </a:tblPr>
              <a:tblGrid>
                <a:gridCol w="1234440"/>
                <a:gridCol w="1645920"/>
                <a:gridCol w="1600200"/>
              </a:tblGrid>
              <a:tr h="457200">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COLLECTS EARLY</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COLLECTS LATE</a:t>
                      </a:r>
                    </a:p>
                  </a:txBody>
                  <a:tcPr marL="45720" marR="109728" marT="27432" marB="27432" anchor="ctr">
                    <a:lnB w="9525" cap="flat" cmpd="sng" algn="ctr">
                      <a:solidFill>
                        <a:srgbClr val="41801A"/>
                      </a:solidFill>
                    </a:lnB>
                    <a:solidFill>
                      <a:srgbClr val="FFFFFF"/>
                    </a:solidFill>
                  </a:tcPr>
                </a:tc>
              </a:tr>
              <a:tr h="457200">
                <a:tc>
                  <a:txBody>
                    <a:bodyPr wrap="square"/>
                    <a:lstStyle/>
                    <a:p>
                      <a:r>
                        <a:rPr sz="1050" b="0">
                          <a:solidFill>
                            <a:srgbClr val="26301F"/>
                          </a:solidFill>
                          <a:latin typeface="Segoe UI"/>
                        </a:rPr>
                        <a:t>Receives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pot in advance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pot at the end</a:t>
                      </a:r>
                    </a:p>
                  </a:txBody>
                  <a:tcPr marL="45720" marR="109728" marT="27432" marB="27432" anchor="ctr">
                    <a:lnB w="9525" cap="flat" cmpd="sng" algn="ctr">
                      <a:solidFill>
                        <a:srgbClr val="DCE3D6"/>
                      </a:solidFill>
                    </a:lnB>
                    <a:solidFill>
                      <a:srgbClr val="FFFFFF"/>
                    </a:solidFill>
                  </a:tcPr>
                </a:tc>
              </a:tr>
              <a:tr h="457200">
                <a:tc>
                  <a:txBody>
                    <a:bodyPr wrap="square"/>
                    <a:lstStyle/>
                    <a:p>
                      <a:r>
                        <a:rPr sz="1050" b="0">
                          <a:solidFill>
                            <a:srgbClr val="26301F"/>
                          </a:solidFill>
                          <a:latin typeface="Segoe UI"/>
                        </a:rPr>
                        <a:t>Economically</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An advance repaid in instalments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Saving under a commitment device</a:t>
                      </a:r>
                    </a:p>
                  </a:txBody>
                  <a:tcPr marL="45720" marR="109728" marT="27432" marB="27432" anchor="ctr">
                    <a:lnB w="9525" cap="flat" cmpd="sng" algn="ctr">
                      <a:solidFill>
                        <a:srgbClr val="DCE3D6"/>
                      </a:solidFill>
                    </a:lnB>
                    <a:solidFill>
                      <a:srgbClr val="FFFFFF"/>
                    </a:solidFill>
                  </a:tcPr>
                </a:tc>
              </a:tr>
              <a:tr h="457200">
                <a:tc>
                  <a:txBody>
                    <a:bodyPr wrap="square"/>
                    <a:lstStyle/>
                    <a:p>
                      <a:r>
                        <a:rPr sz="1050" b="0">
                          <a:solidFill>
                            <a:srgbClr val="26301F"/>
                          </a:solidFill>
                          <a:latin typeface="Segoe UI"/>
                        </a:rPr>
                        <a:t>Charge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r>
              <a:tr h="457200">
                <a:tc>
                  <a:txBody>
                    <a:bodyPr wrap="square"/>
                    <a:lstStyle/>
                    <a:p>
                      <a:r>
                        <a:rPr sz="1050" b="0">
                          <a:solidFill>
                            <a:srgbClr val="26301F"/>
                          </a:solidFill>
                          <a:latin typeface="Segoe UI"/>
                        </a:rPr>
                        <a:t>Risk carried</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High until the cycle ends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Falls to zero</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4937760"/>
            <a:ext cx="10607040" cy="548640"/>
          </a:xfrm>
          <a:prstGeom prst="rect">
            <a:avLst/>
          </a:prstGeom>
          <a:noFill/>
        </p:spPr>
        <p:txBody>
          <a:bodyPr wrap="square" lIns="0" rIns="0" tIns="0" bIns="0">
            <a:spAutoFit/>
          </a:bodyPr>
          <a:lstStyle/>
          <a:p>
            <a:pPr algn="l">
              <a:lnSpc>
                <a:spcPct val="140000"/>
              </a:lnSpc>
            </a:pPr>
            <a:r>
              <a:rPr sz="1300" b="1" i="0">
                <a:solidFill>
                  <a:srgbClr val="0C1408"/>
                </a:solidFill>
                <a:latin typeface="Segoe UI"/>
              </a:rPr>
              <a:t>The same schedule delivers two opposite financial products at the same time, funded entirely by the members themselves.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OPPORTUNITY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Worked example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a:t>
            </a:r>
          </a:p>
        </p:txBody>
      </p:sp>
      <p:sp>
        <p:nvSpPr>
          <p:cNvPr id="7" name="TextBox 6"/>
          <p:cNvSpPr txBox="1"/>
          <p:nvPr/>
        </p:nvSpPr>
        <p:spPr>
          <a:xfrm>
            <a:off x="777240" y="1965960"/>
            <a:ext cx="10607040" cy="365760"/>
          </a:xfrm>
          <a:prstGeom prst="rect">
            <a:avLst/>
          </a:prstGeom>
          <a:noFill/>
        </p:spPr>
        <p:txBody>
          <a:bodyPr wrap="square" lIns="0" rIns="0" tIns="0" bIns="0">
            <a:spAutoFit/>
          </a:bodyPr>
          <a:lstStyle/>
          <a:p>
            <a:pPr algn="l">
              <a:lnSpc>
                <a:spcPct val="125000"/>
              </a:lnSpc>
            </a:pPr>
            <a:r>
              <a:rPr sz="1300" b="0" i="0">
                <a:solidFill>
                  <a:srgbClr val="26301F"/>
                </a:solidFill>
                <a:latin typeface="Segoe UI"/>
              </a:rPr>
              <a:t>Twelve members, Rs 10,000 a month, twelve months. The pot is Rs 120,000 and is paid in full to one member each month.</a:t>
            </a:r>
          </a:p>
        </p:txBody>
      </p:sp>
      <p:graphicFrame>
        <p:nvGraphicFramePr>
          <p:cNvPr id="8" name="Table 7"/>
          <p:cNvGraphicFramePr>
            <a:graphicFrameLocks noGrp="1"/>
          </p:cNvGraphicFramePr>
          <p:nvPr/>
        </p:nvGraphicFramePr>
        <p:xfrm>
          <a:off x="777240" y="2606040"/>
          <a:ext cx="10607040" cy="1920240"/>
        </p:xfrm>
        <a:graphic>
          <a:graphicData uri="http://schemas.openxmlformats.org/drawingml/2006/table">
            <a:tbl>
              <a:tblPr>
                <a:tableStyleId>{5C22544A-7EE6-4342-B048-85BDC9FD1C3A}</a:tableStyleId>
              </a:tblPr>
              <a:tblGrid>
                <a:gridCol w="1097280"/>
                <a:gridCol w="1828800"/>
                <a:gridCol w="1645920"/>
                <a:gridCol w="2926080"/>
                <a:gridCol w="3108960"/>
              </a:tblGrid>
              <a:tr h="384048">
                <a:tc>
                  <a:txBody>
                    <a:bodyPr wrap="square"/>
                    <a:lstStyle/>
                    <a:p>
                      <a:r>
                        <a:rPr sz="900" b="1">
                          <a:solidFill>
                            <a:srgbClr val="41801A"/>
                          </a:solidFill>
                          <a:latin typeface="Segoe UI"/>
                        </a:rPr>
                        <a:t>MONTH</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COLLECTED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PAID TO</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THAT MEMBER HAS PAID IN</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THAT MEMBER THEN OWES</a:t>
                      </a:r>
                    </a:p>
                  </a:txBody>
                  <a:tcPr marL="45720" marR="109728" marT="27432" marB="27432" anchor="ctr">
                    <a:lnB w="9525" cap="flat" cmpd="sng" algn="ctr">
                      <a:solidFill>
                        <a:srgbClr val="41801A"/>
                      </a:solidFill>
                    </a:lnB>
                    <a:solidFill>
                      <a:srgbClr val="FFFFFF"/>
                    </a:solidFill>
                  </a:tcPr>
                </a:tc>
              </a:tr>
              <a:tr h="384048">
                <a:tc>
                  <a:txBody>
                    <a:bodyPr wrap="square"/>
                    <a:lstStyle/>
                    <a:p>
                      <a:r>
                        <a:rPr sz="11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120,000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Member 1</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10,000</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110,000</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120,000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Member 4</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40,000</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80,000</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8</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120,000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Member 8</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80,000</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40,000</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12</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120,000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Member 12</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Rs 120,000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Nothing</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4663440"/>
            <a:ext cx="10607040" cy="100584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Every member pays Rs 120,000 across the year and receives Rs 120,000 once. Nobody is better off in total. Member 1 has effectively borrowed and repaid at no charge; member 12 has saved under a schedule they could not easily abandon. The amount a member owes the group after collecting is the only figure at risk anywhere in the arrangement, and the next section is about that figure.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PRIOR ATTEMPTS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UBL Kommittee Account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8</a:t>
            </a:r>
          </a:p>
        </p:txBody>
      </p:sp>
      <p:sp>
        <p:nvSpPr>
          <p:cNvPr id="7" name="TextBox 6"/>
          <p:cNvSpPr txBox="1"/>
          <p:nvPr/>
        </p:nvSpPr>
        <p:spPr>
          <a:xfrm>
            <a:off x="777240" y="1965960"/>
            <a:ext cx="10607040" cy="64008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United Bank Limited, one of Pakistan's largest banks, markets a deposit product under the committee name. It is the most instructive case in the set because it shows what happens when a large institution takes the word and discards the instrument.</a:t>
            </a:r>
          </a:p>
        </p:txBody>
      </p:sp>
      <p:graphicFrame>
        <p:nvGraphicFramePr>
          <p:cNvPr id="8" name="Table 7"/>
          <p:cNvGraphicFramePr>
            <a:graphicFrameLocks noGrp="1"/>
          </p:cNvGraphicFramePr>
          <p:nvPr/>
        </p:nvGraphicFramePr>
        <p:xfrm>
          <a:off x="777240" y="2788920"/>
          <a:ext cx="10607040" cy="2855656"/>
        </p:xfrm>
        <a:graphic>
          <a:graphicData uri="http://schemas.openxmlformats.org/drawingml/2006/table">
            <a:tbl>
              <a:tblPr>
                <a:tableStyleId>{5C22544A-7EE6-4342-B048-85BDC9FD1C3A}</a:tableStyleId>
              </a:tblPr>
              <a:tblGrid>
                <a:gridCol w="1737360"/>
                <a:gridCol w="4937760"/>
                <a:gridCol w="3931920"/>
              </a:tblGrid>
              <a:tr h="356957">
                <a:tc>
                  <a:txBody>
                    <a:bodyPr wrap="square"/>
                    <a:lstStyle/>
                    <a:p>
                      <a:r>
                        <a:rPr sz="800" b="1">
                          <a:solidFill>
                            <a:srgbClr val="41801A"/>
                          </a:solidFill>
                          <a:latin typeface="Segoe UI"/>
                        </a:rPr>
                        <a:t>FEATURE</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HOW IT WORKS</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IT MEANS</a:t>
                      </a:r>
                    </a:p>
                  </a:txBody>
                  <a:tcPr marL="45720" marR="109728" marT="27432" marB="27432" anchor="ctr">
                    <a:lnB w="9525" cap="flat" cmpd="sng" algn="ctr">
                      <a:solidFill>
                        <a:srgbClr val="41801A"/>
                      </a:solidFill>
                    </a:lnB>
                    <a:solidFill>
                      <a:srgbClr val="FFFFFF"/>
                    </a:solidFill>
                  </a:tcPr>
                </a:tc>
              </a:tr>
              <a:tr h="356957">
                <a:tc>
                  <a:txBody>
                    <a:bodyPr wrap="square"/>
                    <a:lstStyle/>
                    <a:p>
                      <a:r>
                        <a:rPr sz="800" b="0">
                          <a:solidFill>
                            <a:srgbClr val="26301F"/>
                          </a:solidFill>
                          <a:latin typeface="Segoe UI"/>
                        </a:rPr>
                        <a:t>Term</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12, 18 or 24 months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Fixed, like a recurring deposit</a:t>
                      </a:r>
                    </a:p>
                  </a:txBody>
                  <a:tcPr marL="45720" marR="109728" marT="27432" marB="27432" anchor="ctr">
                    <a:lnB w="9525" cap="flat" cmpd="sng" algn="ctr">
                      <a:solidFill>
                        <a:srgbClr val="DCE3D6"/>
                      </a:solidFill>
                    </a:lnB>
                    <a:solidFill>
                      <a:srgbClr val="FFFFFF"/>
                    </a:solidFill>
                  </a:tcPr>
                </a:tc>
              </a:tr>
              <a:tr h="356957">
                <a:tc>
                  <a:txBody>
                    <a:bodyPr wrap="square"/>
                    <a:lstStyle/>
                    <a:p>
                      <a:r>
                        <a:rPr sz="800" b="0">
                          <a:solidFill>
                            <a:srgbClr val="26301F"/>
                          </a:solidFill>
                          <a:latin typeface="Segoe UI"/>
                        </a:rPr>
                        <a:t>Contribution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Rs 5,000 to Rs 1,000,000 a month</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Wide band, aimed at existing bank customers</a:t>
                      </a:r>
                    </a:p>
                  </a:txBody>
                  <a:tcPr marL="45720" marR="109728" marT="27432" marB="27432" anchor="ctr">
                    <a:lnB w="9525" cap="flat" cmpd="sng" algn="ctr">
                      <a:solidFill>
                        <a:srgbClr val="DCE3D6"/>
                      </a:solidFill>
                    </a:lnB>
                    <a:solidFill>
                      <a:srgbClr val="FFFFFF"/>
                    </a:solidFill>
                  </a:tcPr>
                </a:tc>
              </a:tr>
              <a:tr h="356957">
                <a:tc>
                  <a:txBody>
                    <a:bodyPr wrap="square"/>
                    <a:lstStyle/>
                    <a:p>
                      <a:r>
                        <a:rPr sz="800" b="0">
                          <a:solidFill>
                            <a:srgbClr val="26301F"/>
                          </a:solidFill>
                          <a:latin typeface="Segoe UI"/>
                        </a:rPr>
                        <a:t>Payout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Your own accumulated contributions at the end, plus a bank contribution of one quarter, one half or one full monthly installment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You are paid your own money back with a bonus</a:t>
                      </a:r>
                    </a:p>
                  </a:txBody>
                  <a:tcPr marL="45720" marR="109728" marT="27432" marB="27432" anchor="ctr">
                    <a:lnB w="9525" cap="flat" cmpd="sng" algn="ctr">
                      <a:solidFill>
                        <a:srgbClr val="DCE3D6"/>
                      </a:solidFill>
                    </a:lnB>
                    <a:solidFill>
                      <a:srgbClr val="FFFFFF"/>
                    </a:solidFill>
                  </a:tcPr>
                </a:tc>
              </a:tr>
              <a:tr h="356957">
                <a:tc>
                  <a:txBody>
                    <a:bodyPr wrap="square"/>
                    <a:lstStyle/>
                    <a:p>
                      <a:r>
                        <a:rPr sz="800" b="0">
                          <a:solidFill>
                            <a:srgbClr val="26301F"/>
                          </a:solidFill>
                          <a:latin typeface="Segoe UI"/>
                        </a:rPr>
                        <a:t>Rotation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 member ever receives early. The defining feature of a committee is absent</a:t>
                      </a:r>
                    </a:p>
                  </a:txBody>
                  <a:tcPr marL="45720" marR="109728" marT="27432" marB="27432" anchor="ctr">
                    <a:lnB w="9525" cap="flat" cmpd="sng" algn="ctr">
                      <a:solidFill>
                        <a:srgbClr val="DCE3D6"/>
                      </a:solidFill>
                    </a:lnB>
                    <a:solidFill>
                      <a:srgbClr val="FFFFFF"/>
                    </a:solidFill>
                  </a:tcPr>
                </a:tc>
              </a:tr>
              <a:tr h="356957">
                <a:tc>
                  <a:txBody>
                    <a:bodyPr wrap="square"/>
                    <a:lstStyle/>
                    <a:p>
                      <a:r>
                        <a:rPr sz="800" b="0">
                          <a:solidFill>
                            <a:srgbClr val="26301F"/>
                          </a:solidFill>
                          <a:latin typeface="Segoe UI"/>
                        </a:rPr>
                        <a:t>Early exit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Permitted without penalty, forfeits the bonus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 obligation to anybody</a:t>
                      </a:r>
                    </a:p>
                  </a:txBody>
                  <a:tcPr marL="45720" marR="109728" marT="27432" marB="27432" anchor="ctr">
                    <a:lnB w="9525" cap="flat" cmpd="sng" algn="ctr">
                      <a:solidFill>
                        <a:srgbClr val="DCE3D6"/>
                      </a:solidFill>
                    </a:lnB>
                    <a:solidFill>
                      <a:srgbClr val="FFFFFF"/>
                    </a:solidFill>
                  </a:tcPr>
                </a:tc>
              </a:tr>
              <a:tr h="356957">
                <a:tc>
                  <a:txBody>
                    <a:bodyPr wrap="square"/>
                    <a:lstStyle/>
                    <a:p>
                      <a:r>
                        <a:rPr sz="800" b="0">
                          <a:solidFill>
                            <a:srgbClr val="26301F"/>
                          </a:solidFill>
                          <a:latin typeface="Segoe UI"/>
                        </a:rPr>
                        <a:t>Missed months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Forgiven through an installment holiday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 discipline, because there is no counterparty</a:t>
                      </a:r>
                    </a:p>
                  </a:txBody>
                  <a:tcPr marL="45720" marR="109728" marT="27432" marB="27432" anchor="ctr">
                    <a:lnB w="9525" cap="flat" cmpd="sng" algn="ctr">
                      <a:solidFill>
                        <a:srgbClr val="DCE3D6"/>
                      </a:solidFill>
                    </a:lnB>
                    <a:solidFill>
                      <a:srgbClr val="FFFFFF"/>
                    </a:solidFill>
                  </a:tcPr>
                </a:tc>
              </a:tr>
              <a:tr h="356957">
                <a:tc>
                  <a:txBody>
                    <a:bodyPr wrap="square"/>
                    <a:lstStyle/>
                    <a:p>
                      <a:r>
                        <a:rPr sz="800" b="0">
                          <a:solidFill>
                            <a:srgbClr val="26301F"/>
                          </a:solidFill>
                          <a:latin typeface="Segoe UI"/>
                        </a:rPr>
                        <a:t>Custody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bank, entirely. Member money is a bank liability from day one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Requires a banking licence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827456"/>
            <a:ext cx="10637215" cy="731520"/>
          </a:xfrm>
          <a:prstGeom prst="rect">
            <a:avLst/>
          </a:prstGeom>
          <a:noFill/>
        </p:spPr>
        <p:txBody>
          <a:bodyPr wrap="square" lIns="0" rIns="0" tIns="0" bIns="0">
            <a:spAutoFit/>
          </a:bodyPr>
          <a:lstStyle/>
          <a:p>
            <a:pPr algn="l">
              <a:lnSpc>
                <a:spcPct val="140000"/>
              </a:lnSpc>
            </a:pPr>
            <a:r>
              <a:rPr sz="1250" b="1" i="0">
                <a:solidFill>
                  <a:srgbClr val="0C1408"/>
                </a:solidFill>
                <a:latin typeface="Segoe UI"/>
              </a:rPr>
              <a:t>The rotation is the product. Remove it and what remains is a savings account with a marketing name. Nobody receives a lump sum early, which is the reason people join committees at 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PRIOR ATTEMPTS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Pakistan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9</a:t>
            </a:r>
          </a:p>
        </p:txBody>
      </p:sp>
      <p:graphicFrame>
        <p:nvGraphicFramePr>
          <p:cNvPr id="7" name="Table 6"/>
          <p:cNvGraphicFramePr>
            <a:graphicFrameLocks noGrp="1"/>
          </p:cNvGraphicFramePr>
          <p:nvPr/>
        </p:nvGraphicFramePr>
        <p:xfrm>
          <a:off x="777240" y="1965960"/>
          <a:ext cx="10607039" cy="3610050"/>
        </p:xfrm>
        <a:graphic>
          <a:graphicData uri="http://schemas.openxmlformats.org/drawingml/2006/table">
            <a:tbl>
              <a:tblPr>
                <a:tableStyleId>{5C22544A-7EE6-4342-B048-85BDC9FD1C3A}</a:tableStyleId>
              </a:tblPr>
              <a:tblGrid>
                <a:gridCol w="1920240"/>
                <a:gridCol w="1737360"/>
                <a:gridCol w="3200400"/>
                <a:gridCol w="3749039"/>
              </a:tblGrid>
              <a:tr h="601675">
                <a:tc>
                  <a:txBody>
                    <a:bodyPr wrap="square"/>
                    <a:lstStyle/>
                    <a:p>
                      <a:r>
                        <a:rPr sz="850" b="1">
                          <a:solidFill>
                            <a:srgbClr val="41801A"/>
                          </a:solidFill>
                          <a:latin typeface="Segoe UI"/>
                        </a:rPr>
                        <a:t>OPERATOR</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PERIOD</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REPORTED SCALE</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STRUCTURE AND OUTCOME</a:t>
                      </a:r>
                    </a:p>
                  </a:txBody>
                  <a:tcPr marL="45720" marR="109728" marT="27432" marB="27432" anchor="ctr">
                    <a:lnB w="9525" cap="flat" cmpd="sng" algn="ctr">
                      <a:solidFill>
                        <a:srgbClr val="41801A"/>
                      </a:solidFill>
                    </a:lnB>
                    <a:solidFill>
                      <a:srgbClr val="FFFFFF"/>
                    </a:solidFill>
                  </a:tcPr>
                </a:tc>
              </a:tr>
              <a:tr h="601675">
                <a:tc>
                  <a:txBody>
                    <a:bodyPr wrap="square"/>
                    <a:lstStyle/>
                    <a:p>
                      <a:r>
                        <a:rPr sz="850" b="0">
                          <a:solidFill>
                            <a:srgbClr val="26301F"/>
                          </a:solidFill>
                          <a:latin typeface="Segoe UI"/>
                        </a:rPr>
                        <a:t>UBL Kommittee Account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Current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Rs 5,000 to Rs 1,000,000 a month, terms of 12 to 24 months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bank deposit carrying the committee name. Full custody, no rotation between members</a:t>
                      </a:r>
                    </a:p>
                  </a:txBody>
                  <a:tcPr marL="45720" marR="109728" marT="27432" marB="27432" anchor="ctr">
                    <a:lnB w="9525" cap="flat" cmpd="sng" algn="ctr">
                      <a:solidFill>
                        <a:srgbClr val="DCE3D6"/>
                      </a:solidFill>
                    </a:lnB>
                    <a:solidFill>
                      <a:srgbClr val="FFFFFF"/>
                    </a:solidFill>
                  </a:tcPr>
                </a:tc>
              </a:tr>
              <a:tr h="601675">
                <a:tc>
                  <a:txBody>
                    <a:bodyPr wrap="square"/>
                    <a:lstStyle/>
                    <a:p>
                      <a:r>
                        <a:rPr sz="850" b="0">
                          <a:solidFill>
                            <a:srgbClr val="26301F"/>
                          </a:solidFill>
                          <a:latin typeface="Segoe UI"/>
                        </a:rPr>
                        <a:t>Oraan</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Founded 2018, USD 3m seed in 2021</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Its own research put participation at 41 per cent of Pakistanis and about USD 5bn rotating annually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Platform custody. The operator collects contributions and disburses pots. Strangers pooled and vetted, women weighted</a:t>
                      </a:r>
                    </a:p>
                  </a:txBody>
                  <a:tcPr marL="45720" marR="109728" marT="27432" marB="27432" anchor="ctr">
                    <a:lnB w="9525" cap="flat" cmpd="sng" algn="ctr">
                      <a:solidFill>
                        <a:srgbClr val="DCE3D6"/>
                      </a:solidFill>
                    </a:lnB>
                    <a:solidFill>
                      <a:srgbClr val="FFFFFF"/>
                    </a:solidFill>
                  </a:tcPr>
                </a:tc>
              </a:tr>
              <a:tr h="601675">
                <a:tc>
                  <a:txBody>
                    <a:bodyPr wrap="square"/>
                    <a:lstStyle/>
                    <a:p>
                      <a:r>
                        <a:rPr sz="850" b="0">
                          <a:solidFill>
                            <a:srgbClr val="26301F"/>
                          </a:solidFill>
                          <a:latin typeface="Segoe UI"/>
                        </a:rPr>
                        <a:t>Udhaar Book</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Current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committee register inside a digital ledger app used by retailers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No money moves through the app. The organiser records who has paid. Records an assertion, not a settlement</a:t>
                      </a:r>
                    </a:p>
                  </a:txBody>
                  <a:tcPr marL="45720" marR="109728" marT="27432" marB="27432" anchor="ctr">
                    <a:lnB w="9525" cap="flat" cmpd="sng" algn="ctr">
                      <a:solidFill>
                        <a:srgbClr val="DCE3D6"/>
                      </a:solidFill>
                    </a:lnB>
                    <a:solidFill>
                      <a:srgbClr val="FFFFFF"/>
                    </a:solidFill>
                  </a:tcPr>
                </a:tc>
              </a:tr>
              <a:tr h="601675">
                <a:tc>
                  <a:txBody>
                    <a:bodyPr wrap="square"/>
                    <a:lstStyle/>
                    <a:p>
                      <a:r>
                        <a:rPr sz="850" b="0">
                          <a:solidFill>
                            <a:srgbClr val="26301F"/>
                          </a:solidFill>
                          <a:latin typeface="Segoe UI"/>
                        </a:rPr>
                        <a:t>DigiKhata</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Current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competing ledger app with the same feature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Architecturally identical. Two independent Pakistani apps with real distribution stopped at the same wall</a:t>
                      </a:r>
                    </a:p>
                  </a:txBody>
                  <a:tcPr marL="45720" marR="109728" marT="27432" marB="27432" anchor="ctr">
                    <a:lnB w="9525" cap="flat" cmpd="sng" algn="ctr">
                      <a:solidFill>
                        <a:srgbClr val="DCE3D6"/>
                      </a:solidFill>
                    </a:lnB>
                    <a:solidFill>
                      <a:srgbClr val="FFFFFF"/>
                    </a:solidFill>
                  </a:tcPr>
                </a:tc>
              </a:tr>
              <a:tr h="601675">
                <a:tc>
                  <a:txBody>
                    <a:bodyPr wrap="square"/>
                    <a:lstStyle/>
                    <a:p>
                      <a:r>
                        <a:rPr sz="850" b="0">
                          <a:solidFill>
                            <a:srgbClr val="26301F"/>
                          </a:solidFill>
                          <a:latin typeface="Segoe UI"/>
                        </a:rPr>
                        <a:t>Sidra Humaid committees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Roughly seven to ten years, ending December 2022</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About Rs 420 million owed across 117 committees and roughly 200 contributors, no written records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Total concentrated custody. Members from social media wired money to one individual. She announced she could not pay and went into hiding</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758890"/>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Two failure modes. Hold the money and carry the licence or the fraud risk, or hold nothing and record only an assertion.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PRIOR ATTEMPTS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Middle East, India and Southeast Asia</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10</a:t>
            </a:r>
          </a:p>
        </p:txBody>
      </p:sp>
      <p:graphicFrame>
        <p:nvGraphicFramePr>
          <p:cNvPr id="7" name="Table 6"/>
          <p:cNvGraphicFramePr>
            <a:graphicFrameLocks noGrp="1"/>
          </p:cNvGraphicFramePr>
          <p:nvPr/>
        </p:nvGraphicFramePr>
        <p:xfrm>
          <a:off x="777240" y="1965960"/>
          <a:ext cx="10607040" cy="3827799"/>
        </p:xfrm>
        <a:graphic>
          <a:graphicData uri="http://schemas.openxmlformats.org/drawingml/2006/table">
            <a:tbl>
              <a:tblPr>
                <a:tableStyleId>{5C22544A-7EE6-4342-B048-85BDC9FD1C3A}</a:tableStyleId>
              </a:tblPr>
              <a:tblGrid>
                <a:gridCol w="1645920"/>
                <a:gridCol w="1463040"/>
                <a:gridCol w="3931920"/>
                <a:gridCol w="3566160"/>
              </a:tblGrid>
              <a:tr h="425311">
                <a:tc>
                  <a:txBody>
                    <a:bodyPr wrap="square"/>
                    <a:lstStyle/>
                    <a:p>
                      <a:r>
                        <a:rPr sz="700" b="1">
                          <a:solidFill>
                            <a:srgbClr val="41801A"/>
                          </a:solidFill>
                          <a:latin typeface="Segoe UI"/>
                        </a:rPr>
                        <a:t>OPERATOR</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MARKET</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REPORTED SCALE</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STRUCTURE</a:t>
                      </a:r>
                    </a:p>
                  </a:txBody>
                  <a:tcPr marL="45720" marR="109728" marT="27432" marB="27432" anchor="ctr">
                    <a:lnB w="9525" cap="flat" cmpd="sng" algn="ctr">
                      <a:solidFill>
                        <a:srgbClr val="41801A"/>
                      </a:solidFill>
                    </a:lnB>
                    <a:solidFill>
                      <a:srgbClr val="FFFFFF"/>
                    </a:solidFill>
                  </a:tcPr>
                </a:tc>
              </a:tr>
              <a:tr h="425311">
                <a:tc>
                  <a:txBody>
                    <a:bodyPr wrap="square"/>
                    <a:lstStyle/>
                    <a:p>
                      <a:r>
                        <a:rPr sz="700" b="0">
                          <a:solidFill>
                            <a:srgbClr val="26301F"/>
                          </a:solidFill>
                          <a:latin typeface="Segoe UI"/>
                        </a:rPr>
                        <a:t>Money Fellows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Egypt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8m downloads, over 1m customers, about 350,000 monthly active, USD 1.5bn processed across more than 2m completed circles, about USD 60m raised, profitable in 2025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Platform custody as digital trustee and matchmaker. The largest operator in the category anywhere</a:t>
                      </a:r>
                    </a:p>
                  </a:txBody>
                  <a:tcPr marL="45720" marR="109728" marT="27432" marB="27432" anchor="ctr">
                    <a:lnB w="9525" cap="flat" cmpd="sng" algn="ctr">
                      <a:solidFill>
                        <a:srgbClr val="DCE3D6"/>
                      </a:solidFill>
                    </a:lnB>
                    <a:solidFill>
                      <a:srgbClr val="FFFFFF"/>
                    </a:solidFill>
                  </a:tcPr>
                </a:tc>
              </a:tr>
              <a:tr h="425311">
                <a:tc>
                  <a:txBody>
                    <a:bodyPr wrap="square"/>
                    <a:lstStyle/>
                    <a:p>
                      <a:r>
                        <a:rPr sz="700" b="0">
                          <a:solidFill>
                            <a:srgbClr val="26301F"/>
                          </a:solidFill>
                          <a:latin typeface="Segoe UI"/>
                        </a:rPr>
                        <a:t>Hakbah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Saudi Arabia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More than 1.3m registered users, about 70 per cent young savers, about USD 9m raised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Platform operated savings groups under a central bank sandbox permit</a:t>
                      </a:r>
                    </a:p>
                  </a:txBody>
                  <a:tcPr marL="45720" marR="109728" marT="27432" marB="27432" anchor="ctr">
                    <a:lnB w="9525" cap="flat" cmpd="sng" algn="ctr">
                      <a:solidFill>
                        <a:srgbClr val="DCE3D6"/>
                      </a:solidFill>
                    </a:lnB>
                    <a:solidFill>
                      <a:srgbClr val="FFFFFF"/>
                    </a:solidFill>
                  </a:tcPr>
                </a:tc>
              </a:tr>
              <a:tr h="425311">
                <a:tc>
                  <a:txBody>
                    <a:bodyPr wrap="square"/>
                    <a:lstStyle/>
                    <a:p>
                      <a:r>
                        <a:rPr sz="700" b="0">
                          <a:solidFill>
                            <a:srgbClr val="26301F"/>
                          </a:solidFill>
                          <a:latin typeface="Segoe UI"/>
                        </a:rPr>
                        <a:t>Shriram Chits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More than 2.2m subscribers, auction turnover approaching Rs 3,000 crore, 465 branches, 65,000 agents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Statutory foreman under the Chit Funds Act with a full security deposit lodged with the Registrar. Auction ordering</a:t>
                      </a:r>
                    </a:p>
                  </a:txBody>
                  <a:tcPr marL="45720" marR="109728" marT="27432" marB="27432" anchor="ctr">
                    <a:lnB w="9525" cap="flat" cmpd="sng" algn="ctr">
                      <a:solidFill>
                        <a:srgbClr val="DCE3D6"/>
                      </a:solidFill>
                    </a:lnB>
                    <a:solidFill>
                      <a:srgbClr val="FFFFFF"/>
                    </a:solidFill>
                  </a:tcPr>
                </a:tc>
              </a:tr>
              <a:tr h="425311">
                <a:tc>
                  <a:txBody>
                    <a:bodyPr wrap="square"/>
                    <a:lstStyle/>
                    <a:p>
                      <a:r>
                        <a:rPr sz="700" b="0">
                          <a:solidFill>
                            <a:srgbClr val="26301F"/>
                          </a:solidFill>
                          <a:latin typeface="Segoe UI"/>
                        </a:rPr>
                        <a:t>Margadarsi Chits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 sixty years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Turnover about Rs 14,341 crore, over 6m subscribers, 131 branches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Identical statutory model. The two Indian operators show custody can endure at scale if you are a regulated foreman</a:t>
                      </a:r>
                    </a:p>
                  </a:txBody>
                  <a:tcPr marL="45720" marR="109728" marT="27432" marB="27432" anchor="ctr">
                    <a:lnB w="9525" cap="flat" cmpd="sng" algn="ctr">
                      <a:solidFill>
                        <a:srgbClr val="DCE3D6"/>
                      </a:solidFill>
                    </a:lnB>
                    <a:solidFill>
                      <a:srgbClr val="FFFFFF"/>
                    </a:solidFill>
                  </a:tcPr>
                </a:tc>
              </a:tr>
              <a:tr h="425311">
                <a:tc>
                  <a:txBody>
                    <a:bodyPr wrap="square"/>
                    <a:lstStyle/>
                    <a:p>
                      <a:r>
                        <a:rPr sz="700" b="0">
                          <a:solidFill>
                            <a:srgbClr val="26301F"/>
                          </a:solidFill>
                          <a:latin typeface="Segoe UI"/>
                        </a:rPr>
                        <a:t>KSFE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 since 1969</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More than 680 branches, chit values from Rs 1 lakh to Rs 50 lakh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state owned non banking finance company as foreman. Sovereign trust replaces private reputation</a:t>
                      </a:r>
                    </a:p>
                  </a:txBody>
                  <a:tcPr marL="45720" marR="109728" marT="27432" marB="27432" anchor="ctr">
                    <a:lnB w="9525" cap="flat" cmpd="sng" algn="ctr">
                      <a:solidFill>
                        <a:srgbClr val="DCE3D6"/>
                      </a:solidFill>
                    </a:lnB>
                    <a:solidFill>
                      <a:srgbClr val="FFFFFF"/>
                    </a:solidFill>
                  </a:tcPr>
                </a:tc>
              </a:tr>
              <a:tr h="425311">
                <a:tc>
                  <a:txBody>
                    <a:bodyPr wrap="square"/>
                    <a:lstStyle/>
                    <a:p>
                      <a:r>
                        <a:rPr sz="700" b="0">
                          <a:solidFill>
                            <a:srgbClr val="26301F"/>
                          </a:solidFill>
                          <a:latin typeface="Segoe UI"/>
                        </a:rPr>
                        <a:t>The Money Club</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 founded 2016</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Over 200,000 users, about 17,000 clubs, roughly Rs 40 crore pooled, USD 1.7m raised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Platform intermediated with same day payouts and underwriting by graduated trust</a:t>
                      </a:r>
                    </a:p>
                  </a:txBody>
                  <a:tcPr marL="45720" marR="109728" marT="27432" marB="27432" anchor="ctr">
                    <a:lnB w="9525" cap="flat" cmpd="sng" algn="ctr">
                      <a:solidFill>
                        <a:srgbClr val="DCE3D6"/>
                      </a:solidFill>
                    </a:lnB>
                    <a:solidFill>
                      <a:srgbClr val="FFFFFF"/>
                    </a:solidFill>
                  </a:tcPr>
                </a:tc>
              </a:tr>
              <a:tr h="425311">
                <a:tc>
                  <a:txBody>
                    <a:bodyPr wrap="square"/>
                    <a:lstStyle/>
                    <a:p>
                      <a:r>
                        <a:rPr sz="700" b="0">
                          <a:solidFill>
                            <a:srgbClr val="26301F"/>
                          </a:solidFill>
                          <a:latin typeface="Segoe UI"/>
                        </a:rPr>
                        <a:t>MyPaisaa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About USD 980,000 raised, roughly 20,000 installs in two years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India's first fully digital registered chit fund. Shows what full registration costs a young company in speed</a:t>
                      </a:r>
                    </a:p>
                  </a:txBody>
                  <a:tcPr marL="45720" marR="109728" marT="27432" marB="27432" anchor="ctr">
                    <a:lnB w="9525" cap="flat" cmpd="sng" algn="ctr">
                      <a:solidFill>
                        <a:srgbClr val="DCE3D6"/>
                      </a:solidFill>
                    </a:lnB>
                    <a:solidFill>
                      <a:srgbClr val="FFFFFF"/>
                    </a:solidFill>
                  </a:tcPr>
                </a:tc>
              </a:tr>
              <a:tr h="425311">
                <a:tc>
                  <a:txBody>
                    <a:bodyPr wrap="square"/>
                    <a:lstStyle/>
                    <a:p>
                      <a:r>
                        <a:rPr sz="700" b="0">
                          <a:solidFill>
                            <a:srgbClr val="26301F"/>
                          </a:solidFill>
                          <a:latin typeface="Segoe UI"/>
                        </a:rPr>
                        <a:t>Mapan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Indonesia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National scale through community organisers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organiser is treated as the growth engine, which is the position taken here</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PRIOR ATTEMPTS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Africa and the United States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11</a:t>
            </a:r>
          </a:p>
        </p:txBody>
      </p:sp>
      <p:graphicFrame>
        <p:nvGraphicFramePr>
          <p:cNvPr id="7" name="Table 6"/>
          <p:cNvGraphicFramePr>
            <a:graphicFrameLocks noGrp="1"/>
          </p:cNvGraphicFramePr>
          <p:nvPr/>
        </p:nvGraphicFramePr>
        <p:xfrm>
          <a:off x="777240" y="1965960"/>
          <a:ext cx="10607040" cy="3645522"/>
        </p:xfrm>
        <a:graphic>
          <a:graphicData uri="http://schemas.openxmlformats.org/drawingml/2006/table">
            <a:tbl>
              <a:tblPr>
                <a:tableStyleId>{5C22544A-7EE6-4342-B048-85BDC9FD1C3A}</a:tableStyleId>
              </a:tblPr>
              <a:tblGrid>
                <a:gridCol w="1828800"/>
                <a:gridCol w="1828800"/>
                <a:gridCol w="3291840"/>
                <a:gridCol w="3657600"/>
              </a:tblGrid>
              <a:tr h="607587">
                <a:tc>
                  <a:txBody>
                    <a:bodyPr wrap="square"/>
                    <a:lstStyle/>
                    <a:p>
                      <a:r>
                        <a:rPr sz="750" b="1">
                          <a:solidFill>
                            <a:srgbClr val="41801A"/>
                          </a:solidFill>
                          <a:latin typeface="Segoe UI"/>
                        </a:rPr>
                        <a:t>OPERATOR</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MARKET AND PERIOD</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REPORTED SCALE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STRUCTURE AND OUTCOME</a:t>
                      </a:r>
                    </a:p>
                  </a:txBody>
                  <a:tcPr marL="45720" marR="109728" marT="27432" marB="27432" anchor="ctr">
                    <a:lnB w="9525" cap="flat" cmpd="sng" algn="ctr">
                      <a:solidFill>
                        <a:srgbClr val="41801A"/>
                      </a:solidFill>
                    </a:lnB>
                    <a:solidFill>
                      <a:srgbClr val="FFFFFF"/>
                    </a:solidFill>
                  </a:tcPr>
                </a:tc>
              </a:tr>
              <a:tr h="607587">
                <a:tc>
                  <a:txBody>
                    <a:bodyPr wrap="square"/>
                    <a:lstStyle/>
                    <a:p>
                      <a:r>
                        <a:rPr sz="750" b="0">
                          <a:solidFill>
                            <a:srgbClr val="26301F"/>
                          </a:solidFill>
                          <a:latin typeface="Segoe UI"/>
                        </a:rPr>
                        <a:t>StokFella</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South Africa, launched 2016</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About 42,000 members by 2025, in a market of roughly 800,000 groups and 11m members holding around R50bn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Group account management with platform held funds, serving existing stokvel groups</a:t>
                      </a:r>
                    </a:p>
                  </a:txBody>
                  <a:tcPr marL="45720" marR="109728" marT="27432" marB="27432" anchor="ctr">
                    <a:lnB w="9525" cap="flat" cmpd="sng" algn="ctr">
                      <a:solidFill>
                        <a:srgbClr val="DCE3D6"/>
                      </a:solidFill>
                    </a:lnB>
                    <a:solidFill>
                      <a:srgbClr val="FFFFFF"/>
                    </a:solidFill>
                  </a:tcPr>
                </a:tc>
              </a:tr>
              <a:tr h="607587">
                <a:tc>
                  <a:txBody>
                    <a:bodyPr wrap="square"/>
                    <a:lstStyle/>
                    <a:p>
                      <a:r>
                        <a:rPr sz="750" b="0">
                          <a:solidFill>
                            <a:srgbClr val="26301F"/>
                          </a:solidFill>
                          <a:latin typeface="Segoe UI"/>
                        </a:rPr>
                        <a:t>Tanda by Yahoo Finance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United States, January to May 2018</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About 37,000 installs, never in the top 1,500 of the finance category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Platform managed pooling in groups of five or nine. Closed after four months. Encouraging in the Philippines and Mexico, poor in the United States</a:t>
                      </a:r>
                    </a:p>
                  </a:txBody>
                  <a:tcPr marL="45720" marR="109728" marT="27432" marB="27432" anchor="ctr">
                    <a:lnB w="9525" cap="flat" cmpd="sng" algn="ctr">
                      <a:solidFill>
                        <a:srgbClr val="DCE3D6"/>
                      </a:solidFill>
                    </a:lnB>
                    <a:solidFill>
                      <a:srgbClr val="FFFFFF"/>
                    </a:solidFill>
                  </a:tcPr>
                </a:tc>
              </a:tr>
              <a:tr h="607587">
                <a:tc>
                  <a:txBody>
                    <a:bodyPr wrap="square"/>
                    <a:lstStyle/>
                    <a:p>
                      <a:r>
                        <a:rPr sz="750" b="0">
                          <a:solidFill>
                            <a:srgbClr val="26301F"/>
                          </a:solidFill>
                          <a:latin typeface="Segoe UI"/>
                        </a:rPr>
                        <a:t>eMoneyPool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United States, Phoenix, 2010 to November 2019</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Nine years of operation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Platform managed pools reporting payment history to credit bureaux. The operator absorbed defaults itself. The cost of standing behind every member is why the facility here is priced and capped</a:t>
                      </a:r>
                    </a:p>
                  </a:txBody>
                  <a:tcPr marL="45720" marR="109728" marT="27432" marB="27432" anchor="ctr">
                    <a:lnB w="9525" cap="flat" cmpd="sng" algn="ctr">
                      <a:solidFill>
                        <a:srgbClr val="DCE3D6"/>
                      </a:solidFill>
                    </a:lnB>
                    <a:solidFill>
                      <a:srgbClr val="FFFFFF"/>
                    </a:solidFill>
                  </a:tcPr>
                </a:tc>
              </a:tr>
              <a:tr h="607587">
                <a:tc>
                  <a:txBody>
                    <a:bodyPr wrap="square"/>
                    <a:lstStyle/>
                    <a:p>
                      <a:r>
                        <a:rPr sz="750" b="0">
                          <a:solidFill>
                            <a:srgbClr val="26301F"/>
                          </a:solidFill>
                          <a:latin typeface="Segoe UI"/>
                        </a:rPr>
                        <a:t>Esusu</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United States, incorporated 31 May 2018</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USD 130m Series B led by SoftBank Vision Fund 2 in January 2022, at a USD 1bn valuation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Launched as a savings app, found the domestic market too thin, pivoted to reporting rent payments to all three bureaux. The value was the record, not the pooling</a:t>
                      </a:r>
                    </a:p>
                  </a:txBody>
                  <a:tcPr marL="45720" marR="109728" marT="27432" marB="27432" anchor="ctr">
                    <a:lnB w="9525" cap="flat" cmpd="sng" algn="ctr">
                      <a:solidFill>
                        <a:srgbClr val="DCE3D6"/>
                      </a:solidFill>
                    </a:lnB>
                    <a:solidFill>
                      <a:srgbClr val="FFFFFF"/>
                    </a:solidFill>
                  </a:tcPr>
                </a:tc>
              </a:tr>
              <a:tr h="607587">
                <a:tc>
                  <a:txBody>
                    <a:bodyPr wrap="square"/>
                    <a:lstStyle/>
                    <a:p>
                      <a:r>
                        <a:rPr sz="750" b="0">
                          <a:solidFill>
                            <a:srgbClr val="26301F"/>
                          </a:solidFill>
                          <a:latin typeface="Segoe UI"/>
                        </a:rPr>
                        <a:t>Mission Asset Fund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United States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Groups of six to twelve contributing USD 50 to 200 a month, pots of USD 300 to 2,400</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non profit which formalises peer contributions as documented zero interest loans and reports every payment to all three bureaux</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PRIOR ATTEMPTS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the evidence establishes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12</a:t>
            </a:r>
          </a:p>
        </p:txBody>
      </p:sp>
      <p:graphicFrame>
        <p:nvGraphicFramePr>
          <p:cNvPr id="7" name="Table 6"/>
          <p:cNvGraphicFramePr>
            <a:graphicFrameLocks noGrp="1"/>
          </p:cNvGraphicFramePr>
          <p:nvPr/>
        </p:nvGraphicFramePr>
        <p:xfrm>
          <a:off x="777240" y="1965960"/>
          <a:ext cx="10607040" cy="3587352"/>
        </p:xfrm>
        <a:graphic>
          <a:graphicData uri="http://schemas.openxmlformats.org/drawingml/2006/table">
            <a:tbl>
              <a:tblPr>
                <a:tableStyleId>{5C22544A-7EE6-4342-B048-85BDC9FD1C3A}</a:tableStyleId>
              </a:tblPr>
              <a:tblGrid>
                <a:gridCol w="2651760"/>
                <a:gridCol w="4572000"/>
                <a:gridCol w="3383280"/>
              </a:tblGrid>
              <a:tr h="597892">
                <a:tc>
                  <a:txBody>
                    <a:bodyPr wrap="square"/>
                    <a:lstStyle/>
                    <a:p>
                      <a:r>
                        <a:rPr sz="850" b="1">
                          <a:solidFill>
                            <a:srgbClr val="41801A"/>
                          </a:solidFill>
                          <a:latin typeface="Segoe UI"/>
                        </a:rPr>
                        <a:t>FINDING</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EVIDENCE</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POSITION TAKEN HERE</a:t>
                      </a:r>
                    </a:p>
                  </a:txBody>
                  <a:tcPr marL="45720" marR="109728" marT="27432" marB="27432" anchor="ctr">
                    <a:lnB w="9525" cap="flat" cmpd="sng" algn="ctr">
                      <a:solidFill>
                        <a:srgbClr val="41801A"/>
                      </a:solidFill>
                    </a:lnB>
                    <a:solidFill>
                      <a:srgbClr val="FFFFFF"/>
                    </a:solidFill>
                  </a:tcPr>
                </a:tc>
              </a:tr>
              <a:tr h="597892">
                <a:tc>
                  <a:txBody>
                    <a:bodyPr wrap="square"/>
                    <a:lstStyle/>
                    <a:p>
                      <a:r>
                        <a:rPr sz="850" b="0">
                          <a:solidFill>
                            <a:srgbClr val="26301F"/>
                          </a:solidFill>
                          <a:latin typeface="Segoe UI"/>
                        </a:rPr>
                        <a:t>Custody decides the outcome, and its effect is binary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Operators which held member money either carried a licence and a statutory deposit, as the Indian foremen do, or failed, as the Rs 420m Pakistani case did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Halqa holds nothing at any stage</a:t>
                      </a:r>
                    </a:p>
                  </a:txBody>
                  <a:tcPr marL="45720" marR="109728" marT="27432" marB="27432" anchor="ctr">
                    <a:lnB w="9525" cap="flat" cmpd="sng" algn="ctr">
                      <a:solidFill>
                        <a:srgbClr val="DCE3D6"/>
                      </a:solidFill>
                    </a:lnB>
                    <a:solidFill>
                      <a:srgbClr val="FFFFFF"/>
                    </a:solidFill>
                  </a:tcPr>
                </a:tc>
              </a:tr>
              <a:tr h="597892">
                <a:tc>
                  <a:txBody>
                    <a:bodyPr wrap="square"/>
                    <a:lstStyle/>
                    <a:p>
                      <a:r>
                        <a:rPr sz="850" b="0">
                          <a:solidFill>
                            <a:srgbClr val="26301F"/>
                          </a:solidFill>
                          <a:latin typeface="Segoe UI"/>
                        </a:rPr>
                        <a:t>The value is the record, and it has been measured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Two American operators abandoned pooling entirely and built businesses on reporting payment behaviour. One reached a USD 1bn valuation on that basis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record is the asset. The committee is the mechanism which generates it</a:t>
                      </a:r>
                    </a:p>
                  </a:txBody>
                  <a:tcPr marL="45720" marR="109728" marT="27432" marB="27432" anchor="ctr">
                    <a:lnB w="9525" cap="flat" cmpd="sng" algn="ctr">
                      <a:solidFill>
                        <a:srgbClr val="DCE3D6"/>
                      </a:solidFill>
                    </a:lnB>
                    <a:solidFill>
                      <a:srgbClr val="FFFFFF"/>
                    </a:solidFill>
                  </a:tcPr>
                </a:tc>
              </a:tr>
              <a:tr h="597892">
                <a:tc>
                  <a:txBody>
                    <a:bodyPr wrap="square"/>
                    <a:lstStyle/>
                    <a:p>
                      <a:r>
                        <a:rPr sz="850" b="0">
                          <a:solidFill>
                            <a:srgbClr val="26301F"/>
                          </a:solidFill>
                          <a:latin typeface="Segoe UI"/>
                        </a:rPr>
                        <a:t>Distribution is agents, not advertising</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Every case which reached scale did so through commissioned organisers, from 65,000 agents in India to community organisers in Indonesia</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host is the acquisition channel and is paid on value, never on recruitment depth</a:t>
                      </a:r>
                    </a:p>
                  </a:txBody>
                  <a:tcPr marL="45720" marR="109728" marT="27432" marB="27432" anchor="ctr">
                    <a:lnB w="9525" cap="flat" cmpd="sng" algn="ctr">
                      <a:solidFill>
                        <a:srgbClr val="DCE3D6"/>
                      </a:solidFill>
                    </a:lnB>
                    <a:solidFill>
                      <a:srgbClr val="FFFFFF"/>
                    </a:solidFill>
                  </a:tcPr>
                </a:tc>
              </a:tr>
              <a:tr h="597892">
                <a:tc>
                  <a:txBody>
                    <a:bodyPr wrap="square"/>
                    <a:lstStyle/>
                    <a:p>
                      <a:r>
                        <a:rPr sz="850" b="0">
                          <a:solidFill>
                            <a:srgbClr val="26301F"/>
                          </a:solidFill>
                          <a:latin typeface="Segoe UI"/>
                        </a:rPr>
                        <a:t>An unpriced guarantee is unbounded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American operator which absorbed defaults for every member ran nine years and closed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facility is priced, capped at four levels, and recovered as an advance</a:t>
                      </a:r>
                    </a:p>
                  </a:txBody>
                  <a:tcPr marL="45720" marR="109728" marT="27432" marB="27432" anchor="ctr">
                    <a:lnB w="9525" cap="flat" cmpd="sng" algn="ctr">
                      <a:solidFill>
                        <a:srgbClr val="DCE3D6"/>
                      </a:solidFill>
                    </a:lnB>
                    <a:solidFill>
                      <a:srgbClr val="FFFFFF"/>
                    </a:solidFill>
                  </a:tcPr>
                </a:tc>
              </a:tr>
              <a:tr h="597892">
                <a:tc>
                  <a:txBody>
                    <a:bodyPr wrap="square"/>
                    <a:lstStyle/>
                    <a:p>
                      <a:r>
                        <a:rPr sz="850" b="0">
                          <a:solidFill>
                            <a:srgbClr val="26301F"/>
                          </a:solidFill>
                          <a:latin typeface="Segoe UI"/>
                        </a:rPr>
                        <a:t>Taking the name without the rotation does not work</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bank product removes the early payout, which is the only reason members join</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rotation is preserved exactly as it works informally</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WHAT HALQA IS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Custody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13</a:t>
            </a:r>
          </a:p>
        </p:txBody>
      </p:sp>
      <p:sp>
        <p:nvSpPr>
          <p:cNvPr id="7" name="TextBox 6"/>
          <p:cNvSpPr txBox="1"/>
          <p:nvPr/>
        </p:nvSpPr>
        <p:spPr>
          <a:xfrm>
            <a:off x="777240" y="1965960"/>
            <a:ext cx="10607040" cy="73152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Halqa does not take possession of member money at any stage. Contributions move directly from the paying member's account to the receiving member's account over domestic payment rails. Halqa observes each settlement and writes it to a double entry ledger linked to national identity.</a:t>
            </a:r>
          </a:p>
        </p:txBody>
      </p:sp>
      <p:graphicFrame>
        <p:nvGraphicFramePr>
          <p:cNvPr id="8" name="Table 7"/>
          <p:cNvGraphicFramePr>
            <a:graphicFrameLocks noGrp="1"/>
          </p:cNvGraphicFramePr>
          <p:nvPr/>
        </p:nvGraphicFramePr>
        <p:xfrm>
          <a:off x="777240" y="3063240"/>
          <a:ext cx="10607040" cy="2582245"/>
        </p:xfrm>
        <a:graphic>
          <a:graphicData uri="http://schemas.openxmlformats.org/drawingml/2006/table">
            <a:tbl>
              <a:tblPr>
                <a:tableStyleId>{5C22544A-7EE6-4342-B048-85BDC9FD1C3A}</a:tableStyleId>
              </a:tblPr>
              <a:tblGrid>
                <a:gridCol w="1828800"/>
                <a:gridCol w="8778240"/>
              </a:tblGrid>
              <a:tr h="516449">
                <a:tc>
                  <a:txBody>
                    <a:bodyPr wrap="square"/>
                    <a:lstStyle/>
                    <a:p>
                      <a:r>
                        <a:rPr sz="900" b="1">
                          <a:solidFill>
                            <a:srgbClr val="41801A"/>
                          </a:solidFill>
                          <a:latin typeface="Segoe UI"/>
                        </a:rPr>
                        <a:t>CONSEQUENCE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DETAIL</a:t>
                      </a:r>
                    </a:p>
                  </a:txBody>
                  <a:tcPr marL="45720" marR="109728" marT="27432" marB="27432" anchor="ctr">
                    <a:lnB w="9525" cap="flat" cmpd="sng" algn="ctr">
                      <a:solidFill>
                        <a:srgbClr val="41801A"/>
                      </a:solidFill>
                    </a:lnB>
                    <a:solidFill>
                      <a:srgbClr val="FFFFFF"/>
                    </a:solidFill>
                  </a:tcPr>
                </a:tc>
              </a:tr>
              <a:tr h="516449">
                <a:tc>
                  <a:txBody>
                    <a:bodyPr wrap="square"/>
                    <a:lstStyle/>
                    <a:p>
                      <a:r>
                        <a:rPr sz="900" b="0">
                          <a:solidFill>
                            <a:srgbClr val="26301F"/>
                          </a:solidFill>
                          <a:latin typeface="Segoe UI"/>
                        </a:rPr>
                        <a:t>Commercial</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Every large committee fraud recorded in Pakistan required a central pool of members' money under one person's control. No such account exists here, and the protection cannot be weakened under commercial pressure because there is nothing to weaken</a:t>
                      </a:r>
                    </a:p>
                  </a:txBody>
                  <a:tcPr marL="45720" marR="109728" marT="27432" marB="27432" anchor="ctr">
                    <a:lnB w="9525" cap="flat" cmpd="sng" algn="ctr">
                      <a:solidFill>
                        <a:srgbClr val="DCE3D6"/>
                      </a:solidFill>
                    </a:lnB>
                    <a:solidFill>
                      <a:srgbClr val="FFFFFF"/>
                    </a:solidFill>
                  </a:tcPr>
                </a:tc>
              </a:tr>
              <a:tr h="516449">
                <a:tc>
                  <a:txBody>
                    <a:bodyPr wrap="square"/>
                    <a:lstStyle/>
                    <a:p>
                      <a:r>
                        <a:rPr sz="900" b="0">
                          <a:solidFill>
                            <a:srgbClr val="26301F"/>
                          </a:solidFill>
                          <a:latin typeface="Segoe UI"/>
                        </a:rPr>
                        <a:t>Regulatory</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 balance is issued, nothing is lent, and no payment system is operated. The path to live money runs through company registration and a merchant services agreement, both commercial steps rather than licences</a:t>
                      </a:r>
                    </a:p>
                  </a:txBody>
                  <a:tcPr marL="45720" marR="109728" marT="27432" marB="27432" anchor="ctr">
                    <a:lnB w="9525" cap="flat" cmpd="sng" algn="ctr">
                      <a:solidFill>
                        <a:srgbClr val="DCE3D6"/>
                      </a:solidFill>
                    </a:lnB>
                    <a:solidFill>
                      <a:srgbClr val="FFFFFF"/>
                    </a:solidFill>
                  </a:tcPr>
                </a:tc>
              </a:tr>
              <a:tr h="516449">
                <a:tc>
                  <a:txBody>
                    <a:bodyPr wrap="square"/>
                    <a:lstStyle/>
                    <a:p>
                      <a:r>
                        <a:rPr sz="900" b="0">
                          <a:solidFill>
                            <a:srgbClr val="26301F"/>
                          </a:solidFill>
                          <a:latin typeface="Segoe UI"/>
                        </a:rPr>
                        <a:t>Pricing</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There is no float to fund the business from and no balance to lose, which is why the member price is zero and the revenue comes from services and counterparties</a:t>
                      </a:r>
                    </a:p>
                  </a:txBody>
                  <a:tcPr marL="45720" marR="109728" marT="27432" marB="27432" anchor="ctr">
                    <a:lnB w="9525" cap="flat" cmpd="sng" algn="ctr">
                      <a:solidFill>
                        <a:srgbClr val="DCE3D6"/>
                      </a:solidFill>
                    </a:lnB>
                    <a:solidFill>
                      <a:srgbClr val="FFFFFF"/>
                    </a:solidFill>
                  </a:tcPr>
                </a:tc>
              </a:tr>
              <a:tr h="516449">
                <a:tc>
                  <a:txBody>
                    <a:bodyPr wrap="square"/>
                    <a:lstStyle/>
                    <a:p>
                      <a:r>
                        <a:rPr sz="900" b="0">
                          <a:solidFill>
                            <a:srgbClr val="26301F"/>
                          </a:solidFill>
                          <a:latin typeface="Segoe UI"/>
                        </a:rPr>
                        <a:t>Independent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Researchers at ITU Lahore and the University of Washington, funded by the Gates Foundation and Karandaaz, published the same architecture in 2018 on regulatory grounds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WHAT HALQA IS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the platform is and is not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14</a:t>
            </a:r>
          </a:p>
        </p:txBody>
      </p:sp>
      <p:graphicFrame>
        <p:nvGraphicFramePr>
          <p:cNvPr id="7" name="Table 6"/>
          <p:cNvGraphicFramePr>
            <a:graphicFrameLocks noGrp="1"/>
          </p:cNvGraphicFramePr>
          <p:nvPr/>
        </p:nvGraphicFramePr>
        <p:xfrm>
          <a:off x="777240" y="1965960"/>
          <a:ext cx="10607040" cy="3291840"/>
        </p:xfrm>
        <a:graphic>
          <a:graphicData uri="http://schemas.openxmlformats.org/drawingml/2006/table">
            <a:tbl>
              <a:tblPr>
                <a:tableStyleId>{5C22544A-7EE6-4342-B048-85BDC9FD1C3A}</a:tableStyleId>
              </a:tblPr>
              <a:tblGrid>
                <a:gridCol w="5303520"/>
                <a:gridCol w="5303520"/>
              </a:tblGrid>
              <a:tr h="658368">
                <a:tc>
                  <a:txBody>
                    <a:bodyPr wrap="square"/>
                    <a:lstStyle/>
                    <a:p>
                      <a:r>
                        <a:rPr sz="900" b="1">
                          <a:solidFill>
                            <a:srgbClr val="41801A"/>
                          </a:solidFill>
                          <a:latin typeface="Segoe UI"/>
                        </a:rPr>
                        <a:t>HALQA IS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HALQA IS NOT</a:t>
                      </a:r>
                    </a:p>
                  </a:txBody>
                  <a:tcPr marL="45720" marR="109728" marT="27432" marB="27432" anchor="ctr">
                    <a:lnB w="9525" cap="flat" cmpd="sng" algn="ctr">
                      <a:solidFill>
                        <a:srgbClr val="41801A"/>
                      </a:solidFill>
                    </a:lnB>
                    <a:solidFill>
                      <a:srgbClr val="FFFFFF"/>
                    </a:solidFill>
                  </a:tcPr>
                </a:tc>
              </a:tr>
              <a:tr h="658368">
                <a:tc>
                  <a:txBody>
                    <a:bodyPr wrap="square"/>
                    <a:lstStyle/>
                    <a:p>
                      <a:r>
                        <a:rPr sz="1100" b="0">
                          <a:solidFill>
                            <a:srgbClr val="26301F"/>
                          </a:solidFill>
                          <a:latin typeface="Segoe UI"/>
                        </a:rPr>
                        <a:t>A record. Every settlement carries a receipt, a timestamp and an identity link, admissible under the Electronic Transactions Ordinance 2002</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A holder of member funds at any point in any product</a:t>
                      </a:r>
                    </a:p>
                  </a:txBody>
                  <a:tcPr marL="45720" marR="109728" marT="27432" marB="27432" anchor="ctr">
                    <a:lnB w="9525" cap="flat" cmpd="sng" algn="ctr">
                      <a:solidFill>
                        <a:srgbClr val="DCE3D6"/>
                      </a:solidFill>
                    </a:lnB>
                    <a:solidFill>
                      <a:srgbClr val="FFFFFF"/>
                    </a:solidFill>
                  </a:tcPr>
                </a:tc>
              </a:tr>
              <a:tr h="658368">
                <a:tc>
                  <a:txBody>
                    <a:bodyPr wrap="square"/>
                    <a:lstStyle/>
                    <a:p>
                      <a:r>
                        <a:rPr sz="1100" b="0">
                          <a:solidFill>
                            <a:srgbClr val="26301F"/>
                          </a:solidFill>
                          <a:latin typeface="Segoe UI"/>
                        </a:rPr>
                        <a:t>A treasury. It schedules, prices, collects and settles</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A lender. Members fund one another directly</a:t>
                      </a:r>
                    </a:p>
                  </a:txBody>
                  <a:tcPr marL="45720" marR="109728" marT="27432" marB="27432" anchor="ctr">
                    <a:lnB w="9525" cap="flat" cmpd="sng" algn="ctr">
                      <a:solidFill>
                        <a:srgbClr val="DCE3D6"/>
                      </a:solidFill>
                    </a:lnB>
                    <a:solidFill>
                      <a:srgbClr val="FFFFFF"/>
                    </a:solidFill>
                  </a:tcPr>
                </a:tc>
              </a:tr>
              <a:tr h="658368">
                <a:tc>
                  <a:txBody>
                    <a:bodyPr wrap="square"/>
                    <a:lstStyle/>
                    <a:p>
                      <a:r>
                        <a:rPr sz="1100" b="0">
                          <a:solidFill>
                            <a:srgbClr val="26301F"/>
                          </a:solidFill>
                          <a:latin typeface="Segoe UI"/>
                        </a:rPr>
                        <a:t>A credit record. Payment history becomes a portable score which the member can present outside the platform</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An issuer of balances, wallets or stored value</a:t>
                      </a:r>
                    </a:p>
                  </a:txBody>
                  <a:tcPr marL="45720" marR="109728" marT="27432" marB="27432" anchor="ctr">
                    <a:lnB w="9525" cap="flat" cmpd="sng" algn="ctr">
                      <a:solidFill>
                        <a:srgbClr val="DCE3D6"/>
                      </a:solidFill>
                    </a:lnB>
                    <a:solidFill>
                      <a:srgbClr val="FFFFFF"/>
                    </a:solidFill>
                  </a:tcPr>
                </a:tc>
              </a:tr>
              <a:tr h="658368">
                <a:tc>
                  <a:txBody>
                    <a:bodyPr wrap="square"/>
                    <a:lstStyle/>
                    <a:p>
                      <a:r>
                        <a:rPr sz="1100" b="0">
                          <a:solidFill>
                            <a:srgbClr val="26301F"/>
                          </a:solidFill>
                          <a:latin typeface="Segoe UI"/>
                        </a:rPr>
                        <a:t>A distributor of a licensed manager's savings products, at the second stage</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An operator of a payment system, an investment manager or a custodian</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513832"/>
            <a:ext cx="10637215" cy="731520"/>
          </a:xfrm>
          <a:prstGeom prst="rect">
            <a:avLst/>
          </a:prstGeom>
          <a:noFill/>
        </p:spPr>
        <p:txBody>
          <a:bodyPr wrap="square" lIns="0" rIns="0" tIns="0" bIns="0">
            <a:spAutoFit/>
          </a:bodyPr>
          <a:lstStyle/>
          <a:p>
            <a:pPr algn="l">
              <a:lnSpc>
                <a:spcPct val="140000"/>
              </a:lnSpc>
            </a:pPr>
            <a:r>
              <a:rPr sz="1300" b="0" i="0">
                <a:solidFill>
                  <a:srgbClr val="26301F"/>
                </a:solidFill>
                <a:latin typeface="Segoe UI"/>
              </a:rPr>
              <a:t>The distinction is not a policy the company has adopted and could later abandon. It is a consequence of where the money physically goes, which means it holds under commercial pressure and can be demonstrated to a regulator from the ledger rather than argued.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WHAT HALQA IS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five functions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15</a:t>
            </a:r>
          </a:p>
        </p:txBody>
      </p:sp>
      <p:graphicFrame>
        <p:nvGraphicFramePr>
          <p:cNvPr id="7" name="Table 6"/>
          <p:cNvGraphicFramePr>
            <a:graphicFrameLocks noGrp="1"/>
          </p:cNvGraphicFramePr>
          <p:nvPr/>
        </p:nvGraphicFramePr>
        <p:xfrm>
          <a:off x="777240" y="1965960"/>
          <a:ext cx="10607040" cy="3291840"/>
        </p:xfrm>
        <a:graphic>
          <a:graphicData uri="http://schemas.openxmlformats.org/drawingml/2006/table">
            <a:tbl>
              <a:tblPr>
                <a:tableStyleId>{5C22544A-7EE6-4342-B048-85BDC9FD1C3A}</a:tableStyleId>
              </a:tblPr>
              <a:tblGrid>
                <a:gridCol w="411480"/>
                <a:gridCol w="1737360"/>
                <a:gridCol w="6903720"/>
                <a:gridCol w="1554480"/>
              </a:tblGrid>
              <a:tr h="548640">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FUNCTION</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IT GOVERNS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WHERE IT APPEARS</a:t>
                      </a:r>
                    </a:p>
                  </a:txBody>
                  <a:tcPr marL="45720" marR="109728" marT="27432" marB="27432" anchor="ctr">
                    <a:lnB w="9525" cap="flat" cmpd="sng" algn="ctr">
                      <a:solidFill>
                        <a:srgbClr val="41801A"/>
                      </a:solidFill>
                    </a:lnB>
                    <a:solidFill>
                      <a:srgbClr val="FFFFFF"/>
                    </a:solidFill>
                  </a:tcPr>
                </a:tc>
              </a:tr>
              <a:tr h="548640">
                <a:tc>
                  <a:txBody>
                    <a:bodyPr wrap="square"/>
                    <a:lstStyle/>
                    <a:p>
                      <a:r>
                        <a:rPr sz="10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Onboarding</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Who is admitted, what is verified, and what each member is shown. Barriers stay low and the filtering is invisible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Section 4</a:t>
                      </a:r>
                    </a:p>
                  </a:txBody>
                  <a:tcPr marL="45720" marR="109728" marT="27432" marB="27432" anchor="ctr">
                    <a:lnB w="9525" cap="flat" cmpd="sng" algn="ctr">
                      <a:solidFill>
                        <a:srgbClr val="DCE3D6"/>
                      </a:solidFill>
                    </a:lnB>
                    <a:solidFill>
                      <a:srgbClr val="FFFFFF"/>
                    </a:solidFill>
                  </a:tcPr>
                </a:tc>
              </a:tr>
              <a:tr h="548640">
                <a:tc>
                  <a:txBody>
                    <a:bodyPr wrap="square"/>
                    <a:lstStyle/>
                    <a:p>
                      <a:r>
                        <a:rPr sz="10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Collection</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How money is taken. Collection is attempted on the member's payday, not on the due date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Section 5</a:t>
                      </a:r>
                    </a:p>
                  </a:txBody>
                  <a:tcPr marL="45720" marR="109728" marT="27432" marB="27432" anchor="ctr">
                    <a:lnB w="9525" cap="flat" cmpd="sng" algn="ctr">
                      <a:solidFill>
                        <a:srgbClr val="DCE3D6"/>
                      </a:solidFill>
                    </a:lnB>
                    <a:solidFill>
                      <a:srgbClr val="FFFFFF"/>
                    </a:solidFill>
                  </a:tcPr>
                </a:tc>
              </a:tr>
              <a:tr h="548640">
                <a:tc>
                  <a:txBody>
                    <a:bodyPr wrap="square"/>
                    <a:lstStyle/>
                    <a:p>
                      <a:r>
                        <a:rPr sz="10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Pooling products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Where money sits when it is not moving. Halqa holds nothing, so savings route to a licensed manager with a trustee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Section 9</a:t>
                      </a:r>
                    </a:p>
                  </a:txBody>
                  <a:tcPr marL="45720" marR="109728" marT="27432" marB="27432" anchor="ctr">
                    <a:lnB w="9525" cap="flat" cmpd="sng" algn="ctr">
                      <a:solidFill>
                        <a:srgbClr val="DCE3D6"/>
                      </a:solidFill>
                    </a:lnB>
                    <a:solidFill>
                      <a:srgbClr val="FFFFFF"/>
                    </a:solidFill>
                  </a:tcPr>
                </a:tc>
              </a:tr>
              <a:tr h="548640">
                <a:tc>
                  <a:txBody>
                    <a:bodyPr wrap="square"/>
                    <a:lstStyle/>
                    <a:p>
                      <a:r>
                        <a:rPr sz="10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Prevention</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principle that recovery machinery is the wrong thing to build. The right thing is an arrangement in which nobody gains by defaulting</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Section 7</a:t>
                      </a:r>
                    </a:p>
                  </a:txBody>
                  <a:tcPr marL="45720" marR="109728" marT="27432" marB="27432" anchor="ctr">
                    <a:lnB w="9525" cap="flat" cmpd="sng" algn="ctr">
                      <a:solidFill>
                        <a:srgbClr val="DCE3D6"/>
                      </a:solidFill>
                    </a:lnB>
                    <a:solidFill>
                      <a:srgbClr val="FFFFFF"/>
                    </a:solidFill>
                  </a:tcPr>
                </a:tc>
              </a:tr>
              <a:tr h="548640">
                <a:tc>
                  <a:txBody>
                    <a:bodyPr wrap="square"/>
                    <a:lstStyle/>
                    <a:p>
                      <a:r>
                        <a:rPr sz="10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Recovery</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What happens when prevention fails, expressed as instruments which can be executed rather than as intentions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Section 8</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440680"/>
            <a:ext cx="10637215" cy="731520"/>
          </a:xfrm>
          <a:prstGeom prst="rect">
            <a:avLst/>
          </a:prstGeom>
          <a:noFill/>
        </p:spPr>
        <p:txBody>
          <a:bodyPr wrap="square" lIns="0" rIns="0" tIns="0" bIns="0">
            <a:spAutoFit/>
          </a:bodyPr>
          <a:lstStyle/>
          <a:p>
            <a:pPr algn="l">
              <a:lnSpc>
                <a:spcPct val="140000"/>
              </a:lnSpc>
            </a:pPr>
            <a:r>
              <a:rPr sz="1250" b="0" i="0">
                <a:solidFill>
                  <a:srgbClr val="6F7B68"/>
                </a:solidFill>
                <a:latin typeface="Segoe UI"/>
              </a:rPr>
              <a:t>Two instructions cut across all five. Consumers and savers are separated at the point of joining, because a member who takes the pot early to spend it and a member who waits in order to save carry opposite risks. Filtering is preferred over enforcement wherever both are available.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ONE  ONBOARDING</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Registration, ten steps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16</a:t>
            </a:r>
          </a:p>
        </p:txBody>
      </p:sp>
      <p:graphicFrame>
        <p:nvGraphicFramePr>
          <p:cNvPr id="7" name="Table 6"/>
          <p:cNvGraphicFramePr>
            <a:graphicFrameLocks noGrp="1"/>
          </p:cNvGraphicFramePr>
          <p:nvPr/>
        </p:nvGraphicFramePr>
        <p:xfrm>
          <a:off x="777240" y="1965960"/>
          <a:ext cx="10607040" cy="3675892"/>
        </p:xfrm>
        <a:graphic>
          <a:graphicData uri="http://schemas.openxmlformats.org/drawingml/2006/table">
            <a:tbl>
              <a:tblPr>
                <a:tableStyleId>{5C22544A-7EE6-4342-B048-85BDC9FD1C3A}</a:tableStyleId>
              </a:tblPr>
              <a:tblGrid>
                <a:gridCol w="365760"/>
                <a:gridCol w="1737360"/>
                <a:gridCol w="3566160"/>
                <a:gridCol w="4937760"/>
              </a:tblGrid>
              <a:tr h="334172">
                <a:tc>
                  <a:txBody>
                    <a:bodyPr wrap="square"/>
                    <a:lstStyle/>
                    <a:p>
                      <a:r>
                        <a:rPr sz="7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STEP</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IS CAPTURED</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WHY</a:t>
                      </a:r>
                    </a:p>
                  </a:txBody>
                  <a:tcPr marL="45720" marR="109728" marT="27432" marB="27432" anchor="ctr">
                    <a:lnB w="9525" cap="flat" cmpd="sng" algn="ctr">
                      <a:solidFill>
                        <a:srgbClr val="41801A"/>
                      </a:solidFill>
                    </a:lnB>
                    <a:solidFill>
                      <a:srgbClr val="FFFFFF"/>
                    </a:solidFill>
                  </a:tcPr>
                </a:tc>
              </a:tr>
              <a:tr h="334172">
                <a:tc>
                  <a:txBody>
                    <a:bodyPr wrap="square"/>
                    <a:lstStyle/>
                    <a:p>
                      <a:r>
                        <a:rPr sz="7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Mobile number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Number, then a six digit code sent to it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number is the identity on the platform and the channel for every reminder</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Code verification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time code confirmed against the number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Proves the number belongs to the member</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Name and username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Full name as on the identity card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Circles run on real names. It is how members know who they are trusting</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Location and work</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Home address, city, area, occupation, employer, job title, live GPS pin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Area and job are shown to members as a trust signal. The street address and identity number never are</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Email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Address for receipts and recovery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Records and account recovery</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Identity card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Thirteen digits, plus a camera capture of the card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Binds every obligation to a government identity</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7</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Collection account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Rail, account title, account number or IBAN, and the salary day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Auto collection is how every circle collects, so the account is linked before the account exists</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8</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Password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Minimum eight characters with letters and numbers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Account credential</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9</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Application PIN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Four to six digits, confirmed twice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second lock on every open, separate from the password</a:t>
                      </a:r>
                    </a:p>
                  </a:txBody>
                  <a:tcPr marL="45720" marR="109728" marT="27432" marB="27432" anchor="ctr">
                    <a:lnB w="9525" cap="flat" cmpd="sng" algn="ctr">
                      <a:solidFill>
                        <a:srgbClr val="DCE3D6"/>
                      </a:solidFill>
                    </a:lnB>
                    <a:solidFill>
                      <a:srgbClr val="FFFFFF"/>
                    </a:solidFill>
                  </a:tcPr>
                </a:tc>
              </a:tr>
              <a:tr h="334172">
                <a:tc>
                  <a:txBody>
                    <a:bodyPr wrap="square"/>
                    <a:lstStyle/>
                    <a:p>
                      <a:r>
                        <a:rPr sz="700" b="0">
                          <a:solidFill>
                            <a:srgbClr val="26301F"/>
                          </a:solidFill>
                          <a:latin typeface="Segoe UI"/>
                        </a:rPr>
                        <a:t>10</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Review and sign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Every field shown back, then the agreement accepted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Consent is recorded against a version and a timestamp</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ONE  IDENTITY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Identity verification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17</a:t>
            </a:r>
          </a:p>
        </p:txBody>
      </p:sp>
      <p:graphicFrame>
        <p:nvGraphicFramePr>
          <p:cNvPr id="7" name="Table 6"/>
          <p:cNvGraphicFramePr>
            <a:graphicFrameLocks noGrp="1"/>
          </p:cNvGraphicFramePr>
          <p:nvPr/>
        </p:nvGraphicFramePr>
        <p:xfrm>
          <a:off x="777240" y="1965960"/>
          <a:ext cx="10607040" cy="3508813"/>
        </p:xfrm>
        <a:graphic>
          <a:graphicData uri="http://schemas.openxmlformats.org/drawingml/2006/table">
            <a:tbl>
              <a:tblPr>
                <a:tableStyleId>{5C22544A-7EE6-4342-B048-85BDC9FD1C3A}</a:tableStyleId>
              </a:tblPr>
              <a:tblGrid>
                <a:gridCol w="2011680"/>
                <a:gridCol w="3657600"/>
                <a:gridCol w="3291840"/>
                <a:gridCol w="1645920"/>
              </a:tblGrid>
              <a:tr h="501259">
                <a:tc>
                  <a:txBody>
                    <a:bodyPr wrap="square"/>
                    <a:lstStyle/>
                    <a:p>
                      <a:r>
                        <a:rPr sz="750" b="1">
                          <a:solidFill>
                            <a:srgbClr val="41801A"/>
                          </a:solidFill>
                          <a:latin typeface="Segoe UI"/>
                        </a:rPr>
                        <a:t>LAYER</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MECHANISM</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IT ESTABLISHES</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STATUS</a:t>
                      </a:r>
                    </a:p>
                  </a:txBody>
                  <a:tcPr marL="45720" marR="109728" marT="27432" marB="27432" anchor="ctr">
                    <a:lnB w="9525" cap="flat" cmpd="sng" algn="ctr">
                      <a:solidFill>
                        <a:srgbClr val="41801A"/>
                      </a:solidFill>
                    </a:lnB>
                    <a:solidFill>
                      <a:srgbClr val="FFFFFF"/>
                    </a:solidFill>
                  </a:tcPr>
                </a:tc>
              </a:tr>
              <a:tr h="501259">
                <a:tc>
                  <a:txBody>
                    <a:bodyPr wrap="square"/>
                    <a:lstStyle/>
                    <a:p>
                      <a:r>
                        <a:rPr sz="750" b="0">
                          <a:solidFill>
                            <a:srgbClr val="26301F"/>
                          </a:solidFill>
                          <a:latin typeface="Segoe UI"/>
                        </a:rPr>
                        <a:t>Mobile number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Six digit code delivered over the WhatsApp rail, with SMS fallback</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number is controlled by the applicant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Built</a:t>
                      </a:r>
                    </a:p>
                  </a:txBody>
                  <a:tcPr marL="45720" marR="109728" marT="27432" marB="27432" anchor="ctr">
                    <a:lnB w="9525" cap="flat" cmpd="sng" algn="ctr">
                      <a:solidFill>
                        <a:srgbClr val="DCE3D6"/>
                      </a:solidFill>
                    </a:lnB>
                    <a:solidFill>
                      <a:srgbClr val="FFFFFF"/>
                    </a:solidFill>
                  </a:tcPr>
                </a:tc>
              </a:tr>
              <a:tr h="501259">
                <a:tc>
                  <a:txBody>
                    <a:bodyPr wrap="square"/>
                    <a:lstStyle/>
                    <a:p>
                      <a:r>
                        <a:rPr sz="750" b="0">
                          <a:solidFill>
                            <a:srgbClr val="26301F"/>
                          </a:solidFill>
                          <a:latin typeface="Segoe UI"/>
                        </a:rPr>
                        <a:t>Identity card capture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card is photographed on the device at signup and the number recorded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document exists and matches the number given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Built</a:t>
                      </a:r>
                    </a:p>
                  </a:txBody>
                  <a:tcPr marL="45720" marR="109728" marT="27432" marB="27432" anchor="ctr">
                    <a:lnB w="9525" cap="flat" cmpd="sng" algn="ctr">
                      <a:solidFill>
                        <a:srgbClr val="DCE3D6"/>
                      </a:solidFill>
                    </a:lnB>
                    <a:solidFill>
                      <a:srgbClr val="FFFFFF"/>
                    </a:solidFill>
                  </a:tcPr>
                </a:tc>
              </a:tr>
              <a:tr h="501259">
                <a:tc>
                  <a:txBody>
                    <a:bodyPr wrap="square"/>
                    <a:lstStyle/>
                    <a:p>
                      <a:r>
                        <a:rPr sz="750" b="0">
                          <a:solidFill>
                            <a:srgbClr val="26301F"/>
                          </a:solidFill>
                          <a:latin typeface="Segoe UI"/>
                        </a:rPr>
                        <a:t>Account title check</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At instrument linking the aggregator returns the registered account holder name, which must match the identity card name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collection account belongs to the member and not to a third party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Built</a:t>
                      </a:r>
                    </a:p>
                  </a:txBody>
                  <a:tcPr marL="45720" marR="109728" marT="27432" marB="27432" anchor="ctr">
                    <a:lnB w="9525" cap="flat" cmpd="sng" algn="ctr">
                      <a:solidFill>
                        <a:srgbClr val="DCE3D6"/>
                      </a:solidFill>
                    </a:lnB>
                    <a:solidFill>
                      <a:srgbClr val="FFFFFF"/>
                    </a:solidFill>
                  </a:tcPr>
                </a:tc>
              </a:tr>
              <a:tr h="501259">
                <a:tc>
                  <a:txBody>
                    <a:bodyPr wrap="square"/>
                    <a:lstStyle/>
                    <a:p>
                      <a:r>
                        <a:rPr sz="750" b="0">
                          <a:solidFill>
                            <a:srgbClr val="26301F"/>
                          </a:solidFill>
                          <a:latin typeface="Segoe UI"/>
                        </a:rPr>
                        <a:t>NADRA Verisys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Identity number checked against the national database through a signed institutional agreement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identity number is real and belongs to that name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Procurable, deferred past launch on cost</a:t>
                      </a:r>
                    </a:p>
                  </a:txBody>
                  <a:tcPr marL="45720" marR="109728" marT="27432" marB="27432" anchor="ctr">
                    <a:lnB w="9525" cap="flat" cmpd="sng" algn="ctr">
                      <a:solidFill>
                        <a:srgbClr val="DCE3D6"/>
                      </a:solidFill>
                    </a:lnB>
                    <a:solidFill>
                      <a:srgbClr val="FFFFFF"/>
                    </a:solidFill>
                  </a:tcPr>
                </a:tc>
              </a:tr>
              <a:tr h="501259">
                <a:tc>
                  <a:txBody>
                    <a:bodyPr wrap="square"/>
                    <a:lstStyle/>
                    <a:p>
                      <a:r>
                        <a:rPr sz="750" b="0">
                          <a:solidFill>
                            <a:srgbClr val="26301F"/>
                          </a:solidFill>
                          <a:latin typeface="Segoe UI"/>
                        </a:rPr>
                        <a:t>NADRA biometric and facial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Multi biometric verification through the Nishan Pakistan portal, exposed to onboarded institutions since 2025</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living person is the holder of the card. The only check which defeats a borrowed or purchased identity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Paperwork is the long pole, started in parallel</a:t>
                      </a:r>
                    </a:p>
                  </a:txBody>
                  <a:tcPr marL="45720" marR="109728" marT="27432" marB="27432" anchor="ctr">
                    <a:lnB w="9525" cap="flat" cmpd="sng" algn="ctr">
                      <a:solidFill>
                        <a:srgbClr val="DCE3D6"/>
                      </a:solidFill>
                    </a:lnB>
                    <a:solidFill>
                      <a:srgbClr val="FFFFFF"/>
                    </a:solidFill>
                  </a:tcPr>
                </a:tc>
              </a:tr>
              <a:tr h="501259">
                <a:tc>
                  <a:txBody>
                    <a:bodyPr wrap="square"/>
                    <a:lstStyle/>
                    <a:p>
                      <a:r>
                        <a:rPr sz="750" b="0">
                          <a:solidFill>
                            <a:srgbClr val="26301F"/>
                          </a:solidFill>
                          <a:latin typeface="Segoe UI"/>
                        </a:rPr>
                        <a:t>Income verification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Salary slip, or a payday pattern established from the platform's own collection record over two months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Capacity to carry the contribution. The second route needs no document and costs nothing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Built</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57653"/>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The verification result and the reference are stored. Raw biometric templates and facial images are never stored.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ONE  IDENTITY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Facial verification triggers and cost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18</a:t>
            </a:r>
          </a:p>
        </p:txBody>
      </p:sp>
      <p:sp>
        <p:nvSpPr>
          <p:cNvPr id="7" name="TextBox 6"/>
          <p:cNvSpPr txBox="1"/>
          <p:nvPr/>
        </p:nvSpPr>
        <p:spPr>
          <a:xfrm>
            <a:off x="777240" y="1965960"/>
            <a:ext cx="10607040" cy="64008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A facial check on every action would consume money and abandon members at the same time. A NADRA facial certificate has been reported at Rs 20, and one wallet operator charges its users Rs 99 for a check which fails. The check is therefore fired only where it buys something.</a:t>
            </a:r>
          </a:p>
        </p:txBody>
      </p:sp>
      <p:graphicFrame>
        <p:nvGraphicFramePr>
          <p:cNvPr id="8" name="Table 7"/>
          <p:cNvGraphicFramePr>
            <a:graphicFrameLocks noGrp="1"/>
          </p:cNvGraphicFramePr>
          <p:nvPr/>
        </p:nvGraphicFramePr>
        <p:xfrm>
          <a:off x="777240" y="2926080"/>
          <a:ext cx="6583680" cy="2688336"/>
        </p:xfrm>
        <a:graphic>
          <a:graphicData uri="http://schemas.openxmlformats.org/drawingml/2006/table">
            <a:tbl>
              <a:tblPr>
                <a:tableStyleId>{5C22544A-7EE6-4342-B048-85BDC9FD1C3A}</a:tableStyleId>
              </a:tblPr>
              <a:tblGrid>
                <a:gridCol w="3840480"/>
                <a:gridCol w="2743200"/>
              </a:tblGrid>
              <a:tr h="384048">
                <a:tc>
                  <a:txBody>
                    <a:bodyPr wrap="square"/>
                    <a:lstStyle/>
                    <a:p>
                      <a:r>
                        <a:rPr sz="900" b="1">
                          <a:solidFill>
                            <a:srgbClr val="41801A"/>
                          </a:solidFill>
                          <a:latin typeface="Segoe UI"/>
                        </a:rPr>
                        <a:t>TRIGGER</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WHY IT MATTERS</a:t>
                      </a:r>
                    </a:p>
                  </a:txBody>
                  <a:tcPr marL="45720" marR="109728" marT="27432" marB="27432" anchor="ctr">
                    <a:lnB w="9525" cap="flat" cmpd="sng" algn="ctr">
                      <a:solidFill>
                        <a:srgbClr val="41801A"/>
                      </a:solidFill>
                    </a:lnB>
                    <a:solidFill>
                      <a:srgbClr val="FFFFFF"/>
                    </a:solidFill>
                  </a:tcPr>
                </a:tc>
              </a:tr>
              <a:tr h="384048">
                <a:tc>
                  <a:txBody>
                    <a:bodyPr wrap="square"/>
                    <a:lstStyle/>
                    <a:p>
                      <a:r>
                        <a:rPr sz="1050" b="0">
                          <a:solidFill>
                            <a:srgbClr val="26301F"/>
                          </a:solidFill>
                          <a:latin typeface="Segoe UI"/>
                        </a:rPr>
                        <a:t>Onboarding</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Establishes the person once</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A new device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most common route for a stolen credential</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A contribution above the configured threshold</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Value at risk justifies the cost</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Claiming a seat in the first half of the order</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These seats carry the exposure</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Any exit or hardship request</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An impersonated exit is the cheapest attack on the restitution engine</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Return after ninety days dormant</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account may have changed hands</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818120" y="2926080"/>
            <a:ext cx="3566160" cy="256032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The application PIN sits underneath all of it. It is required on every open of the application, on every join commitment, on every exit request and on every payout release, and it is separate from the account password.</a:t>
            </a:r>
          </a:p>
          <a:p>
            <a:pPr algn="l">
              <a:lnSpc>
                <a:spcPct val="145000"/>
              </a:lnSpc>
              <a:spcBef>
                <a:spcPts val="800"/>
              </a:spcBef>
            </a:pPr>
            <a:r>
              <a:rPr sz="1150" b="0" i="0">
                <a:solidFill>
                  <a:srgbClr val="26301F"/>
                </a:solidFill>
                <a:latin typeface="Segoe UI"/>
              </a:rPr>
              <a:t/>
            </a:r>
          </a:p>
          <a:p>
            <a:pPr algn="l">
              <a:lnSpc>
                <a:spcPct val="145000"/>
              </a:lnSpc>
              <a:spcBef>
                <a:spcPts val="800"/>
              </a:spcBef>
            </a:pPr>
            <a:r>
              <a:rPr sz="1150" b="0" i="0">
                <a:solidFill>
                  <a:srgbClr val="26301F"/>
                </a:solidFill>
                <a:latin typeface="Segoe UI"/>
              </a:rPr>
              <a:t>Where the handset supports it, the device biometric is layered on the PIN. It never leaves the device and is neither transmitted nor stored.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ONE  ONBOARDING</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Affordability and what the member is shown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19</a:t>
            </a:r>
          </a:p>
        </p:txBody>
      </p:sp>
      <p:graphicFrame>
        <p:nvGraphicFramePr>
          <p:cNvPr id="7" name="Table 6"/>
          <p:cNvGraphicFramePr>
            <a:graphicFrameLocks noGrp="1"/>
          </p:cNvGraphicFramePr>
          <p:nvPr/>
        </p:nvGraphicFramePr>
        <p:xfrm>
          <a:off x="777240" y="1965960"/>
          <a:ext cx="6035040" cy="2779776"/>
        </p:xfrm>
        <a:graphic>
          <a:graphicData uri="http://schemas.openxmlformats.org/drawingml/2006/table">
            <a:tbl>
              <a:tblPr>
                <a:tableStyleId>{5C22544A-7EE6-4342-B048-85BDC9FD1C3A}</a:tableStyleId>
              </a:tblPr>
              <a:tblGrid>
                <a:gridCol w="4480560"/>
                <a:gridCol w="1554480"/>
              </a:tblGrid>
              <a:tr h="347472">
                <a:tc>
                  <a:txBody>
                    <a:bodyPr wrap="square"/>
                    <a:lstStyle/>
                    <a:p>
                      <a:r>
                        <a:rPr sz="900" b="1">
                          <a:solidFill>
                            <a:srgbClr val="41801A"/>
                          </a:solidFill>
                          <a:latin typeface="Segoe UI"/>
                        </a:rPr>
                        <a:t>CAP</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LIMIT</a:t>
                      </a:r>
                    </a:p>
                  </a:txBody>
                  <a:tcPr marL="45720" marR="109728" marT="27432" marB="27432" anchor="ctr">
                    <a:lnB w="9525" cap="flat" cmpd="sng" algn="ctr">
                      <a:solidFill>
                        <a:srgbClr val="41801A"/>
                      </a:solidFill>
                    </a:lnB>
                    <a:solidFill>
                      <a:srgbClr val="FFFFFF"/>
                    </a:solidFill>
                  </a:tcPr>
                </a:tc>
              </a:tr>
              <a:tr h="347472">
                <a:tc>
                  <a:txBody>
                    <a:bodyPr wrap="square"/>
                    <a:lstStyle/>
                    <a:p>
                      <a:r>
                        <a:rPr sz="1050" b="0">
                          <a:solidFill>
                            <a:srgbClr val="26301F"/>
                          </a:solidFill>
                          <a:latin typeface="Segoe UI"/>
                        </a:rPr>
                        <a:t>Total contributions as a share of net monthly income</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33%</a:t>
                      </a:r>
                    </a:p>
                  </a:txBody>
                  <a:tcPr marL="45720" marR="109728" marT="27432" marB="27432" anchor="ctr">
                    <a:lnB w="9525" cap="flat" cmpd="sng" algn="ctr">
                      <a:solidFill>
                        <a:srgbClr val="DCE3D6"/>
                      </a:solidFill>
                    </a:lnB>
                    <a:solidFill>
                      <a:srgbClr val="FFFFFF"/>
                    </a:solidFill>
                  </a:tcPr>
                </a:tc>
              </a:tr>
              <a:tr h="347472">
                <a:tc>
                  <a:txBody>
                    <a:bodyPr wrap="square"/>
                    <a:lstStyle/>
                    <a:p>
                      <a:r>
                        <a:rPr sz="1050" b="0">
                          <a:solidFill>
                            <a:srgbClr val="26301F"/>
                          </a:solidFill>
                          <a:latin typeface="Segoe UI"/>
                        </a:rPr>
                        <a:t>Contributions plus known debt service</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40%</a:t>
                      </a:r>
                    </a:p>
                  </a:txBody>
                  <a:tcPr marL="45720" marR="109728" marT="27432" marB="27432" anchor="ctr">
                    <a:lnB w="9525" cap="flat" cmpd="sng" algn="ctr">
                      <a:solidFill>
                        <a:srgbClr val="DCE3D6"/>
                      </a:solidFill>
                    </a:lnB>
                    <a:solidFill>
                      <a:srgbClr val="FFFFFF"/>
                    </a:solidFill>
                  </a:tcPr>
                </a:tc>
              </a:tr>
              <a:tr h="347472">
                <a:tc>
                  <a:txBody>
                    <a:bodyPr wrap="square"/>
                    <a:lstStyle/>
                    <a:p>
                      <a:r>
                        <a:rPr sz="1050" b="0">
                          <a:solidFill>
                            <a:srgbClr val="26301F"/>
                          </a:solidFill>
                          <a:latin typeface="Segoe UI"/>
                        </a:rPr>
                        <a:t>Total forward exposure, every seat early</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4x monthly income</a:t>
                      </a:r>
                    </a:p>
                  </a:txBody>
                  <a:tcPr marL="45720" marR="109728" marT="27432" marB="27432" anchor="ctr">
                    <a:lnB w="9525" cap="flat" cmpd="sng" algn="ctr">
                      <a:solidFill>
                        <a:srgbClr val="DCE3D6"/>
                      </a:solidFill>
                    </a:lnB>
                    <a:solidFill>
                      <a:srgbClr val="FFFFFF"/>
                    </a:solidFill>
                  </a:tcPr>
                </a:tc>
              </a:tr>
              <a:tr h="347472">
                <a:tc>
                  <a:txBody>
                    <a:bodyPr wrap="square"/>
                    <a:lstStyle/>
                    <a:p>
                      <a:r>
                        <a:rPr sz="1050" b="0">
                          <a:solidFill>
                            <a:srgbClr val="26301F"/>
                          </a:solidFill>
                          <a:latin typeface="Segoe UI"/>
                        </a:rPr>
                        <a:t>Concurrent circles, income unverified</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r>
              <a:tr h="347472">
                <a:tc>
                  <a:txBody>
                    <a:bodyPr wrap="square"/>
                    <a:lstStyle/>
                    <a:p>
                      <a:r>
                        <a:rPr sz="1050" b="0">
                          <a:solidFill>
                            <a:srgbClr val="26301F"/>
                          </a:solidFill>
                          <a:latin typeface="Segoe UI"/>
                        </a:rPr>
                        <a:t>Concurrent circles, income verified</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r>
              <a:tr h="347472">
                <a:tc>
                  <a:txBody>
                    <a:bodyPr wrap="square"/>
                    <a:lstStyle/>
                    <a:p>
                      <a:r>
                        <a:rPr sz="1050" b="0">
                          <a:solidFill>
                            <a:srgbClr val="26301F"/>
                          </a:solidFill>
                          <a:latin typeface="Segoe UI"/>
                        </a:rPr>
                        <a:t>Concurrent circles, host with no completed circle</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r>
              <a:tr h="347472">
                <a:tc>
                  <a:txBody>
                    <a:bodyPr wrap="square"/>
                    <a:lstStyle/>
                    <a:p>
                      <a:r>
                        <a:rPr sz="1050" b="0">
                          <a:solidFill>
                            <a:srgbClr val="26301F"/>
                          </a:solidFill>
                          <a:latin typeface="Segoe UI"/>
                        </a:rPr>
                        <a:t>Concurrent circles, host after five clean completions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Manual review</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4928616"/>
            <a:ext cx="6035040"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The concurrency ceiling on hosts is also the control against one person assembling an artificial network of circles, which is the mechanism behind every large committee fraud.</a:t>
            </a:r>
          </a:p>
        </p:txBody>
      </p:sp>
      <p:sp>
        <p:nvSpPr>
          <p:cNvPr id="9" name="TextBox 8"/>
          <p:cNvSpPr txBox="1"/>
          <p:nvPr/>
        </p:nvSpPr>
        <p:spPr>
          <a:xfrm>
            <a:off x="7269480" y="1965960"/>
            <a:ext cx="4114800" cy="329184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The 40 per cent figure anchors to the State Bank's cap on the debt burden ratio for consumer financing, reduced from 50 per cent in 2021. Halqa sits stricter on contributions alone.</a:t>
            </a:r>
          </a:p>
          <a:p>
            <a:pPr algn="l">
              <a:lnSpc>
                <a:spcPct val="145000"/>
              </a:lnSpc>
              <a:spcBef>
                <a:spcPts val="800"/>
              </a:spcBef>
            </a:pPr>
            <a:r>
              <a:rPr sz="1150" b="0" i="0">
                <a:solidFill>
                  <a:srgbClr val="26301F"/>
                </a:solidFill>
                <a:latin typeface="Segoe UI"/>
              </a:rPr>
              <a:t/>
            </a:r>
          </a:p>
          <a:p>
            <a:pPr algn="l">
              <a:lnSpc>
                <a:spcPct val="145000"/>
              </a:lnSpc>
              <a:spcBef>
                <a:spcPts val="800"/>
              </a:spcBef>
            </a:pPr>
            <a:r>
              <a:rPr sz="1150" b="0" i="0">
                <a:solidFill>
                  <a:srgbClr val="26301F"/>
                </a:solidFill>
                <a:latin typeface="Segoe UI"/>
              </a:rPr>
              <a:t>The caps govern what the discovery screen displays rather than producing a refusal. A member is never shown a circle they cannot afford or a seat they cannot hold, so the system produces no rejections in ordinary use.</a:t>
            </a:r>
          </a:p>
          <a:p>
            <a:pPr algn="l">
              <a:lnSpc>
                <a:spcPct val="145000"/>
              </a:lnSpc>
              <a:spcBef>
                <a:spcPts val="800"/>
              </a:spcBef>
            </a:pPr>
            <a:r>
              <a:rPr sz="1150" b="0" i="0">
                <a:solidFill>
                  <a:srgbClr val="26301F"/>
                </a:solidFill>
                <a:latin typeface="Segoe UI"/>
              </a:rPr>
              <a:t/>
            </a:r>
          </a:p>
          <a:p>
            <a:pPr algn="l">
              <a:lnSpc>
                <a:spcPct val="145000"/>
              </a:lnSpc>
              <a:spcBef>
                <a:spcPts val="800"/>
              </a:spcBef>
            </a:pPr>
            <a:r>
              <a:rPr sz="1150" b="0" i="0">
                <a:solidFill>
                  <a:srgbClr val="26301F"/>
                </a:solidFill>
                <a:latin typeface="Segoe UI"/>
              </a:rPr>
              <a:t>Good payment history unlocks seats, additional circles and reduced friction. It never raises the money cap. Only new evidence of income does that, because escalating limits are what produce liquidity defaults.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TWO  COLLECTION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How one contribution moves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20</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Every rupee that moves through Halqa follows the same eleven steps. Nothing in this sequence passes through an account Halqa controls.</a:t>
            </a:r>
          </a:p>
        </p:txBody>
      </p:sp>
      <p:graphicFrame>
        <p:nvGraphicFramePr>
          <p:cNvPr id="8" name="Table 7"/>
          <p:cNvGraphicFramePr>
            <a:graphicFrameLocks noGrp="1"/>
          </p:cNvGraphicFramePr>
          <p:nvPr/>
        </p:nvGraphicFramePr>
        <p:xfrm>
          <a:off x="777240" y="2651760"/>
          <a:ext cx="10607040" cy="3098688"/>
        </p:xfrm>
        <a:graphic>
          <a:graphicData uri="http://schemas.openxmlformats.org/drawingml/2006/table">
            <a:tbl>
              <a:tblPr>
                <a:tableStyleId>{5C22544A-7EE6-4342-B048-85BDC9FD1C3A}</a:tableStyleId>
              </a:tblPr>
              <a:tblGrid>
                <a:gridCol w="365760"/>
                <a:gridCol w="1737360"/>
                <a:gridCol w="6766560"/>
                <a:gridCol w="1737360"/>
              </a:tblGrid>
              <a:tr h="258224">
                <a:tc>
                  <a:txBody>
                    <a:bodyPr wrap="square"/>
                    <a:lstStyle/>
                    <a:p>
                      <a:r>
                        <a:rPr sz="7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STEP</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HAPPENS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STATE AFTER</a:t>
                      </a:r>
                    </a:p>
                  </a:txBody>
                  <a:tcPr marL="45720" marR="109728" marT="27432" marB="27432" anchor="ctr">
                    <a:lnB w="9525" cap="flat" cmpd="sng" algn="ctr">
                      <a:solidFill>
                        <a:srgbClr val="41801A"/>
                      </a:solidFill>
                    </a:lnB>
                    <a:solidFill>
                      <a:srgbClr val="FFFFFF"/>
                    </a:solidFill>
                  </a:tcPr>
                </a:tc>
              </a:tr>
              <a:tr h="258224">
                <a:tc>
                  <a:txBody>
                    <a:bodyPr wrap="square"/>
                    <a:lstStyle/>
                    <a:p>
                      <a:r>
                        <a:rPr sz="7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Schedule written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When the circle starts, one installment row is created for every member for every round, each with a due date and a pre minted idempotency key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Scheduled</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Balance notice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evening before payday, a push and a WhatsApp message tell the member what will be taken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Scheduled</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Instruction sent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 the payday morning the mandate fires. The request carries the idempotency key and the member's stored rail reference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Pending</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Aggregator routes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licensed aggregator presents the debit to Raast, the wallet or the bank. Halqa never touches the rail directly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Pending</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Rail settles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Money moves from the member's account to the receiving member's account. It does not stop anywhere in between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Authorised</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Callback received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aggregator returns success or failure against the same key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Authorised or failed</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7</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Settlement written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database transaction writes the debit entry, the credit entry, the receipt row and the message queue row together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Settled</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8</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Receipt issued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member receives a reference over WhatsApp and in the application. The circle sees the round advance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Settled</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9</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Round checked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payout gate tests whether every contribution in the round has settled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Round complete</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10</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Payout released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 the 10th at 09:00 the pot is released to the member whose turn it is, in one instruction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Paid</a:t>
                      </a:r>
                    </a:p>
                  </a:txBody>
                  <a:tcPr marL="45720" marR="109728" marT="27432" marB="27432" anchor="ctr">
                    <a:lnB w="9525" cap="flat" cmpd="sng" algn="ctr">
                      <a:solidFill>
                        <a:srgbClr val="DCE3D6"/>
                      </a:solidFill>
                    </a:lnB>
                    <a:solidFill>
                      <a:srgbClr val="FFFFFF"/>
                    </a:solidFill>
                  </a:tcPr>
                </a:tc>
              </a:tr>
              <a:tr h="258224">
                <a:tc>
                  <a:txBody>
                    <a:bodyPr wrap="square"/>
                    <a:lstStyle/>
                    <a:p>
                      <a:r>
                        <a:rPr sz="700" b="0">
                          <a:solidFill>
                            <a:srgbClr val="26301F"/>
                          </a:solidFill>
                          <a:latin typeface="Segoe UI"/>
                        </a:rPr>
                        <a:t>11</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Record furnished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settlement is queued for the credit bureau in the nightly batch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Reported</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TWO  COLLECTION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Why a payment cannot happen twice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21</a:t>
            </a:r>
          </a:p>
        </p:txBody>
      </p:sp>
      <p:sp>
        <p:nvSpPr>
          <p:cNvPr id="7" name="TextBox 6"/>
          <p:cNvSpPr txBox="1"/>
          <p:nvPr/>
        </p:nvSpPr>
        <p:spPr>
          <a:xfrm>
            <a:off x="777240" y="1965960"/>
            <a:ext cx="5852160" cy="1554480"/>
          </a:xfrm>
          <a:prstGeom prst="rect">
            <a:avLst/>
          </a:prstGeom>
          <a:noFill/>
        </p:spPr>
        <p:txBody>
          <a:bodyPr wrap="square" lIns="0" rIns="0" tIns="0" bIns="0">
            <a:spAutoFit/>
          </a:bodyPr>
          <a:lstStyle/>
          <a:p>
            <a:pPr algn="l">
              <a:lnSpc>
                <a:spcPct val="145000"/>
              </a:lnSpc>
            </a:pPr>
            <a:r>
              <a:rPr sz="1250" b="0" i="0">
                <a:solidFill>
                  <a:srgbClr val="26301F"/>
                </a:solidFill>
                <a:latin typeface="Segoe UI"/>
              </a:rPr>
              <a:t>A member on a weak signal taps pay, sees nothing happen, and taps again. The phone may have sent both requests. On most systems that is two debits and an apology.</a:t>
            </a:r>
          </a:p>
          <a:p>
            <a:pPr algn="l">
              <a:lnSpc>
                <a:spcPct val="145000"/>
              </a:lnSpc>
              <a:spcBef>
                <a:spcPts val="800"/>
              </a:spcBef>
            </a:pPr>
            <a:r>
              <a:rPr sz="1250" b="0" i="0">
                <a:solidFill>
                  <a:srgbClr val="26301F"/>
                </a:solidFill>
                <a:latin typeface="Segoe UI"/>
              </a:rPr>
              <a:t/>
            </a:r>
          </a:p>
          <a:p>
            <a:pPr algn="l">
              <a:lnSpc>
                <a:spcPct val="145000"/>
              </a:lnSpc>
              <a:spcBef>
                <a:spcPts val="800"/>
              </a:spcBef>
            </a:pPr>
            <a:r>
              <a:rPr sz="1250" b="0" i="0">
                <a:solidFill>
                  <a:srgbClr val="26301F"/>
                </a:solidFill>
                <a:latin typeface="Segoe UI"/>
              </a:rPr>
              <a:t>Every write carries an idempotency key: one value naming the exact thing being attempted, stored with the record when it succeeds.</a:t>
            </a:r>
          </a:p>
        </p:txBody>
      </p:sp>
      <p:sp>
        <p:nvSpPr>
          <p:cNvPr id="8" name="Rectangle 7"/>
          <p:cNvSpPr/>
          <p:nvPr/>
        </p:nvSpPr>
        <p:spPr>
          <a:xfrm>
            <a:off x="777240" y="3931920"/>
            <a:ext cx="585216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93192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4050792"/>
            <a:ext cx="5486400" cy="274320"/>
          </a:xfrm>
          <a:prstGeom prst="rect">
            <a:avLst/>
          </a:prstGeom>
          <a:noFill/>
        </p:spPr>
        <p:txBody>
          <a:bodyPr wrap="square" lIns="0" rIns="0" tIns="0" bIns="0">
            <a:spAutoFit/>
          </a:bodyPr>
          <a:lstStyle/>
          <a:p>
            <a:pPr algn="l">
              <a:lnSpc>
                <a:spcPct val="125000"/>
              </a:lnSpc>
            </a:pPr>
            <a:r>
              <a:rPr sz="1500" b="1" i="0">
                <a:solidFill>
                  <a:srgbClr val="22450C"/>
                </a:solidFill>
                <a:latin typeface="Segoe UI"/>
              </a:rPr>
              <a:t>key = member + circle + round + attempt purpose</a:t>
            </a:r>
          </a:p>
        </p:txBody>
      </p:sp>
      <p:graphicFrame>
        <p:nvGraphicFramePr>
          <p:cNvPr id="11" name="Table 10"/>
          <p:cNvGraphicFramePr>
            <a:graphicFrameLocks noGrp="1"/>
          </p:cNvGraphicFramePr>
          <p:nvPr/>
        </p:nvGraphicFramePr>
        <p:xfrm>
          <a:off x="7086600" y="1965960"/>
          <a:ext cx="4297680" cy="2743200"/>
        </p:xfrm>
        <a:graphic>
          <a:graphicData uri="http://schemas.openxmlformats.org/drawingml/2006/table">
            <a:tbl>
              <a:tblPr>
                <a:tableStyleId>{5C22544A-7EE6-4342-B048-85BDC9FD1C3A}</a:tableStyleId>
              </a:tblPr>
              <a:tblGrid>
                <a:gridCol w="1280160"/>
                <a:gridCol w="1280160"/>
                <a:gridCol w="1737360"/>
              </a:tblGrid>
              <a:tr h="548640">
                <a:tc>
                  <a:txBody>
                    <a:bodyPr wrap="square"/>
                    <a:lstStyle/>
                    <a:p>
                      <a:r>
                        <a:rPr sz="900" b="1">
                          <a:solidFill>
                            <a:srgbClr val="41801A"/>
                          </a:solidFill>
                          <a:latin typeface="Segoe UI"/>
                        </a:rPr>
                        <a:t>ATTEMPT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KEY ALREADY STORED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THE SYSTEM DOES</a:t>
                      </a:r>
                    </a:p>
                  </a:txBody>
                  <a:tcPr marL="45720" marR="109728" marT="27432" marB="27432" anchor="ctr">
                    <a:lnB w="9525" cap="flat" cmpd="sng" algn="ctr">
                      <a:solidFill>
                        <a:srgbClr val="41801A"/>
                      </a:solidFill>
                    </a:lnB>
                    <a:solidFill>
                      <a:srgbClr val="FFFFFF"/>
                    </a:solidFill>
                  </a:tcPr>
                </a:tc>
              </a:tr>
              <a:tr h="548640">
                <a:tc>
                  <a:txBody>
                    <a:bodyPr wrap="square"/>
                    <a:lstStyle/>
                    <a:p>
                      <a:r>
                        <a:rPr sz="900" b="0">
                          <a:solidFill>
                            <a:srgbClr val="26301F"/>
                          </a:solidFill>
                          <a:latin typeface="Segoe UI"/>
                        </a:rPr>
                        <a:t>First tap</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Charges once, writes the settlement, stores the key</a:t>
                      </a:r>
                    </a:p>
                  </a:txBody>
                  <a:tcPr marL="45720" marR="109728" marT="27432" marB="27432" anchor="ctr">
                    <a:lnB w="9525" cap="flat" cmpd="sng" algn="ctr">
                      <a:solidFill>
                        <a:srgbClr val="DCE3D6"/>
                      </a:solidFill>
                    </a:lnB>
                    <a:solidFill>
                      <a:srgbClr val="FFFFFF"/>
                    </a:solidFill>
                  </a:tcPr>
                </a:tc>
              </a:tr>
              <a:tr h="548640">
                <a:tc>
                  <a:txBody>
                    <a:bodyPr wrap="square"/>
                    <a:lstStyle/>
                    <a:p>
                      <a:r>
                        <a:rPr sz="900" b="0">
                          <a:solidFill>
                            <a:srgbClr val="26301F"/>
                          </a:solidFill>
                          <a:latin typeface="Segoe UI"/>
                        </a:rPr>
                        <a:t>Second tap, same key</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Yes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Returns the first receipt. No money moves</a:t>
                      </a:r>
                    </a:p>
                  </a:txBody>
                  <a:tcPr marL="45720" marR="109728" marT="27432" marB="27432" anchor="ctr">
                    <a:lnB w="9525" cap="flat" cmpd="sng" algn="ctr">
                      <a:solidFill>
                        <a:srgbClr val="DCE3D6"/>
                      </a:solidFill>
                    </a:lnB>
                    <a:solidFill>
                      <a:srgbClr val="FFFFFF"/>
                    </a:solidFill>
                  </a:tcPr>
                </a:tc>
              </a:tr>
              <a:tr h="548640">
                <a:tc>
                  <a:txBody>
                    <a:bodyPr wrap="square"/>
                    <a:lstStyle/>
                    <a:p>
                      <a:r>
                        <a:rPr sz="900" b="0">
                          <a:solidFill>
                            <a:srgbClr val="26301F"/>
                          </a:solidFill>
                          <a:latin typeface="Segoe UI"/>
                        </a:rPr>
                        <a:t>Network retry</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Yes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Same. The retry is free</a:t>
                      </a:r>
                    </a:p>
                  </a:txBody>
                  <a:tcPr marL="45720" marR="109728" marT="27432" marB="27432" anchor="ctr">
                    <a:lnB w="9525" cap="flat" cmpd="sng" algn="ctr">
                      <a:solidFill>
                        <a:srgbClr val="DCE3D6"/>
                      </a:solidFill>
                    </a:lnB>
                    <a:solidFill>
                      <a:srgbClr val="FFFFFF"/>
                    </a:solidFill>
                  </a:tcPr>
                </a:tc>
              </a:tr>
              <a:tr h="548640">
                <a:tc>
                  <a:txBody>
                    <a:bodyPr wrap="square"/>
                    <a:lstStyle/>
                    <a:p>
                      <a:r>
                        <a:rPr sz="900" b="0">
                          <a:solidFill>
                            <a:srgbClr val="26301F"/>
                          </a:solidFill>
                          <a:latin typeface="Segoe UI"/>
                        </a:rPr>
                        <a:t>Genuine second payment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 new key</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Charges. The member meant it</a:t>
                      </a:r>
                    </a:p>
                  </a:txBody>
                  <a:tcPr marL="45720" marR="109728" marT="27432" marB="27432" anchor="ctr">
                    <a:lnB w="9525" cap="flat" cmpd="sng" algn="ctr">
                      <a:solidFill>
                        <a:srgbClr val="DCE3D6"/>
                      </a:solidFill>
                    </a:lnB>
                    <a:solidFill>
                      <a:srgbClr val="FFFFFF"/>
                    </a:solidFill>
                  </a:tcPr>
                </a:tc>
              </a:tr>
            </a:tbl>
          </a:graphicData>
        </a:graphic>
      </p:graphicFrame>
      <p:sp>
        <p:nvSpPr>
          <p:cNvPr id="12" name="TextBox 11"/>
          <p:cNvSpPr txBox="1"/>
          <p:nvPr/>
        </p:nvSpPr>
        <p:spPr>
          <a:xfrm>
            <a:off x="7086600" y="4892040"/>
            <a:ext cx="4297680" cy="11887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The same protection covers the payout side. A payout instruction carries the round's key, so a retried release cannot pay a member twice.</a:t>
            </a:r>
          </a:p>
        </p:txBody>
      </p:sp>
      <p:sp>
        <p:nvSpPr>
          <p:cNvPr id="13" name="TextBox 12"/>
          <p:cNvSpPr txBox="1"/>
          <p:nvPr/>
        </p:nvSpPr>
        <p:spPr>
          <a:xfrm>
            <a:off x="777240" y="4663440"/>
            <a:ext cx="5852160" cy="1280160"/>
          </a:xfrm>
          <a:prstGeom prst="rect">
            <a:avLst/>
          </a:prstGeom>
          <a:noFill/>
        </p:spPr>
        <p:txBody>
          <a:bodyPr wrap="square" lIns="0" rIns="0" tIns="0" bIns="0">
            <a:spAutoFit/>
          </a:bodyPr>
          <a:lstStyle/>
          <a:p>
            <a:pPr algn="l">
              <a:lnSpc>
                <a:spcPct val="145000"/>
              </a:lnSpc>
            </a:pPr>
            <a:r>
              <a:rPr sz="1200" b="0" i="0">
                <a:solidFill>
                  <a:srgbClr val="0C1408"/>
                </a:solidFill>
                <a:latin typeface="Segoe UI"/>
              </a:rPr>
              <a:t>This is not a refinement added later. Retries are the normal condition on Pakistani mobile networks and under serverless timeouts, so a payment system without it is not partly correct, it is wrong on its most common day.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TWO  COLLECTION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happens when it fails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22</a:t>
            </a:r>
          </a:p>
        </p:txBody>
      </p:sp>
      <p:graphicFrame>
        <p:nvGraphicFramePr>
          <p:cNvPr id="7" name="Table 6"/>
          <p:cNvGraphicFramePr>
            <a:graphicFrameLocks noGrp="1"/>
          </p:cNvGraphicFramePr>
          <p:nvPr/>
        </p:nvGraphicFramePr>
        <p:xfrm>
          <a:off x="777240" y="1965960"/>
          <a:ext cx="10607040" cy="3621024"/>
        </p:xfrm>
        <a:graphic>
          <a:graphicData uri="http://schemas.openxmlformats.org/drawingml/2006/table">
            <a:tbl>
              <a:tblPr>
                <a:tableStyleId>{5C22544A-7EE6-4342-B048-85BDC9FD1C3A}</a:tableStyleId>
              </a:tblPr>
              <a:tblGrid>
                <a:gridCol w="2011680"/>
                <a:gridCol w="2194560"/>
                <a:gridCol w="4206240"/>
                <a:gridCol w="2194560"/>
              </a:tblGrid>
              <a:tr h="603504">
                <a:tc>
                  <a:txBody>
                    <a:bodyPr wrap="square"/>
                    <a:lstStyle/>
                    <a:p>
                      <a:r>
                        <a:rPr sz="900" b="1">
                          <a:solidFill>
                            <a:srgbClr val="41801A"/>
                          </a:solidFill>
                          <a:latin typeface="Segoe UI"/>
                        </a:rPr>
                        <a:t>FAILURE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CAUSE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RESPONSE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MEMBER SEES</a:t>
                      </a:r>
                    </a:p>
                  </a:txBody>
                  <a:tcPr marL="45720" marR="109728" marT="27432" marB="27432" anchor="ctr">
                    <a:lnB w="9525" cap="flat" cmpd="sng" algn="ctr">
                      <a:solidFill>
                        <a:srgbClr val="41801A"/>
                      </a:solidFill>
                    </a:lnB>
                    <a:solidFill>
                      <a:srgbClr val="FFFFFF"/>
                    </a:solidFill>
                  </a:tcPr>
                </a:tc>
              </a:tr>
              <a:tr h="603504">
                <a:tc>
                  <a:txBody>
                    <a:bodyPr wrap="square"/>
                    <a:lstStyle/>
                    <a:p>
                      <a:r>
                        <a:rPr sz="950" b="0">
                          <a:solidFill>
                            <a:srgbClr val="26301F"/>
                          </a:solidFill>
                          <a:latin typeface="Segoe UI"/>
                        </a:rPr>
                        <a:t>Insufficient balance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Money not in the account yet</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Retry ladder runs to the due date. The installment stays open and untouched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 request to pay in one tap</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Mandate revoked at the bank</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Member cancelled it outside the app</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Instrument marked stale, member asked to relink, score untouched for 7 days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Relink prompt</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Aggregator timeout</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Rail congestion</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Reconciliation job queries by idempotency key before any retry, so a silent success is never double charged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Nothing</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Partial settlement</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Cannot occur</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Amounts are integer paisa and the pair must sum to zero, so a half written movement is rejected by the database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Nothing</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Payout gate blocked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Another member in the round is unpaid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cover facility advances the shortfall so the payout releases on time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Paid on time</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769864"/>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The design rule across all five: a failure never silently changes what the member owes. The installment either settles or stays exactly as it was.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TWO  COLLECTION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Rails and cost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23</a:t>
            </a:r>
          </a:p>
        </p:txBody>
      </p:sp>
      <p:graphicFrame>
        <p:nvGraphicFramePr>
          <p:cNvPr id="7" name="Table 6"/>
          <p:cNvGraphicFramePr>
            <a:graphicFrameLocks noGrp="1"/>
          </p:cNvGraphicFramePr>
          <p:nvPr/>
        </p:nvGraphicFramePr>
        <p:xfrm>
          <a:off x="777240" y="1965960"/>
          <a:ext cx="6309360" cy="2414016"/>
        </p:xfrm>
        <a:graphic>
          <a:graphicData uri="http://schemas.openxmlformats.org/drawingml/2006/table">
            <a:tbl>
              <a:tblPr>
                <a:tableStyleId>{5C22544A-7EE6-4342-B048-85BDC9FD1C3A}</a:tableStyleId>
              </a:tblPr>
              <a:tblGrid>
                <a:gridCol w="2286000"/>
                <a:gridCol w="1097280"/>
                <a:gridCol w="1188720"/>
                <a:gridCol w="1737360"/>
              </a:tblGrid>
              <a:tr h="402336">
                <a:tc>
                  <a:txBody>
                    <a:bodyPr wrap="square"/>
                    <a:lstStyle/>
                    <a:p>
                      <a:r>
                        <a:rPr sz="900" b="1">
                          <a:solidFill>
                            <a:srgbClr val="41801A"/>
                          </a:solidFill>
                          <a:latin typeface="Segoe UI"/>
                        </a:rPr>
                        <a:t>RAIL</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MEMBER PAYS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HALQA PAYS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POSITION</a:t>
                      </a:r>
                    </a:p>
                  </a:txBody>
                  <a:tcPr marL="45720" marR="109728" marT="27432" marB="27432" anchor="ctr">
                    <a:lnB w="9525" cap="flat" cmpd="sng" algn="ctr">
                      <a:solidFill>
                        <a:srgbClr val="41801A"/>
                      </a:solidFill>
                    </a:lnB>
                    <a:solidFill>
                      <a:srgbClr val="FFFFFF"/>
                    </a:solidFill>
                  </a:tcPr>
                </a:tc>
              </a:tr>
              <a:tr h="402336">
                <a:tc>
                  <a:txBody>
                    <a:bodyPr wrap="square"/>
                    <a:lstStyle/>
                    <a:p>
                      <a:r>
                        <a:rPr sz="950" b="0">
                          <a:solidFill>
                            <a:srgbClr val="26301F"/>
                          </a:solidFill>
                          <a:latin typeface="Segoe UI"/>
                        </a:rPr>
                        <a:t>Raast, the State Bank instant system</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About Rs 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Default rail for every circle type</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Wallet to wallet, same network</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Where both parties hold the same wallet</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Wallet debit under mandate</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Rs 300 to 600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Fallback below a Rs 10,000 contribution</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Card</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693</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Not offered on standard circles</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Cash through an agent</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Rs 0 to 50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Rs 20 to 60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Last resort. It destroys the digital record</a:t>
                      </a:r>
                    </a:p>
                  </a:txBody>
                  <a:tcPr marL="45720" marR="109728" marT="27432" marB="27432" anchor="ctr">
                    <a:lnB w="9525" cap="flat" cmpd="sng" algn="ctr">
                      <a:solidFill>
                        <a:srgbClr val="DCE3D6"/>
                      </a:solidFill>
                    </a:lnB>
                    <a:solidFill>
                      <a:srgbClr val="FFFFFF"/>
                    </a:solidFill>
                  </a:tcPr>
                </a:tc>
              </a:tr>
            </a:tbl>
          </a:graphicData>
        </a:graphic>
      </p:graphicFrame>
      <p:graphicFrame>
        <p:nvGraphicFramePr>
          <p:cNvPr id="8" name="Chart 7"/>
          <p:cNvGraphicFramePr>
            <a:graphicFrameLocks noGrp="1"/>
          </p:cNvGraphicFramePr>
          <p:nvPr/>
        </p:nvGraphicFramePr>
        <p:xfrm>
          <a:off x="7452360" y="1920240"/>
          <a:ext cx="3931920" cy="2651760"/>
        </p:xfrm>
        <a:graphic>
          <a:graphicData uri="http://schemas.openxmlformats.org/drawingml/2006/chart">
            <c:chart xmlns:c="http://schemas.openxmlformats.org/drawingml/2006/chart" r:id="rId2"/>
          </a:graphicData>
        </a:graphic>
      </p:graphicFrame>
      <p:sp>
        <p:nvSpPr>
          <p:cNvPr id="9" name="TextBox 8"/>
          <p:cNvSpPr txBox="1"/>
          <p:nvPr/>
        </p:nvSpPr>
        <p:spPr>
          <a:xfrm>
            <a:off x="7452360" y="4617720"/>
            <a:ext cx="3931920" cy="36576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Cost to Halqa of collecting one Rs 20,000 contribution.</a:t>
            </a:r>
          </a:p>
        </p:txBody>
      </p:sp>
      <p:sp>
        <p:nvSpPr>
          <p:cNvPr id="10" name="TextBox 9"/>
          <p:cNvSpPr txBox="1"/>
          <p:nvPr/>
        </p:nvSpPr>
        <p:spPr>
          <a:xfrm>
            <a:off x="777240" y="4892040"/>
            <a:ext cx="10607040" cy="1005840"/>
          </a:xfrm>
          <a:prstGeom prst="rect">
            <a:avLst/>
          </a:prstGeom>
          <a:noFill/>
        </p:spPr>
        <p:txBody>
          <a:bodyPr wrap="square" lIns="0" rIns="0" tIns="0" bIns="0">
            <a:spAutoFit/>
          </a:bodyPr>
          <a:lstStyle/>
          <a:p>
            <a:pPr algn="l">
              <a:lnSpc>
                <a:spcPct val="145000"/>
              </a:lnSpc>
            </a:pPr>
            <a:r>
              <a:rPr sz="1250" b="0" i="0">
                <a:solidFill>
                  <a:srgbClr val="26301F"/>
                </a:solidFill>
                <a:latin typeface="Segoe UI"/>
              </a:rPr>
              <a:t>Members pay nothing, so every rupee of transaction cost is unrecovered. One twelve member circle running a full cycle on card rails would incur 144 charges at Rs 693, being Rs 99,792 against no member revenue. Raast at approximately zero cost is the only arithmetic under which a product free to members survives, which is why the whole collection design is built on it.</a:t>
            </a:r>
          </a:p>
        </p:txBody>
      </p:sp>
      <p:sp>
        <p:nvSpPr>
          <p:cNvPr id="11" name="TextBox 10"/>
          <p:cNvSpPr txBox="1"/>
          <p:nvPr/>
        </p:nvSpPr>
        <p:spPr>
          <a:xfrm>
            <a:off x="777240" y="5943600"/>
            <a:ext cx="10607040" cy="365760"/>
          </a:xfrm>
          <a:prstGeom prst="rect">
            <a:avLst/>
          </a:prstGeom>
          <a:noFill/>
        </p:spPr>
        <p:txBody>
          <a:bodyPr wrap="square" lIns="0" rIns="0" tIns="0" bIns="0">
            <a:spAutoFit/>
          </a:bodyPr>
          <a:lstStyle/>
          <a:p>
            <a:pPr algn="l">
              <a:lnSpc>
                <a:spcPct val="125000"/>
              </a:lnSpc>
            </a:pPr>
            <a:r>
              <a:rPr sz="1150" b="0" i="0">
                <a:solidFill>
                  <a:srgbClr val="6F7B68"/>
                </a:solidFill>
                <a:latin typeface="Segoe UI"/>
              </a:rPr>
              <a:t>Halqa reaches Raast as a merchant of a licensed aggregator. That is a commercial contract and not a licence.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TWO  COLLECTION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Collection on payday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24</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The collection event is the member's payday, not the due date, because that is the moment in the month at which the account balance is at its maximum. The due date becomes the deadline for resolving failures.</a:t>
            </a:r>
          </a:p>
        </p:txBody>
      </p:sp>
      <p:graphicFrame>
        <p:nvGraphicFramePr>
          <p:cNvPr id="8" name="Table 7"/>
          <p:cNvGraphicFramePr>
            <a:graphicFrameLocks noGrp="1"/>
          </p:cNvGraphicFramePr>
          <p:nvPr/>
        </p:nvGraphicFramePr>
        <p:xfrm>
          <a:off x="777240" y="2788920"/>
          <a:ext cx="10607040" cy="2743200"/>
        </p:xfrm>
        <a:graphic>
          <a:graphicData uri="http://schemas.openxmlformats.org/drawingml/2006/table">
            <a:tbl>
              <a:tblPr>
                <a:tableStyleId>{5C22544A-7EE6-4342-B048-85BDC9FD1C3A}</a:tableStyleId>
              </a:tblPr>
              <a:tblGrid>
                <a:gridCol w="2103120"/>
                <a:gridCol w="8503920"/>
              </a:tblGrid>
              <a:tr h="457200">
                <a:tc>
                  <a:txBody>
                    <a:bodyPr wrap="square"/>
                    <a:lstStyle/>
                    <a:p>
                      <a:r>
                        <a:rPr sz="900" b="1">
                          <a:solidFill>
                            <a:srgbClr val="41801A"/>
                          </a:solidFill>
                          <a:latin typeface="Segoe UI"/>
                        </a:rPr>
                        <a:t>WHEN</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HAPPENS</a:t>
                      </a:r>
                    </a:p>
                  </a:txBody>
                  <a:tcPr marL="45720" marR="109728" marT="27432" marB="27432" anchor="ctr">
                    <a:lnB w="9525" cap="flat" cmpd="sng" algn="ctr">
                      <a:solidFill>
                        <a:srgbClr val="41801A"/>
                      </a:solidFill>
                    </a:lnB>
                    <a:solidFill>
                      <a:srgbClr val="FFFFFF"/>
                    </a:solidFill>
                  </a:tcPr>
                </a:tc>
              </a:tr>
              <a:tr h="457200">
                <a:tc>
                  <a:txBody>
                    <a:bodyPr wrap="square"/>
                    <a:lstStyle/>
                    <a:p>
                      <a:r>
                        <a:rPr sz="1100" b="0">
                          <a:solidFill>
                            <a:srgbClr val="26301F"/>
                          </a:solidFill>
                          <a:latin typeface="Segoe UI"/>
                        </a:rPr>
                        <a:t>Payday eve</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A balance check notice goes out by push and over the WhatsApp rail</a:t>
                      </a:r>
                    </a:p>
                  </a:txBody>
                  <a:tcPr marL="45720" marR="109728" marT="27432" marB="27432" anchor="ctr">
                    <a:lnB w="9525" cap="flat" cmpd="sng" algn="ctr">
                      <a:solidFill>
                        <a:srgbClr val="DCE3D6"/>
                      </a:solidFill>
                    </a:lnB>
                    <a:solidFill>
                      <a:srgbClr val="FFFFFF"/>
                    </a:solidFill>
                  </a:tcPr>
                </a:tc>
              </a:tr>
              <a:tr h="457200">
                <a:tc>
                  <a:txBody>
                    <a:bodyPr wrap="square"/>
                    <a:lstStyle/>
                    <a:p>
                      <a:r>
                        <a:rPr sz="1100" b="0">
                          <a:solidFill>
                            <a:srgbClr val="26301F"/>
                          </a:solidFill>
                          <a:latin typeface="Segoe UI"/>
                        </a:rPr>
                        <a:t>Payday morning</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The mandate executes, before the contribution is even due. Government salaries land on the first, and earlier before Eid. Private payrolls run the first to the seventh</a:t>
                      </a:r>
                    </a:p>
                  </a:txBody>
                  <a:tcPr marL="45720" marR="109728" marT="27432" marB="27432" anchor="ctr">
                    <a:lnB w="9525" cap="flat" cmpd="sng" algn="ctr">
                      <a:solidFill>
                        <a:srgbClr val="DCE3D6"/>
                      </a:solidFill>
                    </a:lnB>
                    <a:solidFill>
                      <a:srgbClr val="FFFFFF"/>
                    </a:solidFill>
                  </a:tcPr>
                </a:tc>
              </a:tr>
              <a:tr h="457200">
                <a:tc>
                  <a:txBody>
                    <a:bodyPr wrap="square"/>
                    <a:lstStyle/>
                    <a:p>
                      <a:r>
                        <a:rPr sz="1100" b="0">
                          <a:solidFill>
                            <a:srgbClr val="26301F"/>
                          </a:solidFill>
                          <a:latin typeface="Segoe UI"/>
                        </a:rPr>
                        <a:t>Payday to the due date</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On any failure a retry ladder runs alongside a one tap payment request and a message</a:t>
                      </a:r>
                    </a:p>
                  </a:txBody>
                  <a:tcPr marL="45720" marR="109728" marT="27432" marB="27432" anchor="ctr">
                    <a:lnB w="9525" cap="flat" cmpd="sng" algn="ctr">
                      <a:solidFill>
                        <a:srgbClr val="DCE3D6"/>
                      </a:solidFill>
                    </a:lnB>
                    <a:solidFill>
                      <a:srgbClr val="FFFFFF"/>
                    </a:solidFill>
                  </a:tcPr>
                </a:tc>
              </a:tr>
              <a:tr h="457200">
                <a:tc>
                  <a:txBody>
                    <a:bodyPr wrap="square"/>
                    <a:lstStyle/>
                    <a:p>
                      <a:r>
                        <a:rPr sz="1100" b="0">
                          <a:solidFill>
                            <a:srgbClr val="26301F"/>
                          </a:solidFill>
                          <a:latin typeface="Segoe UI"/>
                        </a:rPr>
                        <a:t>Due date</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Only if every attempt has failed does the member meet the late fee ladder</a:t>
                      </a:r>
                    </a:p>
                  </a:txBody>
                  <a:tcPr marL="45720" marR="109728" marT="27432" marB="27432" anchor="ctr">
                    <a:lnB w="9525" cap="flat" cmpd="sng" algn="ctr">
                      <a:solidFill>
                        <a:srgbClr val="DCE3D6"/>
                      </a:solidFill>
                    </a:lnB>
                    <a:solidFill>
                      <a:srgbClr val="FFFFFF"/>
                    </a:solidFill>
                  </a:tcPr>
                </a:tc>
              </a:tr>
              <a:tr h="457200">
                <a:tc>
                  <a:txBody>
                    <a:bodyPr wrap="square"/>
                    <a:lstStyle/>
                    <a:p>
                      <a:r>
                        <a:rPr sz="1100" b="0">
                          <a:solidFill>
                            <a:srgbClr val="26301F"/>
                          </a:solidFill>
                          <a:latin typeface="Segoe UI"/>
                        </a:rPr>
                        <a:t>The 10th, 09:00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A single payout release across the platform</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69864"/>
            <a:ext cx="10637215" cy="731520"/>
          </a:xfrm>
          <a:prstGeom prst="rect">
            <a:avLst/>
          </a:prstGeom>
          <a:noFill/>
        </p:spPr>
        <p:txBody>
          <a:bodyPr wrap="square" lIns="0" rIns="0" tIns="0" bIns="0">
            <a:spAutoFit/>
          </a:bodyPr>
          <a:lstStyle/>
          <a:p>
            <a:pPr algn="l">
              <a:lnSpc>
                <a:spcPct val="140000"/>
              </a:lnSpc>
            </a:pPr>
            <a:r>
              <a:rPr sz="1250" b="0" i="0">
                <a:solidFill>
                  <a:srgbClr val="26301F"/>
                </a:solidFill>
                <a:latin typeface="Segoe UI"/>
              </a:rPr>
              <a:t>The idea came from a member saying that he pays as soon as his pay arrives. Passive default, where the money arrived and was spent before the due date, is removed entirely. What remains is active evasion, which is a deliberate act taken against a signed consent.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TWO  COLLECTION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Verifying the declared payday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25</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Pakistan has no open banking regime and Halqa has no bank partner, so the payday is verified from evidence the platform legitimately owns. Four layers, in ascending order of strength.</a:t>
            </a:r>
          </a:p>
        </p:txBody>
      </p:sp>
      <p:graphicFrame>
        <p:nvGraphicFramePr>
          <p:cNvPr id="8" name="Table 7"/>
          <p:cNvGraphicFramePr>
            <a:graphicFrameLocks noGrp="1"/>
          </p:cNvGraphicFramePr>
          <p:nvPr/>
        </p:nvGraphicFramePr>
        <p:xfrm>
          <a:off x="777240" y="2788920"/>
          <a:ext cx="10607040" cy="2836465"/>
        </p:xfrm>
        <a:graphic>
          <a:graphicData uri="http://schemas.openxmlformats.org/drawingml/2006/table">
            <a:tbl>
              <a:tblPr>
                <a:tableStyleId>{5C22544A-7EE6-4342-B048-85BDC9FD1C3A}</a:tableStyleId>
              </a:tblPr>
              <a:tblGrid>
                <a:gridCol w="2377440"/>
                <a:gridCol w="4937760"/>
                <a:gridCol w="3291840"/>
              </a:tblGrid>
              <a:tr h="567293">
                <a:tc>
                  <a:txBody>
                    <a:bodyPr wrap="square"/>
                    <a:lstStyle/>
                    <a:p>
                      <a:r>
                        <a:rPr sz="900" b="1">
                          <a:solidFill>
                            <a:srgbClr val="41801A"/>
                          </a:solidFill>
                          <a:latin typeface="Segoe UI"/>
                        </a:rPr>
                        <a:t>SIGNAL</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MECHANISM</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STRENGTH</a:t>
                      </a:r>
                    </a:p>
                  </a:txBody>
                  <a:tcPr marL="45720" marR="109728" marT="27432" marB="27432" anchor="ctr">
                    <a:lnB w="9525" cap="flat" cmpd="sng" algn="ctr">
                      <a:solidFill>
                        <a:srgbClr val="41801A"/>
                      </a:solidFill>
                    </a:lnB>
                    <a:solidFill>
                      <a:srgbClr val="FFFFFF"/>
                    </a:solidFill>
                  </a:tcPr>
                </a:tc>
              </a:tr>
              <a:tr h="567293">
                <a:tc>
                  <a:txBody>
                    <a:bodyPr wrap="square"/>
                    <a:lstStyle/>
                    <a:p>
                      <a:r>
                        <a:rPr sz="900" b="0">
                          <a:solidFill>
                            <a:srgbClr val="26301F"/>
                          </a:solidFill>
                          <a:latin typeface="Segoe UI"/>
                        </a:rPr>
                        <a:t>Account title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At linking the aggregator returns the registered holder name, which must match the identity card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Proves ownership of the account</a:t>
                      </a:r>
                    </a:p>
                  </a:txBody>
                  <a:tcPr marL="45720" marR="109728" marT="27432" marB="27432" anchor="ctr">
                    <a:lnB w="9525" cap="flat" cmpd="sng" algn="ctr">
                      <a:solidFill>
                        <a:srgbClr val="DCE3D6"/>
                      </a:solidFill>
                    </a:lnB>
                    <a:solidFill>
                      <a:srgbClr val="FFFFFF"/>
                    </a:solidFill>
                  </a:tcPr>
                </a:tc>
              </a:tr>
              <a:tr h="567293">
                <a:tc>
                  <a:txBody>
                    <a:bodyPr wrap="square"/>
                    <a:lstStyle/>
                    <a:p>
                      <a:r>
                        <a:rPr sz="900" b="0">
                          <a:solidFill>
                            <a:srgbClr val="26301F"/>
                          </a:solidFill>
                          <a:latin typeface="Segoe UI"/>
                        </a:rPr>
                        <a:t>The platform's own collection record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Every attempt is logged against a calendar day. The first success each month marks a day money was provably present. Two consistent months establish the payday</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strongest of the four, and it costs nothing. If a member declares the wrong day the retry ladder finds the right one</a:t>
                      </a:r>
                    </a:p>
                  </a:txBody>
                  <a:tcPr marL="45720" marR="109728" marT="27432" marB="27432" anchor="ctr">
                    <a:lnB w="9525" cap="flat" cmpd="sng" algn="ctr">
                      <a:solidFill>
                        <a:srgbClr val="DCE3D6"/>
                      </a:solidFill>
                    </a:lnB>
                    <a:solidFill>
                      <a:srgbClr val="FFFFFF"/>
                    </a:solidFill>
                  </a:tcPr>
                </a:tc>
              </a:tr>
              <a:tr h="567293">
                <a:tc>
                  <a:txBody>
                    <a:bodyPr wrap="square"/>
                    <a:lstStyle/>
                    <a:p>
                      <a:r>
                        <a:rPr sz="900" b="0">
                          <a:solidFill>
                            <a:srgbClr val="26301F"/>
                          </a:solidFill>
                          <a:latin typeface="Segoe UI"/>
                        </a:rPr>
                        <a:t>Credit alerts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Optional, member enabled reading of incoming credit notifications. Three fields leave the handset: a day, a coarse amount band, a source class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Two consistent months verify</a:t>
                      </a:r>
                    </a:p>
                  </a:txBody>
                  <a:tcPr marL="45720" marR="109728" marT="27432" marB="27432" anchor="ctr">
                    <a:lnB w="9525" cap="flat" cmpd="sng" algn="ctr">
                      <a:solidFill>
                        <a:srgbClr val="DCE3D6"/>
                      </a:solidFill>
                    </a:lnB>
                    <a:solidFill>
                      <a:srgbClr val="FFFFFF"/>
                    </a:solidFill>
                  </a:tcPr>
                </a:tc>
              </a:tr>
              <a:tr h="567293">
                <a:tc>
                  <a:txBody>
                    <a:bodyPr wrap="square"/>
                    <a:lstStyle/>
                    <a:p>
                      <a:r>
                        <a:rPr sz="900" b="0">
                          <a:solidFill>
                            <a:srgbClr val="26301F"/>
                          </a:solidFill>
                          <a:latin typeface="Segoe UI"/>
                        </a:rPr>
                        <a:t>Salary slip</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One photograph, reduced on the device before upload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Documentary verification on day one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808265"/>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A false declaration clears the verification, stops the fee discount, and records a score event of minus 15 with its reason attached, once per window so the same error is never punished twice.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TWO  COLLECTION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Mandates, receipts and the delinquency ladder</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26</a:t>
            </a:r>
          </a:p>
        </p:txBody>
      </p:sp>
      <p:graphicFrame>
        <p:nvGraphicFramePr>
          <p:cNvPr id="7" name="Table 6"/>
          <p:cNvGraphicFramePr>
            <a:graphicFrameLocks noGrp="1"/>
          </p:cNvGraphicFramePr>
          <p:nvPr/>
        </p:nvGraphicFramePr>
        <p:xfrm>
          <a:off x="777240" y="1965960"/>
          <a:ext cx="10607040" cy="3584448"/>
        </p:xfrm>
        <a:graphic>
          <a:graphicData uri="http://schemas.openxmlformats.org/drawingml/2006/table">
            <a:tbl>
              <a:tblPr>
                <a:tableStyleId>{5C22544A-7EE6-4342-B048-85BDC9FD1C3A}</a:tableStyleId>
              </a:tblPr>
              <a:tblGrid>
                <a:gridCol w="2286000"/>
                <a:gridCol w="8321040"/>
              </a:tblGrid>
              <a:tr h="512064">
                <a:tc>
                  <a:txBody>
                    <a:bodyPr wrap="square"/>
                    <a:lstStyle/>
                    <a:p>
                      <a:r>
                        <a:rPr sz="900" b="1">
                          <a:solidFill>
                            <a:srgbClr val="41801A"/>
                          </a:solidFill>
                          <a:latin typeface="Segoe UI"/>
                        </a:rPr>
                        <a:t>MECHANISM</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HOW IT WORKS</a:t>
                      </a:r>
                    </a:p>
                  </a:txBody>
                  <a:tcPr marL="45720" marR="109728" marT="27432" marB="27432" anchor="ctr">
                    <a:lnB w="9525" cap="flat" cmpd="sng" algn="ctr">
                      <a:solidFill>
                        <a:srgbClr val="41801A"/>
                      </a:solidFill>
                    </a:lnB>
                    <a:solidFill>
                      <a:srgbClr val="FFFFFF"/>
                    </a:solidFill>
                  </a:tcPr>
                </a:tc>
              </a:tr>
              <a:tr h="512064">
                <a:tc>
                  <a:txBody>
                    <a:bodyPr wrap="square"/>
                    <a:lstStyle/>
                    <a:p>
                      <a:r>
                        <a:rPr sz="1000" b="0">
                          <a:solidFill>
                            <a:srgbClr val="26301F"/>
                          </a:solidFill>
                          <a:latin typeface="Segoe UI"/>
                        </a:rPr>
                        <a:t>Standing mandate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per circle instruction, on by default at joining with recorded consent. The instrument may be replaced but the mandate cannot be removed while a circle runs. A pause is available with a reason recorded, which costs score rather than access</a:t>
                      </a:r>
                    </a:p>
                  </a:txBody>
                  <a:tcPr marL="45720" marR="109728" marT="27432" marB="27432" anchor="ctr">
                    <a:lnB w="9525" cap="flat" cmpd="sng" algn="ctr">
                      <a:solidFill>
                        <a:srgbClr val="DCE3D6"/>
                      </a:solidFill>
                    </a:lnB>
                    <a:solidFill>
                      <a:srgbClr val="FFFFFF"/>
                    </a:solidFill>
                  </a:tcPr>
                </a:tc>
              </a:tr>
              <a:tr h="512064">
                <a:tc>
                  <a:txBody>
                    <a:bodyPr wrap="square"/>
                    <a:lstStyle/>
                    <a:p>
                      <a:r>
                        <a:rPr sz="1000" b="0">
                          <a:solidFill>
                            <a:srgbClr val="26301F"/>
                          </a:solidFill>
                          <a:latin typeface="Segoe UI"/>
                        </a:rPr>
                        <a:t>Mandate verification</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Linking an instrument issues a one time code over the WhatsApp rail with a ten minute expiry, and the account title is checked against the identity card name</a:t>
                      </a:r>
                    </a:p>
                  </a:txBody>
                  <a:tcPr marL="45720" marR="109728" marT="27432" marB="27432" anchor="ctr">
                    <a:lnB w="9525" cap="flat" cmpd="sng" algn="ctr">
                      <a:solidFill>
                        <a:srgbClr val="DCE3D6"/>
                      </a:solidFill>
                    </a:lnB>
                    <a:solidFill>
                      <a:srgbClr val="FFFFFF"/>
                    </a:solidFill>
                  </a:tcPr>
                </a:tc>
              </a:tr>
              <a:tr h="512064">
                <a:tc>
                  <a:txBody>
                    <a:bodyPr wrap="square"/>
                    <a:lstStyle/>
                    <a:p>
                      <a:r>
                        <a:rPr sz="1000" b="0">
                          <a:solidFill>
                            <a:srgbClr val="26301F"/>
                          </a:solidFill>
                          <a:latin typeface="Segoe UI"/>
                        </a:rPr>
                        <a:t>Instrument storage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Raast ID, wallet or IBAN captured once and masked at rest, maximum five, one preferred. Card linking stores brand, last four digits, expiry, holder and billing address only, never the full number or the security code</a:t>
                      </a:r>
                    </a:p>
                  </a:txBody>
                  <a:tcPr marL="45720" marR="109728" marT="27432" marB="27432" anchor="ctr">
                    <a:lnB w="9525" cap="flat" cmpd="sng" algn="ctr">
                      <a:solidFill>
                        <a:srgbClr val="DCE3D6"/>
                      </a:solidFill>
                    </a:lnB>
                    <a:solidFill>
                      <a:srgbClr val="FFFFFF"/>
                    </a:solidFill>
                  </a:tcPr>
                </a:tc>
              </a:tr>
              <a:tr h="512064">
                <a:tc>
                  <a:txBody>
                    <a:bodyPr wrap="square"/>
                    <a:lstStyle/>
                    <a:p>
                      <a:r>
                        <a:rPr sz="1000" b="0">
                          <a:solidFill>
                            <a:srgbClr val="26301F"/>
                          </a:solidFill>
                          <a:latin typeface="Segoe UI"/>
                        </a:rPr>
                        <a:t>Receipts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Every settlement writes a receipt reference and queues a message inside the same transaction as the settlement, so a receipt cannot exist without a settlement or the reverse</a:t>
                      </a:r>
                    </a:p>
                  </a:txBody>
                  <a:tcPr marL="45720" marR="109728" marT="27432" marB="27432" anchor="ctr">
                    <a:lnB w="9525" cap="flat" cmpd="sng" algn="ctr">
                      <a:solidFill>
                        <a:srgbClr val="DCE3D6"/>
                      </a:solidFill>
                    </a:lnB>
                    <a:solidFill>
                      <a:srgbClr val="FFFFFF"/>
                    </a:solidFill>
                  </a:tcPr>
                </a:tc>
              </a:tr>
              <a:tr h="512064">
                <a:tc>
                  <a:txBody>
                    <a:bodyPr wrap="square"/>
                    <a:lstStyle/>
                    <a:p>
                      <a:r>
                        <a:rPr sz="1000" b="0">
                          <a:solidFill>
                            <a:srgbClr val="26301F"/>
                          </a:solidFill>
                          <a:latin typeface="Segoe UI"/>
                        </a:rPr>
                        <a:t>Delinquency process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daily job at 02:00 UTC runs the escalating ladder, server side rather than in the application, so it does not depend on the member opening anything</a:t>
                      </a:r>
                    </a:p>
                  </a:txBody>
                  <a:tcPr marL="45720" marR="109728" marT="27432" marB="27432" anchor="ctr">
                    <a:lnB w="9525" cap="flat" cmpd="sng" algn="ctr">
                      <a:solidFill>
                        <a:srgbClr val="DCE3D6"/>
                      </a:solidFill>
                    </a:lnB>
                    <a:solidFill>
                      <a:srgbClr val="FFFFFF"/>
                    </a:solidFill>
                  </a:tcPr>
                </a:tc>
              </a:tr>
              <a:tr h="512064">
                <a:tc>
                  <a:txBody>
                    <a:bodyPr wrap="square"/>
                    <a:lstStyle/>
                    <a:p>
                      <a:r>
                        <a:rPr sz="1000" b="0">
                          <a:solidFill>
                            <a:srgbClr val="26301F"/>
                          </a:solidFill>
                          <a:latin typeface="Segoe UI"/>
                        </a:rPr>
                        <a:t>Grace window</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Computed from the period length and never displayed. Score and bureau damage accrue from the first late day regardless of it</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THREE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Sakh, how the score is computed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27</a:t>
            </a:r>
          </a:p>
        </p:txBody>
      </p:sp>
      <p:sp>
        <p:nvSpPr>
          <p:cNvPr id="7" name="TextBox 6"/>
          <p:cNvSpPr txBox="1"/>
          <p:nvPr/>
        </p:nvSpPr>
        <p:spPr>
          <a:xfrm>
            <a:off x="777240" y="1965960"/>
            <a:ext cx="10607040" cy="41148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Sakh runs from 300 to 850. It is a computed model output, not a running tally, and five inputs produce it.</a:t>
            </a:r>
          </a:p>
        </p:txBody>
      </p:sp>
      <p:sp>
        <p:nvSpPr>
          <p:cNvPr id="8" name="Rectangle 7"/>
          <p:cNvSpPr/>
          <p:nvPr/>
        </p:nvSpPr>
        <p:spPr>
          <a:xfrm>
            <a:off x="777240" y="2487168"/>
            <a:ext cx="1060704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487168"/>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606040"/>
            <a:ext cx="10241280" cy="274320"/>
          </a:xfrm>
          <a:prstGeom prst="rect">
            <a:avLst/>
          </a:prstGeom>
          <a:noFill/>
        </p:spPr>
        <p:txBody>
          <a:bodyPr wrap="square" lIns="0" rIns="0" tIns="0" bIns="0">
            <a:spAutoFit/>
          </a:bodyPr>
          <a:lstStyle/>
          <a:p>
            <a:pPr algn="l">
              <a:lnSpc>
                <a:spcPct val="125000"/>
              </a:lnSpc>
            </a:pPr>
            <a:r>
              <a:rPr sz="1500" b="1" i="0">
                <a:solidFill>
                  <a:srgbClr val="22450C"/>
                </a:solidFill>
                <a:latin typeface="Segoe UI"/>
              </a:rPr>
              <a:t>Sakh  =  300  +  550 × [ 0.40·P  +  0.25·U  +  0.20·H  +  0.10·C  +  0.05·M ]</a:t>
            </a:r>
          </a:p>
        </p:txBody>
      </p:sp>
      <p:graphicFrame>
        <p:nvGraphicFramePr>
          <p:cNvPr id="11" name="Table 10"/>
          <p:cNvGraphicFramePr>
            <a:graphicFrameLocks noGrp="1"/>
          </p:cNvGraphicFramePr>
          <p:nvPr/>
        </p:nvGraphicFramePr>
        <p:xfrm>
          <a:off x="777240" y="3200400"/>
          <a:ext cx="10607040" cy="2570088"/>
        </p:xfrm>
        <a:graphic>
          <a:graphicData uri="http://schemas.openxmlformats.org/drawingml/2006/table">
            <a:tbl>
              <a:tblPr>
                <a:tableStyleId>{5C22544A-7EE6-4342-B048-85BDC9FD1C3A}</a:tableStyleId>
              </a:tblPr>
              <a:tblGrid>
                <a:gridCol w="365760"/>
                <a:gridCol w="1737360"/>
                <a:gridCol w="822960"/>
                <a:gridCol w="6035040"/>
                <a:gridCol w="1645920"/>
              </a:tblGrid>
              <a:tr h="428348">
                <a:tc>
                  <a:txBody>
                    <a:bodyPr wrap="square"/>
                    <a:lstStyle/>
                    <a:p>
                      <a:r>
                        <a:rPr sz="7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INPUT</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WEIGHT</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HOW IT IS MEASURED</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WORKED</a:t>
                      </a:r>
                    </a:p>
                  </a:txBody>
                  <a:tcPr marL="45720" marR="109728" marT="27432" marB="27432" anchor="ctr">
                    <a:lnB w="9525" cap="flat" cmpd="sng" algn="ctr">
                      <a:solidFill>
                        <a:srgbClr val="41801A"/>
                      </a:solidFill>
                    </a:lnB>
                    <a:solidFill>
                      <a:srgbClr val="FFFFFF"/>
                    </a:solidFill>
                  </a:tcPr>
                </a:tc>
              </a:tr>
              <a:tr h="428348">
                <a:tc>
                  <a:txBody>
                    <a:bodyPr wrap="square"/>
                    <a:lstStyle/>
                    <a:p>
                      <a:r>
                        <a:rPr sz="700" b="0">
                          <a:solidFill>
                            <a:srgbClr val="26301F"/>
                          </a:solidFill>
                          <a:latin typeface="Segoe UI"/>
                        </a:rPr>
                        <a:t>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Payment record</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40%</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Every contribution weighted by age, 0.95 to the power of months elapsed, so a miss last month counts nearly twice a miss a year ago</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0.90</a:t>
                      </a:r>
                    </a:p>
                  </a:txBody>
                  <a:tcPr marL="45720" marR="109728" marT="27432" marB="27432" anchor="ctr">
                    <a:lnB w="9525" cap="flat" cmpd="sng" algn="ctr">
                      <a:solidFill>
                        <a:srgbClr val="DCE3D6"/>
                      </a:solidFill>
                    </a:lnB>
                    <a:solidFill>
                      <a:srgbClr val="FFFFFF"/>
                    </a:solidFill>
                  </a:tcPr>
                </a:tc>
              </a:tr>
              <a:tr h="428348">
                <a:tc>
                  <a:txBody>
                    <a:bodyPr wrap="square"/>
                    <a:lstStyle/>
                    <a:p>
                      <a:r>
                        <a:rPr sz="700" b="0">
                          <a:solidFill>
                            <a:srgbClr val="26301F"/>
                          </a:solidFill>
                          <a:latin typeface="Segoe UI"/>
                        </a:rPr>
                        <a:t>U</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Liability used</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25%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minus current forward liability divided by the affordability ceiling. Owing Rs 60,000 of a Rs 200,000 ceiling scores 0.70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0.70</a:t>
                      </a:r>
                    </a:p>
                  </a:txBody>
                  <a:tcPr marL="45720" marR="109728" marT="27432" marB="27432" anchor="ctr">
                    <a:lnB w="9525" cap="flat" cmpd="sng" algn="ctr">
                      <a:solidFill>
                        <a:srgbClr val="DCE3D6"/>
                      </a:solidFill>
                    </a:lnB>
                    <a:solidFill>
                      <a:srgbClr val="FFFFFF"/>
                    </a:solidFill>
                  </a:tcPr>
                </a:tc>
              </a:tr>
              <a:tr h="428348">
                <a:tc>
                  <a:txBody>
                    <a:bodyPr wrap="square"/>
                    <a:lstStyle/>
                    <a:p>
                      <a:r>
                        <a:rPr sz="700" b="0">
                          <a:solidFill>
                            <a:srgbClr val="26301F"/>
                          </a:solidFill>
                          <a:latin typeface="Segoe UI"/>
                        </a:rPr>
                        <a:t>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History</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20%</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Sixty per cent on circles completed out of five, forty per cent on months on the platform out of twenty four</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0.47</a:t>
                      </a:r>
                    </a:p>
                  </a:txBody>
                  <a:tcPr marL="45720" marR="109728" marT="27432" marB="27432" anchor="ctr">
                    <a:lnB w="9525" cap="flat" cmpd="sng" algn="ctr">
                      <a:solidFill>
                        <a:srgbClr val="DCE3D6"/>
                      </a:solidFill>
                    </a:lnB>
                    <a:solidFill>
                      <a:srgbClr val="FFFFFF"/>
                    </a:solidFill>
                  </a:tcPr>
                </a:tc>
              </a:tr>
              <a:tr h="428348">
                <a:tc>
                  <a:txBody>
                    <a:bodyPr wrap="square"/>
                    <a:lstStyle/>
                    <a:p>
                      <a:r>
                        <a:rPr sz="700" b="0">
                          <a:solidFill>
                            <a:srgbClr val="26301F"/>
                          </a:solidFill>
                          <a:latin typeface="Segoe UI"/>
                        </a:rPr>
                        <a:t>C</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Concurrency</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10%</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minus circles joined in the last ninety days out of three. Three joins in a quarter is distress, not enthusiasm</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0.67</a:t>
                      </a:r>
                    </a:p>
                  </a:txBody>
                  <a:tcPr marL="45720" marR="109728" marT="27432" marB="27432" anchor="ctr">
                    <a:lnB w="9525" cap="flat" cmpd="sng" algn="ctr">
                      <a:solidFill>
                        <a:srgbClr val="DCE3D6"/>
                      </a:solidFill>
                    </a:lnB>
                    <a:solidFill>
                      <a:srgbClr val="FFFFFF"/>
                    </a:solidFill>
                  </a:tcPr>
                </a:tc>
              </a:tr>
              <a:tr h="428348">
                <a:tc>
                  <a:txBody>
                    <a:bodyPr wrap="square"/>
                    <a:lstStyle/>
                    <a:p>
                      <a:r>
                        <a:rPr sz="700" b="0">
                          <a:solidFill>
                            <a:srgbClr val="26301F"/>
                          </a:solidFill>
                          <a:latin typeface="Segoe UI"/>
                        </a:rPr>
                        <a:t>M</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Product mix</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Product types used out of four</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0.50</a:t>
                      </a:r>
                    </a:p>
                  </a:txBody>
                  <a:tcPr marL="45720" marR="109728" marT="27432" marB="27432" anchor="ctr">
                    <a:lnB w="9525" cap="flat" cmpd="sng" algn="ctr">
                      <a:solidFill>
                        <a:srgbClr val="DCE3D6"/>
                      </a:solidFill>
                    </a:lnB>
                    <a:solidFill>
                      <a:srgbClr val="FFFFFF"/>
                    </a:solidFill>
                  </a:tcPr>
                </a:tc>
              </a:tr>
            </a:tbl>
          </a:graphicData>
        </a:graphic>
      </p:graphicFrame>
      <p:sp>
        <p:nvSpPr>
          <p:cNvPr id="12" name="TextBox 11"/>
          <p:cNvSpPr txBox="1"/>
          <p:nvPr/>
        </p:nvSpPr>
        <p:spPr>
          <a:xfrm>
            <a:off x="777240" y="5953368"/>
            <a:ext cx="10637215" cy="731520"/>
          </a:xfrm>
          <a:prstGeom prst="rect">
            <a:avLst/>
          </a:prstGeom>
          <a:noFill/>
        </p:spPr>
        <p:txBody>
          <a:bodyPr wrap="square" lIns="0" rIns="0" tIns="0" bIns="0">
            <a:spAutoFit/>
          </a:bodyPr>
          <a:lstStyle/>
          <a:p>
            <a:pPr algn="l">
              <a:lnSpc>
                <a:spcPct val="140000"/>
              </a:lnSpc>
            </a:pPr>
            <a:r>
              <a:rPr sz="1200" b="0" i="0">
                <a:solidFill>
                  <a:srgbClr val="26301F"/>
                </a:solidFill>
                <a:latin typeface="Segoe UI"/>
              </a:rPr>
              <a:t>That member scores 300 + 550 × 0.7213 = 697, which is the Good band. The plus and minus figures shown in the application are the reason codes explaining what moved the number. They are not the calculation.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THREE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moves the score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28</a:t>
            </a:r>
          </a:p>
        </p:txBody>
      </p:sp>
      <p:graphicFrame>
        <p:nvGraphicFramePr>
          <p:cNvPr id="7" name="Table 6"/>
          <p:cNvGraphicFramePr>
            <a:graphicFrameLocks noGrp="1"/>
          </p:cNvGraphicFramePr>
          <p:nvPr/>
        </p:nvGraphicFramePr>
        <p:xfrm>
          <a:off x="777240" y="1965960"/>
          <a:ext cx="10607040" cy="3490398"/>
        </p:xfrm>
        <a:graphic>
          <a:graphicData uri="http://schemas.openxmlformats.org/drawingml/2006/table">
            <a:tbl>
              <a:tblPr>
                <a:tableStyleId>{5C22544A-7EE6-4342-B048-85BDC9FD1C3A}</a:tableStyleId>
              </a:tblPr>
              <a:tblGrid>
                <a:gridCol w="2743200"/>
                <a:gridCol w="2286000"/>
                <a:gridCol w="1920240"/>
                <a:gridCol w="3657600"/>
              </a:tblGrid>
              <a:tr h="387822">
                <a:tc>
                  <a:txBody>
                    <a:bodyPr wrap="square"/>
                    <a:lstStyle/>
                    <a:p>
                      <a:r>
                        <a:rPr sz="850" b="1">
                          <a:solidFill>
                            <a:srgbClr val="41801A"/>
                          </a:solidFill>
                          <a:latin typeface="Segoe UI"/>
                        </a:rPr>
                        <a:t>EVENT</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OPEN CIRCLES</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KNOWN CIRCLES</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WHY</a:t>
                      </a:r>
                    </a:p>
                  </a:txBody>
                  <a:tcPr marL="45720" marR="109728" marT="27432" marB="27432" anchor="ctr">
                    <a:lnB w="9525" cap="flat" cmpd="sng" algn="ctr">
                      <a:solidFill>
                        <a:srgbClr val="41801A"/>
                      </a:solidFill>
                    </a:lnB>
                    <a:solidFill>
                      <a:srgbClr val="FFFFFF"/>
                    </a:solidFill>
                  </a:tcPr>
                </a:tc>
              </a:tr>
              <a:tr h="387822">
                <a:tc>
                  <a:txBody>
                    <a:bodyPr wrap="square"/>
                    <a:lstStyle/>
                    <a:p>
                      <a:r>
                        <a:rPr sz="850" b="0">
                          <a:solidFill>
                            <a:srgbClr val="26301F"/>
                          </a:solidFill>
                          <a:latin typeface="Segoe UI"/>
                        </a:rPr>
                        <a:t>Contribution paid on time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Plus 2, capped at 40 a cycle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Plus 2</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behaviour the whole model is built to observe</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One day late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Minus 15</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Minus 10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Matched to the first rung of the fee ladder</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Seven days late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Minus 30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Minus 20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Second rung</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Fifteen days late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Minus 50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Minus 40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Third rung</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Default after collecting</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Minus 200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Minus 200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only event the platform treats as identical across products</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Circle completed clean</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Plus 200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Plus 200</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atomic unit of proven behaviour</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Paying for another member</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Deliberately neutral, so the score cannot be bought</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Income newly verified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Raises the ceiling, not the score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Same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Evidence of capacity is not evidence of conduct</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39238"/>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Every event is written with its reason attached and is visible to the member on the day it happens. A score a member cannot interrogate is a score they will not trust.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THREE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Furnishing to the bureau</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29</a:t>
            </a:r>
          </a:p>
        </p:txBody>
      </p:sp>
      <p:sp>
        <p:nvSpPr>
          <p:cNvPr id="7" name="TextBox 6"/>
          <p:cNvSpPr txBox="1"/>
          <p:nvPr/>
        </p:nvSpPr>
        <p:spPr>
          <a:xfrm>
            <a:off x="777240" y="1965960"/>
            <a:ext cx="10607040" cy="68580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A credit bureau does not understand the word committee. It understands tradelines. The translation is straightforward, but one decision inside it determines whether the product delivers what it promises the member.</a:t>
            </a:r>
          </a:p>
        </p:txBody>
      </p:sp>
      <p:graphicFrame>
        <p:nvGraphicFramePr>
          <p:cNvPr id="8" name="Table 7"/>
          <p:cNvGraphicFramePr>
            <a:graphicFrameLocks noGrp="1"/>
          </p:cNvGraphicFramePr>
          <p:nvPr/>
        </p:nvGraphicFramePr>
        <p:xfrm>
          <a:off x="777240" y="2880360"/>
          <a:ext cx="10607040" cy="2627200"/>
        </p:xfrm>
        <a:graphic>
          <a:graphicData uri="http://schemas.openxmlformats.org/drawingml/2006/table">
            <a:tbl>
              <a:tblPr>
                <a:tableStyleId>{5C22544A-7EE6-4342-B048-85BDC9FD1C3A}</a:tableStyleId>
              </a:tblPr>
              <a:tblGrid>
                <a:gridCol w="2103120"/>
                <a:gridCol w="4023360"/>
                <a:gridCol w="4480560"/>
              </a:tblGrid>
              <a:tr h="328400">
                <a:tc>
                  <a:txBody>
                    <a:bodyPr wrap="square"/>
                    <a:lstStyle/>
                    <a:p>
                      <a:r>
                        <a:rPr sz="750" b="1">
                          <a:solidFill>
                            <a:srgbClr val="41801A"/>
                          </a:solidFill>
                          <a:latin typeface="Segoe UI"/>
                        </a:rPr>
                        <a:t>BUREAU FIELD</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HALQA SENDS</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NOTE</a:t>
                      </a:r>
                    </a:p>
                  </a:txBody>
                  <a:tcPr marL="45720" marR="109728" marT="27432" marB="27432" anchor="ctr">
                    <a:lnB w="9525" cap="flat" cmpd="sng" algn="ctr">
                      <a:solidFill>
                        <a:srgbClr val="41801A"/>
                      </a:solidFill>
                    </a:lnB>
                    <a:solidFill>
                      <a:srgbClr val="FFFFFF"/>
                    </a:solidFill>
                  </a:tcPr>
                </a:tc>
              </a:tr>
              <a:tr h="328400">
                <a:tc>
                  <a:txBody>
                    <a:bodyPr wrap="square"/>
                    <a:lstStyle/>
                    <a:p>
                      <a:r>
                        <a:rPr sz="750" b="0">
                          <a:solidFill>
                            <a:srgbClr val="26301F"/>
                          </a:solidFill>
                          <a:latin typeface="Segoe UI"/>
                        </a:rPr>
                        <a:t>Account type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Installment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seat behaves exactly like an installment obligation</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Original amount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Contribution multiplied by the number of rounds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Rs 240,000 on a twelve month circle at Rs 20,000</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Installment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contribution</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20,000</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Term</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Number of rounds</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12</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Current balance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Contribution multiplied by rounds remaining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forward liability, which is the only figure at risk</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Opened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date the member joined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Not the date they collected. This is the decision that matters</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Status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Current, 1 to 29, 30 to 59, 60 to 89, 90 plus, written off</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Halqa's internal ladder is finer at 1, 7 and 15 days and rolls up to these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690440"/>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Reporting from the join date rather than the collection date means a member who joins in January and collects in November has eleven months of clean reported history before they ever touch the pot. Reporting from collection would discard all of it. That single choice is the difference between a credit product and a payment ledger.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THREE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Bureau counterparties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30</a:t>
            </a:r>
          </a:p>
        </p:txBody>
      </p:sp>
      <p:graphicFrame>
        <p:nvGraphicFramePr>
          <p:cNvPr id="7" name="Table 6"/>
          <p:cNvGraphicFramePr>
            <a:graphicFrameLocks noGrp="1"/>
          </p:cNvGraphicFramePr>
          <p:nvPr/>
        </p:nvGraphicFramePr>
        <p:xfrm>
          <a:off x="777240" y="1965960"/>
          <a:ext cx="10607040" cy="3653025"/>
        </p:xfrm>
        <a:graphic>
          <a:graphicData uri="http://schemas.openxmlformats.org/drawingml/2006/table">
            <a:tbl>
              <a:tblPr>
                <a:tableStyleId>{5C22544A-7EE6-4342-B048-85BDC9FD1C3A}</a:tableStyleId>
              </a:tblPr>
              <a:tblGrid>
                <a:gridCol w="2468880"/>
                <a:gridCol w="3566160"/>
                <a:gridCol w="4572000"/>
              </a:tblGrid>
              <a:tr h="730605">
                <a:tc>
                  <a:txBody>
                    <a:bodyPr wrap="square"/>
                    <a:lstStyle/>
                    <a:p>
                      <a:r>
                        <a:rPr sz="800" b="1">
                          <a:solidFill>
                            <a:srgbClr val="41801A"/>
                          </a:solidFill>
                          <a:latin typeface="Segoe UI"/>
                        </a:rPr>
                        <a:t>BUREAU</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STANDING</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POSITION</a:t>
                      </a:r>
                    </a:p>
                  </a:txBody>
                  <a:tcPr marL="45720" marR="109728" marT="27432" marB="27432" anchor="ctr">
                    <a:lnB w="9525" cap="flat" cmpd="sng" algn="ctr">
                      <a:solidFill>
                        <a:srgbClr val="41801A"/>
                      </a:solidFill>
                    </a:lnB>
                    <a:solidFill>
                      <a:srgbClr val="FFFFFF"/>
                    </a:solidFill>
                  </a:tcPr>
                </a:tc>
              </a:tr>
              <a:tr h="730605">
                <a:tc>
                  <a:txBody>
                    <a:bodyPr wrap="square"/>
                    <a:lstStyle/>
                    <a:p>
                      <a:r>
                        <a:rPr sz="800" b="0">
                          <a:solidFill>
                            <a:srgbClr val="26301F"/>
                          </a:solidFill>
                          <a:latin typeface="Segoe UI"/>
                        </a:rPr>
                        <a:t>TASDEEQ, the trading name of Aequitas Information Services Limited, Lahore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first bureau licensed under the Credit Bureaus Act 2015, with more than 170 member institutions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Primary. Its published score runs from 200 for very poor to 600 for excellent, built from overdues, demographics, loan size, multiple borrowing, credit history length and institution type</a:t>
                      </a:r>
                    </a:p>
                  </a:txBody>
                  <a:tcPr marL="45720" marR="109728" marT="27432" marB="27432" anchor="ctr">
                    <a:lnB w="9525" cap="flat" cmpd="sng" algn="ctr">
                      <a:solidFill>
                        <a:srgbClr val="DCE3D6"/>
                      </a:solidFill>
                    </a:lnB>
                    <a:solidFill>
                      <a:srgbClr val="FFFFFF"/>
                    </a:solidFill>
                  </a:tcPr>
                </a:tc>
              </a:tr>
              <a:tr h="730605">
                <a:tc>
                  <a:txBody>
                    <a:bodyPr wrap="square"/>
                    <a:lstStyle/>
                    <a:p>
                      <a:r>
                        <a:rPr sz="800" b="0">
                          <a:solidFill>
                            <a:srgbClr val="26301F"/>
                          </a:solidFill>
                          <a:latin typeface="Segoe UI"/>
                        </a:rPr>
                        <a:t>DataCheck Limited, Karachi</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Founded 2001, the first private sector bureau in the country, also licensed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Second subscriber agreement. Once one furnishing pipeline exists the second costs almost nothing and roughly doubles the number of lenders who can see a Halqa record</a:t>
                      </a:r>
                    </a:p>
                  </a:txBody>
                  <a:tcPr marL="45720" marR="109728" marT="27432" marB="27432" anchor="ctr">
                    <a:lnB w="9525" cap="flat" cmpd="sng" algn="ctr">
                      <a:solidFill>
                        <a:srgbClr val="DCE3D6"/>
                      </a:solidFill>
                    </a:lnB>
                    <a:solidFill>
                      <a:srgbClr val="FFFFFF"/>
                    </a:solidFill>
                  </a:tcPr>
                </a:tc>
              </a:tr>
              <a:tr h="730605">
                <a:tc>
                  <a:txBody>
                    <a:bodyPr wrap="square"/>
                    <a:lstStyle/>
                    <a:p>
                      <a:r>
                        <a:rPr sz="800" b="0">
                          <a:solidFill>
                            <a:srgbClr val="26301F"/>
                          </a:solidFill>
                          <a:latin typeface="Segoe UI"/>
                        </a:rPr>
                        <a:t>eCIB, operated by the State Bank</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Accepts data only from licensed financial institutions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Closed to Halqa by design, and nothing in the plan depends on it</a:t>
                      </a:r>
                    </a:p>
                  </a:txBody>
                  <a:tcPr marL="45720" marR="109728" marT="27432" marB="27432" anchor="ctr">
                    <a:lnB w="9525" cap="flat" cmpd="sng" algn="ctr">
                      <a:solidFill>
                        <a:srgbClr val="DCE3D6"/>
                      </a:solidFill>
                    </a:lnB>
                    <a:solidFill>
                      <a:srgbClr val="FFFFFF"/>
                    </a:solidFill>
                  </a:tcPr>
                </a:tc>
              </a:tr>
              <a:tr h="730605">
                <a:tc>
                  <a:txBody>
                    <a:bodyPr wrap="square"/>
                    <a:lstStyle/>
                    <a:p>
                      <a:r>
                        <a:rPr sz="800" b="0">
                          <a:solidFill>
                            <a:srgbClr val="26301F"/>
                          </a:solidFill>
                          <a:latin typeface="Segoe UI"/>
                        </a:rPr>
                        <a:t>Creditinfo Group</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Global credit information provider, already working inside the market alongside TASDEEQ and PACRA on scorecards and income estimation models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Not a Pakistani bureau, but the route back into the market if a direct agreement stalls</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801865"/>
            <a:ext cx="10637215" cy="731520"/>
          </a:xfrm>
          <a:prstGeom prst="rect">
            <a:avLst/>
          </a:prstGeom>
          <a:noFill/>
        </p:spPr>
        <p:txBody>
          <a:bodyPr wrap="square" lIns="0" rIns="0" tIns="0" bIns="0">
            <a:spAutoFit/>
          </a:bodyPr>
          <a:lstStyle/>
          <a:p>
            <a:pPr algn="l">
              <a:lnSpc>
                <a:spcPct val="140000"/>
              </a:lnSpc>
            </a:pPr>
            <a:r>
              <a:rPr sz="1150" b="0" i="0">
                <a:solidFill>
                  <a:srgbClr val="26301F"/>
                </a:solidFill>
                <a:latin typeface="Segoe UI"/>
              </a:rPr>
              <a:t>The commercial position is the strong one. Halqa is not asking for permission to read; it is offering to furnish a population of committee members that no existing subscriber can see. TASDEEQ already counts fintech companies and non bank financiers among its members, so a non bank furnisher is routine rather than exceptional.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THREE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Mapping Sakh onto the bureau scale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31</a:t>
            </a:r>
          </a:p>
        </p:txBody>
      </p:sp>
      <p:sp>
        <p:nvSpPr>
          <p:cNvPr id="7" name="TextBox 6"/>
          <p:cNvSpPr txBox="1"/>
          <p:nvPr/>
        </p:nvSpPr>
        <p:spPr>
          <a:xfrm>
            <a:off x="777240" y="1965960"/>
            <a:ext cx="5760720" cy="82296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The two scales differ, so the platform holds both. Sakh is what a member sees and what gates their seat. The bureau equivalent is what a lender outside Halqa reads.</a:t>
            </a:r>
          </a:p>
        </p:txBody>
      </p:sp>
      <p:sp>
        <p:nvSpPr>
          <p:cNvPr id="8" name="Rectangle 7"/>
          <p:cNvSpPr/>
          <p:nvPr/>
        </p:nvSpPr>
        <p:spPr>
          <a:xfrm>
            <a:off x="777240" y="2971800"/>
            <a:ext cx="576072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7180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090672"/>
            <a:ext cx="5394960" cy="274320"/>
          </a:xfrm>
          <a:prstGeom prst="rect">
            <a:avLst/>
          </a:prstGeom>
          <a:noFill/>
        </p:spPr>
        <p:txBody>
          <a:bodyPr wrap="square" lIns="0" rIns="0" tIns="0" bIns="0">
            <a:spAutoFit/>
          </a:bodyPr>
          <a:lstStyle/>
          <a:p>
            <a:pPr algn="l">
              <a:lnSpc>
                <a:spcPct val="125000"/>
              </a:lnSpc>
            </a:pPr>
            <a:r>
              <a:rPr sz="1400" b="1" i="0">
                <a:solidFill>
                  <a:srgbClr val="22450C"/>
                </a:solidFill>
                <a:latin typeface="Segoe UI"/>
              </a:rPr>
              <a:t>Bureau  =  200  +  (Sakh − 300) × 400 / 550</a:t>
            </a:r>
          </a:p>
        </p:txBody>
      </p:sp>
      <p:graphicFrame>
        <p:nvGraphicFramePr>
          <p:cNvPr id="11" name="Table 10"/>
          <p:cNvGraphicFramePr>
            <a:graphicFrameLocks noGrp="1"/>
          </p:cNvGraphicFramePr>
          <p:nvPr/>
        </p:nvGraphicFramePr>
        <p:xfrm>
          <a:off x="7086600" y="1965960"/>
          <a:ext cx="4297680" cy="2304288"/>
        </p:xfrm>
        <a:graphic>
          <a:graphicData uri="http://schemas.openxmlformats.org/drawingml/2006/table">
            <a:tbl>
              <a:tblPr>
                <a:tableStyleId>{5C22544A-7EE6-4342-B048-85BDC9FD1C3A}</a:tableStyleId>
              </a:tblPr>
              <a:tblGrid>
                <a:gridCol w="1188720"/>
                <a:gridCol w="1554480"/>
                <a:gridCol w="1554480"/>
              </a:tblGrid>
              <a:tr h="384048">
                <a:tc>
                  <a:txBody>
                    <a:bodyPr wrap="square"/>
                    <a:lstStyle/>
                    <a:p>
                      <a:r>
                        <a:rPr sz="900" b="1">
                          <a:solidFill>
                            <a:srgbClr val="41801A"/>
                          </a:solidFill>
                          <a:latin typeface="Segoe UI"/>
                        </a:rPr>
                        <a:t>SAKH</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BAND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BUREAU EQUIVALENT</a:t>
                      </a:r>
                    </a:p>
                  </a:txBody>
                  <a:tcPr marL="45720" marR="109728" marT="27432" marB="27432" anchor="ctr">
                    <a:lnB w="9525" cap="flat" cmpd="sng" algn="ctr">
                      <a:solidFill>
                        <a:srgbClr val="41801A"/>
                      </a:solidFill>
                    </a:lnB>
                    <a:solidFill>
                      <a:srgbClr val="FFFFFF"/>
                    </a:solidFill>
                  </a:tcPr>
                </a:tc>
              </a:tr>
              <a:tr h="384048">
                <a:tc>
                  <a:txBody>
                    <a:bodyPr wrap="square"/>
                    <a:lstStyle/>
                    <a:p>
                      <a:r>
                        <a:rPr sz="1050" b="0">
                          <a:solidFill>
                            <a:srgbClr val="26301F"/>
                          </a:solidFill>
                          <a:latin typeface="Segoe UI"/>
                        </a:rPr>
                        <a:t>300</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Rebuilding</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200</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550</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Fair</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382</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650</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Good</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455</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750</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Excellent</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527</a:t>
                      </a:r>
                    </a:p>
                  </a:txBody>
                  <a:tcPr marL="45720" marR="109728" marT="27432" marB="27432" anchor="ctr">
                    <a:lnB w="9525" cap="flat" cmpd="sng" algn="ctr">
                      <a:solidFill>
                        <a:srgbClr val="DCE3D6"/>
                      </a:solidFill>
                    </a:lnB>
                    <a:solidFill>
                      <a:srgbClr val="FFFFFF"/>
                    </a:solidFill>
                  </a:tcPr>
                </a:tc>
              </a:tr>
              <a:tr h="384048">
                <a:tc>
                  <a:txBody>
                    <a:bodyPr wrap="square"/>
                    <a:lstStyle/>
                    <a:p>
                      <a:r>
                        <a:rPr sz="1050" b="0">
                          <a:solidFill>
                            <a:srgbClr val="26301F"/>
                          </a:solidFill>
                          <a:latin typeface="Segoe UI"/>
                        </a:rPr>
                        <a:t>850</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Excellent</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600</a:t>
                      </a:r>
                    </a:p>
                  </a:txBody>
                  <a:tcPr marL="45720" marR="109728" marT="27432" marB="27432" anchor="ctr">
                    <a:lnB w="9525" cap="flat" cmpd="sng" algn="ctr">
                      <a:solidFill>
                        <a:srgbClr val="DCE3D6"/>
                      </a:solidFill>
                    </a:lnB>
                    <a:solidFill>
                      <a:srgbClr val="FFFFFF"/>
                    </a:solidFill>
                  </a:tcPr>
                </a:tc>
              </a:tr>
            </a:tbl>
          </a:graphicData>
        </a:graphic>
      </p:graphicFrame>
      <p:sp>
        <p:nvSpPr>
          <p:cNvPr id="12" name="TextBox 11"/>
          <p:cNvSpPr txBox="1"/>
          <p:nvPr/>
        </p:nvSpPr>
        <p:spPr>
          <a:xfrm>
            <a:off x="777240" y="3794760"/>
            <a:ext cx="5760720" cy="1828800"/>
          </a:xfrm>
          <a:prstGeom prst="rect">
            <a:avLst/>
          </a:prstGeom>
          <a:noFill/>
        </p:spPr>
        <p:txBody>
          <a:bodyPr wrap="square" lIns="0" rIns="0" tIns="0" bIns="0">
            <a:spAutoFit/>
          </a:bodyPr>
          <a:lstStyle/>
          <a:p>
            <a:pPr algn="l">
              <a:lnSpc>
                <a:spcPct val="145000"/>
              </a:lnSpc>
            </a:pPr>
            <a:r>
              <a:rPr sz="1200" b="0" i="0">
                <a:solidFill>
                  <a:srgbClr val="26301F"/>
                </a:solidFill>
                <a:latin typeface="Segoe UI"/>
              </a:rPr>
              <a:t>Five of the six inputs the bureau scores on are already captured. Overdues come from the delinquency ladder, credit history length from the join date, loan size from the pot, multiple borrowing from the concurrency cap, and institution type from the furnisher registration. The sixth, demographics, the bureau derives itself from the identity number.</a:t>
            </a:r>
          </a:p>
          <a:p>
            <a:pPr algn="l">
              <a:lnSpc>
                <a:spcPct val="145000"/>
              </a:lnSpc>
              <a:spcBef>
                <a:spcPts val="800"/>
              </a:spcBef>
            </a:pPr>
            <a:r>
              <a:rPr sz="1200" b="0" i="0">
                <a:solidFill>
                  <a:srgbClr val="26301F"/>
                </a:solidFill>
                <a:latin typeface="Segoe UI"/>
              </a:rPr>
              <a:t/>
            </a:r>
          </a:p>
          <a:p>
            <a:pPr algn="l">
              <a:lnSpc>
                <a:spcPct val="145000"/>
              </a:lnSpc>
              <a:spcBef>
                <a:spcPts val="800"/>
              </a:spcBef>
            </a:pPr>
            <a:r>
              <a:rPr sz="1200" b="0" i="0">
                <a:solidFill>
                  <a:srgbClr val="26301F"/>
                </a:solidFill>
                <a:latin typeface="Segoe UI"/>
              </a:rPr>
              <a:t>The published range should be confirmed with the bureau in writing before any threshold is built against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FOUR  PROTECTION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quantity at risk</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32</a:t>
            </a:r>
          </a:p>
        </p:txBody>
      </p:sp>
      <p:sp>
        <p:nvSpPr>
          <p:cNvPr id="7" name="TextBox 6"/>
          <p:cNvSpPr txBox="1"/>
          <p:nvPr/>
        </p:nvSpPr>
        <p:spPr>
          <a:xfrm>
            <a:off x="777240" y="1965960"/>
            <a:ext cx="4754880" cy="182880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When a member collects, they hold the whole pot and still owe every contribution that remains. That remaining obligation is the only thing at risk anywhere in the arrangement.</a:t>
            </a:r>
          </a:p>
          <a:p>
            <a:pPr algn="l">
              <a:lnSpc>
                <a:spcPct val="145000"/>
              </a:lnSpc>
              <a:spcBef>
                <a:spcPts val="800"/>
              </a:spcBef>
            </a:pPr>
            <a:r>
              <a:rPr sz="1300" b="0" i="0">
                <a:solidFill>
                  <a:srgbClr val="26301F"/>
                </a:solidFill>
                <a:latin typeface="Segoe UI"/>
              </a:rPr>
              <a:t/>
            </a:r>
          </a:p>
          <a:p>
            <a:pPr algn="l">
              <a:lnSpc>
                <a:spcPct val="145000"/>
              </a:lnSpc>
              <a:spcBef>
                <a:spcPts val="800"/>
              </a:spcBef>
            </a:pPr>
            <a:r>
              <a:rPr sz="1300" b="0" i="0">
                <a:solidFill>
                  <a:srgbClr val="26301F"/>
                </a:solidFill>
                <a:latin typeface="Segoe UI"/>
              </a:rPr>
              <a:t>It is largest at the first seat, falls by one contribution with each later seat, and is nothing at the last. Risk is not spread across the members; it sits in the early seats and decays.</a:t>
            </a:r>
          </a:p>
        </p:txBody>
      </p:sp>
      <p:sp>
        <p:nvSpPr>
          <p:cNvPr id="8" name="TextBox 7"/>
          <p:cNvSpPr txBox="1"/>
          <p:nvPr/>
        </p:nvSpPr>
        <p:spPr>
          <a:xfrm>
            <a:off x="777240" y="4663440"/>
            <a:ext cx="4754880" cy="1097280"/>
          </a:xfrm>
          <a:prstGeom prst="rect">
            <a:avLst/>
          </a:prstGeom>
          <a:noFill/>
        </p:spPr>
        <p:txBody>
          <a:bodyPr wrap="square" lIns="0" rIns="0" tIns="0" bIns="0">
            <a:spAutoFit/>
          </a:bodyPr>
          <a:lstStyle/>
          <a:p>
            <a:pPr algn="l">
              <a:lnSpc>
                <a:spcPct val="140000"/>
              </a:lnSpc>
            </a:pPr>
            <a:r>
              <a:rPr sz="1300" b="1" i="0">
                <a:solidFill>
                  <a:srgbClr val="0C1408"/>
                </a:solidFill>
                <a:latin typeface="Segoe UI"/>
              </a:rPr>
              <a:t>The platform therefore does not need a system for judging members. It needs a system which decides which member may occupy which seat.</a:t>
            </a:r>
          </a:p>
        </p:txBody>
      </p:sp>
      <p:graphicFrame>
        <p:nvGraphicFramePr>
          <p:cNvPr id="9" name="Chart 8"/>
          <p:cNvGraphicFramePr>
            <a:graphicFrameLocks noGrp="1"/>
          </p:cNvGraphicFramePr>
          <p:nvPr/>
        </p:nvGraphicFramePr>
        <p:xfrm>
          <a:off x="6172200" y="1965960"/>
          <a:ext cx="5212080" cy="3474720"/>
        </p:xfrm>
        <a:graphic>
          <a:graphicData uri="http://schemas.openxmlformats.org/drawingml/2006/chart">
            <c:chart xmlns:c="http://schemas.openxmlformats.org/drawingml/2006/chart" r:id="rId2"/>
          </a:graphicData>
        </a:graphic>
      </p:graphicFrame>
      <p:sp>
        <p:nvSpPr>
          <p:cNvPr id="10" name="TextBox 9"/>
          <p:cNvSpPr txBox="1"/>
          <p:nvPr/>
        </p:nvSpPr>
        <p:spPr>
          <a:xfrm>
            <a:off x="6172200" y="5532120"/>
            <a:ext cx="5212080" cy="365760"/>
          </a:xfrm>
          <a:prstGeom prst="rect">
            <a:avLst/>
          </a:prstGeom>
          <a:noFill/>
        </p:spPr>
        <p:txBody>
          <a:bodyPr wrap="square" lIns="0" rIns="0" tIns="0" bIns="0">
            <a:spAutoFit/>
          </a:bodyPr>
          <a:lstStyle/>
          <a:p>
            <a:pPr algn="l">
              <a:lnSpc>
                <a:spcPct val="130000"/>
              </a:lnSpc>
            </a:pPr>
            <a:r>
              <a:rPr sz="1000" b="0" i="0">
                <a:solidFill>
                  <a:srgbClr val="9AA694"/>
                </a:solidFill>
                <a:latin typeface="Segoe UI"/>
              </a:rPr>
              <a:t>Rupees owed to the circle immediately after collecting, by seat. Twelve members, Rs 10,000 a month.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FOUR  PROTECTION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Seat eligibility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33</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Each score band carries a ceiling on how much a member may owe the group at the moment they collect, expressed in contributions. The ceiling sets the earliest seat they may take.</a:t>
            </a:r>
          </a:p>
        </p:txBody>
      </p:sp>
      <p:graphicFrame>
        <p:nvGraphicFramePr>
          <p:cNvPr id="8" name="Table 7"/>
          <p:cNvGraphicFramePr>
            <a:graphicFrameLocks noGrp="1"/>
          </p:cNvGraphicFramePr>
          <p:nvPr/>
        </p:nvGraphicFramePr>
        <p:xfrm>
          <a:off x="777240" y="2651760"/>
          <a:ext cx="10607040" cy="1920240"/>
        </p:xfrm>
        <a:graphic>
          <a:graphicData uri="http://schemas.openxmlformats.org/drawingml/2006/table">
            <a:tbl>
              <a:tblPr>
                <a:tableStyleId>{5C22544A-7EE6-4342-B048-85BDC9FD1C3A}</a:tableStyleId>
              </a:tblPr>
              <a:tblGrid>
                <a:gridCol w="2926080"/>
                <a:gridCol w="2377440"/>
                <a:gridCol w="3108960"/>
                <a:gridCol w="2194560"/>
              </a:tblGrid>
              <a:tr h="384048">
                <a:tc>
                  <a:txBody>
                    <a:bodyPr wrap="square"/>
                    <a:lstStyle/>
                    <a:p>
                      <a:r>
                        <a:rPr sz="900" b="1">
                          <a:solidFill>
                            <a:srgbClr val="41801A"/>
                          </a:solidFill>
                          <a:latin typeface="Segoe UI"/>
                        </a:rPr>
                        <a:t>BAND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MAY OWE AT MOST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EARLIEST SEAT, TWELVE MEMBERS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MARKETPLACE</a:t>
                      </a:r>
                    </a:p>
                  </a:txBody>
                  <a:tcPr marL="45720" marR="109728" marT="27432" marB="27432" anchor="ctr">
                    <a:lnB w="9525" cap="flat" cmpd="sng" algn="ctr">
                      <a:solidFill>
                        <a:srgbClr val="41801A"/>
                      </a:solidFill>
                    </a:lnB>
                    <a:solidFill>
                      <a:srgbClr val="FFFFFF"/>
                    </a:solidFill>
                  </a:tcPr>
                </a:tc>
              </a:tr>
              <a:tr h="384048">
                <a:tc>
                  <a:txBody>
                    <a:bodyPr wrap="square"/>
                    <a:lstStyle/>
                    <a:p>
                      <a:r>
                        <a:rPr sz="1100" b="0">
                          <a:solidFill>
                            <a:srgbClr val="26301F"/>
                          </a:solidFill>
                          <a:latin typeface="Segoe UI"/>
                        </a:rPr>
                        <a:t>Rebuilding, below 550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Two contributions</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Seat 10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May not purchase</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Fair, 550 to 649</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Seven contributions</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Seat 5</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May purchase</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Good, 650 to 749</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No ceiling</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Any seat</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May purchase</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Excellent, 750 and above</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No ceiling</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Any seat</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May purchase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4754880"/>
            <a:ext cx="10637215" cy="731520"/>
          </a:xfrm>
          <a:prstGeom prst="rect">
            <a:avLst/>
          </a:prstGeom>
          <a:noFill/>
        </p:spPr>
        <p:txBody>
          <a:bodyPr wrap="square" lIns="0" rIns="0" tIns="0" bIns="0">
            <a:spAutoFit/>
          </a:bodyPr>
          <a:lstStyle/>
          <a:p>
            <a:pPr algn="l">
              <a:lnSpc>
                <a:spcPct val="140000"/>
              </a:lnSpc>
            </a:pPr>
            <a:r>
              <a:rPr sz="1250" b="0" i="0">
                <a:solidFill>
                  <a:srgbClr val="26301F"/>
                </a:solidFill>
                <a:latin typeface="Segoe UI"/>
              </a:rPr>
              <a:t>The same two ceilings apply to a circle of any size, so there is one rule rather than a table per circle size. Above it sits a rule which applies to every new member whatever their score: one of the last three seats only, released after two completed circles with clean records and a manual verification step.</a:t>
            </a:r>
          </a:p>
        </p:txBody>
      </p:sp>
      <p:sp>
        <p:nvSpPr>
          <p:cNvPr id="10" name="TextBox 9"/>
          <p:cNvSpPr txBox="1"/>
          <p:nvPr/>
        </p:nvSpPr>
        <p:spPr>
          <a:xfrm>
            <a:off x="777240" y="52120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Rs 20,000</a:t>
            </a:r>
          </a:p>
        </p:txBody>
      </p:sp>
      <p:sp>
        <p:nvSpPr>
          <p:cNvPr id="11" name="TextBox 10"/>
          <p:cNvSpPr txBox="1"/>
          <p:nvPr/>
        </p:nvSpPr>
        <p:spPr>
          <a:xfrm>
            <a:off x="777240" y="57790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The most an unobserved member can cost a circle, on a Rs 120,000 pot</a:t>
            </a:r>
          </a:p>
        </p:txBody>
      </p:sp>
      <p:sp>
        <p:nvSpPr>
          <p:cNvPr id="12" name="TextBox 11"/>
          <p:cNvSpPr txBox="1"/>
          <p:nvPr/>
        </p:nvSpPr>
        <p:spPr>
          <a:xfrm>
            <a:off x="4322978" y="52120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Permanent</a:t>
            </a:r>
          </a:p>
        </p:txBody>
      </p:sp>
      <p:sp>
        <p:nvSpPr>
          <p:cNvPr id="13" name="TextBox 12"/>
          <p:cNvSpPr txBox="1"/>
          <p:nvPr/>
        </p:nvSpPr>
        <p:spPr>
          <a:xfrm>
            <a:off x="4322978" y="57790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A claimed seat never moves. Score gates the seat; it does not reorder anybody</a:t>
            </a:r>
          </a:p>
        </p:txBody>
      </p:sp>
      <p:sp>
        <p:nvSpPr>
          <p:cNvPr id="14" name="TextBox 13"/>
          <p:cNvSpPr txBox="1"/>
          <p:nvPr/>
        </p:nvSpPr>
        <p:spPr>
          <a:xfrm>
            <a:off x="7868716" y="52120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Invisible</a:t>
            </a:r>
          </a:p>
        </p:txBody>
      </p:sp>
      <p:sp>
        <p:nvSpPr>
          <p:cNvPr id="15" name="TextBox 14"/>
          <p:cNvSpPr txBox="1"/>
          <p:nvPr/>
        </p:nvSpPr>
        <p:spPr>
          <a:xfrm>
            <a:off x="7868716" y="57790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Ineligible seats are not displayed, so the rule produces no refusals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FOUR  PROTECTION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No incentive to default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34</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The design does not try to make defaulting difficult for everybody. It ensures that the members carrying the largest obligation are the members who have earned the right to carry it, and that everybody else has nothing to gain by leaving.</a:t>
            </a:r>
          </a:p>
        </p:txBody>
      </p:sp>
      <p:graphicFrame>
        <p:nvGraphicFramePr>
          <p:cNvPr id="8" name="Table 7"/>
          <p:cNvGraphicFramePr>
            <a:graphicFrameLocks noGrp="1"/>
          </p:cNvGraphicFramePr>
          <p:nvPr/>
        </p:nvGraphicFramePr>
        <p:xfrm>
          <a:off x="777240" y="2743200"/>
          <a:ext cx="10607040" cy="2741430"/>
        </p:xfrm>
        <a:graphic>
          <a:graphicData uri="http://schemas.openxmlformats.org/drawingml/2006/table">
            <a:tbl>
              <a:tblPr>
                <a:tableStyleId>{5C22544A-7EE6-4342-B048-85BDC9FD1C3A}</a:tableStyleId>
              </a:tblPr>
              <a:tblGrid>
                <a:gridCol w="2651760"/>
                <a:gridCol w="4023360"/>
                <a:gridCol w="3931920"/>
              </a:tblGrid>
              <a:tr h="456905">
                <a:tc>
                  <a:txBody>
                    <a:bodyPr wrap="square"/>
                    <a:lstStyle/>
                    <a:p>
                      <a:r>
                        <a:rPr sz="750" b="1">
                          <a:solidFill>
                            <a:srgbClr val="41801A"/>
                          </a:solidFill>
                          <a:latin typeface="Segoe UI"/>
                        </a:rPr>
                        <a:t>POSITION</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THE MEMBER GAINS BY DEFAULTING</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THE MEMBER LOSES</a:t>
                      </a:r>
                    </a:p>
                  </a:txBody>
                  <a:tcPr marL="45720" marR="109728" marT="27432" marB="27432" anchor="ctr">
                    <a:lnB w="9525" cap="flat" cmpd="sng" algn="ctr">
                      <a:solidFill>
                        <a:srgbClr val="41801A"/>
                      </a:solidFill>
                    </a:lnB>
                    <a:solidFill>
                      <a:srgbClr val="FFFFFF"/>
                    </a:solidFill>
                  </a:tcPr>
                </a:tc>
              </a:tr>
              <a:tr h="456905">
                <a:tc>
                  <a:txBody>
                    <a:bodyPr wrap="square"/>
                    <a:lstStyle/>
                    <a:p>
                      <a:r>
                        <a:rPr sz="750" b="0">
                          <a:solidFill>
                            <a:srgbClr val="26301F"/>
                          </a:solidFill>
                          <a:latin typeface="Segoe UI"/>
                        </a:rPr>
                        <a:t>Last seats, where every new member is placed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Nothing. By the time they collect they have already paid almost everything they owe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Platform access, the record they joined for, and 200 points of score</a:t>
                      </a:r>
                    </a:p>
                  </a:txBody>
                  <a:tcPr marL="45720" marR="109728" marT="27432" marB="27432" anchor="ctr">
                    <a:lnB w="9525" cap="flat" cmpd="sng" algn="ctr">
                      <a:solidFill>
                        <a:srgbClr val="DCE3D6"/>
                      </a:solidFill>
                    </a:lnB>
                    <a:solidFill>
                      <a:srgbClr val="FFFFFF"/>
                    </a:solidFill>
                  </a:tcPr>
                </a:tc>
              </a:tr>
              <a:tr h="456905">
                <a:tc>
                  <a:txBody>
                    <a:bodyPr wrap="square"/>
                    <a:lstStyle/>
                    <a:p>
                      <a:r>
                        <a:rPr sz="750" b="0">
                          <a:solidFill>
                            <a:srgbClr val="26301F"/>
                          </a:solidFill>
                          <a:latin typeface="Segoe UI"/>
                        </a:rPr>
                        <a:t>Middle seats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partial obligation, capped by the band ceiling at seven contributions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same, plus a recovery case for the outstanding amount, penalties and a 10 per cent rehabilitation fee</a:t>
                      </a:r>
                    </a:p>
                  </a:txBody>
                  <a:tcPr marL="45720" marR="109728" marT="27432" marB="27432" anchor="ctr">
                    <a:lnB w="9525" cap="flat" cmpd="sng" algn="ctr">
                      <a:solidFill>
                        <a:srgbClr val="DCE3D6"/>
                      </a:solidFill>
                    </a:lnB>
                    <a:solidFill>
                      <a:srgbClr val="FFFFFF"/>
                    </a:solidFill>
                  </a:tcPr>
                </a:tc>
              </a:tr>
              <a:tr h="456905">
                <a:tc>
                  <a:txBody>
                    <a:bodyPr wrap="square"/>
                    <a:lstStyle/>
                    <a:p>
                      <a:r>
                        <a:rPr sz="750" b="0">
                          <a:solidFill>
                            <a:srgbClr val="26301F"/>
                          </a:solidFill>
                          <a:latin typeface="Segoe UI"/>
                        </a:rPr>
                        <a:t>Early seats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largest obligation in the circle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same, and these seats are only available to members with a proven record they would be destroying</a:t>
                      </a:r>
                    </a:p>
                  </a:txBody>
                  <a:tcPr marL="45720" marR="109728" marT="27432" marB="27432" anchor="ctr">
                    <a:lnB w="9525" cap="flat" cmpd="sng" algn="ctr">
                      <a:solidFill>
                        <a:srgbClr val="DCE3D6"/>
                      </a:solidFill>
                    </a:lnB>
                    <a:solidFill>
                      <a:srgbClr val="FFFFFF"/>
                    </a:solidFill>
                  </a:tcPr>
                </a:tc>
              </a:tr>
              <a:tr h="456905">
                <a:tc>
                  <a:txBody>
                    <a:bodyPr wrap="square"/>
                    <a:lstStyle/>
                    <a:p>
                      <a:r>
                        <a:rPr sz="750" b="0">
                          <a:solidFill>
                            <a:srgbClr val="26301F"/>
                          </a:solidFill>
                          <a:latin typeface="Segoe UI"/>
                        </a:rPr>
                        <a:t>Any seat, asset circle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Possession of an item they do not own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asset itself, recovered by the party holding title, with proceeds paid into the circle</a:t>
                      </a:r>
                    </a:p>
                  </a:txBody>
                  <a:tcPr marL="45720" marR="109728" marT="27432" marB="27432" anchor="ctr">
                    <a:lnB w="9525" cap="flat" cmpd="sng" algn="ctr">
                      <a:solidFill>
                        <a:srgbClr val="DCE3D6"/>
                      </a:solidFill>
                    </a:lnB>
                    <a:solidFill>
                      <a:srgbClr val="FFFFFF"/>
                    </a:solidFill>
                  </a:tcPr>
                </a:tc>
              </a:tr>
              <a:tr h="456905">
                <a:tc>
                  <a:txBody>
                    <a:bodyPr wrap="square"/>
                    <a:lstStyle/>
                    <a:p>
                      <a:r>
                        <a:rPr sz="750" b="0">
                          <a:solidFill>
                            <a:srgbClr val="26301F"/>
                          </a:solidFill>
                          <a:latin typeface="Segoe UI"/>
                        </a:rPr>
                        <a:t>Any seat, pledged savings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Nothing. The shortfall settles from their own units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pledged holding, redeemed under an instruction they signed in advance</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FOUR  PROTECTION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seven layers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35</a:t>
            </a:r>
          </a:p>
        </p:txBody>
      </p:sp>
      <p:graphicFrame>
        <p:nvGraphicFramePr>
          <p:cNvPr id="7" name="Table 6"/>
          <p:cNvGraphicFramePr>
            <a:graphicFrameLocks noGrp="1"/>
          </p:cNvGraphicFramePr>
          <p:nvPr/>
        </p:nvGraphicFramePr>
        <p:xfrm>
          <a:off x="777240" y="1965960"/>
          <a:ext cx="10607040" cy="3490400"/>
        </p:xfrm>
        <a:graphic>
          <a:graphicData uri="http://schemas.openxmlformats.org/drawingml/2006/table">
            <a:tbl>
              <a:tblPr>
                <a:tableStyleId>{5C22544A-7EE6-4342-B048-85BDC9FD1C3A}</a:tableStyleId>
              </a:tblPr>
              <a:tblGrid>
                <a:gridCol w="411480"/>
                <a:gridCol w="1737360"/>
                <a:gridCol w="8458200"/>
              </a:tblGrid>
              <a:tr h="436300">
                <a:tc>
                  <a:txBody>
                    <a:bodyPr wrap="square"/>
                    <a:lstStyle/>
                    <a:p>
                      <a:r>
                        <a:rPr sz="85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LAYER</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MECHANISM</a:t>
                      </a:r>
                    </a:p>
                  </a:txBody>
                  <a:tcPr marL="45720" marR="109728" marT="27432" marB="27432" anchor="ctr">
                    <a:lnB w="9525" cap="flat" cmpd="sng" algn="ctr">
                      <a:solidFill>
                        <a:srgbClr val="41801A"/>
                      </a:solidFill>
                    </a:lnB>
                    <a:solidFill>
                      <a:srgbClr val="FFFFFF"/>
                    </a:solidFill>
                  </a:tcPr>
                </a:tc>
              </a:tr>
              <a:tr h="436300">
                <a:tc>
                  <a:txBody>
                    <a:bodyPr wrap="square"/>
                    <a:lstStyle/>
                    <a:p>
                      <a:r>
                        <a:rPr sz="8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Identity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Identity card captured at signup, home location pinned, uniqueness enforced on the identity number, the telephone number and the electronic address, so every obligation binds to a government identity</a:t>
                      </a:r>
                    </a:p>
                  </a:txBody>
                  <a:tcPr marL="45720" marR="109728" marT="27432" marB="27432" anchor="ctr">
                    <a:lnB w="9525" cap="flat" cmpd="sng" algn="ctr">
                      <a:solidFill>
                        <a:srgbClr val="DCE3D6"/>
                      </a:solidFill>
                    </a:lnB>
                    <a:solidFill>
                      <a:srgbClr val="FFFFFF"/>
                    </a:solidFill>
                  </a:tcPr>
                </a:tc>
              </a:tr>
              <a:tr h="436300">
                <a:tc>
                  <a:txBody>
                    <a:bodyPr wrap="square"/>
                    <a:lstStyle/>
                    <a:p>
                      <a:r>
                        <a:rPr sz="8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Position</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Band and tenure define which seats may be claimed, holding worst case exposure to an unobserved member at two contributions</a:t>
                      </a:r>
                    </a:p>
                  </a:txBody>
                  <a:tcPr marL="45720" marR="109728" marT="27432" marB="27432" anchor="ctr">
                    <a:lnB w="9525" cap="flat" cmpd="sng" algn="ctr">
                      <a:solidFill>
                        <a:srgbClr val="DCE3D6"/>
                      </a:solidFill>
                    </a:lnB>
                    <a:solidFill>
                      <a:srgbClr val="FFFFFF"/>
                    </a:solidFill>
                  </a:tcPr>
                </a:tc>
              </a:tr>
              <a:tr h="436300">
                <a:tc>
                  <a:txBody>
                    <a:bodyPr wrap="square"/>
                    <a:lstStyle/>
                    <a:p>
                      <a:r>
                        <a:rPr sz="8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Schedule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Fixed dates, escalating reminders, a balance check the day before, and an internal grace window which is never displayed to the member</a:t>
                      </a:r>
                    </a:p>
                  </a:txBody>
                  <a:tcPr marL="45720" marR="109728" marT="27432" marB="27432" anchor="ctr">
                    <a:lnB w="9525" cap="flat" cmpd="sng" algn="ctr">
                      <a:solidFill>
                        <a:srgbClr val="DCE3D6"/>
                      </a:solidFill>
                    </a:lnB>
                    <a:solidFill>
                      <a:srgbClr val="FFFFFF"/>
                    </a:solidFill>
                  </a:tcPr>
                </a:tc>
              </a:tr>
              <a:tr h="436300">
                <a:tc>
                  <a:txBody>
                    <a:bodyPr wrap="square"/>
                    <a:lstStyle/>
                    <a:p>
                      <a:r>
                        <a:rPr sz="8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Price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late fee ladder with matched score damage at every step, and 200 points on a default after collection</a:t>
                      </a:r>
                    </a:p>
                  </a:txBody>
                  <a:tcPr marL="45720" marR="109728" marT="27432" marB="27432" anchor="ctr">
                    <a:lnB w="9525" cap="flat" cmpd="sng" algn="ctr">
                      <a:solidFill>
                        <a:srgbClr val="DCE3D6"/>
                      </a:solidFill>
                    </a:lnB>
                    <a:solidFill>
                      <a:srgbClr val="FFFFFF"/>
                    </a:solidFill>
                  </a:tcPr>
                </a:tc>
              </a:tr>
              <a:tr h="436300">
                <a:tc>
                  <a:txBody>
                    <a:bodyPr wrap="square"/>
                    <a:lstStyle/>
                    <a:p>
                      <a:r>
                        <a:rPr sz="8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Payout controls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payout does not release while any contribution in that round is unpaid; a default on a linked account withholds it; a security shortfall is withheld from the pot up to a ceiling of 60 per cent</a:t>
                      </a:r>
                    </a:p>
                  </a:txBody>
                  <a:tcPr marL="45720" marR="109728" marT="27432" marB="27432" anchor="ctr">
                    <a:lnB w="9525" cap="flat" cmpd="sng" algn="ctr">
                      <a:solidFill>
                        <a:srgbClr val="DCE3D6"/>
                      </a:solidFill>
                    </a:lnB>
                    <a:solidFill>
                      <a:srgbClr val="FFFFFF"/>
                    </a:solidFill>
                  </a:tcPr>
                </a:tc>
              </a:tr>
              <a:tr h="436300">
                <a:tc>
                  <a:txBody>
                    <a:bodyPr wrap="square"/>
                    <a:lstStyle/>
                    <a:p>
                      <a:r>
                        <a:rPr sz="85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Consequence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Platform wide feature lock, an internal flag, and a recovery case for the outstanding amount plus penalties plus a 10 per cent rehabilitation fee, identity linked and timestamped</a:t>
                      </a:r>
                    </a:p>
                  </a:txBody>
                  <a:tcPr marL="45720" marR="109728" marT="27432" marB="27432" anchor="ctr">
                    <a:lnB w="9525" cap="flat" cmpd="sng" algn="ctr">
                      <a:solidFill>
                        <a:srgbClr val="DCE3D6"/>
                      </a:solidFill>
                    </a:lnB>
                    <a:solidFill>
                      <a:srgbClr val="FFFFFF"/>
                    </a:solidFill>
                  </a:tcPr>
                </a:tc>
              </a:tr>
              <a:tr h="436300">
                <a:tc>
                  <a:txBody>
                    <a:bodyPr wrap="square"/>
                    <a:lstStyle/>
                    <a:p>
                      <a:r>
                        <a:rPr sz="850" b="0">
                          <a:solidFill>
                            <a:srgbClr val="26301F"/>
                          </a:solidFill>
                          <a:latin typeface="Segoe UI"/>
                        </a:rPr>
                        <a:t>7</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Contract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undertaking, renewed weekly, and the mutual guarantee executed automatically at joining, which runs member to member and never to Halqa</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39240"/>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Each layer is independent of the others, so no single failure exposes the circle.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FOUR  PROTECTION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Pricing the cover</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36</a:t>
            </a:r>
          </a:p>
        </p:txBody>
      </p:sp>
      <p:sp>
        <p:nvSpPr>
          <p:cNvPr id="7" name="TextBox 6"/>
          <p:cNvSpPr txBox="1"/>
          <p:nvPr/>
        </p:nvSpPr>
        <p:spPr>
          <a:xfrm>
            <a:off x="777240" y="1965960"/>
            <a:ext cx="5486400" cy="146304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The premium is set at roughly one and a half times the default rate the circle type is expected to carry, which builds in a three times margin over expected loss for adverse selection, operating cost and reinsurance.</a:t>
            </a:r>
          </a:p>
          <a:p>
            <a:pPr algn="l">
              <a:lnSpc>
                <a:spcPct val="145000"/>
              </a:lnSpc>
              <a:spcBef>
                <a:spcPts val="800"/>
              </a:spcBef>
            </a:pPr>
            <a:r>
              <a:rPr sz="1300" b="0" i="0">
                <a:solidFill>
                  <a:srgbClr val="26301F"/>
                </a:solidFill>
                <a:latin typeface="Segoe UI"/>
              </a:rPr>
              <a:t/>
            </a:r>
          </a:p>
          <a:p>
            <a:pPr algn="l">
              <a:lnSpc>
                <a:spcPct val="145000"/>
              </a:lnSpc>
              <a:spcBef>
                <a:spcPts val="800"/>
              </a:spcBef>
            </a:pPr>
            <a:r>
              <a:rPr sz="1300" b="0" i="0">
                <a:solidFill>
                  <a:srgbClr val="26301F"/>
                </a:solidFill>
                <a:latin typeface="Segoe UI"/>
              </a:rPr>
              <a:t>The relationship does not change with the size of the circle, so one rule prices every product.</a:t>
            </a:r>
          </a:p>
        </p:txBody>
      </p:sp>
      <p:graphicFrame>
        <p:nvGraphicFramePr>
          <p:cNvPr id="8" name="Table 7"/>
          <p:cNvGraphicFramePr>
            <a:graphicFrameLocks noGrp="1"/>
          </p:cNvGraphicFramePr>
          <p:nvPr/>
        </p:nvGraphicFramePr>
        <p:xfrm>
          <a:off x="6629400" y="1965960"/>
          <a:ext cx="4754880" cy="1536192"/>
        </p:xfrm>
        <a:graphic>
          <a:graphicData uri="http://schemas.openxmlformats.org/drawingml/2006/table">
            <a:tbl>
              <a:tblPr>
                <a:tableStyleId>{5C22544A-7EE6-4342-B048-85BDC9FD1C3A}</a:tableStyleId>
              </a:tblPr>
              <a:tblGrid>
                <a:gridCol w="1554480"/>
                <a:gridCol w="1554480"/>
                <a:gridCol w="1645920"/>
              </a:tblGrid>
              <a:tr h="384048">
                <a:tc>
                  <a:txBody>
                    <a:bodyPr wrap="square"/>
                    <a:lstStyle/>
                    <a:p>
                      <a:r>
                        <a:rPr sz="900" b="1">
                          <a:solidFill>
                            <a:srgbClr val="41801A"/>
                          </a:solidFill>
                          <a:latin typeface="Segoe UI"/>
                        </a:rPr>
                        <a:t>CIRCLE TYPE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EXPECTED DEFAULT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PREMIUM CHARGED</a:t>
                      </a:r>
                    </a:p>
                  </a:txBody>
                  <a:tcPr marL="45720" marR="109728" marT="27432" marB="27432" anchor="ctr">
                    <a:lnB w="9525" cap="flat" cmpd="sng" algn="ctr">
                      <a:solidFill>
                        <a:srgbClr val="41801A"/>
                      </a:solidFill>
                    </a:lnB>
                    <a:solidFill>
                      <a:srgbClr val="FFFFFF"/>
                    </a:solidFill>
                  </a:tcPr>
                </a:tc>
              </a:tr>
              <a:tr h="384048">
                <a:tc>
                  <a:txBody>
                    <a:bodyPr wrap="square"/>
                    <a:lstStyle/>
                    <a:p>
                      <a:r>
                        <a:rPr sz="1100" b="0">
                          <a:solidFill>
                            <a:srgbClr val="26301F"/>
                          </a:solidFill>
                          <a:latin typeface="Segoe UI"/>
                        </a:rPr>
                        <a:t>Known</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0.3%</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0.5% of each contribution</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Open</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1.0%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1.5% of each contribution</a:t>
                      </a:r>
                    </a:p>
                  </a:txBody>
                  <a:tcPr marL="45720" marR="109728" marT="27432" marB="27432" anchor="ctr">
                    <a:lnB w="9525" cap="flat" cmpd="sng" algn="ctr">
                      <a:solidFill>
                        <a:srgbClr val="DCE3D6"/>
                      </a:solidFill>
                    </a:lnB>
                    <a:solidFill>
                      <a:srgbClr val="FFFFFF"/>
                    </a:solidFill>
                  </a:tcPr>
                </a:tc>
              </a:tr>
              <a:tr h="384048">
                <a:tc>
                  <a:txBody>
                    <a:bodyPr wrap="square"/>
                    <a:lstStyle/>
                    <a:p>
                      <a:r>
                        <a:rPr sz="1100" b="0">
                          <a:solidFill>
                            <a:srgbClr val="26301F"/>
                          </a:solidFill>
                          <a:latin typeface="Segoe UI"/>
                        </a:rPr>
                        <a:t>HYPER</a:t>
                      </a:r>
                    </a:p>
                  </a:txBody>
                  <a:tcPr marL="45720" marR="109728" marT="27432" marB="27432" anchor="ctr">
                    <a:lnB w="9525" cap="flat" cmpd="sng" algn="ctr">
                      <a:solidFill>
                        <a:srgbClr val="DCE3D6"/>
                      </a:solidFill>
                    </a:lnB>
                    <a:solidFill>
                      <a:srgbClr val="FFFFFF"/>
                    </a:solidFill>
                  </a:tcPr>
                </a:tc>
                <a:tc>
                  <a:txBody>
                    <a:bodyPr wrap="square"/>
                    <a:lstStyle/>
                    <a:p>
                      <a:pPr algn="r"/>
                      <a:r>
                        <a:rPr sz="1100" b="0">
                          <a:solidFill>
                            <a:srgbClr val="26301F"/>
                          </a:solidFill>
                          <a:latin typeface="Segoe UI"/>
                        </a:rPr>
                        <a:t>30.0%</a:t>
                      </a:r>
                    </a:p>
                  </a:txBody>
                  <a:tcPr marL="45720" marR="109728" marT="27432" marB="27432" anchor="ctr">
                    <a:lnB w="9525" cap="flat" cmpd="sng" algn="ctr">
                      <a:solidFill>
                        <a:srgbClr val="DCE3D6"/>
                      </a:solidFill>
                    </a:lnB>
                    <a:solidFill>
                      <a:srgbClr val="FFFFFF"/>
                    </a:solidFill>
                  </a:tcPr>
                </a:tc>
                <a:tc>
                  <a:txBody>
                    <a:bodyPr wrap="square"/>
                    <a:lstStyle/>
                    <a:p>
                      <a:r>
                        <a:rPr sz="1100" b="0">
                          <a:solidFill>
                            <a:srgbClr val="26301F"/>
                          </a:solidFill>
                          <a:latin typeface="Segoe UI"/>
                        </a:rPr>
                        <a:t>15.0% of each contribution</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6629400" y="3840480"/>
            <a:ext cx="4754880" cy="82296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The cover facility is priced, capped per circle, per host, per member and in aggregate against paid up capital, subrogated as an advance rather than a payment, and reinsured above the aggregate cap.</a:t>
            </a:r>
          </a:p>
        </p:txBody>
      </p:sp>
      <p:sp>
        <p:nvSpPr>
          <p:cNvPr id="10" name="TextBox 9"/>
          <p:cNvSpPr txBox="1"/>
          <p:nvPr/>
        </p:nvSpPr>
        <p:spPr>
          <a:xfrm>
            <a:off x="777240" y="4937760"/>
            <a:ext cx="10607040" cy="822960"/>
          </a:xfrm>
          <a:prstGeom prst="rect">
            <a:avLst/>
          </a:prstGeom>
          <a:noFill/>
        </p:spPr>
        <p:txBody>
          <a:bodyPr wrap="square" lIns="0" rIns="0" tIns="0" bIns="0">
            <a:spAutoFit/>
          </a:bodyPr>
          <a:lstStyle/>
          <a:p>
            <a:pPr algn="l">
              <a:lnSpc>
                <a:spcPct val="145000"/>
              </a:lnSpc>
            </a:pPr>
            <a:r>
              <a:rPr sz="1300" b="0" i="0">
                <a:solidFill>
                  <a:srgbClr val="0C1408"/>
                </a:solidFill>
                <a:latin typeface="Segoe UI"/>
              </a:rPr>
              <a:t>Every price in the business is therefore a function of one input which has not yet been measured. The first hundred completed circles establish it and reprice the schedule. That is a stronger position than presenting the figures as fixed, because it says the pricing is a model with a named input rather than a guess.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FOUR  PROTECTION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time value of a turn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37</a:t>
            </a:r>
          </a:p>
        </p:txBody>
      </p:sp>
      <p:sp>
        <p:nvSpPr>
          <p:cNvPr id="7" name="TextBox 6"/>
          <p:cNvSpPr txBox="1"/>
          <p:nvPr/>
        </p:nvSpPr>
        <p:spPr>
          <a:xfrm>
            <a:off x="777240" y="1965960"/>
            <a:ext cx="10607040" cy="64008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Every member pays the same total and receives the same total, so on paper nobody gains. That is true in rupees and false in economics. Rs 240,000 in month one is not the same thing as Rs 240,000 in month twelve, and every member already knows it. That is why they compete for early turns.</a:t>
            </a:r>
          </a:p>
        </p:txBody>
      </p:sp>
      <p:sp>
        <p:nvSpPr>
          <p:cNvPr id="8" name="Rectangle 7"/>
          <p:cNvSpPr/>
          <p:nvPr/>
        </p:nvSpPr>
        <p:spPr>
          <a:xfrm>
            <a:off x="777240" y="2834640"/>
            <a:ext cx="1060704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83464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953512"/>
            <a:ext cx="10241280" cy="274320"/>
          </a:xfrm>
          <a:prstGeom prst="rect">
            <a:avLst/>
          </a:prstGeom>
          <a:noFill/>
        </p:spPr>
        <p:txBody>
          <a:bodyPr wrap="square" lIns="0" rIns="0" tIns="0" bIns="0">
            <a:spAutoFit/>
          </a:bodyPr>
          <a:lstStyle/>
          <a:p>
            <a:pPr algn="l">
              <a:lnSpc>
                <a:spcPct val="125000"/>
              </a:lnSpc>
            </a:pPr>
            <a:r>
              <a:rPr sz="1500" b="1" i="0">
                <a:solidFill>
                  <a:srgbClr val="22450C"/>
                </a:solidFill>
                <a:latin typeface="Segoe UI"/>
              </a:rPr>
              <a:t>Value of a turn  =  pot ÷ (1 + i)ᵏ   −   present value of every contribution</a:t>
            </a:r>
          </a:p>
        </p:txBody>
      </p:sp>
      <p:sp>
        <p:nvSpPr>
          <p:cNvPr id="11" name="TextBox 10"/>
          <p:cNvSpPr txBox="1"/>
          <p:nvPr/>
        </p:nvSpPr>
        <p:spPr>
          <a:xfrm>
            <a:off x="777240" y="3520440"/>
            <a:ext cx="10607040" cy="457200"/>
          </a:xfrm>
          <a:prstGeom prst="rect">
            <a:avLst/>
          </a:prstGeom>
          <a:noFill/>
        </p:spPr>
        <p:txBody>
          <a:bodyPr wrap="square" lIns="0" rIns="0" tIns="0" bIns="0">
            <a:spAutoFit/>
          </a:bodyPr>
          <a:lstStyle/>
          <a:p>
            <a:pPr algn="l">
              <a:lnSpc>
                <a:spcPct val="125000"/>
              </a:lnSpc>
            </a:pPr>
            <a:r>
              <a:rPr sz="1200" b="0" i="0">
                <a:solidFill>
                  <a:srgbClr val="6F7B68"/>
                </a:solidFill>
                <a:latin typeface="Segoe UI"/>
              </a:rPr>
              <a:t>Twelve members, Rs 20,000 a month, a Rs 240,000 pot, discounted at twelve per cent a year.</a:t>
            </a:r>
          </a:p>
        </p:txBody>
      </p:sp>
      <p:graphicFrame>
        <p:nvGraphicFramePr>
          <p:cNvPr id="12" name="Table 11"/>
          <p:cNvGraphicFramePr>
            <a:graphicFrameLocks noGrp="1"/>
          </p:cNvGraphicFramePr>
          <p:nvPr/>
        </p:nvGraphicFramePr>
        <p:xfrm>
          <a:off x="777240" y="3977639"/>
          <a:ext cx="10607040" cy="1664208"/>
        </p:xfrm>
        <a:graphic>
          <a:graphicData uri="http://schemas.openxmlformats.org/drawingml/2006/table">
            <a:tbl>
              <a:tblPr>
                <a:tableStyleId>{5C22544A-7EE6-4342-B048-85BDC9FD1C3A}</a:tableStyleId>
              </a:tblPr>
              <a:tblGrid>
                <a:gridCol w="1097280"/>
                <a:gridCol w="3291840"/>
                <a:gridCol w="3291840"/>
                <a:gridCol w="2926080"/>
              </a:tblGrid>
              <a:tr h="237744">
                <a:tc>
                  <a:txBody>
                    <a:bodyPr wrap="square"/>
                    <a:lstStyle/>
                    <a:p>
                      <a:r>
                        <a:rPr sz="750" b="1">
                          <a:solidFill>
                            <a:srgbClr val="41801A"/>
                          </a:solidFill>
                          <a:latin typeface="Segoe UI"/>
                        </a:rPr>
                        <a:t>SEAT</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POT RECEIVED, PRESENT VALUE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CONTRIBUTIONS, PRESENT VALUE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VALUE OF THE TURN</a:t>
                      </a:r>
                    </a:p>
                  </a:txBody>
                  <a:tcPr marL="45720" marR="109728" marT="27432" marB="27432" anchor="ctr">
                    <a:lnB w="9525" cap="flat" cmpd="sng" algn="ctr">
                      <a:solidFill>
                        <a:srgbClr val="41801A"/>
                      </a:solidFill>
                    </a:lnB>
                    <a:solidFill>
                      <a:srgbClr val="FFFFFF"/>
                    </a:solidFill>
                  </a:tcPr>
                </a:tc>
              </a:tr>
              <a:tr h="237744">
                <a:tc>
                  <a:txBody>
                    <a:bodyPr wrap="square"/>
                    <a:lstStyle/>
                    <a:p>
                      <a:r>
                        <a:rPr sz="7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237,745</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225,829</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Plus Rs 11,916</a:t>
                      </a:r>
                    </a:p>
                  </a:txBody>
                  <a:tcPr marL="45720" marR="109728" marT="27432" marB="27432" anchor="ctr">
                    <a:lnB w="9525" cap="flat" cmpd="sng" algn="ctr">
                      <a:solidFill>
                        <a:srgbClr val="DCE3D6"/>
                      </a:solidFill>
                    </a:lnB>
                    <a:solidFill>
                      <a:srgbClr val="FFFFFF"/>
                    </a:solidFill>
                  </a:tcPr>
                </a:tc>
              </a:tr>
              <a:tr h="237744">
                <a:tc>
                  <a:txBody>
                    <a:bodyPr wrap="square"/>
                    <a:lstStyle/>
                    <a:p>
                      <a:r>
                        <a:rPr sz="7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231,077</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225,829</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Plus Rs 5,248</a:t>
                      </a:r>
                    </a:p>
                  </a:txBody>
                  <a:tcPr marL="45720" marR="109728" marT="27432" marB="27432" anchor="ctr">
                    <a:lnB w="9525" cap="flat" cmpd="sng" algn="ctr">
                      <a:solidFill>
                        <a:srgbClr val="DCE3D6"/>
                      </a:solidFill>
                    </a:lnB>
                    <a:solidFill>
                      <a:srgbClr val="FFFFFF"/>
                    </a:solidFill>
                  </a:tcPr>
                </a:tc>
              </a:tr>
              <a:tr h="237744">
                <a:tc>
                  <a:txBody>
                    <a:bodyPr wrap="square"/>
                    <a:lstStyle/>
                    <a:p>
                      <a:r>
                        <a:rPr sz="75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226,769</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225,829</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Plus Rs 940</a:t>
                      </a:r>
                    </a:p>
                  </a:txBody>
                  <a:tcPr marL="45720" marR="109728" marT="27432" marB="27432" anchor="ctr">
                    <a:lnB w="9525" cap="flat" cmpd="sng" algn="ctr">
                      <a:solidFill>
                        <a:srgbClr val="DCE3D6"/>
                      </a:solidFill>
                    </a:lnB>
                    <a:solidFill>
                      <a:srgbClr val="FFFFFF"/>
                    </a:solidFill>
                  </a:tcPr>
                </a:tc>
              </a:tr>
              <a:tr h="237744">
                <a:tc>
                  <a:txBody>
                    <a:bodyPr wrap="square"/>
                    <a:lstStyle/>
                    <a:p>
                      <a:r>
                        <a:rPr sz="750" b="0">
                          <a:solidFill>
                            <a:srgbClr val="26301F"/>
                          </a:solidFill>
                          <a:latin typeface="Segoe UI"/>
                        </a:rPr>
                        <a:t>7</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224,637</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225,829</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Minus Rs 1,192</a:t>
                      </a:r>
                    </a:p>
                  </a:txBody>
                  <a:tcPr marL="45720" marR="109728" marT="27432" marB="27432" anchor="ctr">
                    <a:lnB w="9525" cap="flat" cmpd="sng" algn="ctr">
                      <a:solidFill>
                        <a:srgbClr val="DCE3D6"/>
                      </a:solidFill>
                    </a:lnB>
                    <a:solidFill>
                      <a:srgbClr val="FFFFFF"/>
                    </a:solidFill>
                  </a:tcPr>
                </a:tc>
              </a:tr>
              <a:tr h="237744">
                <a:tc>
                  <a:txBody>
                    <a:bodyPr wrap="square"/>
                    <a:lstStyle/>
                    <a:p>
                      <a:r>
                        <a:rPr sz="750" b="0">
                          <a:solidFill>
                            <a:srgbClr val="26301F"/>
                          </a:solidFill>
                          <a:latin typeface="Segoe UI"/>
                        </a:rPr>
                        <a:t>9</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220,447</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225,829</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Minus Rs 5,382</a:t>
                      </a:r>
                    </a:p>
                  </a:txBody>
                  <a:tcPr marL="45720" marR="109728" marT="27432" marB="27432" anchor="ctr">
                    <a:lnB w="9525" cap="flat" cmpd="sng" algn="ctr">
                      <a:solidFill>
                        <a:srgbClr val="DCE3D6"/>
                      </a:solidFill>
                    </a:lnB>
                    <a:solidFill>
                      <a:srgbClr val="FFFFFF"/>
                    </a:solidFill>
                  </a:tcPr>
                </a:tc>
              </a:tr>
              <a:tr h="237744">
                <a:tc>
                  <a:txBody>
                    <a:bodyPr wrap="square"/>
                    <a:lstStyle/>
                    <a:p>
                      <a:r>
                        <a:rPr sz="750" b="0">
                          <a:solidFill>
                            <a:srgbClr val="26301F"/>
                          </a:solidFill>
                          <a:latin typeface="Segoe UI"/>
                        </a:rPr>
                        <a:t>12</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214,286</a:t>
                      </a:r>
                    </a:p>
                  </a:txBody>
                  <a:tcPr marL="45720" marR="109728" marT="27432" marB="27432" anchor="ctr">
                    <a:lnB w="9525" cap="flat" cmpd="sng" algn="ctr">
                      <a:solidFill>
                        <a:srgbClr val="DCE3D6"/>
                      </a:solidFill>
                    </a:lnB>
                    <a:solidFill>
                      <a:srgbClr val="FFFFFF"/>
                    </a:solidFill>
                  </a:tcPr>
                </a:tc>
                <a:tc>
                  <a:txBody>
                    <a:bodyPr wrap="square"/>
                    <a:lstStyle/>
                    <a:p>
                      <a:pPr algn="r"/>
                      <a:r>
                        <a:rPr sz="750" b="0">
                          <a:solidFill>
                            <a:srgbClr val="26301F"/>
                          </a:solidFill>
                          <a:latin typeface="Segoe UI"/>
                        </a:rPr>
                        <a:t>Rs 225,829</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Minus Rs 11,543</a:t>
                      </a:r>
                    </a:p>
                  </a:txBody>
                  <a:tcPr marL="45720" marR="109728" marT="27432" marB="27432" anchor="ctr">
                    <a:lnB w="9525" cap="flat" cmpd="sng" algn="ctr">
                      <a:solidFill>
                        <a:srgbClr val="DCE3D6"/>
                      </a:solidFill>
                    </a:lnB>
                    <a:solidFill>
                      <a:srgbClr val="FFFFFF"/>
                    </a:solidFill>
                  </a:tcPr>
                </a:tc>
              </a:tr>
            </a:tbl>
          </a:graphicData>
        </a:graphic>
      </p:graphicFrame>
      <p:sp>
        <p:nvSpPr>
          <p:cNvPr id="13" name="TextBox 12"/>
          <p:cNvSpPr txBox="1"/>
          <p:nvPr/>
        </p:nvSpPr>
        <p:spPr>
          <a:xfrm>
            <a:off x="777240" y="5824727"/>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The spread between the first seat and the last is Rs 23,459, which is 9.8 per cent of the pot. That value is not created by Halqa and it is not destroyed. It moves from the late members to the early ones, and the only question is whether the arrangement prices it openly or pretends it does not exist.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FOUR  PROTECTION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Where the order turns neutral</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38</a:t>
            </a:r>
          </a:p>
        </p:txBody>
      </p:sp>
      <p:pic>
        <p:nvPicPr>
          <p:cNvPr id="7" name="Picture 6" descr="l_timevalue.png"/>
          <p:cNvPicPr>
            <a:picLocks noChangeAspect="1"/>
          </p:cNvPicPr>
          <p:nvPr/>
        </p:nvPicPr>
        <p:blipFill>
          <a:blip r:embed="rId2"/>
          <a:stretch>
            <a:fillRect/>
          </a:stretch>
        </p:blipFill>
        <p:spPr>
          <a:xfrm>
            <a:off x="777240" y="2103120"/>
            <a:ext cx="5943600" cy="2376698"/>
          </a:xfrm>
          <a:prstGeom prst="rect">
            <a:avLst/>
          </a:prstGeom>
        </p:spPr>
      </p:pic>
      <p:sp>
        <p:nvSpPr>
          <p:cNvPr id="8" name="TextBox 7"/>
          <p:cNvSpPr txBox="1"/>
          <p:nvPr/>
        </p:nvSpPr>
        <p:spPr>
          <a:xfrm>
            <a:off x="777240" y="4617720"/>
            <a:ext cx="5943600" cy="32004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Value of the turn against the early seat fee currently charged, by seat.</a:t>
            </a:r>
          </a:p>
        </p:txBody>
      </p:sp>
      <p:sp>
        <p:nvSpPr>
          <p:cNvPr id="9" name="Rectangle 8"/>
          <p:cNvSpPr/>
          <p:nvPr/>
        </p:nvSpPr>
        <p:spPr>
          <a:xfrm>
            <a:off x="7269480" y="2011680"/>
            <a:ext cx="411480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201168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0648" y="2130552"/>
            <a:ext cx="3749040" cy="274320"/>
          </a:xfrm>
          <a:prstGeom prst="rect">
            <a:avLst/>
          </a:prstGeom>
          <a:noFill/>
        </p:spPr>
        <p:txBody>
          <a:bodyPr wrap="square" lIns="0" rIns="0" tIns="0" bIns="0">
            <a:spAutoFit/>
          </a:bodyPr>
          <a:lstStyle/>
          <a:p>
            <a:pPr algn="l">
              <a:lnSpc>
                <a:spcPct val="125000"/>
              </a:lnSpc>
            </a:pPr>
            <a:r>
              <a:rPr sz="1400" b="1" i="0">
                <a:solidFill>
                  <a:srgbClr val="22450C"/>
                </a:solidFill>
                <a:latin typeface="Segoe UI"/>
              </a:rPr>
              <a:t>Neutral seat  =  6.4 of 12</a:t>
            </a:r>
          </a:p>
        </p:txBody>
      </p:sp>
      <p:sp>
        <p:nvSpPr>
          <p:cNvPr id="12" name="TextBox 11"/>
          <p:cNvSpPr txBox="1"/>
          <p:nvPr/>
        </p:nvSpPr>
        <p:spPr>
          <a:xfrm>
            <a:off x="7269480" y="2697480"/>
            <a:ext cx="4114800" cy="320040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Setting the value of the turn to zero and solving gives seat 6.4. Seats one to six carry positive value. Seats seven to twelve carry negative value.</a:t>
            </a:r>
          </a:p>
          <a:p>
            <a:pPr algn="l">
              <a:lnSpc>
                <a:spcPct val="145000"/>
              </a:lnSpc>
              <a:spcBef>
                <a:spcPts val="800"/>
              </a:spcBef>
            </a:pPr>
            <a:r>
              <a:rPr sz="1150" b="0" i="0">
                <a:solidFill>
                  <a:srgbClr val="26301F"/>
                </a:solidFill>
                <a:latin typeface="Segoe UI"/>
              </a:rPr>
              <a:t/>
            </a:r>
          </a:p>
          <a:p>
            <a:pPr algn="l">
              <a:lnSpc>
                <a:spcPct val="145000"/>
              </a:lnSpc>
              <a:spcBef>
                <a:spcPts val="800"/>
              </a:spcBef>
            </a:pPr>
            <a:r>
              <a:rPr sz="1150" b="0" i="0">
                <a:solidFill>
                  <a:srgbClr val="26301F"/>
                </a:solidFill>
                <a:latin typeface="Segoe UI"/>
              </a:rPr>
              <a:t>The fee schedule does not currently match that. It tapers to zero at the last seat rather than at the neutral seat, and at its steepest it captures Rs 4,200 of the Rs 11,916 the first seat is worth, which is about a third.</a:t>
            </a:r>
          </a:p>
          <a:p>
            <a:pPr algn="l">
              <a:lnSpc>
                <a:spcPct val="145000"/>
              </a:lnSpc>
              <a:spcBef>
                <a:spcPts val="800"/>
              </a:spcBef>
            </a:pPr>
            <a:r>
              <a:rPr sz="1150" b="0" i="0">
                <a:solidFill>
                  <a:srgbClr val="26301F"/>
                </a:solidFill>
                <a:latin typeface="Segoe UI"/>
              </a:rPr>
              <a:t/>
            </a:r>
          </a:p>
          <a:p>
            <a:pPr algn="l">
              <a:lnSpc>
                <a:spcPct val="145000"/>
              </a:lnSpc>
              <a:spcBef>
                <a:spcPts val="800"/>
              </a:spcBef>
            </a:pPr>
            <a:r>
              <a:rPr sz="1150" b="0" i="0">
                <a:solidFill>
                  <a:srgbClr val="26301F"/>
                </a:solidFill>
                <a:latin typeface="Segoe UI"/>
              </a:rPr>
              <a:t>The correction is one line: taper the early seat fee to zero at the neutral seat, and credit the seats beyond it from what the early seats paid. The circle then settles its own time value internally and the arrangement is provably fair rather than merely conventionally fair.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FOUR  PROTECTION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Time value across the rate spectrum</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39</a:t>
            </a:r>
          </a:p>
        </p:txBody>
      </p:sp>
      <p:pic>
        <p:nvPicPr>
          <p:cNvPr id="7" name="Picture 6" descr="s_timevalue.png"/>
          <p:cNvPicPr>
            <a:picLocks noChangeAspect="1"/>
          </p:cNvPicPr>
          <p:nvPr/>
        </p:nvPicPr>
        <p:blipFill>
          <a:blip r:embed="rId2"/>
          <a:stretch>
            <a:fillRect/>
          </a:stretch>
        </p:blipFill>
        <p:spPr>
          <a:xfrm>
            <a:off x="1051560" y="1920240"/>
            <a:ext cx="4189436" cy="3703320"/>
          </a:xfrm>
          <a:prstGeom prst="rect">
            <a:avLst/>
          </a:prstGeom>
        </p:spPr>
      </p:pic>
      <p:sp>
        <p:nvSpPr>
          <p:cNvPr id="8" name="Rectangle 7"/>
          <p:cNvSpPr/>
          <p:nvPr/>
        </p:nvSpPr>
        <p:spPr>
          <a:xfrm>
            <a:off x="1325880" y="5847588"/>
            <a:ext cx="146304" cy="91440"/>
          </a:xfrm>
          <a:prstGeom prst="rect">
            <a:avLst/>
          </a:prstGeom>
          <a:solidFill>
            <a:srgbClr val="B3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533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Loss</a:t>
            </a:r>
          </a:p>
        </p:txBody>
      </p:sp>
      <p:sp>
        <p:nvSpPr>
          <p:cNvPr id="10" name="Rectangle 9"/>
          <p:cNvSpPr/>
          <p:nvPr/>
        </p:nvSpPr>
        <p:spPr>
          <a:xfrm>
            <a:off x="2560320" y="5847588"/>
            <a:ext cx="146304" cy="91440"/>
          </a:xfrm>
          <a:prstGeom prst="rect">
            <a:avLst/>
          </a:prstGeom>
          <a:solidFill>
            <a:srgbClr val="E8C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977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Break even</a:t>
            </a:r>
          </a:p>
        </p:txBody>
      </p:sp>
      <p:sp>
        <p:nvSpPr>
          <p:cNvPr id="12" name="Rectangle 11"/>
          <p:cNvSpPr/>
          <p:nvPr/>
        </p:nvSpPr>
        <p:spPr>
          <a:xfrm>
            <a:off x="3794760" y="5847588"/>
            <a:ext cx="146304" cy="91440"/>
          </a:xfrm>
          <a:prstGeom prst="rect">
            <a:avLst/>
          </a:prstGeom>
          <a:solidFill>
            <a:srgbClr val="2F7D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1421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Profit</a:t>
            </a:r>
          </a:p>
        </p:txBody>
      </p:sp>
      <p:sp>
        <p:nvSpPr>
          <p:cNvPr id="14" name="TextBox 13"/>
          <p:cNvSpPr txBox="1"/>
          <p:nvPr/>
        </p:nvSpPr>
        <p:spPr>
          <a:xfrm>
            <a:off x="5897880" y="2011680"/>
            <a:ext cx="5486400" cy="402336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The neutral seat is not fixed. It moves with the rate a member discounts the future at, which in practice is what borrowing costs them.</a:t>
            </a:r>
          </a:p>
          <a:p>
            <a:pPr algn="l">
              <a:lnSpc>
                <a:spcPct val="145000"/>
              </a:lnSpc>
              <a:spcBef>
                <a:spcPts val="700"/>
              </a:spcBef>
            </a:pPr>
            <a:r>
              <a:rPr sz="1100" b="0" i="0">
                <a:solidFill>
                  <a:srgbClr val="26301F"/>
                </a:solidFill>
                <a:latin typeface="Segoe UI"/>
              </a:rPr>
              <a:t/>
            </a:r>
          </a:p>
          <a:p>
            <a:pPr algn="l">
              <a:lnSpc>
                <a:spcPct val="145000"/>
              </a:lnSpc>
              <a:spcBef>
                <a:spcPts val="700"/>
              </a:spcBef>
            </a:pPr>
            <a:r>
              <a:rPr sz="1100" b="0" i="0">
                <a:solidFill>
                  <a:srgbClr val="26301F"/>
                </a:solidFill>
                <a:latin typeface="Segoe UI"/>
              </a:rPr>
              <a:t>At two per cent a year the order is nearly flat and the seat barely matters. At thirty per cent, which is close to what a Pakistani household pays on informal credit, the first seat is worth over Rs 25,000 and the last costs about the same.</a:t>
            </a:r>
          </a:p>
          <a:p>
            <a:pPr algn="l">
              <a:lnSpc>
                <a:spcPct val="145000"/>
              </a:lnSpc>
              <a:spcBef>
                <a:spcPts val="700"/>
              </a:spcBef>
            </a:pPr>
            <a:r>
              <a:rPr sz="1100" b="0" i="0">
                <a:solidFill>
                  <a:srgbClr val="26301F"/>
                </a:solidFill>
                <a:latin typeface="Segoe UI"/>
              </a:rPr>
              <a:t/>
            </a:r>
          </a:p>
          <a:p>
            <a:pPr algn="l">
              <a:lnSpc>
                <a:spcPct val="145000"/>
              </a:lnSpc>
              <a:spcBef>
                <a:spcPts val="700"/>
              </a:spcBef>
            </a:pPr>
            <a:r>
              <a:rPr sz="1100" b="0" i="0">
                <a:solidFill>
                  <a:srgbClr val="26301F"/>
                </a:solidFill>
                <a:latin typeface="Segoe UI"/>
              </a:rPr>
              <a:t>This is the reason the turn marketplace exists. Members do not value their positions identically, because they do not face the same cost of money. A member with a cash need today and a member saving for a wedding next year sit on opposite sides of this surface, and letting them trade makes them both better off without Halqa taking any risk.</a:t>
            </a:r>
          </a:p>
          <a:p>
            <a:pPr algn="l">
              <a:lnSpc>
                <a:spcPct val="145000"/>
              </a:lnSpc>
              <a:spcBef>
                <a:spcPts val="700"/>
              </a:spcBef>
            </a:pPr>
            <a:r>
              <a:rPr sz="1100" b="0" i="0">
                <a:solidFill>
                  <a:srgbClr val="26301F"/>
                </a:solidFill>
                <a:latin typeface="Segoe UI"/>
              </a:rPr>
              <a:t/>
            </a:r>
          </a:p>
          <a:p>
            <a:pPr algn="l">
              <a:lnSpc>
                <a:spcPct val="145000"/>
              </a:lnSpc>
              <a:spcBef>
                <a:spcPts val="700"/>
              </a:spcBef>
            </a:pPr>
            <a:r>
              <a:rPr sz="1100" b="0" i="0">
                <a:solidFill>
                  <a:srgbClr val="26301F"/>
                </a:solidFill>
                <a:latin typeface="Segoe UI"/>
              </a:rPr>
              <a:t>The marketplace commission of ten per cent of the accepted premium is a fee on that trade, not a position in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FIVE  RECOVERY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Legal instruments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40</a:t>
            </a:r>
          </a:p>
        </p:txBody>
      </p:sp>
      <p:graphicFrame>
        <p:nvGraphicFramePr>
          <p:cNvPr id="7" name="Table 6"/>
          <p:cNvGraphicFramePr>
            <a:graphicFrameLocks noGrp="1"/>
          </p:cNvGraphicFramePr>
          <p:nvPr/>
        </p:nvGraphicFramePr>
        <p:xfrm>
          <a:off x="777240" y="1965960"/>
          <a:ext cx="10607040" cy="3621024"/>
        </p:xfrm>
        <a:graphic>
          <a:graphicData uri="http://schemas.openxmlformats.org/drawingml/2006/table">
            <a:tbl>
              <a:tblPr>
                <a:tableStyleId>{5C22544A-7EE6-4342-B048-85BDC9FD1C3A}</a:tableStyleId>
              </a:tblPr>
              <a:tblGrid>
                <a:gridCol w="2011680"/>
                <a:gridCol w="4754880"/>
                <a:gridCol w="3840480"/>
              </a:tblGrid>
              <a:tr h="603504">
                <a:tc>
                  <a:txBody>
                    <a:bodyPr wrap="square"/>
                    <a:lstStyle/>
                    <a:p>
                      <a:r>
                        <a:rPr sz="900" b="1">
                          <a:solidFill>
                            <a:srgbClr val="41801A"/>
                          </a:solidFill>
                          <a:latin typeface="Segoe UI"/>
                        </a:rPr>
                        <a:t>INSTRUMENT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DETAIL</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EFFECT</a:t>
                      </a:r>
                    </a:p>
                  </a:txBody>
                  <a:tcPr marL="45720" marR="109728" marT="27432" marB="27432" anchor="ctr">
                    <a:lnB w="9525" cap="flat" cmpd="sng" algn="ctr">
                      <a:solidFill>
                        <a:srgbClr val="41801A"/>
                      </a:solidFill>
                    </a:lnB>
                    <a:solidFill>
                      <a:srgbClr val="FFFFFF"/>
                    </a:solidFill>
                  </a:tcPr>
                </a:tc>
              </a:tr>
              <a:tr h="603504">
                <a:tc>
                  <a:txBody>
                    <a:bodyPr wrap="square"/>
                    <a:lstStyle/>
                    <a:p>
                      <a:r>
                        <a:rPr sz="900" b="0">
                          <a:solidFill>
                            <a:srgbClr val="26301F"/>
                          </a:solidFill>
                          <a:latin typeface="Segoe UI"/>
                        </a:rPr>
                        <a:t>Undertaking</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Electronically signed, renewed weekly, ten clauses, seven day expiry. The typed name must match the registered name exactly. Stored with a hash of the document, the signing IP and a timestamp</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A written contract for a fixed sum, which permits recovery by summary suit under Order XXXVII of the Code of Civil Procedure</a:t>
                      </a:r>
                    </a:p>
                  </a:txBody>
                  <a:tcPr marL="45720" marR="109728" marT="27432" marB="27432" anchor="ctr">
                    <a:lnB w="9525" cap="flat" cmpd="sng" algn="ctr">
                      <a:solidFill>
                        <a:srgbClr val="DCE3D6"/>
                      </a:solidFill>
                    </a:lnB>
                    <a:solidFill>
                      <a:srgbClr val="FFFFFF"/>
                    </a:solidFill>
                  </a:tcPr>
                </a:tc>
              </a:tr>
              <a:tr h="603504">
                <a:tc>
                  <a:txBody>
                    <a:bodyPr wrap="square"/>
                    <a:lstStyle/>
                    <a:p>
                      <a:r>
                        <a:rPr sz="900" b="0">
                          <a:solidFill>
                            <a:srgbClr val="26301F"/>
                          </a:solidFill>
                          <a:latin typeface="Segoe UI"/>
                        </a:rPr>
                        <a:t>Mutual guarantee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Executed automatically inside the join transaction. Starting a circle requires every active member to have signed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Runs member to member and expressly not to Halqa, so the circle rather than the platform holds the claim</a:t>
                      </a:r>
                    </a:p>
                  </a:txBody>
                  <a:tcPr marL="45720" marR="109728" marT="27432" marB="27432" anchor="ctr">
                    <a:lnB w="9525" cap="flat" cmpd="sng" algn="ctr">
                      <a:solidFill>
                        <a:srgbClr val="DCE3D6"/>
                      </a:solidFill>
                    </a:lnB>
                    <a:solidFill>
                      <a:srgbClr val="FFFFFF"/>
                    </a:solidFill>
                  </a:tcPr>
                </a:tc>
              </a:tr>
              <a:tr h="603504">
                <a:tc>
                  <a:txBody>
                    <a:bodyPr wrap="square"/>
                    <a:lstStyle/>
                    <a:p>
                      <a:r>
                        <a:rPr sz="900" b="0">
                          <a:solidFill>
                            <a:srgbClr val="26301F"/>
                          </a:solidFill>
                          <a:latin typeface="Segoe UI"/>
                        </a:rPr>
                        <a:t>Consent to bureau reporting</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Contained in the undertaking, alongside consent to automatic collection and to the salary anchor</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Permits the record to be furnished and a delegated credit check to be run</a:t>
                      </a:r>
                    </a:p>
                  </a:txBody>
                  <a:tcPr marL="45720" marR="109728" marT="27432" marB="27432" anchor="ctr">
                    <a:lnB w="9525" cap="flat" cmpd="sng" algn="ctr">
                      <a:solidFill>
                        <a:srgbClr val="DCE3D6"/>
                      </a:solidFill>
                    </a:lnB>
                    <a:solidFill>
                      <a:srgbClr val="FFFFFF"/>
                    </a:solidFill>
                  </a:tcPr>
                </a:tc>
              </a:tr>
              <a:tr h="603504">
                <a:tc>
                  <a:txBody>
                    <a:bodyPr wrap="square"/>
                    <a:lstStyle/>
                    <a:p>
                      <a:r>
                        <a:rPr sz="900" b="0">
                          <a:solidFill>
                            <a:srgbClr val="26301F"/>
                          </a:solidFill>
                          <a:latin typeface="Segoe UI"/>
                        </a:rPr>
                        <a:t>Service of notice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Consent at signup that legal notice may be served at the pinned address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Recovery does not stall on locating the member, which is the usual failure mode</a:t>
                      </a:r>
                    </a:p>
                  </a:txBody>
                  <a:tcPr marL="45720" marR="109728" marT="27432" marB="27432" anchor="ctr">
                    <a:lnB w="9525" cap="flat" cmpd="sng" algn="ctr">
                      <a:solidFill>
                        <a:srgbClr val="DCE3D6"/>
                      </a:solidFill>
                    </a:lnB>
                    <a:solidFill>
                      <a:srgbClr val="FFFFFF"/>
                    </a:solidFill>
                  </a:tcPr>
                </a:tc>
              </a:tr>
              <a:tr h="603504">
                <a:tc>
                  <a:txBody>
                    <a:bodyPr wrap="square"/>
                    <a:lstStyle/>
                    <a:p>
                      <a:r>
                        <a:rPr sz="900" b="0">
                          <a:solidFill>
                            <a:srgbClr val="26301F"/>
                          </a:solidFill>
                          <a:latin typeface="Segoe UI"/>
                        </a:rPr>
                        <a:t>Evidence pack</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Undertaking, guarantee, identity linkage, address, timestamped payment history, circle message log and signature hashes, assembled on demand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Provided to counsel or a court. It is not provided to the circle</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769864"/>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Signing a personal guarantee and failing to pay is a civil matter in Pakistan and carries no imprisonment. The only criminal route was the offence relating to dishonoured cheques, and cheques were removed from the model. Recovery requires a court decree and takes months.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FUNCTION FIVE  RECOVERY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Order of recourse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41</a:t>
            </a:r>
          </a:p>
        </p:txBody>
      </p:sp>
      <p:graphicFrame>
        <p:nvGraphicFramePr>
          <p:cNvPr id="7" name="Table 6"/>
          <p:cNvGraphicFramePr>
            <a:graphicFrameLocks noGrp="1"/>
          </p:cNvGraphicFramePr>
          <p:nvPr/>
        </p:nvGraphicFramePr>
        <p:xfrm>
          <a:off x="777240" y="1965960"/>
          <a:ext cx="10607039" cy="3456432"/>
        </p:xfrm>
        <a:graphic>
          <a:graphicData uri="http://schemas.openxmlformats.org/drawingml/2006/table">
            <a:tbl>
              <a:tblPr>
                <a:tableStyleId>{5C22544A-7EE6-4342-B048-85BDC9FD1C3A}</a:tableStyleId>
              </a:tblPr>
              <a:tblGrid>
                <a:gridCol w="411480"/>
                <a:gridCol w="2468880"/>
                <a:gridCol w="7726679"/>
              </a:tblGrid>
              <a:tr h="493776">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STEP</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DETAIL</a:t>
                      </a:r>
                    </a:p>
                  </a:txBody>
                  <a:tcPr marL="45720" marR="109728" marT="27432" marB="27432" anchor="ctr">
                    <a:lnB w="9525" cap="flat" cmpd="sng" algn="ctr">
                      <a:solidFill>
                        <a:srgbClr val="41801A"/>
                      </a:solidFill>
                    </a:lnB>
                    <a:solidFill>
                      <a:srgbClr val="FFFFFF"/>
                    </a:solidFill>
                  </a:tcPr>
                </a:tc>
              </a:tr>
              <a:tr h="493776">
                <a:tc>
                  <a:txBody>
                    <a:bodyPr wrap="square"/>
                    <a:lstStyle/>
                    <a:p>
                      <a:r>
                        <a:rPr sz="10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Pledged savings units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Redeemed under the instruction signed at pledge, with the trustee paying the round's recipient directly. Halqa never receives the money</a:t>
                      </a:r>
                    </a:p>
                  </a:txBody>
                  <a:tcPr marL="45720" marR="109728" marT="27432" marB="27432" anchor="ctr">
                    <a:lnB w="9525" cap="flat" cmpd="sng" algn="ctr">
                      <a:solidFill>
                        <a:srgbClr val="DCE3D6"/>
                      </a:solidFill>
                    </a:lnB>
                    <a:solidFill>
                      <a:srgbClr val="FFFFFF"/>
                    </a:solidFill>
                  </a:tcPr>
                </a:tc>
              </a:tr>
              <a:tr h="493776">
                <a:tc>
                  <a:txBody>
                    <a:bodyPr wrap="square"/>
                    <a:lstStyle/>
                    <a:p>
                      <a:r>
                        <a:rPr sz="10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Unpledged savings units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Only under a separate signed set off clause, and only after notice with a seven day cure period</a:t>
                      </a:r>
                    </a:p>
                  </a:txBody>
                  <a:tcPr marL="45720" marR="109728" marT="27432" marB="27432" anchor="ctr">
                    <a:lnB w="9525" cap="flat" cmpd="sng" algn="ctr">
                      <a:solidFill>
                        <a:srgbClr val="DCE3D6"/>
                      </a:solidFill>
                    </a:lnB>
                    <a:solidFill>
                      <a:srgbClr val="FFFFFF"/>
                    </a:solidFill>
                  </a:tcPr>
                </a:tc>
              </a:tr>
              <a:tr h="493776">
                <a:tc>
                  <a:txBody>
                    <a:bodyPr wrap="square"/>
                    <a:lstStyle/>
                    <a:p>
                      <a:r>
                        <a:rPr sz="10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Pot deductions in live circles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Applied in a fixed order and capped at 60 per cent of the pot, so a member's turn is never emptied</a:t>
                      </a:r>
                    </a:p>
                  </a:txBody>
                  <a:tcPr marL="45720" marR="109728" marT="27432" marB="27432" anchor="ctr">
                    <a:lnB w="9525" cap="flat" cmpd="sng" algn="ctr">
                      <a:solidFill>
                        <a:srgbClr val="DCE3D6"/>
                      </a:solidFill>
                    </a:lnB>
                    <a:solidFill>
                      <a:srgbClr val="FFFFFF"/>
                    </a:solidFill>
                  </a:tcPr>
                </a:tc>
              </a:tr>
              <a:tr h="493776">
                <a:tc>
                  <a:txBody>
                    <a:bodyPr wrap="square"/>
                    <a:lstStyle/>
                    <a:p>
                      <a:r>
                        <a:rPr sz="10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Sponsor and restitution claims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Assigned to the cover facility on subrogation</a:t>
                      </a:r>
                    </a:p>
                  </a:txBody>
                  <a:tcPr marL="45720" marR="109728" marT="27432" marB="27432" anchor="ctr">
                    <a:lnB w="9525" cap="flat" cmpd="sng" algn="ctr">
                      <a:solidFill>
                        <a:srgbClr val="DCE3D6"/>
                      </a:solidFill>
                    </a:lnB>
                    <a:solidFill>
                      <a:srgbClr val="FFFFFF"/>
                    </a:solidFill>
                  </a:tcPr>
                </a:tc>
              </a:tr>
              <a:tr h="493776">
                <a:tc>
                  <a:txBody>
                    <a:bodyPr wrap="square"/>
                    <a:lstStyle/>
                    <a:p>
                      <a:r>
                        <a:rPr sz="10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Asset circles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The trustee enforces and the sale proceeds are paid into the circle, with any surplus returned to the member</a:t>
                      </a:r>
                    </a:p>
                  </a:txBody>
                  <a:tcPr marL="45720" marR="109728" marT="27432" marB="27432" anchor="ctr">
                    <a:lnB w="9525" cap="flat" cmpd="sng" algn="ctr">
                      <a:solidFill>
                        <a:srgbClr val="DCE3D6"/>
                      </a:solidFill>
                    </a:lnB>
                    <a:solidFill>
                      <a:srgbClr val="FFFFFF"/>
                    </a:solidFill>
                  </a:tcPr>
                </a:tc>
              </a:tr>
              <a:tr h="493776">
                <a:tc>
                  <a:txBody>
                    <a:bodyPr wrap="square"/>
                    <a:lstStyle/>
                    <a:p>
                      <a:r>
                        <a:rPr sz="10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Recovery case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Outstanding amount plus penalties plus 10 per cent, enforced by summary suit if pursued</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05272"/>
            <a:ext cx="10637215" cy="731520"/>
          </a:xfrm>
          <a:prstGeom prst="rect">
            <a:avLst/>
          </a:prstGeom>
          <a:noFill/>
        </p:spPr>
        <p:txBody>
          <a:bodyPr wrap="square" lIns="0" rIns="0" tIns="0" bIns="0">
            <a:spAutoFit/>
          </a:bodyPr>
          <a:lstStyle/>
          <a:p>
            <a:pPr algn="l">
              <a:lnSpc>
                <a:spcPct val="140000"/>
              </a:lnSpc>
            </a:pPr>
            <a:r>
              <a:rPr sz="1200" b="0" i="0">
                <a:solidFill>
                  <a:srgbClr val="26301F"/>
                </a:solidFill>
                <a:latin typeface="Segoe UI"/>
              </a:rPr>
              <a:t>Set off operates in favour of the circle's members and never in favour of Halqa, which is the same construction as the mutual guarantee. Halqa seizes nothing: it instructs a trustee under a pre signed mandate, or hands an evidence pack to a counterparty or a court.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PRODUCTS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range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42</a:t>
            </a:r>
          </a:p>
        </p:txBody>
      </p:sp>
      <p:graphicFrame>
        <p:nvGraphicFramePr>
          <p:cNvPr id="7" name="Table 6"/>
          <p:cNvGraphicFramePr>
            <a:graphicFrameLocks noGrp="1"/>
          </p:cNvGraphicFramePr>
          <p:nvPr/>
        </p:nvGraphicFramePr>
        <p:xfrm>
          <a:off x="777240" y="1965960"/>
          <a:ext cx="10607040" cy="3490398"/>
        </p:xfrm>
        <a:graphic>
          <a:graphicData uri="http://schemas.openxmlformats.org/drawingml/2006/table">
            <a:tbl>
              <a:tblPr>
                <a:tableStyleId>{5C22544A-7EE6-4342-B048-85BDC9FD1C3A}</a:tableStyleId>
              </a:tblPr>
              <a:tblGrid>
                <a:gridCol w="2194560"/>
                <a:gridCol w="8412480"/>
              </a:tblGrid>
              <a:tr h="581733">
                <a:tc>
                  <a:txBody>
                    <a:bodyPr wrap="square"/>
                    <a:lstStyle/>
                    <a:p>
                      <a:r>
                        <a:rPr sz="900" b="1">
                          <a:solidFill>
                            <a:srgbClr val="41801A"/>
                          </a:solidFill>
                          <a:latin typeface="Segoe UI"/>
                        </a:rPr>
                        <a:t>PRODUCT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DESCRIPTION</a:t>
                      </a:r>
                    </a:p>
                  </a:txBody>
                  <a:tcPr marL="45720" marR="109728" marT="27432" marB="27432" anchor="ctr">
                    <a:lnB w="9525" cap="flat" cmpd="sng" algn="ctr">
                      <a:solidFill>
                        <a:srgbClr val="41801A"/>
                      </a:solidFill>
                    </a:lnB>
                    <a:solidFill>
                      <a:srgbClr val="FFFFFF"/>
                    </a:solidFill>
                  </a:tcPr>
                </a:tc>
              </a:tr>
              <a:tr h="581733">
                <a:tc>
                  <a:txBody>
                    <a:bodyPr wrap="square"/>
                    <a:lstStyle/>
                    <a:p>
                      <a:r>
                        <a:rPr sz="900" b="0">
                          <a:solidFill>
                            <a:srgbClr val="26301F"/>
                          </a:solidFill>
                          <a:latin typeface="Segoe UI"/>
                        </a:rPr>
                        <a:t>Known circles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Formed by a host among people who know one another, which is how committees work today. Lighter verification, lower fines, optional insurance, and the group carries the loss</a:t>
                      </a:r>
                    </a:p>
                  </a:txBody>
                  <a:tcPr marL="45720" marR="109728" marT="27432" marB="27432" anchor="ctr">
                    <a:lnB w="9525" cap="flat" cmpd="sng" algn="ctr">
                      <a:solidFill>
                        <a:srgbClr val="DCE3D6"/>
                      </a:solidFill>
                    </a:lnB>
                    <a:solidFill>
                      <a:srgbClr val="FFFFFF"/>
                    </a:solidFill>
                  </a:tcPr>
                </a:tc>
              </a:tr>
              <a:tr h="581733">
                <a:tc>
                  <a:txBody>
                    <a:bodyPr wrap="square"/>
                    <a:lstStyle/>
                    <a:p>
                      <a:r>
                        <a:rPr sz="900" b="0">
                          <a:solidFill>
                            <a:srgbClr val="26301F"/>
                          </a:solidFill>
                          <a:latin typeface="Segoe UI"/>
                        </a:rPr>
                        <a:t>Open circles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Formed among strangers matched by the platform. Heavier verification, steeper late fees, mandatory insurance, and the platform covers a missed contribution from the first round. This product does not exist in the informal market at all, because strangers have no way to trust one another without a record</a:t>
                      </a:r>
                    </a:p>
                  </a:txBody>
                  <a:tcPr marL="45720" marR="109728" marT="27432" marB="27432" anchor="ctr">
                    <a:lnB w="9525" cap="flat" cmpd="sng" algn="ctr">
                      <a:solidFill>
                        <a:srgbClr val="DCE3D6"/>
                      </a:solidFill>
                    </a:lnB>
                    <a:solidFill>
                      <a:srgbClr val="FFFFFF"/>
                    </a:solidFill>
                  </a:tcPr>
                </a:tc>
              </a:tr>
              <a:tr h="581733">
                <a:tc>
                  <a:txBody>
                    <a:bodyPr wrap="square"/>
                    <a:lstStyle/>
                    <a:p>
                      <a:r>
                        <a:rPr sz="900" b="0">
                          <a:solidFill>
                            <a:srgbClr val="26301F"/>
                          </a:solidFill>
                          <a:latin typeface="Segoe UI"/>
                        </a:rPr>
                        <a:t>HYPER committees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Four hundred members, sixty days, daily contributions, pots capped at Rs 15,000. Built for the daily wage earner, who is the largest excluded group and has no savings product today</a:t>
                      </a:r>
                    </a:p>
                  </a:txBody>
                  <a:tcPr marL="45720" marR="109728" marT="27432" marB="27432" anchor="ctr">
                    <a:lnB w="9525" cap="flat" cmpd="sng" algn="ctr">
                      <a:solidFill>
                        <a:srgbClr val="DCE3D6"/>
                      </a:solidFill>
                    </a:lnB>
                    <a:solidFill>
                      <a:srgbClr val="FFFFFF"/>
                    </a:solidFill>
                  </a:tcPr>
                </a:tc>
              </a:tr>
              <a:tr h="581733">
                <a:tc>
                  <a:txBody>
                    <a:bodyPr wrap="square"/>
                    <a:lstStyle/>
                    <a:p>
                      <a:r>
                        <a:rPr sz="900" b="0">
                          <a:solidFill>
                            <a:srgbClr val="26301F"/>
                          </a:solidFill>
                          <a:latin typeface="Segoe UI"/>
                        </a:rPr>
                        <a:t>Asset circles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pot buys a named item and is paid to the dealer. Possession at the member's turn, legal title held by a security trustee until the obligation is discharged. The only product where the security is a physical thing</a:t>
                      </a:r>
                    </a:p>
                  </a:txBody>
                  <a:tcPr marL="45720" marR="109728" marT="27432" marB="27432" anchor="ctr">
                    <a:lnB w="9525" cap="flat" cmpd="sng" algn="ctr">
                      <a:solidFill>
                        <a:srgbClr val="DCE3D6"/>
                      </a:solidFill>
                    </a:lnB>
                    <a:solidFill>
                      <a:srgbClr val="FFFFFF"/>
                    </a:solidFill>
                  </a:tcPr>
                </a:tc>
              </a:tr>
              <a:tr h="581733">
                <a:tc>
                  <a:txBody>
                    <a:bodyPr wrap="square"/>
                    <a:lstStyle/>
                    <a:p>
                      <a:r>
                        <a:rPr sz="900" b="0">
                          <a:solidFill>
                            <a:srgbClr val="26301F"/>
                          </a:solidFill>
                          <a:latin typeface="Segoe UI"/>
                        </a:rPr>
                        <a:t>Savings layer</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Voluntary savings into an Islamic money market fund, held by a trustee in the member's own name. Pledged, it becomes the strongest default control in the model</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PRODUCTS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Known and open circles compared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43</a:t>
            </a:r>
          </a:p>
        </p:txBody>
      </p:sp>
      <p:graphicFrame>
        <p:nvGraphicFramePr>
          <p:cNvPr id="7" name="Table 6"/>
          <p:cNvGraphicFramePr>
            <a:graphicFrameLocks noGrp="1"/>
          </p:cNvGraphicFramePr>
          <p:nvPr/>
        </p:nvGraphicFramePr>
        <p:xfrm>
          <a:off x="777240" y="1965960"/>
          <a:ext cx="10607040" cy="3645510"/>
        </p:xfrm>
        <a:graphic>
          <a:graphicData uri="http://schemas.openxmlformats.org/drawingml/2006/table">
            <a:tbl>
              <a:tblPr>
                <a:tableStyleId>{5C22544A-7EE6-4342-B048-85BDC9FD1C3A}</a:tableStyleId>
              </a:tblPr>
              <a:tblGrid>
                <a:gridCol w="3291840"/>
                <a:gridCol w="3657600"/>
                <a:gridCol w="3657600"/>
              </a:tblGrid>
              <a:tr h="243034">
                <a:tc>
                  <a:txBody>
                    <a:bodyPr wrap="square"/>
                    <a:lstStyle/>
                    <a:p>
                      <a:r>
                        <a:rPr sz="750" b="1">
                          <a:solidFill>
                            <a:srgbClr val="41801A"/>
                          </a:solidFill>
                          <a:latin typeface="Segoe UI"/>
                        </a:rPr>
                        <a:t>PARAMETER</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OPEN</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KNOWN</a:t>
                      </a:r>
                    </a:p>
                  </a:txBody>
                  <a:tcPr marL="45720" marR="109728" marT="27432" marB="27432" anchor="ctr">
                    <a:lnB w="9525" cap="flat" cmpd="sng" algn="ctr">
                      <a:solidFill>
                        <a:srgbClr val="41801A"/>
                      </a:solidFill>
                    </a:lnB>
                    <a:solidFill>
                      <a:srgbClr val="FFFFFF"/>
                    </a:solidFill>
                  </a:tcPr>
                </a:tc>
              </a:tr>
              <a:tr h="243034">
                <a:tc>
                  <a:txBody>
                    <a:bodyPr wrap="square"/>
                    <a:lstStyle/>
                    <a:p>
                      <a:r>
                        <a:rPr sz="750" b="0">
                          <a:solidFill>
                            <a:srgbClr val="26301F"/>
                          </a:solidFill>
                          <a:latin typeface="Segoe UI"/>
                        </a:rPr>
                        <a:t>Joining and contributing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Free, permanently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Free, permanently</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Automatic collection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Mandatory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Mandatory</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Facial verification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At joining plus the full trigger list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At joining</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Manual review by staff</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Random sample of 5 per cent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Random sample of 2 per cent</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Income detection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filter. No established payday, no first half seat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signal. Informs the display, never blocks</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Early seat fee, share of pot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1.00 per cent at seat one, tapering to zero</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1.75 per cent at seat one, tapering to zero</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Insurance premium</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1.5 per cent, mandatory, capped at Rs 300</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0.5 per cent, optional, capped at Rs 150</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Late fee ladder, at 1, 7 and 15 days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3, 7 and 12 per cent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1, 3 and 6 per cent</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Score damage at those points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Minus 15, 30 and 50</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Minus 10, 20 and 40</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Platform covers a missed contribution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Yes, from the first round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 the group covers</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Signed undertaking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Renewed weekly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Signed once at formation</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Mutual guarantee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Required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Required</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Exit at group approval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 vote, the cover absorbs it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Group vote</a:t>
                      </a:r>
                    </a:p>
                  </a:txBody>
                  <a:tcPr marL="45720" marR="109728" marT="27432" marB="27432" anchor="ctr">
                    <a:lnB w="9525" cap="flat" cmpd="sng" algn="ctr">
                      <a:solidFill>
                        <a:srgbClr val="DCE3D6"/>
                      </a:solidFill>
                    </a:lnB>
                    <a:solidFill>
                      <a:srgbClr val="FFFFFF"/>
                    </a:solidFill>
                  </a:tcPr>
                </a:tc>
              </a:tr>
              <a:tr h="243034">
                <a:tc>
                  <a:txBody>
                    <a:bodyPr wrap="square"/>
                    <a:lstStyle/>
                    <a:p>
                      <a:r>
                        <a:rPr sz="750" b="0">
                          <a:solidFill>
                            <a:srgbClr val="26301F"/>
                          </a:solidFill>
                          <a:latin typeface="Segoe UI"/>
                        </a:rPr>
                        <a:t>Authenticity test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Not applied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Host link confirmed from both ends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PRODUCTS  HYPER</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Structure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44</a:t>
            </a:r>
          </a:p>
        </p:txBody>
      </p:sp>
      <p:sp>
        <p:nvSpPr>
          <p:cNvPr id="7" name="TextBox 6"/>
          <p:cNvSpPr txBox="1"/>
          <p:nvPr/>
        </p:nvSpPr>
        <p:spPr>
          <a:xfrm>
            <a:off x="777240" y="201168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400</a:t>
            </a:r>
          </a:p>
        </p:txBody>
      </p:sp>
      <p:sp>
        <p:nvSpPr>
          <p:cNvPr id="8" name="TextBox 7"/>
          <p:cNvSpPr txBox="1"/>
          <p:nvPr/>
        </p:nvSpPr>
        <p:spPr>
          <a:xfrm>
            <a:off x="777240" y="257860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Members, fixed. Seven collect on forty days, six on the other twenty</a:t>
            </a:r>
          </a:p>
        </p:txBody>
      </p:sp>
      <p:sp>
        <p:nvSpPr>
          <p:cNvPr id="9" name="TextBox 8"/>
          <p:cNvSpPr txBox="1"/>
          <p:nvPr/>
        </p:nvSpPr>
        <p:spPr>
          <a:xfrm>
            <a:off x="3436543" y="201168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60</a:t>
            </a:r>
          </a:p>
        </p:txBody>
      </p:sp>
      <p:sp>
        <p:nvSpPr>
          <p:cNvPr id="10" name="TextBox 9"/>
          <p:cNvSpPr txBox="1"/>
          <p:nvPr/>
        </p:nvSpPr>
        <p:spPr>
          <a:xfrm>
            <a:off x="3436543" y="257860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Days, fixed. The pot is sixty times the daily contribution</a:t>
            </a:r>
          </a:p>
        </p:txBody>
      </p:sp>
      <p:sp>
        <p:nvSpPr>
          <p:cNvPr id="11" name="TextBox 10"/>
          <p:cNvSpPr txBox="1"/>
          <p:nvPr/>
        </p:nvSpPr>
        <p:spPr>
          <a:xfrm>
            <a:off x="6095847" y="201168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Rs 15,000</a:t>
            </a:r>
          </a:p>
        </p:txBody>
      </p:sp>
      <p:sp>
        <p:nvSpPr>
          <p:cNvPr id="12" name="TextBox 11"/>
          <p:cNvSpPr txBox="1"/>
          <p:nvPr/>
        </p:nvSpPr>
        <p:spPr>
          <a:xfrm>
            <a:off x="6095847" y="257860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Pot ceiling, the level an ordinary daily wage can carry</a:t>
            </a:r>
          </a:p>
        </p:txBody>
      </p:sp>
      <p:sp>
        <p:nvSpPr>
          <p:cNvPr id="13" name="TextBox 12"/>
          <p:cNvSpPr txBox="1"/>
          <p:nvPr/>
        </p:nvSpPr>
        <p:spPr>
          <a:xfrm>
            <a:off x="8755151" y="201168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30%</a:t>
            </a:r>
          </a:p>
        </p:txBody>
      </p:sp>
      <p:sp>
        <p:nvSpPr>
          <p:cNvPr id="14" name="TextBox 13"/>
          <p:cNvSpPr txBox="1"/>
          <p:nvPr/>
        </p:nvSpPr>
        <p:spPr>
          <a:xfrm>
            <a:off x="8755151" y="257860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Default rate the product is priced to withstand</a:t>
            </a:r>
          </a:p>
        </p:txBody>
      </p:sp>
      <p:graphicFrame>
        <p:nvGraphicFramePr>
          <p:cNvPr id="15" name="Table 14"/>
          <p:cNvGraphicFramePr>
            <a:graphicFrameLocks noGrp="1"/>
          </p:cNvGraphicFramePr>
          <p:nvPr/>
        </p:nvGraphicFramePr>
        <p:xfrm>
          <a:off x="777240" y="3611880"/>
          <a:ext cx="10607040" cy="1828800"/>
        </p:xfrm>
        <a:graphic>
          <a:graphicData uri="http://schemas.openxmlformats.org/drawingml/2006/table">
            <a:tbl>
              <a:tblPr>
                <a:tableStyleId>{5C22544A-7EE6-4342-B048-85BDC9FD1C3A}</a:tableStyleId>
              </a:tblPr>
              <a:tblGrid>
                <a:gridCol w="2377440"/>
                <a:gridCol w="2011680"/>
                <a:gridCol w="3291840"/>
                <a:gridCol w="2926080"/>
              </a:tblGrid>
              <a:tr h="365760">
                <a:tc>
                  <a:txBody>
                    <a:bodyPr wrap="square"/>
                    <a:lstStyle/>
                    <a:p>
                      <a:r>
                        <a:rPr sz="900" b="1">
                          <a:solidFill>
                            <a:srgbClr val="41801A"/>
                          </a:solidFill>
                          <a:latin typeface="Segoe UI"/>
                        </a:rPr>
                        <a:t>DAILY CONTRIBUTION</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POT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COLLECTED EACH DAY ACROSS THE ROSTER</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MOST A SINGLE DEFAULT CAN COST</a:t>
                      </a:r>
                    </a:p>
                  </a:txBody>
                  <a:tcPr marL="45720" marR="109728" marT="27432" marB="27432" anchor="ctr">
                    <a:lnB w="9525" cap="flat" cmpd="sng" algn="ctr">
                      <a:solidFill>
                        <a:srgbClr val="41801A"/>
                      </a:solidFill>
                    </a:lnB>
                    <a:solidFill>
                      <a:srgbClr val="FFFFFF"/>
                    </a:solidFill>
                  </a:tcPr>
                </a:tc>
              </a:tr>
              <a:tr h="365760">
                <a:tc>
                  <a:txBody>
                    <a:bodyPr wrap="square"/>
                    <a:lstStyle/>
                    <a:p>
                      <a:r>
                        <a:rPr sz="1050" b="0">
                          <a:solidFill>
                            <a:srgbClr val="26301F"/>
                          </a:solidFill>
                          <a:latin typeface="Segoe UI"/>
                        </a:rPr>
                        <a:t>Rs 100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6,000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40,000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5,900</a:t>
                      </a:r>
                    </a:p>
                  </a:txBody>
                  <a:tcPr marL="45720" marR="109728" marT="27432" marB="27432" anchor="ctr">
                    <a:lnB w="9525" cap="flat" cmpd="sng" algn="ctr">
                      <a:solidFill>
                        <a:srgbClr val="DCE3D6"/>
                      </a:solidFill>
                    </a:lnB>
                    <a:solidFill>
                      <a:srgbClr val="FFFFFF"/>
                    </a:solidFill>
                  </a:tcPr>
                </a:tc>
              </a:tr>
              <a:tr h="365760">
                <a:tc>
                  <a:txBody>
                    <a:bodyPr wrap="square"/>
                    <a:lstStyle/>
                    <a:p>
                      <a:r>
                        <a:rPr sz="1050" b="0">
                          <a:solidFill>
                            <a:srgbClr val="26301F"/>
                          </a:solidFill>
                          <a:latin typeface="Segoe UI"/>
                        </a:rPr>
                        <a:t>Rs 150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9,000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60,000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8,850</a:t>
                      </a:r>
                    </a:p>
                  </a:txBody>
                  <a:tcPr marL="45720" marR="109728" marT="27432" marB="27432" anchor="ctr">
                    <a:lnB w="9525" cap="flat" cmpd="sng" algn="ctr">
                      <a:solidFill>
                        <a:srgbClr val="DCE3D6"/>
                      </a:solidFill>
                    </a:lnB>
                    <a:solidFill>
                      <a:srgbClr val="FFFFFF"/>
                    </a:solidFill>
                  </a:tcPr>
                </a:tc>
              </a:tr>
              <a:tr h="365760">
                <a:tc>
                  <a:txBody>
                    <a:bodyPr wrap="square"/>
                    <a:lstStyle/>
                    <a:p>
                      <a:r>
                        <a:rPr sz="1050" b="0">
                          <a:solidFill>
                            <a:srgbClr val="26301F"/>
                          </a:solidFill>
                          <a:latin typeface="Segoe UI"/>
                        </a:rPr>
                        <a:t>Rs 200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12,000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80,000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11,800</a:t>
                      </a:r>
                    </a:p>
                  </a:txBody>
                  <a:tcPr marL="45720" marR="109728" marT="27432" marB="27432" anchor="ctr">
                    <a:lnB w="9525" cap="flat" cmpd="sng" algn="ctr">
                      <a:solidFill>
                        <a:srgbClr val="DCE3D6"/>
                      </a:solidFill>
                    </a:lnB>
                    <a:solidFill>
                      <a:srgbClr val="FFFFFF"/>
                    </a:solidFill>
                  </a:tcPr>
                </a:tc>
              </a:tr>
              <a:tr h="365760">
                <a:tc>
                  <a:txBody>
                    <a:bodyPr wrap="square"/>
                    <a:lstStyle/>
                    <a:p>
                      <a:r>
                        <a:rPr sz="1050" b="0">
                          <a:solidFill>
                            <a:srgbClr val="26301F"/>
                          </a:solidFill>
                          <a:latin typeface="Segoe UI"/>
                        </a:rPr>
                        <a:t>Rs 250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15,000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100,000</a:t>
                      </a:r>
                    </a:p>
                  </a:txBody>
                  <a:tcPr marL="45720" marR="109728" marT="27432" marB="27432" anchor="ctr">
                    <a:lnB w="9525" cap="flat" cmpd="sng" algn="ctr">
                      <a:solidFill>
                        <a:srgbClr val="DCE3D6"/>
                      </a:solidFill>
                    </a:lnB>
                    <a:solidFill>
                      <a:srgbClr val="FFFFFF"/>
                    </a:solidFill>
                  </a:tcPr>
                </a:tc>
                <a:tc>
                  <a:txBody>
                    <a:bodyPr wrap="square"/>
                    <a:lstStyle/>
                    <a:p>
                      <a:pPr algn="r"/>
                      <a:r>
                        <a:rPr sz="1050" b="0">
                          <a:solidFill>
                            <a:srgbClr val="26301F"/>
                          </a:solidFill>
                          <a:latin typeface="Segoe UI"/>
                        </a:rPr>
                        <a:t>Rs 14,750</a:t>
                      </a:r>
                    </a:p>
                  </a:txBody>
                  <a:tcPr marL="45720" marR="109728" marT="27432" marB="27432" anchor="ctr">
                    <a:lnB w="9525" cap="flat" cmpd="sng" algn="ctr">
                      <a:solidFill>
                        <a:srgbClr val="DCE3D6"/>
                      </a:solidFill>
                    </a:lnB>
                    <a:solidFill>
                      <a:srgbClr val="FFFFFF"/>
                    </a:solidFill>
                  </a:tcPr>
                </a:tc>
              </a:tr>
            </a:tbl>
          </a:graphicData>
        </a:graphic>
      </p:graphicFrame>
      <p:sp>
        <p:nvSpPr>
          <p:cNvPr id="16" name="TextBox 15"/>
          <p:cNvSpPr txBox="1"/>
          <p:nvPr/>
        </p:nvSpPr>
        <p:spPr>
          <a:xfrm>
            <a:off x="777240" y="5623560"/>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Exposure is bounded by the size of the pot rather than by the size of the roster, which is what makes a thirty per cent default assumption financeable at all. Entry requires two months of demonstrated daily earnings, or a vault holding equal to the pot locked for the sixty days.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PRODUCTS  HYPER</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opening auction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45</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Positions are set once, at the start, by auction, and are fixed for the whole of the cycle. A position may not be sold, bought or altered afterwards, and HYPER committees do not appear on the turn marketplace which operates across the rest of the platform.</a:t>
            </a:r>
          </a:p>
        </p:txBody>
      </p:sp>
      <p:graphicFrame>
        <p:nvGraphicFramePr>
          <p:cNvPr id="8" name="Table 7"/>
          <p:cNvGraphicFramePr>
            <a:graphicFrameLocks noGrp="1"/>
          </p:cNvGraphicFramePr>
          <p:nvPr/>
        </p:nvGraphicFramePr>
        <p:xfrm>
          <a:off x="777240" y="2788920"/>
          <a:ext cx="10607040" cy="2794896"/>
        </p:xfrm>
        <a:graphic>
          <a:graphicData uri="http://schemas.openxmlformats.org/drawingml/2006/table">
            <a:tbl>
              <a:tblPr>
                <a:tableStyleId>{5C22544A-7EE6-4342-B048-85BDC9FD1C3A}</a:tableStyleId>
              </a:tblPr>
              <a:tblGrid>
                <a:gridCol w="2103120"/>
                <a:gridCol w="8503920"/>
              </a:tblGrid>
              <a:tr h="349362">
                <a:tc>
                  <a:txBody>
                    <a:bodyPr wrap="square"/>
                    <a:lstStyle/>
                    <a:p>
                      <a:r>
                        <a:rPr sz="800" b="1">
                          <a:solidFill>
                            <a:srgbClr val="41801A"/>
                          </a:solidFill>
                          <a:latin typeface="Segoe UI"/>
                        </a:rPr>
                        <a:t>STAGE</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OPERATION</a:t>
                      </a:r>
                    </a:p>
                  </a:txBody>
                  <a:tcPr marL="45720" marR="109728" marT="27432" marB="27432" anchor="ctr">
                    <a:lnB w="9525" cap="flat" cmpd="sng" algn="ctr">
                      <a:solidFill>
                        <a:srgbClr val="41801A"/>
                      </a:solidFill>
                    </a:lnB>
                    <a:solidFill>
                      <a:srgbClr val="FFFFFF"/>
                    </a:solidFill>
                  </a:tcPr>
                </a:tc>
              </a:tr>
              <a:tr h="349362">
                <a:tc>
                  <a:txBody>
                    <a:bodyPr wrap="square"/>
                    <a:lstStyle/>
                    <a:p>
                      <a:r>
                        <a:rPr sz="800" b="0">
                          <a:solidFill>
                            <a:srgbClr val="26301F"/>
                          </a:solidFill>
                          <a:latin typeface="Segoe UI"/>
                        </a:rPr>
                        <a:t>Bidding window</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Twenty four hours, opening when the roster of four hundred completes and before the first contribution falls due</a:t>
                      </a:r>
                    </a:p>
                  </a:txBody>
                  <a:tcPr marL="45720" marR="109728" marT="27432" marB="27432" anchor="ctr">
                    <a:lnB w="9525" cap="flat" cmpd="sng" algn="ctr">
                      <a:solidFill>
                        <a:srgbClr val="DCE3D6"/>
                      </a:solidFill>
                    </a:lnB>
                    <a:solidFill>
                      <a:srgbClr val="FFFFFF"/>
                    </a:solidFill>
                  </a:tcPr>
                </a:tc>
              </a:tr>
              <a:tr h="349362">
                <a:tc>
                  <a:txBody>
                    <a:bodyPr wrap="square"/>
                    <a:lstStyle/>
                    <a:p>
                      <a:r>
                        <a:rPr sz="800" b="0">
                          <a:solidFill>
                            <a:srgbClr val="26301F"/>
                          </a:solidFill>
                          <a:latin typeface="Segoe UI"/>
                        </a:rPr>
                        <a:t>What is bid for</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One single named day of the cycle. A member may place as many bids as they wish, but every bid must be for that one day. Bidding across several days is not permitted</a:t>
                      </a:r>
                    </a:p>
                  </a:txBody>
                  <a:tcPr marL="45720" marR="109728" marT="27432" marB="27432" anchor="ctr">
                    <a:lnB w="9525" cap="flat" cmpd="sng" algn="ctr">
                      <a:solidFill>
                        <a:srgbClr val="DCE3D6"/>
                      </a:solidFill>
                    </a:lnB>
                    <a:solidFill>
                      <a:srgbClr val="FFFFFF"/>
                    </a:solidFill>
                  </a:tcPr>
                </a:tc>
              </a:tr>
              <a:tr h="349362">
                <a:tc>
                  <a:txBody>
                    <a:bodyPr wrap="square"/>
                    <a:lstStyle/>
                    <a:p>
                      <a:r>
                        <a:rPr sz="800" b="0">
                          <a:solidFill>
                            <a:srgbClr val="26301F"/>
                          </a:solidFill>
                          <a:latin typeface="Segoe UI"/>
                        </a:rPr>
                        <a:t>What is visible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standing highest bid on each day, so a member can price a position. No bidder is identified at any point</a:t>
                      </a:r>
                    </a:p>
                  </a:txBody>
                  <a:tcPr marL="45720" marR="109728" marT="27432" marB="27432" anchor="ctr">
                    <a:lnB w="9525" cap="flat" cmpd="sng" algn="ctr">
                      <a:solidFill>
                        <a:srgbClr val="DCE3D6"/>
                      </a:solidFill>
                    </a:lnB>
                    <a:solidFill>
                      <a:srgbClr val="FFFFFF"/>
                    </a:solidFill>
                  </a:tcPr>
                </a:tc>
              </a:tr>
              <a:tr h="349362">
                <a:tc>
                  <a:txBody>
                    <a:bodyPr wrap="square"/>
                    <a:lstStyle/>
                    <a:p>
                      <a:r>
                        <a:rPr sz="800" b="0">
                          <a:solidFill>
                            <a:srgbClr val="26301F"/>
                          </a:solidFill>
                          <a:latin typeface="Segoe UI"/>
                        </a:rPr>
                        <a:t>Allocation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Each day carries six or seven places. The highest bids on that day take them</a:t>
                      </a:r>
                    </a:p>
                  </a:txBody>
                  <a:tcPr marL="45720" marR="109728" marT="27432" marB="27432" anchor="ctr">
                    <a:lnB w="9525" cap="flat" cmpd="sng" algn="ctr">
                      <a:solidFill>
                        <a:srgbClr val="DCE3D6"/>
                      </a:solidFill>
                    </a:lnB>
                    <a:solidFill>
                      <a:srgbClr val="FFFFFF"/>
                    </a:solidFill>
                  </a:tcPr>
                </a:tc>
              </a:tr>
              <a:tr h="349362">
                <a:tc>
                  <a:txBody>
                    <a:bodyPr wrap="square"/>
                    <a:lstStyle/>
                    <a:p>
                      <a:r>
                        <a:rPr sz="800" b="0">
                          <a:solidFill>
                            <a:srgbClr val="26301F"/>
                          </a:solidFill>
                          <a:latin typeface="Segoe UI"/>
                        </a:rPr>
                        <a:t>Everyone else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Members who placed no bid, and members who were outbid, are assigned to the remaining days by a verifiable ballot</a:t>
                      </a:r>
                    </a:p>
                  </a:txBody>
                  <a:tcPr marL="45720" marR="109728" marT="27432" marB="27432" anchor="ctr">
                    <a:lnB w="9525" cap="flat" cmpd="sng" algn="ctr">
                      <a:solidFill>
                        <a:srgbClr val="DCE3D6"/>
                      </a:solidFill>
                    </a:lnB>
                    <a:solidFill>
                      <a:srgbClr val="FFFFFF"/>
                    </a:solidFill>
                  </a:tcPr>
                </a:tc>
              </a:tr>
              <a:tr h="349362">
                <a:tc>
                  <a:txBody>
                    <a:bodyPr wrap="square"/>
                    <a:lstStyle/>
                    <a:p>
                      <a:r>
                        <a:rPr sz="800" b="0">
                          <a:solidFill>
                            <a:srgbClr val="26301F"/>
                          </a:solidFill>
                          <a:latin typeface="Segoe UI"/>
                        </a:rPr>
                        <a:t>Payment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Only a winning bid is charged. An outbid member pays nothing</a:t>
                      </a:r>
                    </a:p>
                  </a:txBody>
                  <a:tcPr marL="45720" marR="109728" marT="27432" marB="27432" anchor="ctr">
                    <a:lnB w="9525" cap="flat" cmpd="sng" algn="ctr">
                      <a:solidFill>
                        <a:srgbClr val="DCE3D6"/>
                      </a:solidFill>
                    </a:lnB>
                    <a:solidFill>
                      <a:srgbClr val="FFFFFF"/>
                    </a:solidFill>
                  </a:tcPr>
                </a:tc>
              </a:tr>
              <a:tr h="349362">
                <a:tc>
                  <a:txBody>
                    <a:bodyPr wrap="square"/>
                    <a:lstStyle/>
                    <a:p>
                      <a:r>
                        <a:rPr sz="800" b="0">
                          <a:solidFill>
                            <a:srgbClr val="26301F"/>
                          </a:solidFill>
                          <a:latin typeface="Segoe UI"/>
                        </a:rPr>
                        <a:t>Eligibility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bid is refused at the point of placing where the member's band or affordability does not permit that day</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66696"/>
            <a:ext cx="10637215" cy="731520"/>
          </a:xfrm>
          <a:prstGeom prst="rect">
            <a:avLst/>
          </a:prstGeom>
          <a:noFill/>
        </p:spPr>
        <p:txBody>
          <a:bodyPr wrap="square" lIns="0" rIns="0" tIns="0" bIns="0">
            <a:spAutoFit/>
          </a:bodyPr>
          <a:lstStyle/>
          <a:p>
            <a:pPr algn="l">
              <a:lnSpc>
                <a:spcPct val="140000"/>
              </a:lnSpc>
            </a:pPr>
            <a:r>
              <a:rPr sz="1150" b="1" i="0">
                <a:solidFill>
                  <a:srgbClr val="0C1408"/>
                </a:solidFill>
                <a:latin typeface="Segoe UI"/>
              </a:rPr>
              <a:t>Every premium is paid to Halqa in full. There is no member to member premium and no commission split, so the platform receives the whole amount rather than a share of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PRODUCTS  HYPER</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Daily position and funding</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46</a:t>
            </a:r>
          </a:p>
        </p:txBody>
      </p:sp>
      <p:graphicFrame>
        <p:nvGraphicFramePr>
          <p:cNvPr id="7" name="Chart 6"/>
          <p:cNvGraphicFramePr>
            <a:graphicFrameLocks noGrp="1"/>
          </p:cNvGraphicFramePr>
          <p:nvPr/>
        </p:nvGraphicFramePr>
        <p:xfrm>
          <a:off x="777240" y="1965960"/>
          <a:ext cx="6035040" cy="3291840"/>
        </p:xfrm>
        <a:graphic>
          <a:graphicData uri="http://schemas.openxmlformats.org/drawingml/2006/chart">
            <c:chart xmlns:c="http://schemas.openxmlformats.org/drawingml/2006/chart" r:id="rId2"/>
          </a:graphicData>
        </a:graphic>
      </p:graphicFrame>
      <p:sp>
        <p:nvSpPr>
          <p:cNvPr id="8" name="TextBox 7"/>
          <p:cNvSpPr txBox="1"/>
          <p:nvPr/>
        </p:nvSpPr>
        <p:spPr>
          <a:xfrm>
            <a:off x="777240" y="5349240"/>
            <a:ext cx="6035040" cy="36576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Rupees per day, one committee at Rs 250 a day across four hundred members.</a:t>
            </a:r>
          </a:p>
        </p:txBody>
      </p:sp>
      <p:graphicFrame>
        <p:nvGraphicFramePr>
          <p:cNvPr id="9" name="Table 8"/>
          <p:cNvGraphicFramePr>
            <a:graphicFrameLocks noGrp="1"/>
          </p:cNvGraphicFramePr>
          <p:nvPr/>
        </p:nvGraphicFramePr>
        <p:xfrm>
          <a:off x="7269480" y="1965960"/>
          <a:ext cx="4114800" cy="2633472"/>
        </p:xfrm>
        <a:graphic>
          <a:graphicData uri="http://schemas.openxmlformats.org/drawingml/2006/table">
            <a:tbl>
              <a:tblPr>
                <a:tableStyleId>{5C22544A-7EE6-4342-B048-85BDC9FD1C3A}</a:tableStyleId>
              </a:tblPr>
              <a:tblGrid>
                <a:gridCol w="2834640"/>
                <a:gridCol w="1280160"/>
              </a:tblGrid>
              <a:tr h="329184">
                <a:tc>
                  <a:txBody>
                    <a:bodyPr wrap="square"/>
                    <a:lstStyle/>
                    <a:p>
                      <a:r>
                        <a:rPr sz="900" b="1">
                          <a:solidFill>
                            <a:srgbClr val="41801A"/>
                          </a:solidFill>
                          <a:latin typeface="Segoe UI"/>
                        </a:rPr>
                        <a:t>LINE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AMOUNT</a:t>
                      </a:r>
                    </a:p>
                  </a:txBody>
                  <a:tcPr marL="45720" marR="109728" marT="27432" marB="27432" anchor="ctr">
                    <a:lnB w="9525" cap="flat" cmpd="sng" algn="ctr">
                      <a:solidFill>
                        <a:srgbClr val="41801A"/>
                      </a:solidFill>
                    </a:lnB>
                    <a:solidFill>
                      <a:srgbClr val="FFFFFF"/>
                    </a:solidFill>
                  </a:tcPr>
                </a:tc>
              </a:tr>
              <a:tr h="329184">
                <a:tc>
                  <a:txBody>
                    <a:bodyPr wrap="square"/>
                    <a:lstStyle/>
                    <a:p>
                      <a:r>
                        <a:rPr sz="950" b="0">
                          <a:solidFill>
                            <a:srgbClr val="26301F"/>
                          </a:solidFill>
                          <a:latin typeface="Segoe UI"/>
                        </a:rPr>
                        <a:t>Deficit at cycle close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Rs 152,250 negative</a:t>
                      </a:r>
                    </a:p>
                  </a:txBody>
                  <a:tcPr marL="45720" marR="109728" marT="27432" marB="27432" anchor="ctr">
                    <a:lnB w="9525" cap="flat" cmpd="sng" algn="ctr">
                      <a:solidFill>
                        <a:srgbClr val="DCE3D6"/>
                      </a:solidFill>
                    </a:lnB>
                    <a:solidFill>
                      <a:srgbClr val="FFFFFF"/>
                    </a:solidFill>
                  </a:tcPr>
                </a:tc>
              </a:tr>
              <a:tr h="329184">
                <a:tc>
                  <a:txBody>
                    <a:bodyPr wrap="square"/>
                    <a:lstStyle/>
                    <a:p>
                      <a:r>
                        <a:rPr sz="950" b="0">
                          <a:solidFill>
                            <a:srgbClr val="26301F"/>
                          </a:solidFill>
                          <a:latin typeface="Segoe UI"/>
                        </a:rPr>
                        <a:t>Auction premiums, taken before the cycle opens</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40,000</a:t>
                      </a:r>
                    </a:p>
                  </a:txBody>
                  <a:tcPr marL="45720" marR="109728" marT="27432" marB="27432" anchor="ctr">
                    <a:lnB w="9525" cap="flat" cmpd="sng" algn="ctr">
                      <a:solidFill>
                        <a:srgbClr val="DCE3D6"/>
                      </a:solidFill>
                    </a:lnB>
                    <a:solidFill>
                      <a:srgbClr val="FFFFFF"/>
                    </a:solidFill>
                  </a:tcPr>
                </a:tc>
              </a:tr>
              <a:tr h="329184">
                <a:tc>
                  <a:txBody>
                    <a:bodyPr wrap="square"/>
                    <a:lstStyle/>
                    <a:p>
                      <a:r>
                        <a:rPr sz="950" b="0">
                          <a:solidFill>
                            <a:srgbClr val="26301F"/>
                          </a:solidFill>
                          <a:latin typeface="Segoe UI"/>
                        </a:rPr>
                        <a:t>Fee uplift of forty five per cent</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50,000</a:t>
                      </a:r>
                    </a:p>
                  </a:txBody>
                  <a:tcPr marL="45720" marR="109728" marT="27432" marB="27432" anchor="ctr">
                    <a:lnB w="9525" cap="flat" cmpd="sng" algn="ctr">
                      <a:solidFill>
                        <a:srgbClr val="DCE3D6"/>
                      </a:solidFill>
                    </a:lnB>
                    <a:solidFill>
                      <a:srgbClr val="FFFFFF"/>
                    </a:solidFill>
                  </a:tcPr>
                </a:tc>
              </a:tr>
              <a:tr h="329184">
                <a:tc>
                  <a:txBody>
                    <a:bodyPr wrap="square"/>
                    <a:lstStyle/>
                    <a:p>
                      <a:r>
                        <a:rPr sz="950" b="0">
                          <a:solidFill>
                            <a:srgbClr val="26301F"/>
                          </a:solidFill>
                          <a:latin typeface="Segoe UI"/>
                        </a:rPr>
                        <a:t>Late fees</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20,000</a:t>
                      </a:r>
                    </a:p>
                  </a:txBody>
                  <a:tcPr marL="45720" marR="109728" marT="27432" marB="27432" anchor="ctr">
                    <a:lnB w="9525" cap="flat" cmpd="sng" algn="ctr">
                      <a:solidFill>
                        <a:srgbClr val="DCE3D6"/>
                      </a:solidFill>
                    </a:lnB>
                    <a:solidFill>
                      <a:srgbClr val="FFFFFF"/>
                    </a:solidFill>
                  </a:tcPr>
                </a:tc>
              </a:tr>
              <a:tr h="329184">
                <a:tc>
                  <a:txBody>
                    <a:bodyPr wrap="square"/>
                    <a:lstStyle/>
                    <a:p>
                      <a:r>
                        <a:rPr sz="950" b="0">
                          <a:solidFill>
                            <a:srgbClr val="26301F"/>
                          </a:solidFill>
                          <a:latin typeface="Segoe UI"/>
                        </a:rPr>
                        <a:t>Residual before recovery</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Rs 42,250 negative</a:t>
                      </a:r>
                    </a:p>
                  </a:txBody>
                  <a:tcPr marL="45720" marR="109728" marT="27432" marB="27432" anchor="ctr">
                    <a:lnB w="9525" cap="flat" cmpd="sng" algn="ctr">
                      <a:solidFill>
                        <a:srgbClr val="DCE3D6"/>
                      </a:solidFill>
                    </a:lnB>
                    <a:solidFill>
                      <a:srgbClr val="FFFFFF"/>
                    </a:solidFill>
                  </a:tcPr>
                </a:tc>
              </a:tr>
              <a:tr h="329184">
                <a:tc>
                  <a:txBody>
                    <a:bodyPr wrap="square"/>
                    <a:lstStyle/>
                    <a:p>
                      <a:r>
                        <a:rPr sz="950" b="0">
                          <a:solidFill>
                            <a:srgbClr val="26301F"/>
                          </a:solidFill>
                          <a:latin typeface="Segoe UI"/>
                        </a:rPr>
                        <a:t>Advances outstanding and recoverable</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915,000</a:t>
                      </a:r>
                    </a:p>
                  </a:txBody>
                  <a:tcPr marL="45720" marR="109728" marT="27432" marB="27432" anchor="ctr">
                    <a:lnB w="9525" cap="flat" cmpd="sng" algn="ctr">
                      <a:solidFill>
                        <a:srgbClr val="DCE3D6"/>
                      </a:solidFill>
                    </a:lnB>
                    <a:solidFill>
                      <a:srgbClr val="FFFFFF"/>
                    </a:solidFill>
                  </a:tcPr>
                </a:tc>
              </a:tr>
              <a:tr h="329184">
                <a:tc>
                  <a:txBody>
                    <a:bodyPr wrap="square"/>
                    <a:lstStyle/>
                    <a:p>
                      <a:r>
                        <a:rPr sz="950" b="0">
                          <a:solidFill>
                            <a:srgbClr val="26301F"/>
                          </a:solidFill>
                          <a:latin typeface="Segoe UI"/>
                        </a:rPr>
                        <a:t>Recovery rate at which it closes at zero</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4.6%</a:t>
                      </a:r>
                    </a:p>
                  </a:txBody>
                  <a:tcPr marL="45720" marR="109728" marT="27432" marB="27432" anchor="ctr">
                    <a:lnB w="9525" cap="flat" cmpd="sng" algn="ctr">
                      <a:solidFill>
                        <a:srgbClr val="DCE3D6"/>
                      </a:solidFill>
                    </a:lnB>
                    <a:solidFill>
                      <a:srgbClr val="FFFFFF"/>
                    </a:solidFill>
                  </a:tcPr>
                </a:tc>
              </a:tr>
            </a:tbl>
          </a:graphicData>
        </a:graphic>
      </p:graphicFrame>
      <p:sp>
        <p:nvSpPr>
          <p:cNvPr id="10" name="TextBox 9"/>
          <p:cNvSpPr txBox="1"/>
          <p:nvPr/>
        </p:nvSpPr>
        <p:spPr>
          <a:xfrm>
            <a:off x="7269480" y="4663440"/>
            <a:ext cx="4114800" cy="137160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The premium runs ahead of the shortfall for the first twenty six days and behind it after, so the surplus built early funds the deficit late from inside the committee itself. What the product needs is a revolving working balance, not equity.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PRODUCTS  ASSET CIRCLES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Retention of title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47</a:t>
            </a:r>
          </a:p>
        </p:txBody>
      </p:sp>
      <p:sp>
        <p:nvSpPr>
          <p:cNvPr id="7" name="TextBox 6"/>
          <p:cNvSpPr txBox="1"/>
          <p:nvPr/>
        </p:nvSpPr>
        <p:spPr>
          <a:xfrm>
            <a:off x="777240" y="1965960"/>
            <a:ext cx="5760720" cy="2011680"/>
          </a:xfrm>
          <a:prstGeom prst="rect">
            <a:avLst/>
          </a:prstGeom>
          <a:noFill/>
        </p:spPr>
        <p:txBody>
          <a:bodyPr wrap="square" lIns="0" rIns="0" tIns="0" bIns="0">
            <a:spAutoFit/>
          </a:bodyPr>
          <a:lstStyle/>
          <a:p>
            <a:pPr algn="l">
              <a:lnSpc>
                <a:spcPct val="145000"/>
              </a:lnSpc>
            </a:pPr>
            <a:r>
              <a:rPr sz="1250" b="0" i="0">
                <a:solidFill>
                  <a:srgbClr val="26301F"/>
                </a:solidFill>
                <a:latin typeface="Segoe UI"/>
              </a:rPr>
              <a:t>The pot buys a named item and is paid straight to the dealer. The member takes possession at their turn. Legal title does not pass, and is held by a security trustee for the circle's members until that member's obligation is discharged.</a:t>
            </a:r>
          </a:p>
          <a:p>
            <a:pPr algn="l">
              <a:lnSpc>
                <a:spcPct val="145000"/>
              </a:lnSpc>
              <a:spcBef>
                <a:spcPts val="800"/>
              </a:spcBef>
            </a:pPr>
            <a:r>
              <a:rPr sz="1250" b="0" i="0">
                <a:solidFill>
                  <a:srgbClr val="26301F"/>
                </a:solidFill>
                <a:latin typeface="Segoe UI"/>
              </a:rPr>
              <a:t/>
            </a:r>
          </a:p>
          <a:p>
            <a:pPr algn="l">
              <a:lnSpc>
                <a:spcPct val="145000"/>
              </a:lnSpc>
              <a:spcBef>
                <a:spcPts val="800"/>
              </a:spcBef>
            </a:pPr>
            <a:r>
              <a:rPr sz="1250" b="0" i="0">
                <a:solidFill>
                  <a:srgbClr val="26301F"/>
                </a:solidFill>
                <a:latin typeface="Segoe UI"/>
              </a:rPr>
              <a:t>Under the Sale of Goods Act 1930 property passes when the parties intend it to, and a seller may reserve the right of disposal. This is ordinary commercial law rather than an exotic structure.</a:t>
            </a:r>
          </a:p>
        </p:txBody>
      </p:sp>
      <p:graphicFrame>
        <p:nvGraphicFramePr>
          <p:cNvPr id="8" name="Chart 7"/>
          <p:cNvGraphicFramePr>
            <a:graphicFrameLocks noGrp="1"/>
          </p:cNvGraphicFramePr>
          <p:nvPr/>
        </p:nvGraphicFramePr>
        <p:xfrm>
          <a:off x="6903720" y="1965960"/>
          <a:ext cx="4480560" cy="2926080"/>
        </p:xfrm>
        <a:graphic>
          <a:graphicData uri="http://schemas.openxmlformats.org/drawingml/2006/chart">
            <c:chart xmlns:c="http://schemas.openxmlformats.org/drawingml/2006/chart" r:id="rId2"/>
          </a:graphicData>
        </a:graphic>
      </p:graphicFrame>
      <p:sp>
        <p:nvSpPr>
          <p:cNvPr id="9" name="TextBox 8"/>
          <p:cNvSpPr txBox="1"/>
          <p:nvPr/>
        </p:nvSpPr>
        <p:spPr>
          <a:xfrm>
            <a:off x="6903720" y="4983480"/>
            <a:ext cx="4480560" cy="36576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Cover improves from 1.31 times at month three to 3.53 times at month nine.</a:t>
            </a:r>
          </a:p>
        </p:txBody>
      </p:sp>
      <p:sp>
        <p:nvSpPr>
          <p:cNvPr id="10" name="TextBox 9"/>
          <p:cNvSpPr txBox="1"/>
          <p:nvPr/>
        </p:nvSpPr>
        <p:spPr>
          <a:xfrm>
            <a:off x="777240" y="4206240"/>
            <a:ext cx="5760720" cy="1828800"/>
          </a:xfrm>
          <a:prstGeom prst="rect">
            <a:avLst/>
          </a:prstGeom>
          <a:noFill/>
        </p:spPr>
        <p:txBody>
          <a:bodyPr wrap="square" lIns="0" rIns="0" tIns="0" bIns="0">
            <a:spAutoFit/>
          </a:bodyPr>
          <a:lstStyle/>
          <a:p>
            <a:pPr algn="l">
              <a:lnSpc>
                <a:spcPct val="145000"/>
              </a:lnSpc>
            </a:pPr>
            <a:r>
              <a:rPr sz="1250" b="0" i="0">
                <a:solidFill>
                  <a:srgbClr val="26301F"/>
                </a:solidFill>
                <a:latin typeface="Segoe UI"/>
              </a:rPr>
              <a:t>The obligation falls faster than the asset depreciates, so the security strengthens every month. Every member's contributions end on the same round, so members take possession on different dates and receive title on one date. No member's title depends on any other member's conduct, and if the circle itself fails each retention still stands on its own.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PRODUCTS  SAVINGS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savings layer</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48</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Committee money earns nothing while it waits, which is a straightforward loss against inflation. Under the 2008 regulations the assets of every regulated fund are held by a trustee and the manager only manages them, so the member's money never touches Halqa.</a:t>
            </a:r>
          </a:p>
        </p:txBody>
      </p:sp>
      <p:graphicFrame>
        <p:nvGraphicFramePr>
          <p:cNvPr id="8" name="Table 7"/>
          <p:cNvGraphicFramePr>
            <a:graphicFrameLocks noGrp="1"/>
          </p:cNvGraphicFramePr>
          <p:nvPr/>
        </p:nvGraphicFramePr>
        <p:xfrm>
          <a:off x="777240" y="2788920"/>
          <a:ext cx="10607040" cy="2414016"/>
        </p:xfrm>
        <a:graphic>
          <a:graphicData uri="http://schemas.openxmlformats.org/drawingml/2006/table">
            <a:tbl>
              <a:tblPr>
                <a:tableStyleId>{5C22544A-7EE6-4342-B048-85BDC9FD1C3A}</a:tableStyleId>
              </a:tblPr>
              <a:tblGrid>
                <a:gridCol w="1828800"/>
                <a:gridCol w="4937760"/>
                <a:gridCol w="3840480"/>
              </a:tblGrid>
              <a:tr h="603504">
                <a:tc>
                  <a:txBody>
                    <a:bodyPr wrap="square"/>
                    <a:lstStyle/>
                    <a:p>
                      <a:r>
                        <a:rPr sz="900" b="1">
                          <a:solidFill>
                            <a:srgbClr val="41801A"/>
                          </a:solidFill>
                          <a:latin typeface="Segoe UI"/>
                        </a:rPr>
                        <a:t>PRODUCT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MECHANISM</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EFFECT</a:t>
                      </a:r>
                    </a:p>
                  </a:txBody>
                  <a:tcPr marL="45720" marR="109728" marT="27432" marB="27432" anchor="ctr">
                    <a:lnB w="9525" cap="flat" cmpd="sng" algn="ctr">
                      <a:solidFill>
                        <a:srgbClr val="41801A"/>
                      </a:solidFill>
                    </a:lnB>
                    <a:solidFill>
                      <a:srgbClr val="FFFFFF"/>
                    </a:solidFill>
                  </a:tcPr>
                </a:tc>
              </a:tr>
              <a:tr h="603504">
                <a:tc>
                  <a:txBody>
                    <a:bodyPr wrap="square"/>
                    <a:lstStyle/>
                    <a:p>
                      <a:r>
                        <a:rPr sz="1000" b="0">
                          <a:solidFill>
                            <a:srgbClr val="26301F"/>
                          </a:solidFill>
                          <a:latin typeface="Segoe UI"/>
                        </a:rPr>
                        <a:t>Growth vault</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Voluntary savings into an Islamic money market or income fund, units registered in the member's own name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Money which earns nothing today earns a return</a:t>
                      </a:r>
                    </a:p>
                  </a:txBody>
                  <a:tcPr marL="45720" marR="109728" marT="27432" marB="27432" anchor="ctr">
                    <a:lnB w="9525" cap="flat" cmpd="sng" algn="ctr">
                      <a:solidFill>
                        <a:srgbClr val="DCE3D6"/>
                      </a:solidFill>
                    </a:lnB>
                    <a:solidFill>
                      <a:srgbClr val="FFFFFF"/>
                    </a:solidFill>
                  </a:tcPr>
                </a:tc>
              </a:tr>
              <a:tr h="603504">
                <a:tc>
                  <a:txBody>
                    <a:bodyPr wrap="square"/>
                    <a:lstStyle/>
                    <a:p>
                      <a:r>
                        <a:rPr sz="1000" b="0">
                          <a:solidFill>
                            <a:srgbClr val="26301F"/>
                          </a:solidFill>
                          <a:latin typeface="Segoe UI"/>
                        </a:rPr>
                        <a:t>Safety vault</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The same holding, pledged, with a charge in favour of the circle and an irrevocable redemption instruction signed at pledge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member cannot default up to the size of the pledged holding. This is what makes short cycle products possible</a:t>
                      </a:r>
                    </a:p>
                  </a:txBody>
                  <a:tcPr marL="45720" marR="109728" marT="27432" marB="27432" anchor="ctr">
                    <a:lnB w="9525" cap="flat" cmpd="sng" algn="ctr">
                      <a:solidFill>
                        <a:srgbClr val="DCE3D6"/>
                      </a:solidFill>
                    </a:lnB>
                    <a:solidFill>
                      <a:srgbClr val="FFFFFF"/>
                    </a:solidFill>
                  </a:tcPr>
                </a:tc>
              </a:tr>
              <a:tr h="603504">
                <a:tc>
                  <a:txBody>
                    <a:bodyPr wrap="square"/>
                    <a:lstStyle/>
                    <a:p>
                      <a:r>
                        <a:rPr sz="1000" b="0">
                          <a:solidFill>
                            <a:srgbClr val="26301F"/>
                          </a:solidFill>
                          <a:latin typeface="Segoe UI"/>
                        </a:rPr>
                        <a:t>Float</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Contributions collected between payday and the payout date buy units in the payer's own name and redeem on payout day</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Small. About Rs 249 a circle a cycle to Halqa. It is a member benefit, not a revenue line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385816"/>
            <a:ext cx="10637215" cy="731520"/>
          </a:xfrm>
          <a:prstGeom prst="rect">
            <a:avLst/>
          </a:prstGeom>
          <a:noFill/>
        </p:spPr>
        <p:txBody>
          <a:bodyPr wrap="square" lIns="0" rIns="0" tIns="0" bIns="0">
            <a:spAutoFit/>
          </a:bodyPr>
          <a:lstStyle/>
          <a:p>
            <a:pPr algn="l">
              <a:lnSpc>
                <a:spcPct val="140000"/>
              </a:lnSpc>
            </a:pPr>
            <a:r>
              <a:rPr sz="1250" b="0" i="0">
                <a:solidFill>
                  <a:srgbClr val="26301F"/>
                </a:solidFill>
                <a:latin typeface="Segoe UI"/>
              </a:rPr>
              <a:t>The registration required is a mutual fund distributor registration. It is not an electronic money licence, because no balance is issued, and not a non banking finance licence, because Halqa deploys nothing. One engineering rule is absolute: no payout ever waits on a fund redemption.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MATHEMATICS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One formula, every product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49</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The whole risk model is one expression. Every product below is the same expression with different numbers substituted into it.</a:t>
            </a:r>
          </a:p>
        </p:txBody>
      </p:sp>
      <p:sp>
        <p:nvSpPr>
          <p:cNvPr id="8" name="Rectangle 7"/>
          <p:cNvSpPr/>
          <p:nvPr/>
        </p:nvSpPr>
        <p:spPr>
          <a:xfrm>
            <a:off x="777240" y="2514600"/>
            <a:ext cx="1060704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51460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633472"/>
            <a:ext cx="10241280" cy="274320"/>
          </a:xfrm>
          <a:prstGeom prst="rect">
            <a:avLst/>
          </a:prstGeom>
          <a:noFill/>
        </p:spPr>
        <p:txBody>
          <a:bodyPr wrap="square" lIns="0" rIns="0" tIns="0" bIns="0">
            <a:spAutoFit/>
          </a:bodyPr>
          <a:lstStyle/>
          <a:p>
            <a:pPr algn="l">
              <a:lnSpc>
                <a:spcPct val="125000"/>
              </a:lnSpc>
            </a:pPr>
            <a:r>
              <a:rPr sz="1500" b="1" i="0">
                <a:solidFill>
                  <a:srgbClr val="22450C"/>
                </a:solidFill>
                <a:latin typeface="Segoe UI"/>
              </a:rPr>
              <a:t>Cost of one default  =  c (T − k)  −  φ k</a:t>
            </a:r>
          </a:p>
        </p:txBody>
      </p:sp>
      <p:sp>
        <p:nvSpPr>
          <p:cNvPr id="11" name="TextBox 10"/>
          <p:cNvSpPr txBox="1"/>
          <p:nvPr/>
        </p:nvSpPr>
        <p:spPr>
          <a:xfrm>
            <a:off x="777240" y="3108960"/>
            <a:ext cx="10607040" cy="365760"/>
          </a:xfrm>
          <a:prstGeom prst="rect">
            <a:avLst/>
          </a:prstGeom>
          <a:noFill/>
        </p:spPr>
        <p:txBody>
          <a:bodyPr wrap="square" lIns="0" rIns="0" tIns="0" bIns="0">
            <a:spAutoFit/>
          </a:bodyPr>
          <a:lstStyle/>
          <a:p>
            <a:pPr algn="l">
              <a:lnSpc>
                <a:spcPct val="125000"/>
              </a:lnSpc>
            </a:pPr>
            <a:r>
              <a:rPr sz="1200" b="0" i="0">
                <a:solidFill>
                  <a:srgbClr val="6F7B68"/>
                </a:solidFill>
                <a:latin typeface="Segoe UI"/>
              </a:rPr>
              <a:t>What the member still owes after collecting, less the fees they have already paid.</a:t>
            </a:r>
          </a:p>
        </p:txBody>
      </p:sp>
      <p:sp>
        <p:nvSpPr>
          <p:cNvPr id="12" name="TextBox 11"/>
          <p:cNvSpPr txBox="1"/>
          <p:nvPr/>
        </p:nvSpPr>
        <p:spPr>
          <a:xfrm>
            <a:off x="777240" y="3493008"/>
            <a:ext cx="10607040" cy="274320"/>
          </a:xfrm>
          <a:prstGeom prst="rect">
            <a:avLst/>
          </a:prstGeom>
          <a:noFill/>
        </p:spPr>
        <p:txBody>
          <a:bodyPr wrap="square" lIns="0" rIns="0" tIns="0" bIns="0">
            <a:spAutoFit/>
          </a:bodyPr>
          <a:lstStyle/>
          <a:p>
            <a:pPr algn="l">
              <a:lnSpc>
                <a:spcPct val="125000"/>
              </a:lnSpc>
            </a:pPr>
            <a:r>
              <a:rPr sz="1150" b="1" i="0">
                <a:solidFill>
                  <a:srgbClr val="0C1408"/>
                </a:solidFill>
                <a:latin typeface="Segoe UI"/>
              </a:rPr>
              <a:t>Money in equals money out for the member in every column. Halqa's entire take is the fee line.</a:t>
            </a:r>
          </a:p>
        </p:txBody>
      </p:sp>
      <p:graphicFrame>
        <p:nvGraphicFramePr>
          <p:cNvPr id="13" name="Table 12"/>
          <p:cNvGraphicFramePr>
            <a:graphicFrameLocks noGrp="1"/>
          </p:cNvGraphicFramePr>
          <p:nvPr/>
        </p:nvGraphicFramePr>
        <p:xfrm>
          <a:off x="777240" y="3931920"/>
          <a:ext cx="10607040" cy="2377440"/>
        </p:xfrm>
        <a:graphic>
          <a:graphicData uri="http://schemas.openxmlformats.org/drawingml/2006/table">
            <a:tbl>
              <a:tblPr>
                <a:tableStyleId>{5C22544A-7EE6-4342-B048-85BDC9FD1C3A}</a:tableStyleId>
              </a:tblPr>
              <a:tblGrid>
                <a:gridCol w="731520"/>
                <a:gridCol w="2743200"/>
                <a:gridCol w="1828800"/>
                <a:gridCol w="1828800"/>
                <a:gridCol w="1737360"/>
                <a:gridCol w="1737360"/>
              </a:tblGrid>
              <a:tr h="237744">
                <a:tc>
                  <a:txBody>
                    <a:bodyPr wrap="square"/>
                    <a:lstStyle/>
                    <a:p>
                      <a:r>
                        <a:rPr sz="700" b="1">
                          <a:solidFill>
                            <a:srgbClr val="41801A"/>
                          </a:solidFill>
                          <a:latin typeface="Segoe UI"/>
                        </a:rPr>
                        <a:t>SYMBOL</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MEANING</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OPEN MONTHLY</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KNOWN MONTHLY</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ASSET</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HYPER</a:t>
                      </a:r>
                    </a:p>
                  </a:txBody>
                  <a:tcPr marL="45720" marR="109728" marT="27432" marB="27432" anchor="ctr">
                    <a:lnB w="9525" cap="flat" cmpd="sng" algn="ctr">
                      <a:solidFill>
                        <a:srgbClr val="41801A"/>
                      </a:solidFill>
                    </a:lnB>
                    <a:solidFill>
                      <a:srgbClr val="FFFFFF"/>
                    </a:solidFill>
                  </a:tcPr>
                </a:tc>
              </a:tr>
              <a:tr h="237744">
                <a:tc>
                  <a:txBody>
                    <a:bodyPr wrap="square"/>
                    <a:lstStyle/>
                    <a:p>
                      <a:r>
                        <a:rPr sz="700" b="0">
                          <a:solidFill>
                            <a:srgbClr val="26301F"/>
                          </a:solidFill>
                          <a:latin typeface="Segoe UI"/>
                        </a:rPr>
                        <a:t>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Members</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12</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12</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12</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400</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Rounds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12 months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12 months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12 months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60 days</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c</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Each installment</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250</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φ</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 fee per installment</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100</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15%, Rs 37.50</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Pot</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240,000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240,000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120,000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15,000</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Member pays in over the cycle</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240,000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240,000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120,000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15,000</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Member receives</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240,000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240,000</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Asset</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15,000</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 earns per circle</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14,400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14,400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14,400</a:t>
                      </a:r>
                    </a:p>
                  </a:txBody>
                  <a:tcPr marL="45720" marR="109728" marT="27432" marB="27432" anchor="ctr">
                    <a:lnB w="9525" cap="flat" cmpd="sng" algn="ctr">
                      <a:solidFill>
                        <a:srgbClr val="DCE3D6"/>
                      </a:solidFill>
                    </a:lnB>
                    <a:solidFill>
                      <a:srgbClr val="FFFFFF"/>
                    </a:solidFill>
                  </a:tcPr>
                </a:tc>
                <a:tc>
                  <a:txBody>
                    <a:bodyPr wrap="square"/>
                    <a:lstStyle/>
                    <a:p>
                      <a:pPr algn="r"/>
                      <a:r>
                        <a:rPr sz="700" b="0">
                          <a:solidFill>
                            <a:srgbClr val="26301F"/>
                          </a:solidFill>
                          <a:latin typeface="Segoe UI"/>
                        </a:rPr>
                        <a:t>Rs 900,000</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Who covers a default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group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trustee, then Halqa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MATHEMATICS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one default costs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50</a:t>
            </a:r>
          </a:p>
        </p:txBody>
      </p:sp>
      <p:pic>
        <p:nvPicPr>
          <p:cNvPr id="7" name="Picture 6" descr="l_onedefault.png"/>
          <p:cNvPicPr>
            <a:picLocks noChangeAspect="1"/>
          </p:cNvPicPr>
          <p:nvPr/>
        </p:nvPicPr>
        <p:blipFill>
          <a:blip r:embed="rId2"/>
          <a:stretch>
            <a:fillRect/>
          </a:stretch>
        </p:blipFill>
        <p:spPr>
          <a:xfrm>
            <a:off x="777240" y="2057400"/>
            <a:ext cx="5852160" cy="2340133"/>
          </a:xfrm>
          <a:prstGeom prst="rect">
            <a:avLst/>
          </a:prstGeom>
        </p:spPr>
      </p:pic>
      <p:sp>
        <p:nvSpPr>
          <p:cNvPr id="8" name="TextBox 7"/>
          <p:cNvSpPr txBox="1"/>
          <p:nvPr/>
        </p:nvSpPr>
        <p:spPr>
          <a:xfrm>
            <a:off x="777240" y="4892040"/>
            <a:ext cx="5943600" cy="32004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Cost of a single default on a twelve month circle, by the round they collected.</a:t>
            </a:r>
          </a:p>
        </p:txBody>
      </p:sp>
      <p:sp>
        <p:nvSpPr>
          <p:cNvPr id="9" name="Rectangle 8"/>
          <p:cNvSpPr/>
          <p:nvPr/>
        </p:nvSpPr>
        <p:spPr>
          <a:xfrm>
            <a:off x="7269480" y="2011680"/>
            <a:ext cx="411480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201168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0648" y="2130552"/>
            <a:ext cx="3749040" cy="27432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Break-even round  =  cT ÷ (c + φ)</a:t>
            </a:r>
          </a:p>
        </p:txBody>
      </p:sp>
      <p:graphicFrame>
        <p:nvGraphicFramePr>
          <p:cNvPr id="12" name="Table 11"/>
          <p:cNvGraphicFramePr>
            <a:graphicFrameLocks noGrp="1"/>
          </p:cNvGraphicFramePr>
          <p:nvPr/>
        </p:nvGraphicFramePr>
        <p:xfrm>
          <a:off x="7269480" y="2697480"/>
          <a:ext cx="4114800" cy="1828800"/>
        </p:xfrm>
        <a:graphic>
          <a:graphicData uri="http://schemas.openxmlformats.org/drawingml/2006/table">
            <a:tbl>
              <a:tblPr>
                <a:tableStyleId>{5C22544A-7EE6-4342-B048-85BDC9FD1C3A}</a:tableStyleId>
              </a:tblPr>
              <a:tblGrid>
                <a:gridCol w="1371600"/>
                <a:gridCol w="1463040"/>
                <a:gridCol w="1280160"/>
              </a:tblGrid>
              <a:tr h="365760">
                <a:tc>
                  <a:txBody>
                    <a:bodyPr wrap="square"/>
                    <a:lstStyle/>
                    <a:p>
                      <a:r>
                        <a:rPr sz="900" b="1">
                          <a:solidFill>
                            <a:srgbClr val="41801A"/>
                          </a:solidFill>
                          <a:latin typeface="Segoe UI"/>
                        </a:rPr>
                        <a:t>PRODUCT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BREAK-EVEN POINT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SAFE POSITIONS</a:t>
                      </a:r>
                    </a:p>
                  </a:txBody>
                  <a:tcPr marL="45720" marR="109728" marT="27432" marB="27432" anchor="ctr">
                    <a:lnB w="9525" cap="flat" cmpd="sng" algn="ctr">
                      <a:solidFill>
                        <a:srgbClr val="41801A"/>
                      </a:solidFill>
                    </a:lnB>
                    <a:solidFill>
                      <a:srgbClr val="FFFFFF"/>
                    </a:solidFill>
                  </a:tcPr>
                </a:tc>
              </a:tr>
              <a:tr h="365760">
                <a:tc>
                  <a:txBody>
                    <a:bodyPr wrap="square"/>
                    <a:lstStyle/>
                    <a:p>
                      <a:r>
                        <a:rPr sz="950" b="0">
                          <a:solidFill>
                            <a:srgbClr val="26301F"/>
                          </a:solidFill>
                          <a:latin typeface="Segoe UI"/>
                        </a:rPr>
                        <a:t>Open monthly</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Round 11.9</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last one</a:t>
                      </a:r>
                    </a:p>
                  </a:txBody>
                  <a:tcPr marL="45720" marR="109728" marT="27432" marB="27432" anchor="ctr">
                    <a:lnB w="9525" cap="flat" cmpd="sng" algn="ctr">
                      <a:solidFill>
                        <a:srgbClr val="DCE3D6"/>
                      </a:solidFill>
                    </a:lnB>
                    <a:solidFill>
                      <a:srgbClr val="FFFFFF"/>
                    </a:solidFill>
                  </a:tcPr>
                </a:tc>
              </a:tr>
              <a:tr h="365760">
                <a:tc>
                  <a:txBody>
                    <a:bodyPr wrap="square"/>
                    <a:lstStyle/>
                    <a:p>
                      <a:r>
                        <a:rPr sz="950" b="0">
                          <a:solidFill>
                            <a:srgbClr val="26301F"/>
                          </a:solidFill>
                          <a:latin typeface="Segoe UI"/>
                        </a:rPr>
                        <a:t>Known monthly</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Round 11.9</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last one</a:t>
                      </a:r>
                    </a:p>
                  </a:txBody>
                  <a:tcPr marL="45720" marR="109728" marT="27432" marB="27432" anchor="ctr">
                    <a:lnB w="9525" cap="flat" cmpd="sng" algn="ctr">
                      <a:solidFill>
                        <a:srgbClr val="DCE3D6"/>
                      </a:solidFill>
                    </a:lnB>
                    <a:solidFill>
                      <a:srgbClr val="FFFFFF"/>
                    </a:solidFill>
                  </a:tcPr>
                </a:tc>
              </a:tr>
              <a:tr h="365760">
                <a:tc>
                  <a:txBody>
                    <a:bodyPr wrap="square"/>
                    <a:lstStyle/>
                    <a:p>
                      <a:r>
                        <a:rPr sz="950" b="0">
                          <a:solidFill>
                            <a:srgbClr val="26301F"/>
                          </a:solidFill>
                          <a:latin typeface="Segoe UI"/>
                        </a:rPr>
                        <a:t>Asset circle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Round 4.0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Nine of twelve</a:t>
                      </a:r>
                    </a:p>
                  </a:txBody>
                  <a:tcPr marL="45720" marR="109728" marT="27432" marB="27432" anchor="ctr">
                    <a:lnB w="9525" cap="flat" cmpd="sng" algn="ctr">
                      <a:solidFill>
                        <a:srgbClr val="DCE3D6"/>
                      </a:solidFill>
                    </a:lnB>
                    <a:solidFill>
                      <a:srgbClr val="FFFFFF"/>
                    </a:solidFill>
                  </a:tcPr>
                </a:tc>
              </a:tr>
              <a:tr h="365760">
                <a:tc>
                  <a:txBody>
                    <a:bodyPr wrap="square"/>
                    <a:lstStyle/>
                    <a:p>
                      <a:r>
                        <a:rPr sz="950" b="0">
                          <a:solidFill>
                            <a:srgbClr val="26301F"/>
                          </a:solidFill>
                          <a:latin typeface="Segoe UI"/>
                        </a:rPr>
                        <a:t>HYPER</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Day 52.2</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Eight of sixty</a:t>
                      </a:r>
                    </a:p>
                  </a:txBody>
                  <a:tcPr marL="45720" marR="109728" marT="27432" marB="27432" anchor="ctr">
                    <a:lnB w="9525" cap="flat" cmpd="sng" algn="ctr">
                      <a:solidFill>
                        <a:srgbClr val="DCE3D6"/>
                      </a:solidFill>
                    </a:lnB>
                    <a:solidFill>
                      <a:srgbClr val="FFFFFF"/>
                    </a:solidFill>
                  </a:tcPr>
                </a:tc>
              </a:tr>
            </a:tbl>
          </a:graphicData>
        </a:graphic>
      </p:graphicFrame>
      <p:sp>
        <p:nvSpPr>
          <p:cNvPr id="13" name="TextBox 12"/>
          <p:cNvSpPr txBox="1"/>
          <p:nvPr/>
        </p:nvSpPr>
        <p:spPr>
          <a:xfrm>
            <a:off x="7269480" y="4663440"/>
            <a:ext cx="4114800" cy="155448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Beyond the break-even point a member who walks has already paid Halqa more than they can cost it. Asset circles reach that point in round four because the trustee can sell the item. Monthly circles only reach it at the very end, which is why position gating carries the whole weight.</a:t>
            </a:r>
          </a:p>
        </p:txBody>
      </p:sp>
      <p:sp>
        <p:nvSpPr>
          <p:cNvPr id="14" name="TextBox 13"/>
          <p:cNvSpPr txBox="1"/>
          <p:nvPr/>
        </p:nvSpPr>
        <p:spPr>
          <a:xfrm>
            <a:off x="777240" y="5349240"/>
            <a:ext cx="5943600" cy="822960"/>
          </a:xfrm>
          <a:prstGeom prst="rect">
            <a:avLst/>
          </a:prstGeom>
          <a:noFill/>
        </p:spPr>
        <p:txBody>
          <a:bodyPr wrap="square" lIns="0" rIns="0" tIns="0" bIns="0">
            <a:spAutoFit/>
          </a:bodyPr>
          <a:lstStyle/>
          <a:p>
            <a:pPr algn="l">
              <a:lnSpc>
                <a:spcPct val="145000"/>
              </a:lnSpc>
            </a:pPr>
            <a:r>
              <a:rPr sz="1200" b="0" i="0">
                <a:solidFill>
                  <a:srgbClr val="0C1408"/>
                </a:solidFill>
                <a:latin typeface="Segoe UI"/>
              </a:rPr>
              <a:t>A default in round one costs Rs 219,900, which is fifteen circles' worth of fee revenue. A default in round eleven costs Rs 18,900. Same person, same rules, twelve times the damage.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MATHEMATICS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Where profit turns to loss, monthly circles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51</a:t>
            </a:r>
          </a:p>
        </p:txBody>
      </p:sp>
      <p:pic>
        <p:nvPicPr>
          <p:cNvPr id="7" name="Picture 6" descr="s_open100.png"/>
          <p:cNvPicPr>
            <a:picLocks noChangeAspect="1"/>
          </p:cNvPicPr>
          <p:nvPr/>
        </p:nvPicPr>
        <p:blipFill>
          <a:blip r:embed="rId2"/>
          <a:stretch>
            <a:fillRect/>
          </a:stretch>
        </p:blipFill>
        <p:spPr>
          <a:xfrm>
            <a:off x="1097280" y="1920240"/>
            <a:ext cx="3388409" cy="3017520"/>
          </a:xfrm>
          <a:prstGeom prst="rect">
            <a:avLst/>
          </a:prstGeom>
        </p:spPr>
      </p:pic>
      <p:pic>
        <p:nvPicPr>
          <p:cNvPr id="8" name="Picture 7" descr="s_open275.png"/>
          <p:cNvPicPr>
            <a:picLocks noChangeAspect="1"/>
          </p:cNvPicPr>
          <p:nvPr/>
        </p:nvPicPr>
        <p:blipFill>
          <a:blip r:embed="rId3"/>
          <a:stretch>
            <a:fillRect/>
          </a:stretch>
        </p:blipFill>
        <p:spPr>
          <a:xfrm>
            <a:off x="6446520" y="1920240"/>
            <a:ext cx="3381207" cy="3017520"/>
          </a:xfrm>
          <a:prstGeom prst="rect">
            <a:avLst/>
          </a:prstGeom>
        </p:spPr>
      </p:pic>
      <p:sp>
        <p:nvSpPr>
          <p:cNvPr id="9" name="TextBox 8"/>
          <p:cNvSpPr txBox="1"/>
          <p:nvPr/>
        </p:nvSpPr>
        <p:spPr>
          <a:xfrm>
            <a:off x="1097280" y="5029200"/>
            <a:ext cx="3657600" cy="320040"/>
          </a:xfrm>
          <a:prstGeom prst="rect">
            <a:avLst/>
          </a:prstGeom>
          <a:noFill/>
        </p:spPr>
        <p:txBody>
          <a:bodyPr wrap="square" lIns="0" rIns="0" tIns="0" bIns="0">
            <a:spAutoFit/>
          </a:bodyPr>
          <a:lstStyle/>
          <a:p>
            <a:pPr algn="l">
              <a:lnSpc>
                <a:spcPct val="125000"/>
              </a:lnSpc>
            </a:pPr>
            <a:r>
              <a:rPr sz="1050" b="0" i="0">
                <a:solidFill>
                  <a:srgbClr val="9AA694"/>
                </a:solidFill>
                <a:latin typeface="Segoe UI"/>
              </a:rPr>
              <a:t>Fee of Rs 100 per installment.</a:t>
            </a:r>
          </a:p>
        </p:txBody>
      </p:sp>
      <p:sp>
        <p:nvSpPr>
          <p:cNvPr id="10" name="TextBox 9"/>
          <p:cNvSpPr txBox="1"/>
          <p:nvPr/>
        </p:nvSpPr>
        <p:spPr>
          <a:xfrm>
            <a:off x="6446520" y="5029200"/>
            <a:ext cx="3657600" cy="320040"/>
          </a:xfrm>
          <a:prstGeom prst="rect">
            <a:avLst/>
          </a:prstGeom>
          <a:noFill/>
        </p:spPr>
        <p:txBody>
          <a:bodyPr wrap="square" lIns="0" rIns="0" tIns="0" bIns="0">
            <a:spAutoFit/>
          </a:bodyPr>
          <a:lstStyle/>
          <a:p>
            <a:pPr algn="l">
              <a:lnSpc>
                <a:spcPct val="125000"/>
              </a:lnSpc>
            </a:pPr>
            <a:r>
              <a:rPr sz="1050" b="0" i="0">
                <a:solidFill>
                  <a:srgbClr val="9AA694"/>
                </a:solidFill>
                <a:latin typeface="Segoe UI"/>
              </a:rPr>
              <a:t>Fee of Rs 275 per installment.</a:t>
            </a:r>
          </a:p>
        </p:txBody>
      </p:sp>
      <p:sp>
        <p:nvSpPr>
          <p:cNvPr id="11" name="Rectangle 10"/>
          <p:cNvSpPr/>
          <p:nvPr/>
        </p:nvSpPr>
        <p:spPr>
          <a:xfrm>
            <a:off x="777240" y="5436108"/>
            <a:ext cx="146304" cy="91440"/>
          </a:xfrm>
          <a:prstGeom prst="rect">
            <a:avLst/>
          </a:prstGeom>
          <a:solidFill>
            <a:srgbClr val="B3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539496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Loss</a:t>
            </a:r>
          </a:p>
        </p:txBody>
      </p:sp>
      <p:sp>
        <p:nvSpPr>
          <p:cNvPr id="13" name="Rectangle 12"/>
          <p:cNvSpPr/>
          <p:nvPr/>
        </p:nvSpPr>
        <p:spPr>
          <a:xfrm>
            <a:off x="2011680" y="5436108"/>
            <a:ext cx="146304" cy="91440"/>
          </a:xfrm>
          <a:prstGeom prst="rect">
            <a:avLst/>
          </a:prstGeom>
          <a:solidFill>
            <a:srgbClr val="E8C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31136" y="539496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Break even</a:t>
            </a:r>
          </a:p>
        </p:txBody>
      </p:sp>
      <p:sp>
        <p:nvSpPr>
          <p:cNvPr id="15" name="Rectangle 14"/>
          <p:cNvSpPr/>
          <p:nvPr/>
        </p:nvSpPr>
        <p:spPr>
          <a:xfrm>
            <a:off x="3246120" y="5436108"/>
            <a:ext cx="146304" cy="91440"/>
          </a:xfrm>
          <a:prstGeom prst="rect">
            <a:avLst/>
          </a:prstGeom>
          <a:solidFill>
            <a:srgbClr val="2F7D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65576" y="539496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Profit</a:t>
            </a:r>
          </a:p>
        </p:txBody>
      </p:sp>
      <p:sp>
        <p:nvSpPr>
          <p:cNvPr id="17" name="TextBox 16"/>
          <p:cNvSpPr txBox="1"/>
          <p:nvPr/>
        </p:nvSpPr>
        <p:spPr>
          <a:xfrm>
            <a:off x="777240" y="5760720"/>
            <a:ext cx="10607040" cy="822960"/>
          </a:xfrm>
          <a:prstGeom prst="rect">
            <a:avLst/>
          </a:prstGeom>
          <a:noFill/>
        </p:spPr>
        <p:txBody>
          <a:bodyPr wrap="square" lIns="0" rIns="0" tIns="0" bIns="0">
            <a:spAutoFit/>
          </a:bodyPr>
          <a:lstStyle/>
          <a:p>
            <a:pPr algn="l">
              <a:lnSpc>
                <a:spcPct val="145000"/>
              </a:lnSpc>
            </a:pPr>
            <a:r>
              <a:rPr sz="1200" b="0" i="0">
                <a:solidFill>
                  <a:srgbClr val="26301F"/>
                </a:solidFill>
                <a:latin typeface="Segoe UI"/>
              </a:rPr>
              <a:t>Net position per circle against how many members default and where in the order those defaults land. The black line is break even. At Rs 100 the tolerated default rate is 1.09 per cent against a 1.0 per cent assumption, which is no margin at all. At Rs 275 it is 2.96 per cent, which is roughly three times cover for Rs 175 more a month.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MATHEMATICS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fee that clears the risk</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52</a:t>
            </a:r>
          </a:p>
        </p:txBody>
      </p:sp>
      <p:sp>
        <p:nvSpPr>
          <p:cNvPr id="7" name="Rectangle 6"/>
          <p:cNvSpPr/>
          <p:nvPr/>
        </p:nvSpPr>
        <p:spPr>
          <a:xfrm>
            <a:off x="777240" y="1965960"/>
            <a:ext cx="1060704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084832"/>
            <a:ext cx="10241280" cy="274320"/>
          </a:xfrm>
          <a:prstGeom prst="rect">
            <a:avLst/>
          </a:prstGeom>
          <a:noFill/>
        </p:spPr>
        <p:txBody>
          <a:bodyPr wrap="square" lIns="0" rIns="0" tIns="0" bIns="0">
            <a:spAutoFit/>
          </a:bodyPr>
          <a:lstStyle/>
          <a:p>
            <a:pPr algn="l">
              <a:lnSpc>
                <a:spcPct val="125000"/>
              </a:lnSpc>
            </a:pPr>
            <a:r>
              <a:rPr sz="1500" b="1" i="0">
                <a:solidFill>
                  <a:srgbClr val="22450C"/>
                </a:solidFill>
                <a:latin typeface="Segoe UI"/>
              </a:rPr>
              <a:t>Break-even default rate  =  φT ÷ [ (c + φ)(T − m) ]        Fee required  =  d c (T − m) ÷ [ T − d (T − m) ]</a:t>
            </a:r>
          </a:p>
        </p:txBody>
      </p:sp>
      <p:graphicFrame>
        <p:nvGraphicFramePr>
          <p:cNvPr id="10" name="Table 9"/>
          <p:cNvGraphicFramePr>
            <a:graphicFrameLocks noGrp="1"/>
          </p:cNvGraphicFramePr>
          <p:nvPr/>
        </p:nvGraphicFramePr>
        <p:xfrm>
          <a:off x="777240" y="2697480"/>
          <a:ext cx="10607040" cy="2103120"/>
        </p:xfrm>
        <a:graphic>
          <a:graphicData uri="http://schemas.openxmlformats.org/drawingml/2006/table">
            <a:tbl>
              <a:tblPr>
                <a:tableStyleId>{5C22544A-7EE6-4342-B048-85BDC9FD1C3A}</a:tableStyleId>
              </a:tblPr>
              <a:tblGrid>
                <a:gridCol w="1828800"/>
                <a:gridCol w="1920240"/>
                <a:gridCol w="1828800"/>
                <a:gridCol w="2011680"/>
                <a:gridCol w="1371600"/>
                <a:gridCol w="1645920"/>
              </a:tblGrid>
              <a:tr h="420624">
                <a:tc>
                  <a:txBody>
                    <a:bodyPr wrap="square"/>
                    <a:lstStyle/>
                    <a:p>
                      <a:r>
                        <a:rPr sz="900" b="1">
                          <a:solidFill>
                            <a:srgbClr val="41801A"/>
                          </a:solidFill>
                          <a:latin typeface="Segoe UI"/>
                        </a:rPr>
                        <a:t>PRODUCT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DEFAULT RATE ASSUMED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FEE THAT BREAKS EVEN</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FEE FOR THREE TIMES COVER</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FEE CHARGED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COVER ACHIEVED</a:t>
                      </a:r>
                    </a:p>
                  </a:txBody>
                  <a:tcPr marL="45720" marR="109728" marT="27432" marB="27432" anchor="ctr">
                    <a:lnB w="9525" cap="flat" cmpd="sng" algn="ctr">
                      <a:solidFill>
                        <a:srgbClr val="41801A"/>
                      </a:solidFill>
                    </a:lnB>
                    <a:solidFill>
                      <a:srgbClr val="FFFFFF"/>
                    </a:solidFill>
                  </a:tcPr>
                </a:tc>
              </a:tr>
              <a:tr h="420624">
                <a:tc>
                  <a:txBody>
                    <a:bodyPr wrap="square"/>
                    <a:lstStyle/>
                    <a:p>
                      <a:r>
                        <a:rPr sz="1000" b="0">
                          <a:solidFill>
                            <a:srgbClr val="26301F"/>
                          </a:solidFill>
                          <a:latin typeface="Segoe UI"/>
                        </a:rPr>
                        <a:t>Known monthly</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0.3%</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28</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83</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100</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3.6 times</a:t>
                      </a:r>
                    </a:p>
                  </a:txBody>
                  <a:tcPr marL="45720" marR="109728" marT="27432" marB="27432" anchor="ctr">
                    <a:lnB w="9525" cap="flat" cmpd="sng" algn="ctr">
                      <a:solidFill>
                        <a:srgbClr val="DCE3D6"/>
                      </a:solidFill>
                    </a:lnB>
                    <a:solidFill>
                      <a:srgbClr val="FFFFFF"/>
                    </a:solidFill>
                  </a:tcPr>
                </a:tc>
              </a:tr>
              <a:tr h="420624">
                <a:tc>
                  <a:txBody>
                    <a:bodyPr wrap="square"/>
                    <a:lstStyle/>
                    <a:p>
                      <a:r>
                        <a:rPr sz="1000" b="0">
                          <a:solidFill>
                            <a:srgbClr val="26301F"/>
                          </a:solidFill>
                          <a:latin typeface="Segoe UI"/>
                        </a:rPr>
                        <a:t>Open monthly</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1.0%</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92</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276</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100</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1.1 times</a:t>
                      </a:r>
                    </a:p>
                  </a:txBody>
                  <a:tcPr marL="45720" marR="109728" marT="27432" marB="27432" anchor="ctr">
                    <a:lnB w="9525" cap="flat" cmpd="sng" algn="ctr">
                      <a:solidFill>
                        <a:srgbClr val="DCE3D6"/>
                      </a:solidFill>
                    </a:lnB>
                    <a:solidFill>
                      <a:srgbClr val="FFFFFF"/>
                    </a:solidFill>
                  </a:tcPr>
                </a:tc>
              </a:tr>
              <a:tr h="420624">
                <a:tc>
                  <a:txBody>
                    <a:bodyPr wrap="square"/>
                    <a:lstStyle/>
                    <a:p>
                      <a:r>
                        <a:rPr sz="1000" b="0">
                          <a:solidFill>
                            <a:srgbClr val="26301F"/>
                          </a:solidFill>
                          <a:latin typeface="Segoe UI"/>
                        </a:rPr>
                        <a:t>Asset circle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1.0% before recovery</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46</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138</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100</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2.2 times</a:t>
                      </a:r>
                    </a:p>
                  </a:txBody>
                  <a:tcPr marL="45720" marR="109728" marT="27432" marB="27432" anchor="ctr">
                    <a:lnB w="9525" cap="flat" cmpd="sng" algn="ctr">
                      <a:solidFill>
                        <a:srgbClr val="DCE3D6"/>
                      </a:solidFill>
                    </a:lnB>
                    <a:solidFill>
                      <a:srgbClr val="FFFFFF"/>
                    </a:solidFill>
                  </a:tcPr>
                </a:tc>
              </a:tr>
              <a:tr h="420624">
                <a:tc>
                  <a:txBody>
                    <a:bodyPr wrap="square"/>
                    <a:lstStyle/>
                    <a:p>
                      <a:r>
                        <a:rPr sz="1000" b="0">
                          <a:solidFill>
                            <a:srgbClr val="26301F"/>
                          </a:solidFill>
                          <a:latin typeface="Segoe UI"/>
                        </a:rPr>
                        <a:t>HYPER</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30.0%</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18% of contribution</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not affordable</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15%</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0.8 times</a:t>
                      </a:r>
                    </a:p>
                  </a:txBody>
                  <a:tcPr marL="45720" marR="109728" marT="27432" marB="27432" anchor="ctr">
                    <a:lnB w="9525" cap="flat" cmpd="sng" algn="ctr">
                      <a:solidFill>
                        <a:srgbClr val="DCE3D6"/>
                      </a:solidFill>
                    </a:lnB>
                    <a:solidFill>
                      <a:srgbClr val="FFFFFF"/>
                    </a:solidFill>
                  </a:tcPr>
                </a:tc>
              </a:tr>
            </a:tbl>
          </a:graphicData>
        </a:graphic>
      </p:graphicFrame>
      <p:sp>
        <p:nvSpPr>
          <p:cNvPr id="11" name="TextBox 10"/>
          <p:cNvSpPr txBox="1"/>
          <p:nvPr/>
        </p:nvSpPr>
        <p:spPr>
          <a:xfrm>
            <a:off x="777240" y="4983480"/>
            <a:ext cx="10637215" cy="731520"/>
          </a:xfrm>
          <a:prstGeom prst="rect">
            <a:avLst/>
          </a:prstGeom>
          <a:noFill/>
        </p:spPr>
        <p:txBody>
          <a:bodyPr wrap="square" lIns="0" rIns="0" tIns="0" bIns="0">
            <a:spAutoFit/>
          </a:bodyPr>
          <a:lstStyle/>
          <a:p>
            <a:pPr algn="l">
              <a:lnSpc>
                <a:spcPct val="140000"/>
              </a:lnSpc>
            </a:pPr>
            <a:r>
              <a:rPr sz="1200" b="0" i="0">
                <a:solidFill>
                  <a:srgbClr val="26301F"/>
                </a:solidFill>
                <a:latin typeface="Segoe UI"/>
              </a:rPr>
              <a:t>Two rows are deliberately thin. Open circles at Rs 100 and HYPER at 15 per cent are priced at or slightly below break even, and the shortfall is met by the opening auction, the turn marketplace and late fees. That is a defensible choice, but it should be a stated one. The alternative is Rs 275 on open circles, which the member experiences as Rs 175 a month against Rs 240,000 of money moved.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MATHEMATICS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Where profit turns to loss, HYPER</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53</a:t>
            </a:r>
          </a:p>
        </p:txBody>
      </p:sp>
      <p:pic>
        <p:nvPicPr>
          <p:cNvPr id="7" name="Picture 6" descr="s_hyper.png"/>
          <p:cNvPicPr>
            <a:picLocks noChangeAspect="1"/>
          </p:cNvPicPr>
          <p:nvPr/>
        </p:nvPicPr>
        <p:blipFill>
          <a:blip r:embed="rId2"/>
          <a:stretch>
            <a:fillRect/>
          </a:stretch>
        </p:blipFill>
        <p:spPr>
          <a:xfrm>
            <a:off x="1051560" y="1920240"/>
            <a:ext cx="4109891" cy="3703320"/>
          </a:xfrm>
          <a:prstGeom prst="rect">
            <a:avLst/>
          </a:prstGeom>
        </p:spPr>
      </p:pic>
      <p:sp>
        <p:nvSpPr>
          <p:cNvPr id="8" name="Rectangle 7"/>
          <p:cNvSpPr/>
          <p:nvPr/>
        </p:nvSpPr>
        <p:spPr>
          <a:xfrm>
            <a:off x="1325880" y="5847588"/>
            <a:ext cx="146304" cy="91440"/>
          </a:xfrm>
          <a:prstGeom prst="rect">
            <a:avLst/>
          </a:prstGeom>
          <a:solidFill>
            <a:srgbClr val="B3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4533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Loss</a:t>
            </a:r>
          </a:p>
        </p:txBody>
      </p:sp>
      <p:sp>
        <p:nvSpPr>
          <p:cNvPr id="10" name="Rectangle 9"/>
          <p:cNvSpPr/>
          <p:nvPr/>
        </p:nvSpPr>
        <p:spPr>
          <a:xfrm>
            <a:off x="2560320" y="5847588"/>
            <a:ext cx="146304" cy="91440"/>
          </a:xfrm>
          <a:prstGeom prst="rect">
            <a:avLst/>
          </a:prstGeom>
          <a:solidFill>
            <a:srgbClr val="E8C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977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Break even</a:t>
            </a:r>
          </a:p>
        </p:txBody>
      </p:sp>
      <p:sp>
        <p:nvSpPr>
          <p:cNvPr id="12" name="Rectangle 11"/>
          <p:cNvSpPr/>
          <p:nvPr/>
        </p:nvSpPr>
        <p:spPr>
          <a:xfrm>
            <a:off x="3794760" y="5847588"/>
            <a:ext cx="146304" cy="91440"/>
          </a:xfrm>
          <a:prstGeom prst="rect">
            <a:avLst/>
          </a:prstGeom>
          <a:solidFill>
            <a:srgbClr val="2F7D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1421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Profit</a:t>
            </a:r>
          </a:p>
        </p:txBody>
      </p:sp>
      <p:sp>
        <p:nvSpPr>
          <p:cNvPr id="14" name="TextBox 13"/>
          <p:cNvSpPr txBox="1"/>
          <p:nvPr/>
        </p:nvSpPr>
        <p:spPr>
          <a:xfrm>
            <a:off x="5897880" y="1965960"/>
            <a:ext cx="5486400" cy="402336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The same surface for a four hundred member, sixty day committee, run out to an eighty per cent default rate.</a:t>
            </a:r>
          </a:p>
          <a:p>
            <a:pPr algn="l">
              <a:lnSpc>
                <a:spcPct val="145000"/>
              </a:lnSpc>
              <a:spcBef>
                <a:spcPts val="700"/>
              </a:spcBef>
            </a:pPr>
            <a:r>
              <a:rPr sz="1100" b="0" i="0">
                <a:solidFill>
                  <a:srgbClr val="26301F"/>
                </a:solidFill>
                <a:latin typeface="Segoe UI"/>
              </a:rPr>
              <a:t/>
            </a:r>
          </a:p>
          <a:p>
            <a:pPr algn="l">
              <a:lnSpc>
                <a:spcPct val="145000"/>
              </a:lnSpc>
              <a:spcBef>
                <a:spcPts val="700"/>
              </a:spcBef>
            </a:pPr>
            <a:r>
              <a:rPr sz="1100" b="0" i="0">
                <a:solidFill>
                  <a:srgbClr val="26301F"/>
                </a:solidFill>
                <a:latin typeface="Segoe UI"/>
              </a:rPr>
              <a:t>The lesson is that the default rate is not what decides the outcome. At the thirty per cent design rate, defaults landing around day ten cost Rs 825,000 and defaults landing around day fifty earn Rs 555,000. Same number of defaulters, a Rs 1.4 million swing, purely on timing.</a:t>
            </a:r>
          </a:p>
          <a:p>
            <a:pPr algn="l">
              <a:lnSpc>
                <a:spcPct val="145000"/>
              </a:lnSpc>
              <a:spcBef>
                <a:spcPts val="700"/>
              </a:spcBef>
            </a:pPr>
            <a:r>
              <a:rPr sz="1100" b="0" i="0">
                <a:solidFill>
                  <a:srgbClr val="26301F"/>
                </a:solidFill>
                <a:latin typeface="Segoe UI"/>
              </a:rPr>
              <a:t/>
            </a:r>
          </a:p>
          <a:p>
            <a:pPr algn="l">
              <a:lnSpc>
                <a:spcPct val="145000"/>
              </a:lnSpc>
              <a:spcBef>
                <a:spcPts val="700"/>
              </a:spcBef>
            </a:pPr>
            <a:r>
              <a:rPr sz="1100" b="0" i="0">
                <a:solidFill>
                  <a:srgbClr val="26301F"/>
                </a:solidFill>
                <a:latin typeface="Segoe UI"/>
              </a:rPr>
              <a:t>At thirty per cent the order turns from loss to profit at day 34. Even at eighty per cent, defaults landing after day 51 barely register, because by then the defaulters have paid in almost everything they owe.</a:t>
            </a:r>
          </a:p>
          <a:p>
            <a:pPr algn="l">
              <a:lnSpc>
                <a:spcPct val="145000"/>
              </a:lnSpc>
              <a:spcBef>
                <a:spcPts val="700"/>
              </a:spcBef>
            </a:pPr>
            <a:r>
              <a:rPr sz="1100" b="0" i="0">
                <a:solidFill>
                  <a:srgbClr val="26301F"/>
                </a:solidFill>
                <a:latin typeface="Segoe UI"/>
              </a:rPr>
              <a:t/>
            </a:r>
          </a:p>
          <a:p>
            <a:pPr algn="l">
              <a:lnSpc>
                <a:spcPct val="145000"/>
              </a:lnSpc>
              <a:spcBef>
                <a:spcPts val="700"/>
              </a:spcBef>
            </a:pPr>
            <a:r>
              <a:rPr sz="1100" b="0" i="0">
                <a:solidFill>
                  <a:srgbClr val="26301F"/>
                </a:solidFill>
                <a:latin typeface="Segoe UI"/>
              </a:rPr>
              <a:t>Every control that matters is therefore a control on who occupies the early positions: band gating at the auction, two months of demonstrated daily earnings, and the vault holding.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MATHEMATICS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Who bears the loss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54</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The two monthly products differ in one respect that the profit surface alone conceals: on an open circle Halqa covers the shortfall, and on a known circle the group does.</a:t>
            </a:r>
          </a:p>
        </p:txBody>
      </p:sp>
      <p:graphicFrame>
        <p:nvGraphicFramePr>
          <p:cNvPr id="8" name="Table 7"/>
          <p:cNvGraphicFramePr>
            <a:graphicFrameLocks noGrp="1"/>
          </p:cNvGraphicFramePr>
          <p:nvPr/>
        </p:nvGraphicFramePr>
        <p:xfrm>
          <a:off x="777240" y="2606040"/>
          <a:ext cx="6126480" cy="2523744"/>
        </p:xfrm>
        <a:graphic>
          <a:graphicData uri="http://schemas.openxmlformats.org/drawingml/2006/table">
            <a:tbl>
              <a:tblPr>
                <a:tableStyleId>{5C22544A-7EE6-4342-B048-85BDC9FD1C3A}</a:tableStyleId>
              </a:tblPr>
              <a:tblGrid>
                <a:gridCol w="2834640"/>
                <a:gridCol w="1645920"/>
                <a:gridCol w="1645920"/>
              </a:tblGrid>
              <a:tr h="420624">
                <a:tc>
                  <a:txBody>
                    <a:bodyPr wrap="square"/>
                    <a:lstStyle/>
                    <a:p>
                      <a:r>
                        <a:rPr sz="900" b="1">
                          <a:solidFill>
                            <a:srgbClr val="41801A"/>
                          </a:solidFill>
                          <a:latin typeface="Segoe UI"/>
                        </a:rPr>
                        <a:t>ONE DEFAULT AT ROUND FOUR, TWELVE MEMBERS, RS 20,000</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OPEN CIRCLE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KNOWN CIRCLE</a:t>
                      </a:r>
                    </a:p>
                  </a:txBody>
                  <a:tcPr marL="45720" marR="109728" marT="27432" marB="27432" anchor="ctr">
                    <a:lnB w="9525" cap="flat" cmpd="sng" algn="ctr">
                      <a:solidFill>
                        <a:srgbClr val="41801A"/>
                      </a:solidFill>
                    </a:lnB>
                    <a:solidFill>
                      <a:srgbClr val="FFFFFF"/>
                    </a:solidFill>
                  </a:tcPr>
                </a:tc>
              </a:tr>
              <a:tr h="420624">
                <a:tc>
                  <a:txBody>
                    <a:bodyPr wrap="square"/>
                    <a:lstStyle/>
                    <a:p>
                      <a:r>
                        <a:rPr sz="950" b="0">
                          <a:solidFill>
                            <a:srgbClr val="26301F"/>
                          </a:solidFill>
                          <a:latin typeface="Segoe UI"/>
                        </a:rPr>
                        <a:t>Who fronts the missing contributions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Halqa's cover facility</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other eleven members</a:t>
                      </a:r>
                    </a:p>
                  </a:txBody>
                  <a:tcPr marL="45720" marR="109728" marT="27432" marB="27432" anchor="ctr">
                    <a:lnB w="9525" cap="flat" cmpd="sng" algn="ctr">
                      <a:solidFill>
                        <a:srgbClr val="DCE3D6"/>
                      </a:solidFill>
                    </a:lnB>
                    <a:solidFill>
                      <a:srgbClr val="FFFFFF"/>
                    </a:solidFill>
                  </a:tcPr>
                </a:tc>
              </a:tr>
              <a:tr h="420624">
                <a:tc>
                  <a:txBody>
                    <a:bodyPr wrap="square"/>
                    <a:lstStyle/>
                    <a:p>
                      <a:r>
                        <a:rPr sz="950" b="0">
                          <a:solidFill>
                            <a:srgbClr val="26301F"/>
                          </a:solidFill>
                          <a:latin typeface="Segoe UI"/>
                        </a:rPr>
                        <a:t>Cost to each remaining member</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14,545</a:t>
                      </a:r>
                    </a:p>
                  </a:txBody>
                  <a:tcPr marL="45720" marR="109728" marT="27432" marB="27432" anchor="ctr">
                    <a:lnB w="9525" cap="flat" cmpd="sng" algn="ctr">
                      <a:solidFill>
                        <a:srgbClr val="DCE3D6"/>
                      </a:solidFill>
                    </a:lnB>
                    <a:solidFill>
                      <a:srgbClr val="FFFFFF"/>
                    </a:solidFill>
                  </a:tcPr>
                </a:tc>
              </a:tr>
              <a:tr h="420624">
                <a:tc>
                  <a:txBody>
                    <a:bodyPr wrap="square"/>
                    <a:lstStyle/>
                    <a:p>
                      <a:r>
                        <a:rPr sz="950" b="0">
                          <a:solidFill>
                            <a:srgbClr val="26301F"/>
                          </a:solidFill>
                          <a:latin typeface="Segoe UI"/>
                        </a:rPr>
                        <a:t>Cost to Halqa</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159,600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r>
              <a:tr h="420624">
                <a:tc>
                  <a:txBody>
                    <a:bodyPr wrap="square"/>
                    <a:lstStyle/>
                    <a:p>
                      <a:r>
                        <a:rPr sz="950" b="0">
                          <a:solidFill>
                            <a:srgbClr val="26301F"/>
                          </a:solidFill>
                          <a:latin typeface="Segoe UI"/>
                        </a:rPr>
                        <a:t>What the defaulter gains</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159,600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159,600</a:t>
                      </a:r>
                    </a:p>
                  </a:txBody>
                  <a:tcPr marL="45720" marR="109728" marT="27432" marB="27432" anchor="ctr">
                    <a:lnB w="9525" cap="flat" cmpd="sng" algn="ctr">
                      <a:solidFill>
                        <a:srgbClr val="DCE3D6"/>
                      </a:solidFill>
                    </a:lnB>
                    <a:solidFill>
                      <a:srgbClr val="FFFFFF"/>
                    </a:solidFill>
                  </a:tcPr>
                </a:tc>
              </a:tr>
              <a:tr h="420624">
                <a:tc>
                  <a:txBody>
                    <a:bodyPr wrap="square"/>
                    <a:lstStyle/>
                    <a:p>
                      <a:r>
                        <a:rPr sz="950" b="0">
                          <a:solidFill>
                            <a:srgbClr val="26301F"/>
                          </a:solidFill>
                          <a:latin typeface="Segoe UI"/>
                        </a:rPr>
                        <a:t>What the member pays in fees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Rs 1,200 a year</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Rs 1,200 a year</a:t>
                      </a:r>
                    </a:p>
                  </a:txBody>
                  <a:tcPr marL="45720" marR="109728" marT="27432" marB="27432" anchor="ctr">
                    <a:lnB w="9525" cap="flat" cmpd="sng" algn="ctr">
                      <a:solidFill>
                        <a:srgbClr val="DCE3D6"/>
                      </a:solidFill>
                    </a:lnB>
                    <a:solidFill>
                      <a:srgbClr val="FFFFFF"/>
                    </a:solidFill>
                  </a:tcPr>
                </a:tc>
              </a:tr>
            </a:tbl>
          </a:graphicData>
        </a:graphic>
      </p:graphicFrame>
      <p:sp>
        <p:nvSpPr>
          <p:cNvPr id="9" name="Rectangle 8"/>
          <p:cNvSpPr/>
          <p:nvPr/>
        </p:nvSpPr>
        <p:spPr>
          <a:xfrm>
            <a:off x="777240" y="5358384"/>
            <a:ext cx="612648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358384"/>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5477256"/>
            <a:ext cx="5760720" cy="27432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Cost to each member  =  c (T − k) ÷ (N − 1)</a:t>
            </a:r>
          </a:p>
        </p:txBody>
      </p:sp>
      <p:pic>
        <p:nvPicPr>
          <p:cNvPr id="12" name="Picture 11" descr="s_member.png"/>
          <p:cNvPicPr>
            <a:picLocks noChangeAspect="1"/>
          </p:cNvPicPr>
          <p:nvPr/>
        </p:nvPicPr>
        <p:blipFill>
          <a:blip r:embed="rId2"/>
          <a:stretch>
            <a:fillRect/>
          </a:stretch>
        </p:blipFill>
        <p:spPr>
          <a:xfrm>
            <a:off x="7498080" y="1874519"/>
            <a:ext cx="2898365" cy="2606040"/>
          </a:xfrm>
          <a:prstGeom prst="rect">
            <a:avLst/>
          </a:prstGeom>
        </p:spPr>
      </p:pic>
      <p:sp>
        <p:nvSpPr>
          <p:cNvPr id="13" name="TextBox 12"/>
          <p:cNvSpPr txBox="1"/>
          <p:nvPr/>
        </p:nvSpPr>
        <p:spPr>
          <a:xfrm>
            <a:off x="7269480" y="4553712"/>
            <a:ext cx="4114800" cy="32004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Advantage of a known circle over a covered open circle.</a:t>
            </a:r>
          </a:p>
        </p:txBody>
      </p:sp>
      <p:sp>
        <p:nvSpPr>
          <p:cNvPr id="14" name="TextBox 13"/>
          <p:cNvSpPr txBox="1"/>
          <p:nvPr/>
        </p:nvSpPr>
        <p:spPr>
          <a:xfrm>
            <a:off x="7269480" y="4919472"/>
            <a:ext cx="4114800" cy="137160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A known circle is cheaper for the member until its default rate passes 1.87 per cent. Beyond that the member is better off paying for cover. Known circles run at 0.3 per cent, so they win comfortably, and the extra fee on an open circle now has an honest name.</a:t>
            </a:r>
          </a:p>
        </p:txBody>
      </p:sp>
      <p:sp>
        <p:nvSpPr>
          <p:cNvPr id="15" name="TextBox 14"/>
          <p:cNvSpPr txBox="1"/>
          <p:nvPr/>
        </p:nvSpPr>
        <p:spPr>
          <a:xfrm>
            <a:off x="777240" y="5623560"/>
            <a:ext cx="6126480" cy="64008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With one flat fee on both products, the open circle member receives cover for nothing while the known circle member pays the same for none. That is the argument for splitting the two prices.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MATHEMATICS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Asset circles and the deposit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55</a:t>
            </a:r>
          </a:p>
        </p:txBody>
      </p:sp>
      <p:pic>
        <p:nvPicPr>
          <p:cNvPr id="7" name="Picture 6" descr="s_asset.png"/>
          <p:cNvPicPr>
            <a:picLocks noChangeAspect="1"/>
          </p:cNvPicPr>
          <p:nvPr/>
        </p:nvPicPr>
        <p:blipFill>
          <a:blip r:embed="rId2"/>
          <a:stretch>
            <a:fillRect/>
          </a:stretch>
        </p:blipFill>
        <p:spPr>
          <a:xfrm>
            <a:off x="1143000" y="1920240"/>
            <a:ext cx="3860340" cy="3474720"/>
          </a:xfrm>
          <a:prstGeom prst="rect">
            <a:avLst/>
          </a:prstGeom>
        </p:spPr>
      </p:pic>
      <p:sp>
        <p:nvSpPr>
          <p:cNvPr id="8" name="Rectangle 7"/>
          <p:cNvSpPr/>
          <p:nvPr/>
        </p:nvSpPr>
        <p:spPr>
          <a:xfrm>
            <a:off x="1143000" y="5573268"/>
            <a:ext cx="146304" cy="91440"/>
          </a:xfrm>
          <a:prstGeom prst="rect">
            <a:avLst/>
          </a:prstGeom>
          <a:solidFill>
            <a:srgbClr val="B3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62456" y="553212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Loss</a:t>
            </a:r>
          </a:p>
        </p:txBody>
      </p:sp>
      <p:sp>
        <p:nvSpPr>
          <p:cNvPr id="10" name="Rectangle 9"/>
          <p:cNvSpPr/>
          <p:nvPr/>
        </p:nvSpPr>
        <p:spPr>
          <a:xfrm>
            <a:off x="2377440" y="5573268"/>
            <a:ext cx="146304" cy="91440"/>
          </a:xfrm>
          <a:prstGeom prst="rect">
            <a:avLst/>
          </a:prstGeom>
          <a:solidFill>
            <a:srgbClr val="E8C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96896" y="553212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Break even</a:t>
            </a:r>
          </a:p>
        </p:txBody>
      </p:sp>
      <p:sp>
        <p:nvSpPr>
          <p:cNvPr id="12" name="Rectangle 11"/>
          <p:cNvSpPr/>
          <p:nvPr/>
        </p:nvSpPr>
        <p:spPr>
          <a:xfrm>
            <a:off x="3611880" y="5573268"/>
            <a:ext cx="146304" cy="91440"/>
          </a:xfrm>
          <a:prstGeom prst="rect">
            <a:avLst/>
          </a:prstGeom>
          <a:solidFill>
            <a:srgbClr val="2F7D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31336" y="553212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Profit</a:t>
            </a:r>
          </a:p>
        </p:txBody>
      </p:sp>
      <p:sp>
        <p:nvSpPr>
          <p:cNvPr id="14" name="Rectangle 13"/>
          <p:cNvSpPr/>
          <p:nvPr/>
        </p:nvSpPr>
        <p:spPr>
          <a:xfrm>
            <a:off x="6812280" y="1965960"/>
            <a:ext cx="457200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12280" y="196596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13448" y="2084832"/>
            <a:ext cx="4206240" cy="27432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Loss  =  max( 0,  c(T − k) − φk − h·V(k) )</a:t>
            </a:r>
          </a:p>
        </p:txBody>
      </p:sp>
      <p:graphicFrame>
        <p:nvGraphicFramePr>
          <p:cNvPr id="17" name="Table 16"/>
          <p:cNvGraphicFramePr>
            <a:graphicFrameLocks noGrp="1"/>
          </p:cNvGraphicFramePr>
          <p:nvPr/>
        </p:nvGraphicFramePr>
        <p:xfrm>
          <a:off x="6812280" y="2651760"/>
          <a:ext cx="4572000" cy="1828800"/>
        </p:xfrm>
        <a:graphic>
          <a:graphicData uri="http://schemas.openxmlformats.org/drawingml/2006/table">
            <a:tbl>
              <a:tblPr>
                <a:tableStyleId>{5C22544A-7EE6-4342-B048-85BDC9FD1C3A}</a:tableStyleId>
              </a:tblPr>
              <a:tblGrid>
                <a:gridCol w="1097280"/>
                <a:gridCol w="1188720"/>
                <a:gridCol w="1188720"/>
                <a:gridCol w="1097280"/>
              </a:tblGrid>
              <a:tr h="365760">
                <a:tc>
                  <a:txBody>
                    <a:bodyPr wrap="square"/>
                    <a:lstStyle/>
                    <a:p>
                      <a:r>
                        <a:rPr sz="900" b="1">
                          <a:solidFill>
                            <a:srgbClr val="41801A"/>
                          </a:solidFill>
                          <a:latin typeface="Segoe UI"/>
                        </a:rPr>
                        <a:t>ROUND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STILL OWED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ASSET RECOVERS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NET LOSS</a:t>
                      </a:r>
                    </a:p>
                  </a:txBody>
                  <a:tcPr marL="45720" marR="109728" marT="27432" marB="27432" anchor="ctr">
                    <a:lnB w="9525" cap="flat" cmpd="sng" algn="ctr">
                      <a:solidFill>
                        <a:srgbClr val="41801A"/>
                      </a:solidFill>
                    </a:lnB>
                    <a:solidFill>
                      <a:srgbClr val="FFFFFF"/>
                    </a:solidFill>
                  </a:tcPr>
                </a:tc>
              </a:tr>
              <a:tr h="365760">
                <a:tc>
                  <a:txBody>
                    <a:bodyPr wrap="square"/>
                    <a:lstStyle/>
                    <a:p>
                      <a:r>
                        <a:rPr sz="9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110,000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82,833</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27,167</a:t>
                      </a:r>
                    </a:p>
                  </a:txBody>
                  <a:tcPr marL="45720" marR="109728" marT="27432" marB="27432" anchor="ctr">
                    <a:lnB w="9525" cap="flat" cmpd="sng" algn="ctr">
                      <a:solidFill>
                        <a:srgbClr val="DCE3D6"/>
                      </a:solidFill>
                    </a:lnB>
                    <a:solidFill>
                      <a:srgbClr val="FFFFFF"/>
                    </a:solidFill>
                  </a:tcPr>
                </a:tc>
              </a:tr>
              <a:tr h="365760">
                <a:tc>
                  <a:txBody>
                    <a:bodyPr wrap="square"/>
                    <a:lstStyle/>
                    <a:p>
                      <a:r>
                        <a:rPr sz="9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90,000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80,500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9,200</a:t>
                      </a:r>
                    </a:p>
                  </a:txBody>
                  <a:tcPr marL="45720" marR="109728" marT="27432" marB="27432" anchor="ctr">
                    <a:lnB w="9525" cap="flat" cmpd="sng" algn="ctr">
                      <a:solidFill>
                        <a:srgbClr val="DCE3D6"/>
                      </a:solidFill>
                    </a:lnB>
                    <a:solidFill>
                      <a:srgbClr val="FFFFFF"/>
                    </a:solidFill>
                  </a:tcPr>
                </a:tc>
              </a:tr>
              <a:tr h="365760">
                <a:tc>
                  <a:txBody>
                    <a:bodyPr wrap="square"/>
                    <a:lstStyle/>
                    <a:p>
                      <a:r>
                        <a:rPr sz="9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80,000</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79,667</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r>
              <a:tr h="365760">
                <a:tc>
                  <a:txBody>
                    <a:bodyPr wrap="square"/>
                    <a:lstStyle/>
                    <a:p>
                      <a:r>
                        <a:rPr sz="950" b="0">
                          <a:solidFill>
                            <a:srgbClr val="26301F"/>
                          </a:solidFill>
                          <a:latin typeface="Segoe UI"/>
                        </a:rPr>
                        <a:t>5 and after</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falling</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rising cover</a:t>
                      </a:r>
                    </a:p>
                  </a:txBody>
                  <a:tcPr marL="45720" marR="109728" marT="27432" marB="27432" anchor="ctr">
                    <a:lnB w="9525" cap="flat" cmpd="sng" algn="ctr">
                      <a:solidFill>
                        <a:srgbClr val="DCE3D6"/>
                      </a:solidFill>
                    </a:lnB>
                    <a:solidFill>
                      <a:srgbClr val="FFFFFF"/>
                    </a:solidFill>
                  </a:tcPr>
                </a:tc>
                <a:tc>
                  <a:txBody>
                    <a:bodyPr wrap="square"/>
                    <a:lstStyle/>
                    <a:p>
                      <a:pPr algn="r"/>
                      <a:r>
                        <a:rPr sz="950" b="0">
                          <a:solidFill>
                            <a:srgbClr val="26301F"/>
                          </a:solidFill>
                          <a:latin typeface="Segoe UI"/>
                        </a:rPr>
                        <a:t>Rs 0</a:t>
                      </a:r>
                    </a:p>
                  </a:txBody>
                  <a:tcPr marL="45720" marR="109728" marT="27432" marB="27432" anchor="ctr">
                    <a:lnB w="9525" cap="flat" cmpd="sng" algn="ctr">
                      <a:solidFill>
                        <a:srgbClr val="DCE3D6"/>
                      </a:solidFill>
                    </a:lnB>
                    <a:solidFill>
                      <a:srgbClr val="FFFFFF"/>
                    </a:solidFill>
                  </a:tcPr>
                </a:tc>
              </a:tr>
            </a:tbl>
          </a:graphicData>
        </a:graphic>
      </p:graphicFrame>
      <p:sp>
        <p:nvSpPr>
          <p:cNvPr id="18" name="TextBox 17"/>
          <p:cNvSpPr txBox="1"/>
          <p:nvPr/>
        </p:nvSpPr>
        <p:spPr>
          <a:xfrm>
            <a:off x="6812280" y="4709160"/>
            <a:ext cx="4572000" cy="164592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The trustee holds title, so a default is met by selling the item rather than by pursuing the member. At a seventy per cent forced sale recovery the exposure closes in round four and is zero thereafter.</a:t>
            </a:r>
          </a:p>
          <a:p>
            <a:pPr algn="l">
              <a:lnSpc>
                <a:spcPct val="145000"/>
              </a:lnSpc>
              <a:spcBef>
                <a:spcPts val="700"/>
              </a:spcBef>
            </a:pPr>
            <a:r>
              <a:rPr sz="1100" b="0" i="0">
                <a:solidFill>
                  <a:srgbClr val="26301F"/>
                </a:solidFill>
                <a:latin typeface="Segoe UI"/>
              </a:rPr>
              <a:t/>
            </a:r>
          </a:p>
          <a:p>
            <a:pPr algn="l">
              <a:lnSpc>
                <a:spcPct val="145000"/>
              </a:lnSpc>
              <a:spcBef>
                <a:spcPts val="700"/>
              </a:spcBef>
            </a:pPr>
            <a:r>
              <a:rPr sz="1100" b="0" i="0">
                <a:solidFill>
                  <a:srgbClr val="26301F"/>
                </a:solidFill>
                <a:latin typeface="Segoe UI"/>
              </a:rPr>
              <a:t>A deposit removes even that. The threshold is P(1 − h) ÷ h, which is 43 per cent of the pot for complete cover. A twenty per cent deposit halves the exposed window to two rounds and is a realistic ask of a dealer.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REWARDS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earns a reward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56</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On time payment is the single input on which the whole model rests. Expected loss, the insurance premium, the score and the value of the data asset all move with it, so the reward system is attached to that behaviour and to nothing else.</a:t>
            </a:r>
          </a:p>
        </p:txBody>
      </p:sp>
      <p:graphicFrame>
        <p:nvGraphicFramePr>
          <p:cNvPr id="8" name="Table 7"/>
          <p:cNvGraphicFramePr>
            <a:graphicFrameLocks noGrp="1"/>
          </p:cNvGraphicFramePr>
          <p:nvPr/>
        </p:nvGraphicFramePr>
        <p:xfrm>
          <a:off x="777240" y="2788920"/>
          <a:ext cx="10607040" cy="2767702"/>
        </p:xfrm>
        <a:graphic>
          <a:graphicData uri="http://schemas.openxmlformats.org/drawingml/2006/table">
            <a:tbl>
              <a:tblPr>
                <a:tableStyleId>{5C22544A-7EE6-4342-B048-85BDC9FD1C3A}</a:tableStyleId>
              </a:tblPr>
              <a:tblGrid>
                <a:gridCol w="3291840"/>
                <a:gridCol w="2377440"/>
                <a:gridCol w="2377440"/>
                <a:gridCol w="2560320"/>
              </a:tblGrid>
              <a:tr h="395386">
                <a:tc>
                  <a:txBody>
                    <a:bodyPr wrap="square"/>
                    <a:lstStyle/>
                    <a:p>
                      <a:r>
                        <a:rPr sz="900" b="1">
                          <a:solidFill>
                            <a:srgbClr val="41801A"/>
                          </a:solidFill>
                          <a:latin typeface="Segoe UI"/>
                        </a:rPr>
                        <a:t>EVENT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POINTS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SCORE EFFECT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STREAK EFFECT</a:t>
                      </a:r>
                    </a:p>
                  </a:txBody>
                  <a:tcPr marL="45720" marR="109728" marT="27432" marB="27432" anchor="ctr">
                    <a:lnB w="9525" cap="flat" cmpd="sng" algn="ctr">
                      <a:solidFill>
                        <a:srgbClr val="41801A"/>
                      </a:solidFill>
                    </a:lnB>
                    <a:solidFill>
                      <a:srgbClr val="FFFFFF"/>
                    </a:solidFill>
                  </a:tcPr>
                </a:tc>
              </a:tr>
              <a:tr h="395386">
                <a:tc>
                  <a:txBody>
                    <a:bodyPr wrap="square"/>
                    <a:lstStyle/>
                    <a:p>
                      <a:r>
                        <a:rPr sz="900" b="0">
                          <a:solidFill>
                            <a:srgbClr val="26301F"/>
                          </a:solidFill>
                          <a:latin typeface="Segoe UI"/>
                        </a:rPr>
                        <a:t>Contribution paid on or before the due date</a:t>
                      </a:r>
                    </a:p>
                  </a:txBody>
                  <a:tcPr marL="45720" marR="109728" marT="27432" marB="27432" anchor="ctr">
                    <a:lnB w="9525" cap="flat" cmpd="sng" algn="ctr">
                      <a:solidFill>
                        <a:srgbClr val="DCE3D6"/>
                      </a:solidFill>
                    </a:lnB>
                    <a:solidFill>
                      <a:srgbClr val="FFFFFF"/>
                    </a:solidFill>
                  </a:tcPr>
                </a:tc>
                <a:tc>
                  <a:txBody>
                    <a:bodyPr wrap="square"/>
                    <a:lstStyle/>
                    <a:p>
                      <a:pPr algn="r"/>
                      <a:r>
                        <a:rPr sz="900" b="0">
                          <a:solidFill>
                            <a:srgbClr val="26301F"/>
                          </a:solidFill>
                          <a:latin typeface="Segoe UI"/>
                        </a:rPr>
                        <a:t>10</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Plus 2, capped at 40 a cycle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Advances the streak by one</a:t>
                      </a:r>
                    </a:p>
                  </a:txBody>
                  <a:tcPr marL="45720" marR="109728" marT="27432" marB="27432" anchor="ctr">
                    <a:lnB w="9525" cap="flat" cmpd="sng" algn="ctr">
                      <a:solidFill>
                        <a:srgbClr val="DCE3D6"/>
                      </a:solidFill>
                    </a:lnB>
                    <a:solidFill>
                      <a:srgbClr val="FFFFFF"/>
                    </a:solidFill>
                  </a:tcPr>
                </a:tc>
              </a:tr>
              <a:tr h="395386">
                <a:tc>
                  <a:txBody>
                    <a:bodyPr wrap="square"/>
                    <a:lstStyle/>
                    <a:p>
                      <a:r>
                        <a:rPr sz="900" b="0">
                          <a:solidFill>
                            <a:srgbClr val="26301F"/>
                          </a:solidFill>
                          <a:latin typeface="Segoe UI"/>
                        </a:rPr>
                        <a:t>Contribution paid three or more days early</a:t>
                      </a:r>
                    </a:p>
                  </a:txBody>
                  <a:tcPr marL="45720" marR="109728" marT="27432" marB="27432" anchor="ctr">
                    <a:lnB w="9525" cap="flat" cmpd="sng" algn="ctr">
                      <a:solidFill>
                        <a:srgbClr val="DCE3D6"/>
                      </a:solidFill>
                    </a:lnB>
                    <a:solidFill>
                      <a:srgbClr val="FFFFFF"/>
                    </a:solidFill>
                  </a:tcPr>
                </a:tc>
                <a:tc>
                  <a:txBody>
                    <a:bodyPr wrap="square"/>
                    <a:lstStyle/>
                    <a:p>
                      <a:pPr algn="r"/>
                      <a:r>
                        <a:rPr sz="900" b="0">
                          <a:solidFill>
                            <a:srgbClr val="26301F"/>
                          </a:solidFill>
                          <a:latin typeface="Segoe UI"/>
                        </a:rPr>
                        <a:t>15</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Plus 2</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Advances the streak by one</a:t>
                      </a:r>
                    </a:p>
                  </a:txBody>
                  <a:tcPr marL="45720" marR="109728" marT="27432" marB="27432" anchor="ctr">
                    <a:lnB w="9525" cap="flat" cmpd="sng" algn="ctr">
                      <a:solidFill>
                        <a:srgbClr val="DCE3D6"/>
                      </a:solidFill>
                    </a:lnB>
                    <a:solidFill>
                      <a:srgbClr val="FFFFFF"/>
                    </a:solidFill>
                  </a:tcPr>
                </a:tc>
              </a:tr>
              <a:tr h="395386">
                <a:tc>
                  <a:txBody>
                    <a:bodyPr wrap="square"/>
                    <a:lstStyle/>
                    <a:p>
                      <a:r>
                        <a:rPr sz="900" b="0">
                          <a:solidFill>
                            <a:srgbClr val="26301F"/>
                          </a:solidFill>
                          <a:latin typeface="Segoe UI"/>
                        </a:rPr>
                        <a:t>Each consecutive clean round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Multiplier of plus 5 per cent, ceiling plus 50 per cent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Compounds</a:t>
                      </a:r>
                    </a:p>
                  </a:txBody>
                  <a:tcPr marL="45720" marR="109728" marT="27432" marB="27432" anchor="ctr">
                    <a:lnB w="9525" cap="flat" cmpd="sng" algn="ctr">
                      <a:solidFill>
                        <a:srgbClr val="DCE3D6"/>
                      </a:solidFill>
                    </a:lnB>
                    <a:solidFill>
                      <a:srgbClr val="FFFFFF"/>
                    </a:solidFill>
                  </a:tcPr>
                </a:tc>
              </a:tr>
              <a:tr h="395386">
                <a:tc>
                  <a:txBody>
                    <a:bodyPr wrap="square"/>
                    <a:lstStyle/>
                    <a:p>
                      <a:r>
                        <a:rPr sz="900" b="0">
                          <a:solidFill>
                            <a:srgbClr val="26301F"/>
                          </a:solidFill>
                          <a:latin typeface="Segoe UI"/>
                        </a:rPr>
                        <a:t>Completing a circle with a clean record</a:t>
                      </a:r>
                    </a:p>
                  </a:txBody>
                  <a:tcPr marL="45720" marR="109728" marT="27432" marB="27432" anchor="ctr">
                    <a:lnB w="9525" cap="flat" cmpd="sng" algn="ctr">
                      <a:solidFill>
                        <a:srgbClr val="DCE3D6"/>
                      </a:solidFill>
                    </a:lnB>
                    <a:solidFill>
                      <a:srgbClr val="FFFFFF"/>
                    </a:solidFill>
                  </a:tcPr>
                </a:tc>
                <a:tc>
                  <a:txBody>
                    <a:bodyPr wrap="square"/>
                    <a:lstStyle/>
                    <a:p>
                      <a:pPr algn="r"/>
                      <a:r>
                        <a:rPr sz="900" b="0">
                          <a:solidFill>
                            <a:srgbClr val="26301F"/>
                          </a:solidFill>
                          <a:latin typeface="Segoe UI"/>
                        </a:rPr>
                        <a:t>200</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Existing completion event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Carries the streak into the next circle</a:t>
                      </a:r>
                    </a:p>
                  </a:txBody>
                  <a:tcPr marL="45720" marR="109728" marT="27432" marB="27432" anchor="ctr">
                    <a:lnB w="9525" cap="flat" cmpd="sng" algn="ctr">
                      <a:solidFill>
                        <a:srgbClr val="DCE3D6"/>
                      </a:solidFill>
                    </a:lnB>
                    <a:solidFill>
                      <a:srgbClr val="FFFFFF"/>
                    </a:solidFill>
                  </a:tcPr>
                </a:tc>
              </a:tr>
              <a:tr h="395386">
                <a:tc>
                  <a:txBody>
                    <a:bodyPr wrap="square"/>
                    <a:lstStyle/>
                    <a:p>
                      <a:r>
                        <a:rPr sz="900" b="0">
                          <a:solidFill>
                            <a:srgbClr val="26301F"/>
                          </a:solidFill>
                          <a:latin typeface="Segoe UI"/>
                        </a:rPr>
                        <a:t>Paying a contribution for another member</a:t>
                      </a:r>
                    </a:p>
                  </a:txBody>
                  <a:tcPr marL="45720" marR="109728" marT="27432" marB="27432" anchor="ctr">
                    <a:lnB w="9525" cap="flat" cmpd="sng" algn="ctr">
                      <a:solidFill>
                        <a:srgbClr val="DCE3D6"/>
                      </a:solidFill>
                    </a:lnB>
                    <a:solidFill>
                      <a:srgbClr val="FFFFFF"/>
                    </a:solidFill>
                  </a:tcPr>
                </a:tc>
                <a:tc>
                  <a:txBody>
                    <a:bodyPr wrap="square"/>
                    <a:lstStyle/>
                    <a:p>
                      <a:pPr algn="r"/>
                      <a:r>
                        <a:rPr sz="900" b="0">
                          <a:solidFill>
                            <a:srgbClr val="26301F"/>
                          </a:solidFill>
                          <a:latin typeface="Segoe UI"/>
                        </a:rPr>
                        <a:t>50</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Neutral. It does not build a streak, so the ladder cannot be bought</a:t>
                      </a:r>
                    </a:p>
                  </a:txBody>
                  <a:tcPr marL="45720" marR="109728" marT="27432" marB="27432" anchor="ctr">
                    <a:lnB w="9525" cap="flat" cmpd="sng" algn="ctr">
                      <a:solidFill>
                        <a:srgbClr val="DCE3D6"/>
                      </a:solidFill>
                    </a:lnB>
                    <a:solidFill>
                      <a:srgbClr val="FFFFFF"/>
                    </a:solidFill>
                  </a:tcPr>
                </a:tc>
              </a:tr>
              <a:tr h="395386">
                <a:tc>
                  <a:txBody>
                    <a:bodyPr wrap="square"/>
                    <a:lstStyle/>
                    <a:p>
                      <a:r>
                        <a:rPr sz="900" b="0">
                          <a:solidFill>
                            <a:srgbClr val="26301F"/>
                          </a:solidFill>
                          <a:latin typeface="Segoe UI"/>
                        </a:rPr>
                        <a:t>A missed contribution</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late fee ladder applies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Resets the streak to zero</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39502"/>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Points and score stay separable. Points buy discounts, score gates seats. Points never buy score, and score is never sold.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REWARDS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ladder</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57</a:t>
            </a:r>
          </a:p>
        </p:txBody>
      </p:sp>
      <p:graphicFrame>
        <p:nvGraphicFramePr>
          <p:cNvPr id="7" name="Table 6"/>
          <p:cNvGraphicFramePr>
            <a:graphicFrameLocks noGrp="1"/>
          </p:cNvGraphicFramePr>
          <p:nvPr/>
        </p:nvGraphicFramePr>
        <p:xfrm>
          <a:off x="777240" y="1965960"/>
          <a:ext cx="6400800" cy="3218688"/>
        </p:xfrm>
        <a:graphic>
          <a:graphicData uri="http://schemas.openxmlformats.org/drawingml/2006/table">
            <a:tbl>
              <a:tblPr>
                <a:tableStyleId>{5C22544A-7EE6-4342-B048-85BDC9FD1C3A}</a:tableStyleId>
              </a:tblPr>
              <a:tblGrid>
                <a:gridCol w="1828800"/>
                <a:gridCol w="2468880"/>
                <a:gridCol w="2103120"/>
              </a:tblGrid>
              <a:tr h="402336">
                <a:tc>
                  <a:txBody>
                    <a:bodyPr wrap="square"/>
                    <a:lstStyle/>
                    <a:p>
                      <a:r>
                        <a:rPr sz="900" b="1">
                          <a:solidFill>
                            <a:srgbClr val="41801A"/>
                          </a:solidFill>
                          <a:latin typeface="Segoe UI"/>
                        </a:rPr>
                        <a:t>CONSECUTIVE ROUNDS PAID ON TIME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REWARD FROM A PARTNER RETAILER</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ALTERNATIVE, A HALQA CHARGE WAIVED</a:t>
                      </a:r>
                    </a:p>
                  </a:txBody>
                  <a:tcPr marL="45720" marR="109728" marT="27432" marB="27432" anchor="ctr">
                    <a:lnB w="9525" cap="flat" cmpd="sng" algn="ctr">
                      <a:solidFill>
                        <a:srgbClr val="41801A"/>
                      </a:solidFill>
                    </a:lnB>
                    <a:solidFill>
                      <a:srgbClr val="FFFFFF"/>
                    </a:solidFill>
                  </a:tcPr>
                </a:tc>
              </a:tr>
              <a:tr h="402336">
                <a:tc>
                  <a:txBody>
                    <a:bodyPr wrap="square"/>
                    <a:lstStyle/>
                    <a:p>
                      <a:r>
                        <a:rPr sz="9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5 per cent discount code, capped at Rs 500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None at this tier</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10 per cent capped at Rs 1,000, plus delivery waived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None at this tier</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12</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12 per cent capped at Rs 2,000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One month of insurance premium waived</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18</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Category offer capped at Rs 3,000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Seat placement fee waived on the next circle</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24</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15 per cent capped at Rs 4,000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Early seat fee waived on the next circle</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36</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Top tier offer capped at Rs 6,000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Early seat fee and one month of premium waived</a:t>
                      </a:r>
                    </a:p>
                  </a:txBody>
                  <a:tcPr marL="45720" marR="109728" marT="27432" marB="27432" anchor="ctr">
                    <a:lnB w="9525" cap="flat" cmpd="sng" algn="ctr">
                      <a:solidFill>
                        <a:srgbClr val="DCE3D6"/>
                      </a:solidFill>
                    </a:lnB>
                    <a:solidFill>
                      <a:srgbClr val="FFFFFF"/>
                    </a:solidFill>
                  </a:tcPr>
                </a:tc>
              </a:tr>
              <a:tr h="402336">
                <a:tc>
                  <a:txBody>
                    <a:bodyPr wrap="square"/>
                    <a:lstStyle/>
                    <a:p>
                      <a:r>
                        <a:rPr sz="950" b="0">
                          <a:solidFill>
                            <a:srgbClr val="26301F"/>
                          </a:solidFill>
                          <a:latin typeface="Segoe UI"/>
                        </a:rPr>
                        <a:t>Circle completed clean</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Completion offer capped at Rs 1,500</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200 points</a:t>
                      </a:r>
                    </a:p>
                  </a:txBody>
                  <a:tcPr marL="45720" marR="109728" marT="27432" marB="27432" anchor="ctr">
                    <a:lnB w="9525" cap="flat" cmpd="sng" algn="ctr">
                      <a:solidFill>
                        <a:srgbClr val="DCE3D6"/>
                      </a:solidFill>
                    </a:lnB>
                    <a:solidFill>
                      <a:srgbClr val="FFFFFF"/>
                    </a:solidFill>
                  </a:tcPr>
                </a:tc>
              </a:tr>
            </a:tbl>
          </a:graphicData>
        </a:graphic>
      </p:graphicFrame>
      <p:graphicFrame>
        <p:nvGraphicFramePr>
          <p:cNvPr id="8" name="Chart 7"/>
          <p:cNvGraphicFramePr>
            <a:graphicFrameLocks noGrp="1"/>
          </p:cNvGraphicFramePr>
          <p:nvPr/>
        </p:nvGraphicFramePr>
        <p:xfrm>
          <a:off x="7635240" y="1874519"/>
          <a:ext cx="3749039" cy="2011680"/>
        </p:xfrm>
        <a:graphic>
          <a:graphicData uri="http://schemas.openxmlformats.org/drawingml/2006/chart">
            <c:chart xmlns:c="http://schemas.openxmlformats.org/drawingml/2006/chart" r:id="rId2"/>
          </a:graphicData>
        </a:graphic>
      </p:graphicFrame>
      <p:sp>
        <p:nvSpPr>
          <p:cNvPr id="9" name="TextBox 8"/>
          <p:cNvSpPr txBox="1"/>
          <p:nvPr/>
        </p:nvSpPr>
        <p:spPr>
          <a:xfrm>
            <a:off x="7635240" y="3950208"/>
            <a:ext cx="3749039" cy="27432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Ceiling on the reward, by streak length.</a:t>
            </a:r>
          </a:p>
        </p:txBody>
      </p:sp>
      <p:sp>
        <p:nvSpPr>
          <p:cNvPr id="10" name="TextBox 9"/>
          <p:cNvSpPr txBox="1"/>
          <p:nvPr/>
        </p:nvSpPr>
        <p:spPr>
          <a:xfrm>
            <a:off x="7635240" y="4434840"/>
            <a:ext cx="3749039" cy="1645920"/>
          </a:xfrm>
          <a:prstGeom prst="rect">
            <a:avLst/>
          </a:prstGeom>
          <a:noFill/>
        </p:spPr>
        <p:txBody>
          <a:bodyPr wrap="square" lIns="0" rIns="0" tIns="0" bIns="0">
            <a:spAutoFit/>
          </a:bodyPr>
          <a:lstStyle/>
          <a:p>
            <a:pPr algn="l">
              <a:lnSpc>
                <a:spcPct val="145000"/>
              </a:lnSpc>
            </a:pPr>
            <a:r>
              <a:rPr sz="1050" b="0" i="0">
                <a:solidFill>
                  <a:srgbClr val="26301F"/>
                </a:solidFill>
                <a:latin typeface="Segoe UI"/>
              </a:rPr>
              <a:t>A member paying Rs 10,000 a month with a clean record for two years reaches the 24 round tier, by which point the ladder has returned roughly Rs 11,500 of retail discount against Rs 240,000 of contributions, none of it paid for by Halqa.</a:t>
            </a:r>
          </a:p>
          <a:p>
            <a:pPr algn="l">
              <a:lnSpc>
                <a:spcPct val="145000"/>
              </a:lnSpc>
              <a:spcBef>
                <a:spcPts val="600"/>
              </a:spcBef>
            </a:pPr>
            <a:r>
              <a:rPr sz="1050" b="0" i="0">
                <a:solidFill>
                  <a:srgbClr val="26301F"/>
                </a:solidFill>
                <a:latin typeface="Segoe UI"/>
              </a:rPr>
              <a:t/>
            </a:r>
          </a:p>
          <a:p>
            <a:pPr algn="l">
              <a:lnSpc>
                <a:spcPct val="145000"/>
              </a:lnSpc>
              <a:spcBef>
                <a:spcPts val="600"/>
              </a:spcBef>
            </a:pPr>
            <a:r>
              <a:rPr sz="1050" b="0" i="0">
                <a:solidFill>
                  <a:srgbClr val="26301F"/>
                </a:solidFill>
                <a:latin typeface="Segoe UI"/>
              </a:rPr>
              <a:t>Rewards are never redeemable for cash and release only against contributions which have settled.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REWARDS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Retail partnerships and how they are funded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58</a:t>
            </a:r>
          </a:p>
        </p:txBody>
      </p:sp>
      <p:sp>
        <p:nvSpPr>
          <p:cNvPr id="7" name="TextBox 6"/>
          <p:cNvSpPr txBox="1"/>
          <p:nvPr/>
        </p:nvSpPr>
        <p:spPr>
          <a:xfrm>
            <a:off x="777240" y="1965960"/>
            <a:ext cx="10607040" cy="73152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The discount at every tier is the retailer's own promotional discount, extended to an audience qualified by a year or more of demonstrated payment behaviour. It is customer acquisition spend for them rather than a cost to Halqa, and Halqa earns an affiliate commission on the resulting order at three to twelve per cent of order value depending on category. The reward is the retailer's discount and the revenue is the retailer's commission, so the system funds itself.</a:t>
            </a:r>
          </a:p>
        </p:txBody>
      </p:sp>
      <p:graphicFrame>
        <p:nvGraphicFramePr>
          <p:cNvPr id="8" name="Table 7"/>
          <p:cNvGraphicFramePr>
            <a:graphicFrameLocks noGrp="1"/>
          </p:cNvGraphicFramePr>
          <p:nvPr/>
        </p:nvGraphicFramePr>
        <p:xfrm>
          <a:off x="777240" y="3063240"/>
          <a:ext cx="10607040" cy="2377440"/>
        </p:xfrm>
        <a:graphic>
          <a:graphicData uri="http://schemas.openxmlformats.org/drawingml/2006/table">
            <a:tbl>
              <a:tblPr>
                <a:tableStyleId>{5C22544A-7EE6-4342-B048-85BDC9FD1C3A}</a:tableStyleId>
              </a:tblPr>
              <a:tblGrid>
                <a:gridCol w="640080"/>
                <a:gridCol w="2926080"/>
                <a:gridCol w="7040880"/>
              </a:tblGrid>
              <a:tr h="475488">
                <a:tc>
                  <a:txBody>
                    <a:bodyPr wrap="square"/>
                    <a:lstStyle/>
                    <a:p>
                      <a:r>
                        <a:rPr sz="900" b="1">
                          <a:solidFill>
                            <a:srgbClr val="41801A"/>
                          </a:solidFill>
                          <a:latin typeface="Segoe UI"/>
                        </a:rPr>
                        <a:t>PHASE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STEP</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IT REQUIRES</a:t>
                      </a:r>
                    </a:p>
                  </a:txBody>
                  <a:tcPr marL="45720" marR="109728" marT="27432" marB="27432" anchor="ctr">
                    <a:lnB w="9525" cap="flat" cmpd="sng" algn="ctr">
                      <a:solidFill>
                        <a:srgbClr val="41801A"/>
                      </a:solidFill>
                    </a:lnB>
                    <a:solidFill>
                      <a:srgbClr val="FFFFFF"/>
                    </a:solidFill>
                  </a:tcPr>
                </a:tc>
              </a:tr>
              <a:tr h="475488">
                <a:tc>
                  <a:txBody>
                    <a:bodyPr wrap="square"/>
                    <a:lstStyle/>
                    <a:p>
                      <a:r>
                        <a:rPr sz="9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Halqa charges waived only</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No counterparty. Waivers run through the existing fee engine and can ship immediately</a:t>
                      </a:r>
                    </a:p>
                  </a:txBody>
                  <a:tcPr marL="45720" marR="109728" marT="27432" marB="27432" anchor="ctr">
                    <a:lnB w="9525" cap="flat" cmpd="sng" algn="ctr">
                      <a:solidFill>
                        <a:srgbClr val="DCE3D6"/>
                      </a:solidFill>
                    </a:lnB>
                    <a:solidFill>
                      <a:srgbClr val="FFFFFF"/>
                    </a:solidFill>
                  </a:tcPr>
                </a:tc>
              </a:tr>
              <a:tr h="475488">
                <a:tc>
                  <a:txBody>
                    <a:bodyPr wrap="square"/>
                    <a:lstStyle/>
                    <a:p>
                      <a:r>
                        <a:rPr sz="9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Affiliate registration</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Registration with the affiliate programmes the large Pakistani marketplaces already operate. A form rather than a negotiation. Links carry an identifier and orders are attributed automatically</a:t>
                      </a:r>
                    </a:p>
                  </a:txBody>
                  <a:tcPr marL="45720" marR="109728" marT="27432" marB="27432" anchor="ctr">
                    <a:lnB w="9525" cap="flat" cmpd="sng" algn="ctr">
                      <a:solidFill>
                        <a:srgbClr val="DCE3D6"/>
                      </a:solidFill>
                    </a:lnB>
                    <a:solidFill>
                      <a:srgbClr val="FFFFFF"/>
                    </a:solidFill>
                  </a:tcPr>
                </a:tc>
              </a:tr>
              <a:tr h="475488">
                <a:tc>
                  <a:txBody>
                    <a:bodyPr wrap="square"/>
                    <a:lstStyle/>
                    <a:p>
                      <a:r>
                        <a:rPr sz="9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Direct merchant agreement</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 negotiated rate card, discount codes exclusive to Halqa members, placement inside the application, and category exclusivity where obtainable</a:t>
                      </a:r>
                    </a:p>
                  </a:txBody>
                  <a:tcPr marL="45720" marR="109728" marT="27432" marB="27432" anchor="ctr">
                    <a:lnB w="9525" cap="flat" cmpd="sng" algn="ctr">
                      <a:solidFill>
                        <a:srgbClr val="DCE3D6"/>
                      </a:solidFill>
                    </a:lnB>
                    <a:solidFill>
                      <a:srgbClr val="FFFFFF"/>
                    </a:solidFill>
                  </a:tcPr>
                </a:tc>
              </a:tr>
              <a:tr h="475488">
                <a:tc>
                  <a:txBody>
                    <a:bodyPr wrap="square"/>
                    <a:lstStyle/>
                    <a:p>
                      <a:r>
                        <a:rPr sz="9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Direct payment</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 goal circle's pot is paid to the retailer for a named item and the retailer pays 1 to 3 per cent of the value brokered. This turns the rewards relationship into a distribution channel</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623560"/>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Retailers to approach are Daraz, Telemart, iShopping and HomeShopping, the grocery chains Naheed, Alfatah and Imtiaz, and the delivery platforms Foodpanda and Bykea. Halqa receives order attribution rather than basket contents, and purchase behaviour is not sold.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ENGINEERING AND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Threat model</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59</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The platform holds no member money, which removes the largest prize but not the others. Six attacks are worth defending against, in order of what they would actually be worth to an attacker.</a:t>
            </a:r>
          </a:p>
        </p:txBody>
      </p:sp>
      <p:graphicFrame>
        <p:nvGraphicFramePr>
          <p:cNvPr id="8" name="Table 7"/>
          <p:cNvGraphicFramePr>
            <a:graphicFrameLocks noGrp="1"/>
          </p:cNvGraphicFramePr>
          <p:nvPr/>
        </p:nvGraphicFramePr>
        <p:xfrm>
          <a:off x="777240" y="2606040"/>
          <a:ext cx="10607040" cy="3189830"/>
        </p:xfrm>
        <a:graphic>
          <a:graphicData uri="http://schemas.openxmlformats.org/drawingml/2006/table">
            <a:tbl>
              <a:tblPr>
                <a:tableStyleId>{5C22544A-7EE6-4342-B048-85BDC9FD1C3A}</a:tableStyleId>
              </a:tblPr>
              <a:tblGrid>
                <a:gridCol w="365760"/>
                <a:gridCol w="2377440"/>
                <a:gridCol w="3200400"/>
                <a:gridCol w="4663440"/>
              </a:tblGrid>
              <a:tr h="455690">
                <a:tc>
                  <a:txBody>
                    <a:bodyPr wrap="square"/>
                    <a:lstStyle/>
                    <a:p>
                      <a:r>
                        <a:rPr sz="7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ATTACK</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THE ATTACKER GAINS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STOPS IT</a:t>
                      </a:r>
                    </a:p>
                  </a:txBody>
                  <a:tcPr marL="45720" marR="109728" marT="27432" marB="27432" anchor="ctr">
                    <a:lnB w="9525" cap="flat" cmpd="sng" algn="ctr">
                      <a:solidFill>
                        <a:srgbClr val="41801A"/>
                      </a:solidFill>
                    </a:lnB>
                    <a:solidFill>
                      <a:srgbClr val="FFFFFF"/>
                    </a:solidFill>
                  </a:tcPr>
                </a:tc>
              </a:tr>
              <a:tr h="455690">
                <a:tc>
                  <a:txBody>
                    <a:bodyPr wrap="square"/>
                    <a:lstStyle/>
                    <a:p>
                      <a:r>
                        <a:rPr sz="7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Impersonated exit or hardship claim</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payout released to the wrong person, or an obligation written off</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Facial verification fired on every exit request, plus the application PIN, plus a manual review sample</a:t>
                      </a:r>
                    </a:p>
                  </a:txBody>
                  <a:tcPr marL="45720" marR="109728" marT="27432" marB="27432" anchor="ctr">
                    <a:lnB w="9525" cap="flat" cmpd="sng" algn="ctr">
                      <a:solidFill>
                        <a:srgbClr val="DCE3D6"/>
                      </a:solidFill>
                    </a:lnB>
                    <a:solidFill>
                      <a:srgbClr val="FFFFFF"/>
                    </a:solidFill>
                  </a:tcPr>
                </a:tc>
              </a:tr>
              <a:tr h="455690">
                <a:tc>
                  <a:txBody>
                    <a:bodyPr wrap="square"/>
                    <a:lstStyle/>
                    <a:p>
                      <a:r>
                        <a:rPr sz="7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Account takeover by stolen credential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Access to a member's circles and their payout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Refresh token family burn on reuse, facial check on any new device, PIN held in memory only so a reload re asks</a:t>
                      </a:r>
                    </a:p>
                  </a:txBody>
                  <a:tcPr marL="45720" marR="109728" marT="27432" marB="27432" anchor="ctr">
                    <a:lnB w="9525" cap="flat" cmpd="sng" algn="ctr">
                      <a:solidFill>
                        <a:srgbClr val="DCE3D6"/>
                      </a:solidFill>
                    </a:lnB>
                    <a:solidFill>
                      <a:srgbClr val="FFFFFF"/>
                    </a:solidFill>
                  </a:tcPr>
                </a:tc>
              </a:tr>
              <a:tr h="455690">
                <a:tc>
                  <a:txBody>
                    <a:bodyPr wrap="square"/>
                    <a:lstStyle/>
                    <a:p>
                      <a:r>
                        <a:rPr sz="7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Synthetic or borrowed identity at signup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circle seat with no real person behind it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Identity card capture, account title match, NADRA Verisys and biometric, uniqueness enforced on identity number, telephone number and address</a:t>
                      </a:r>
                    </a:p>
                  </a:txBody>
                  <a:tcPr marL="45720" marR="109728" marT="27432" marB="27432" anchor="ctr">
                    <a:lnB w="9525" cap="flat" cmpd="sng" algn="ctr">
                      <a:solidFill>
                        <a:srgbClr val="DCE3D6"/>
                      </a:solidFill>
                    </a:lnB>
                    <a:solidFill>
                      <a:srgbClr val="FFFFFF"/>
                    </a:solidFill>
                  </a:tcPr>
                </a:tc>
              </a:tr>
              <a:tr h="455690">
                <a:tc>
                  <a:txBody>
                    <a:bodyPr wrap="square"/>
                    <a:lstStyle/>
                    <a:p>
                      <a:r>
                        <a:rPr sz="7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person assembling an artificial circle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pot funded by the platform's cover facility and never repaid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Host concurrency ceiling, the host link confirmed from both ends, and new members restricted to the last three seats</a:t>
                      </a:r>
                    </a:p>
                  </a:txBody>
                  <a:tcPr marL="45720" marR="109728" marT="27432" marB="27432" anchor="ctr">
                    <a:lnB w="9525" cap="flat" cmpd="sng" algn="ctr">
                      <a:solidFill>
                        <a:srgbClr val="DCE3D6"/>
                      </a:solidFill>
                    </a:lnB>
                    <a:solidFill>
                      <a:srgbClr val="FFFFFF"/>
                    </a:solidFill>
                  </a:tcPr>
                </a:tc>
              </a:tr>
              <a:tr h="455690">
                <a:tc>
                  <a:txBody>
                    <a:bodyPr wrap="square"/>
                    <a:lstStyle/>
                    <a:p>
                      <a:r>
                        <a:rPr sz="7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Double charge or double payout through a retry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for an attacker, but a real loss and a real trust failure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Idempotency key on every write, reconciliation by key before any retry</a:t>
                      </a:r>
                    </a:p>
                  </a:txBody>
                  <a:tcPr marL="45720" marR="109728" marT="27432" marB="27432" anchor="ctr">
                    <a:lnB w="9525" cap="flat" cmpd="sng" algn="ctr">
                      <a:solidFill>
                        <a:srgbClr val="DCE3D6"/>
                      </a:solidFill>
                    </a:lnB>
                    <a:solidFill>
                      <a:srgbClr val="FFFFFF"/>
                    </a:solidFill>
                  </a:tcPr>
                </a:tc>
              </a:tr>
              <a:tr h="455690">
                <a:tc>
                  <a:txBody>
                    <a:bodyPr wrap="square"/>
                    <a:lstStyle/>
                    <a:p>
                      <a:r>
                        <a:rPr sz="7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Data exfiltration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Identity numbers and payment histories of every member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Parameterised queries throughout, no raw biometrics or card numbers stored, append only audit log, encryption in transit and at rest</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ENGINEERING AND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Controls in place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60</a:t>
            </a:r>
          </a:p>
        </p:txBody>
      </p:sp>
      <p:graphicFrame>
        <p:nvGraphicFramePr>
          <p:cNvPr id="7" name="Table 6"/>
          <p:cNvGraphicFramePr>
            <a:graphicFrameLocks noGrp="1"/>
          </p:cNvGraphicFramePr>
          <p:nvPr/>
        </p:nvGraphicFramePr>
        <p:xfrm>
          <a:off x="777240" y="1965960"/>
          <a:ext cx="10607040" cy="3675892"/>
        </p:xfrm>
        <a:graphic>
          <a:graphicData uri="http://schemas.openxmlformats.org/drawingml/2006/table">
            <a:tbl>
              <a:tblPr>
                <a:tableStyleId>{5C22544A-7EE6-4342-B048-85BDC9FD1C3A}</a:tableStyleId>
              </a:tblPr>
              <a:tblGrid>
                <a:gridCol w="1737360"/>
                <a:gridCol w="7315200"/>
                <a:gridCol w="1554480"/>
              </a:tblGrid>
              <a:tr h="334172">
                <a:tc>
                  <a:txBody>
                    <a:bodyPr wrap="square"/>
                    <a:lstStyle/>
                    <a:p>
                      <a:r>
                        <a:rPr sz="750" b="1">
                          <a:solidFill>
                            <a:srgbClr val="41801A"/>
                          </a:solidFill>
                          <a:latin typeface="Segoe UI"/>
                        </a:rPr>
                        <a:t>LAYER</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CONTROL</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STATE</a:t>
                      </a:r>
                    </a:p>
                  </a:txBody>
                  <a:tcPr marL="45720" marR="109728" marT="27432" marB="27432" anchor="ctr">
                    <a:lnB w="9525" cap="flat" cmpd="sng" algn="ctr">
                      <a:solidFill>
                        <a:srgbClr val="41801A"/>
                      </a:solidFill>
                    </a:lnB>
                    <a:solidFill>
                      <a:srgbClr val="FFFFFF"/>
                    </a:solidFill>
                  </a:tcPr>
                </a:tc>
              </a:tr>
              <a:tr h="334172">
                <a:tc>
                  <a:txBody>
                    <a:bodyPr wrap="square"/>
                    <a:lstStyle/>
                    <a:p>
                      <a:r>
                        <a:rPr sz="750" b="0">
                          <a:solidFill>
                            <a:srgbClr val="26301F"/>
                          </a:solidFill>
                          <a:latin typeface="Segoe UI"/>
                        </a:rPr>
                        <a:t>Transport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TLS with strict transport security and a content security policy on both applications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Credentials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Passwords hashed with bcrypt at cost twelve. Secret strength asserted at boot, so the service refuses to start weak</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Sessions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Short lived access tokens with rotating refresh tokens. Reuse of a refresh token burns the whole family, so a stolen token cannot be replayed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Second factor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Application PIN on every open, every join commitment, every exit request and every payout release, separate from the password and held in memory only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Device biometric</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Layered on the PIN where the handset supports it. Never leaves the device, never transmitted, never stored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Rate limiting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Five failed attempts locks the account for fifteen minutes. Thirty in fifteen minutes is blocked globally. Login timing constant so accounts cannot be enumerated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Injection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Every query parameterised through the typed data layer, so string concatenation into SQL is structurally unavailable rather than merely discouraged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Audit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Append only audit log plus a separate security event table. Every consent, signature and administrative action carries an actor and a timestamp</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Dependencies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Zero known vulnerabilities on the web package at the last check</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Independent test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External penetration test and a formal secure code review</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Before public launch</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824732"/>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Posture assessed internally at B plus. The gap to A is the two items marked before launch, and they are named here rather than omitted.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ENGINEERING AND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Data the platform refuses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61</a:t>
            </a:r>
          </a:p>
        </p:txBody>
      </p:sp>
      <p:sp>
        <p:nvSpPr>
          <p:cNvPr id="7" name="TextBox 6"/>
          <p:cNvSpPr txBox="1"/>
          <p:nvPr/>
        </p:nvSpPr>
        <p:spPr>
          <a:xfrm>
            <a:off x="777240" y="1965960"/>
            <a:ext cx="10607040" cy="731520"/>
          </a:xfrm>
          <a:prstGeom prst="rect">
            <a:avLst/>
          </a:prstGeom>
          <a:noFill/>
        </p:spPr>
        <p:txBody>
          <a:bodyPr wrap="square" lIns="0" rIns="0" tIns="0" bIns="0">
            <a:spAutoFit/>
          </a:bodyPr>
          <a:lstStyle/>
          <a:p>
            <a:pPr algn="l">
              <a:lnSpc>
                <a:spcPct val="145000"/>
              </a:lnSpc>
            </a:pPr>
            <a:r>
              <a:rPr sz="1300" b="0" i="0">
                <a:solidFill>
                  <a:srgbClr val="26301F"/>
                </a:solidFill>
                <a:latin typeface="Segoe UI"/>
              </a:rPr>
              <a:t>Roughly four hundred lending applications were removed from Pakistani app stores for the permissions they demanded rather than for the money they lent. Each item below would improve Halqa's underwriting and each one is refused, because the cost of holding it is delisting, a regulator, or both.</a:t>
            </a:r>
          </a:p>
        </p:txBody>
      </p:sp>
      <p:graphicFrame>
        <p:nvGraphicFramePr>
          <p:cNvPr id="8" name="Table 7"/>
          <p:cNvGraphicFramePr>
            <a:graphicFrameLocks noGrp="1"/>
          </p:cNvGraphicFramePr>
          <p:nvPr/>
        </p:nvGraphicFramePr>
        <p:xfrm>
          <a:off x="777240" y="2926080"/>
          <a:ext cx="10607040" cy="2576936"/>
        </p:xfrm>
        <a:graphic>
          <a:graphicData uri="http://schemas.openxmlformats.org/drawingml/2006/table">
            <a:tbl>
              <a:tblPr>
                <a:tableStyleId>{5C22544A-7EE6-4342-B048-85BDC9FD1C3A}</a:tableStyleId>
              </a:tblPr>
              <a:tblGrid>
                <a:gridCol w="2651760"/>
                <a:gridCol w="3566160"/>
                <a:gridCol w="4389120"/>
              </a:tblGrid>
              <a:tr h="322117">
                <a:tc>
                  <a:txBody>
                    <a:bodyPr wrap="square"/>
                    <a:lstStyle/>
                    <a:p>
                      <a:r>
                        <a:rPr sz="700" b="1">
                          <a:solidFill>
                            <a:srgbClr val="41801A"/>
                          </a:solidFill>
                          <a:latin typeface="Segoe UI"/>
                        </a:rPr>
                        <a:t>REFUSED</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WOULD HAVE GIVEN</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WHY IT IS REFUSED</a:t>
                      </a:r>
                    </a:p>
                  </a:txBody>
                  <a:tcPr marL="45720" marR="109728" marT="27432" marB="27432" anchor="ctr">
                    <a:lnB w="9525" cap="flat" cmpd="sng" algn="ctr">
                      <a:solidFill>
                        <a:srgbClr val="41801A"/>
                      </a:solidFill>
                    </a:lnB>
                    <a:solidFill>
                      <a:srgbClr val="FFFFFF"/>
                    </a:solidFill>
                  </a:tcPr>
                </a:tc>
              </a:tr>
              <a:tr h="322117">
                <a:tc>
                  <a:txBody>
                    <a:bodyPr wrap="square"/>
                    <a:lstStyle/>
                    <a:p>
                      <a:r>
                        <a:rPr sz="700" b="0">
                          <a:solidFill>
                            <a:srgbClr val="26301F"/>
                          </a:solidFill>
                          <a:latin typeface="Segoe UI"/>
                        </a:rPr>
                        <a:t>Contact list access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social graph for collections pressure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single practice most associated with the removals, and the one the regulator named</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Photo gallery access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Documents and proof of assets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proportionate purpose. Impossible to justify to a store reviewer</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Message reading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Bank credit alerts scraped from SMS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Reads every private message to obtain a handful of numbers</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Accessibility service screen scraping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Live bank balances without any partnership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Rejected earlier in the design. It is the delisting trap and no balance is worth it</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Background location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Movement patterns and workplace confirmation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precise pin at signup, with consent, is sufficient and defensible</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Full card numbers and security codes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Simpler repeat charging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Never persisted. Brand, last four digits, expiry and holder only</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Raw biometric templates and facial images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 house matching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Only the verification result and the reference are kept. The template stays with NADRA</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685896"/>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The permissions a lender demands are the fastest signal a regulator has for how it intends to collect. Halqa asks for less than a food delivery application.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ENGINEERING AND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Engineering invariants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62</a:t>
            </a:r>
          </a:p>
        </p:txBody>
      </p:sp>
      <p:graphicFrame>
        <p:nvGraphicFramePr>
          <p:cNvPr id="7" name="Table 6"/>
          <p:cNvGraphicFramePr>
            <a:graphicFrameLocks noGrp="1"/>
          </p:cNvGraphicFramePr>
          <p:nvPr/>
        </p:nvGraphicFramePr>
        <p:xfrm>
          <a:off x="777240" y="1965960"/>
          <a:ext cx="10607040" cy="3506559"/>
        </p:xfrm>
        <a:graphic>
          <a:graphicData uri="http://schemas.openxmlformats.org/drawingml/2006/table">
            <a:tbl>
              <a:tblPr>
                <a:tableStyleId>{5C22544A-7EE6-4342-B048-85BDC9FD1C3A}</a:tableStyleId>
              </a:tblPr>
              <a:tblGrid>
                <a:gridCol w="2743200"/>
                <a:gridCol w="3931920"/>
                <a:gridCol w="3931920"/>
              </a:tblGrid>
              <a:tr h="500937">
                <a:tc>
                  <a:txBody>
                    <a:bodyPr wrap="square"/>
                    <a:lstStyle/>
                    <a:p>
                      <a:r>
                        <a:rPr sz="750" b="1">
                          <a:solidFill>
                            <a:srgbClr val="41801A"/>
                          </a:solidFill>
                          <a:latin typeface="Segoe UI"/>
                        </a:rPr>
                        <a:t>INVARIANT</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IT MEANS</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WHY IT EXISTS</a:t>
                      </a:r>
                    </a:p>
                  </a:txBody>
                  <a:tcPr marL="45720" marR="109728" marT="27432" marB="27432" anchor="ctr">
                    <a:lnB w="9525" cap="flat" cmpd="sng" algn="ctr">
                      <a:solidFill>
                        <a:srgbClr val="41801A"/>
                      </a:solidFill>
                    </a:lnB>
                    <a:solidFill>
                      <a:srgbClr val="FFFFFF"/>
                    </a:solidFill>
                  </a:tcPr>
                </a:tc>
              </a:tr>
              <a:tr h="500937">
                <a:tc>
                  <a:txBody>
                    <a:bodyPr wrap="square"/>
                    <a:lstStyle/>
                    <a:p>
                      <a:r>
                        <a:rPr sz="750" b="0">
                          <a:solidFill>
                            <a:srgbClr val="26301F"/>
                          </a:solidFill>
                          <a:latin typeface="Segoe UI"/>
                        </a:rPr>
                        <a:t>All money is integer paisa held as a big integer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 floating point value appears anywhere in the money path. Rates apply as basis points with integer division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Binary floating point cannot represent most decimal fractions exactly, and the residue is invisible until reconciliation fails</a:t>
                      </a:r>
                    </a:p>
                  </a:txBody>
                  <a:tcPr marL="45720" marR="109728" marT="27432" marB="27432" anchor="ctr">
                    <a:lnB w="9525" cap="flat" cmpd="sng" algn="ctr">
                      <a:solidFill>
                        <a:srgbClr val="DCE3D6"/>
                      </a:solidFill>
                    </a:lnB>
                    <a:solidFill>
                      <a:srgbClr val="FFFFFF"/>
                    </a:solidFill>
                  </a:tcPr>
                </a:tc>
              </a:tr>
              <a:tr h="500937">
                <a:tc>
                  <a:txBody>
                    <a:bodyPr wrap="square"/>
                    <a:lstStyle/>
                    <a:p>
                      <a:r>
                        <a:rPr sz="750" b="0">
                          <a:solidFill>
                            <a:srgbClr val="26301F"/>
                          </a:solidFill>
                          <a:latin typeface="Segoe UI"/>
                        </a:rPr>
                        <a:t>Every movement is a double entry pair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Each settlement writes two ledger entries which must sum to zero</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ledger checks itself. A one sided write is detectable rather than silent</a:t>
                      </a:r>
                    </a:p>
                  </a:txBody>
                  <a:tcPr marL="45720" marR="109728" marT="27432" marB="27432" anchor="ctr">
                    <a:lnB w="9525" cap="flat" cmpd="sng" algn="ctr">
                      <a:solidFill>
                        <a:srgbClr val="DCE3D6"/>
                      </a:solidFill>
                    </a:lnB>
                    <a:solidFill>
                      <a:srgbClr val="FFFFFF"/>
                    </a:solidFill>
                  </a:tcPr>
                </a:tc>
              </a:tr>
              <a:tr h="500937">
                <a:tc>
                  <a:txBody>
                    <a:bodyPr wrap="square"/>
                    <a:lstStyle/>
                    <a:p>
                      <a:r>
                        <a:rPr sz="750" b="0">
                          <a:solidFill>
                            <a:srgbClr val="26301F"/>
                          </a:solidFill>
                          <a:latin typeface="Segoe UI"/>
                        </a:rPr>
                        <a:t>Every write carries an idempotency key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retried request applies once. The key is stored with the record and a duplicate is a no operation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Retries are the normal condition on mobile networks. Without this a member on a weak signal pays twice</a:t>
                      </a:r>
                    </a:p>
                  </a:txBody>
                  <a:tcPr marL="45720" marR="109728" marT="27432" marB="27432" anchor="ctr">
                    <a:lnB w="9525" cap="flat" cmpd="sng" algn="ctr">
                      <a:solidFill>
                        <a:srgbClr val="DCE3D6"/>
                      </a:solidFill>
                    </a:lnB>
                    <a:solidFill>
                      <a:srgbClr val="FFFFFF"/>
                    </a:solidFill>
                  </a:tcPr>
                </a:tc>
              </a:tr>
              <a:tr h="500937">
                <a:tc>
                  <a:txBody>
                    <a:bodyPr wrap="square"/>
                    <a:lstStyle/>
                    <a:p>
                      <a:r>
                        <a:rPr sz="750" b="0">
                          <a:solidFill>
                            <a:srgbClr val="26301F"/>
                          </a:solidFill>
                          <a:latin typeface="Segoe UI"/>
                        </a:rPr>
                        <a:t>Receipts commit with the settlement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receipt row and the message queue row are written inside the same database transaction as the money movement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receipt cannot exist without a settlement, and a settlement cannot exist without a receipt</a:t>
                      </a:r>
                    </a:p>
                  </a:txBody>
                  <a:tcPr marL="45720" marR="109728" marT="27432" marB="27432" anchor="ctr">
                    <a:lnB w="9525" cap="flat" cmpd="sng" algn="ctr">
                      <a:solidFill>
                        <a:srgbClr val="DCE3D6"/>
                      </a:solidFill>
                    </a:lnB>
                    <a:solidFill>
                      <a:srgbClr val="FFFFFF"/>
                    </a:solidFill>
                  </a:tcPr>
                </a:tc>
              </a:tr>
              <a:tr h="500937">
                <a:tc>
                  <a:txBody>
                    <a:bodyPr wrap="square"/>
                    <a:lstStyle/>
                    <a:p>
                      <a:r>
                        <a:rPr sz="750" b="0">
                          <a:solidFill>
                            <a:srgbClr val="26301F"/>
                          </a:solidFill>
                          <a:latin typeface="Segoe UI"/>
                        </a:rPr>
                        <a:t>Production migrations are additive only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Hand written SQL that only adds. Nothing is dropped or renamed during a deploy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Old and new code both stay correct while a release rolls out, so there is no window in which the application is broken</a:t>
                      </a:r>
                    </a:p>
                  </a:txBody>
                  <a:tcPr marL="45720" marR="109728" marT="27432" marB="27432" anchor="ctr">
                    <a:lnB w="9525" cap="flat" cmpd="sng" algn="ctr">
                      <a:solidFill>
                        <a:srgbClr val="DCE3D6"/>
                      </a:solidFill>
                    </a:lnB>
                    <a:solidFill>
                      <a:srgbClr val="FFFFFF"/>
                    </a:solidFill>
                  </a:tcPr>
                </a:tc>
              </a:tr>
              <a:tr h="500937">
                <a:tc>
                  <a:txBody>
                    <a:bodyPr wrap="square"/>
                    <a:lstStyle/>
                    <a:p>
                      <a:r>
                        <a:rPr sz="750" b="0">
                          <a:solidFill>
                            <a:srgbClr val="26301F"/>
                          </a:solidFill>
                          <a:latin typeface="Segoe UI"/>
                        </a:rPr>
                        <a:t>Scheduled work runs server side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delinquency sweep is a job at 02:00 UTC, not something the application triggers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Enforcement cannot depend on a member opening an application</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55399"/>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60 unit tests and 352 integration tests pass. The integration suite exercises the money paths end to end rather than mocking them, which is the only way these six can be asserted rather than asserted about.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ENGINEERING AND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Platform and data</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63</a:t>
            </a:r>
          </a:p>
        </p:txBody>
      </p:sp>
      <p:graphicFrame>
        <p:nvGraphicFramePr>
          <p:cNvPr id="7" name="Table 6"/>
          <p:cNvGraphicFramePr>
            <a:graphicFrameLocks noGrp="1"/>
          </p:cNvGraphicFramePr>
          <p:nvPr/>
        </p:nvGraphicFramePr>
        <p:xfrm>
          <a:off x="777240" y="1965960"/>
          <a:ext cx="10607040" cy="3508813"/>
        </p:xfrm>
        <a:graphic>
          <a:graphicData uri="http://schemas.openxmlformats.org/drawingml/2006/table">
            <a:tbl>
              <a:tblPr>
                <a:tableStyleId>{5C22544A-7EE6-4342-B048-85BDC9FD1C3A}</a:tableStyleId>
              </a:tblPr>
              <a:tblGrid>
                <a:gridCol w="2194560"/>
                <a:gridCol w="8412480"/>
              </a:tblGrid>
              <a:tr h="501259">
                <a:tc>
                  <a:txBody>
                    <a:bodyPr wrap="square"/>
                    <a:lstStyle/>
                    <a:p>
                      <a:r>
                        <a:rPr sz="800" b="1">
                          <a:solidFill>
                            <a:srgbClr val="41801A"/>
                          </a:solidFill>
                          <a:latin typeface="Segoe UI"/>
                        </a:rPr>
                        <a:t>AREA</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DETAIL</a:t>
                      </a:r>
                    </a:p>
                  </a:txBody>
                  <a:tcPr marL="45720" marR="109728" marT="27432" marB="27432" anchor="ctr">
                    <a:lnB w="9525" cap="flat" cmpd="sng" algn="ctr">
                      <a:solidFill>
                        <a:srgbClr val="41801A"/>
                      </a:solidFill>
                    </a:lnB>
                    <a:solidFill>
                      <a:srgbClr val="FFFFFF"/>
                    </a:solidFill>
                  </a:tcPr>
                </a:tc>
              </a:tr>
              <a:tr h="501259">
                <a:tc>
                  <a:txBody>
                    <a:bodyPr wrap="square"/>
                    <a:lstStyle/>
                    <a:p>
                      <a:r>
                        <a:rPr sz="800" b="0">
                          <a:solidFill>
                            <a:srgbClr val="26301F"/>
                          </a:solidFill>
                          <a:latin typeface="Segoe UI"/>
                        </a:rPr>
                        <a:t>Stack</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React and TypeScript on the front end, Node and TypeScript on the API, PostgreSQL behind a typed data layer. Both packages type clean</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Delivery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Installable on the handset as a progressive web application, with native Android and iOS shells prepared. Urdu and English throughout, with regional greetings</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Scheduled work</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delinquency sweep runs server side as a scheduled job at 02:00 UTC rather than in the application, so it does not depend on a member opening anything</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Data minimisation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Only the verification result and the reference are stored for identity checks. Card numbers and security codes are never persisted. Location is a single precise pin at signup, never background tracking</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Data the platform refuses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Contact list harvesting, gallery access, message reading and accessibility service screen scraping are all rejected, because each one fails either the app store policy or the regulator and is the practice behind the removal of roughly 400 lending applications</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Testing</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60 unit tests and 352 integration tests, all passing. The integration suite exercises the money paths end to end rather than mocking them</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ECONOMICS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Revenue lines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64</a:t>
            </a:r>
          </a:p>
        </p:txBody>
      </p:sp>
      <p:graphicFrame>
        <p:nvGraphicFramePr>
          <p:cNvPr id="7" name="Table 6"/>
          <p:cNvGraphicFramePr>
            <a:graphicFrameLocks noGrp="1"/>
          </p:cNvGraphicFramePr>
          <p:nvPr/>
        </p:nvGraphicFramePr>
        <p:xfrm>
          <a:off x="777240" y="1965960"/>
          <a:ext cx="10607040" cy="3571191"/>
        </p:xfrm>
        <a:graphic>
          <a:graphicData uri="http://schemas.openxmlformats.org/drawingml/2006/table">
            <a:tbl>
              <a:tblPr>
                <a:tableStyleId>{5C22544A-7EE6-4342-B048-85BDC9FD1C3A}</a:tableStyleId>
              </a:tblPr>
              <a:tblGrid>
                <a:gridCol w="3200400"/>
                <a:gridCol w="4663440"/>
                <a:gridCol w="2743200"/>
              </a:tblGrid>
              <a:tr h="274707">
                <a:tc>
                  <a:txBody>
                    <a:bodyPr wrap="square"/>
                    <a:lstStyle/>
                    <a:p>
                      <a:r>
                        <a:rPr sz="800" b="1">
                          <a:solidFill>
                            <a:srgbClr val="41801A"/>
                          </a:solidFill>
                          <a:latin typeface="Segoe UI"/>
                        </a:rPr>
                        <a:t>LINE</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BASIS</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PAYER</a:t>
                      </a:r>
                    </a:p>
                  </a:txBody>
                  <a:tcPr marL="45720" marR="109728" marT="27432" marB="27432" anchor="ctr">
                    <a:lnB w="9525" cap="flat" cmpd="sng" algn="ctr">
                      <a:solidFill>
                        <a:srgbClr val="41801A"/>
                      </a:solidFill>
                    </a:lnB>
                    <a:solidFill>
                      <a:srgbClr val="FFFFFF"/>
                    </a:solidFill>
                  </a:tcPr>
                </a:tc>
              </a:tr>
              <a:tr h="274707">
                <a:tc>
                  <a:txBody>
                    <a:bodyPr wrap="square"/>
                    <a:lstStyle/>
                    <a:p>
                      <a:r>
                        <a:rPr sz="800" b="0">
                          <a:solidFill>
                            <a:srgbClr val="26301F"/>
                          </a:solidFill>
                          <a:latin typeface="Segoe UI"/>
                        </a:rPr>
                        <a:t>Insurance premium, open circles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1.5 per cent of each contribution, capped at Rs 300</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Member, against cover</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Insurance premium, HYPER</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15 per cent of each contribution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Member, against cover</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Early seat fee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1.00 per cent of the pot at the first seat on open circles, tapering to zero at the last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Member collecting early, from the pot</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Seat placement fee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Rs 500 flat where Halqa fills a vacant seat, less 20 per cent if income is verified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Member, optional</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Turn marketplace commission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10 per cent of the accepted premium</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Member, optional</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HYPER auction premiums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whole premium, with no commission split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Member, optional</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Late fees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3, 7 and 12 per cent of the contribution by lateness on open circles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Member in default of the schedule</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Retail affiliate commission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3 to 12 per cent of order value by category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Retailer</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Direct payment commission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1 to 3 per cent of the value brokered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Retailer or dealer</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Asset structure origination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2 to 4 per cent of asset value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Dealer or leasing counterparty</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Distribution trail on savings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0.5 to 1.5 per cent a year of assets under management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Asset manager</a:t>
                      </a:r>
                    </a:p>
                  </a:txBody>
                  <a:tcPr marL="45720" marR="109728" marT="27432" marB="27432" anchor="ctr">
                    <a:lnB w="9525" cap="flat" cmpd="sng" algn="ctr">
                      <a:solidFill>
                        <a:srgbClr val="DCE3D6"/>
                      </a:solidFill>
                    </a:lnB>
                    <a:solidFill>
                      <a:srgbClr val="FFFFFF"/>
                    </a:solidFill>
                  </a:tcPr>
                </a:tc>
              </a:tr>
              <a:tr h="274707">
                <a:tc>
                  <a:txBody>
                    <a:bodyPr wrap="square"/>
                    <a:lstStyle/>
                    <a:p>
                      <a:r>
                        <a:rPr sz="800" b="0">
                          <a:solidFill>
                            <a:srgbClr val="26301F"/>
                          </a:solidFill>
                          <a:latin typeface="Segoe UI"/>
                        </a:rPr>
                        <a:t>Rewarded video</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USD 1.50 to 4.00 per thousand completed views, on one surface only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Advertiser</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790377"/>
            <a:ext cx="10637215" cy="731520"/>
          </a:xfrm>
          <a:prstGeom prst="rect">
            <a:avLst/>
          </a:prstGeom>
          <a:noFill/>
        </p:spPr>
        <p:txBody>
          <a:bodyPr wrap="square" lIns="0" rIns="0" tIns="0" bIns="0">
            <a:spAutoFit/>
          </a:bodyPr>
          <a:lstStyle/>
          <a:p>
            <a:pPr algn="l">
              <a:lnSpc>
                <a:spcPct val="140000"/>
              </a:lnSpc>
            </a:pPr>
            <a:r>
              <a:rPr sz="1150" b="1" i="0">
                <a:solidFill>
                  <a:srgbClr val="0C1408"/>
                </a:solidFill>
                <a:latin typeface="Segoe UI"/>
              </a:rPr>
              <a:t>Members pay nothing to join a circle and nothing to make a contribution. Every line above is either an optional priced service or is paid by a counterparty.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ECONOMICS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Unit economics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65</a:t>
            </a:r>
          </a:p>
        </p:txBody>
      </p:sp>
      <p:graphicFrame>
        <p:nvGraphicFramePr>
          <p:cNvPr id="7" name="Table 6"/>
          <p:cNvGraphicFramePr>
            <a:graphicFrameLocks noGrp="1"/>
          </p:cNvGraphicFramePr>
          <p:nvPr/>
        </p:nvGraphicFramePr>
        <p:xfrm>
          <a:off x="777240" y="1965960"/>
          <a:ext cx="6035040" cy="3127248"/>
        </p:xfrm>
        <a:graphic>
          <a:graphicData uri="http://schemas.openxmlformats.org/drawingml/2006/table">
            <a:tbl>
              <a:tblPr>
                <a:tableStyleId>{5C22544A-7EE6-4342-B048-85BDC9FD1C3A}</a:tableStyleId>
              </a:tblPr>
              <a:tblGrid>
                <a:gridCol w="2377440"/>
                <a:gridCol w="1828800"/>
                <a:gridCol w="1828800"/>
              </a:tblGrid>
              <a:tr h="347472">
                <a:tc>
                  <a:txBody>
                    <a:bodyPr wrap="square"/>
                    <a:lstStyle/>
                    <a:p>
                      <a:r>
                        <a:rPr sz="900" b="1">
                          <a:solidFill>
                            <a:srgbClr val="41801A"/>
                          </a:solidFill>
                          <a:latin typeface="Segoe UI"/>
                        </a:rPr>
                        <a:t>MEASURE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MONTHLY CIRCLE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HYPER COMMITTEE</a:t>
                      </a:r>
                    </a:p>
                  </a:txBody>
                  <a:tcPr marL="45720" marR="109728" marT="27432" marB="27432" anchor="ctr">
                    <a:lnB w="9525" cap="flat" cmpd="sng" algn="ctr">
                      <a:solidFill>
                        <a:srgbClr val="41801A"/>
                      </a:solidFill>
                    </a:lnB>
                    <a:solidFill>
                      <a:srgbClr val="FFFFFF"/>
                    </a:solidFill>
                  </a:tcPr>
                </a:tc>
              </a:tr>
              <a:tr h="347472">
                <a:tc>
                  <a:txBody>
                    <a:bodyPr wrap="square"/>
                    <a:lstStyle/>
                    <a:p>
                      <a:r>
                        <a:rPr sz="1000" b="0">
                          <a:solidFill>
                            <a:srgbClr val="26301F"/>
                          </a:solidFill>
                          <a:latin typeface="Segoe UI"/>
                        </a:rPr>
                        <a:t>Structure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12 members, Rs 20,000, 12 months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400 members, Rs 250 a day, 60 days</a:t>
                      </a:r>
                    </a:p>
                  </a:txBody>
                  <a:tcPr marL="45720" marR="109728" marT="27432" marB="27432" anchor="ctr">
                    <a:lnB w="9525" cap="flat" cmpd="sng" algn="ctr">
                      <a:solidFill>
                        <a:srgbClr val="DCE3D6"/>
                      </a:solidFill>
                    </a:lnB>
                    <a:solidFill>
                      <a:srgbClr val="FFFFFF"/>
                    </a:solidFill>
                  </a:tcPr>
                </a:tc>
              </a:tr>
              <a:tr h="347472">
                <a:tc>
                  <a:txBody>
                    <a:bodyPr wrap="square"/>
                    <a:lstStyle/>
                    <a:p>
                      <a:r>
                        <a:rPr sz="1000" b="0">
                          <a:solidFill>
                            <a:srgbClr val="26301F"/>
                          </a:solidFill>
                          <a:latin typeface="Segoe UI"/>
                        </a:rPr>
                        <a:t>Pot</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240,000</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15,000</a:t>
                      </a:r>
                    </a:p>
                  </a:txBody>
                  <a:tcPr marL="45720" marR="109728" marT="27432" marB="27432" anchor="ctr">
                    <a:lnB w="9525" cap="flat" cmpd="sng" algn="ctr">
                      <a:solidFill>
                        <a:srgbClr val="DCE3D6"/>
                      </a:solidFill>
                    </a:lnB>
                    <a:solidFill>
                      <a:srgbClr val="FFFFFF"/>
                    </a:solidFill>
                  </a:tcPr>
                </a:tc>
              </a:tr>
              <a:tr h="347472">
                <a:tc>
                  <a:txBody>
                    <a:bodyPr wrap="square"/>
                    <a:lstStyle/>
                    <a:p>
                      <a:r>
                        <a:rPr sz="1000" b="0">
                          <a:solidFill>
                            <a:srgbClr val="26301F"/>
                          </a:solidFill>
                          <a:latin typeface="Segoe UI"/>
                        </a:rPr>
                        <a:t>Flow per cycle</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2,880,000</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6,000,000</a:t>
                      </a:r>
                    </a:p>
                  </a:txBody>
                  <a:tcPr marL="45720" marR="109728" marT="27432" marB="27432" anchor="ctr">
                    <a:lnB w="9525" cap="flat" cmpd="sng" algn="ctr">
                      <a:solidFill>
                        <a:srgbClr val="DCE3D6"/>
                      </a:solidFill>
                    </a:lnB>
                    <a:solidFill>
                      <a:srgbClr val="FFFFFF"/>
                    </a:solidFill>
                  </a:tcPr>
                </a:tc>
              </a:tr>
              <a:tr h="347472">
                <a:tc>
                  <a:txBody>
                    <a:bodyPr wrap="square"/>
                    <a:lstStyle/>
                    <a:p>
                      <a:r>
                        <a:rPr sz="1000" b="0">
                          <a:solidFill>
                            <a:srgbClr val="26301F"/>
                          </a:solidFill>
                          <a:latin typeface="Segoe UI"/>
                        </a:rPr>
                        <a:t>Insurance premium collected</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43,200</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900,000</a:t>
                      </a:r>
                    </a:p>
                  </a:txBody>
                  <a:tcPr marL="45720" marR="109728" marT="27432" marB="27432" anchor="ctr">
                    <a:lnB w="9525" cap="flat" cmpd="sng" algn="ctr">
                      <a:solidFill>
                        <a:srgbClr val="DCE3D6"/>
                      </a:solidFill>
                    </a:lnB>
                    <a:solidFill>
                      <a:srgbClr val="FFFFFF"/>
                    </a:solidFill>
                  </a:tcPr>
                </a:tc>
              </a:tr>
              <a:tr h="347472">
                <a:tc>
                  <a:txBody>
                    <a:bodyPr wrap="square"/>
                    <a:lstStyle/>
                    <a:p>
                      <a:r>
                        <a:rPr sz="1000" b="0">
                          <a:solidFill>
                            <a:srgbClr val="26301F"/>
                          </a:solidFill>
                          <a:latin typeface="Segoe UI"/>
                        </a:rPr>
                        <a:t>Expected loss at the modelled rate</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13,200</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885,000</a:t>
                      </a:r>
                    </a:p>
                  </a:txBody>
                  <a:tcPr marL="45720" marR="109728" marT="27432" marB="27432" anchor="ctr">
                    <a:lnB w="9525" cap="flat" cmpd="sng" algn="ctr">
                      <a:solidFill>
                        <a:srgbClr val="DCE3D6"/>
                      </a:solidFill>
                    </a:lnB>
                    <a:solidFill>
                      <a:srgbClr val="FFFFFF"/>
                    </a:solidFill>
                  </a:tcPr>
                </a:tc>
              </a:tr>
              <a:tr h="347472">
                <a:tc>
                  <a:txBody>
                    <a:bodyPr wrap="square"/>
                    <a:lstStyle/>
                    <a:p>
                      <a:r>
                        <a:rPr sz="1000" b="0">
                          <a:solidFill>
                            <a:srgbClr val="26301F"/>
                          </a:solidFill>
                          <a:latin typeface="Segoe UI"/>
                        </a:rPr>
                        <a:t>Underwriting surplus</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30,000</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Rs 15,000</a:t>
                      </a:r>
                    </a:p>
                  </a:txBody>
                  <a:tcPr marL="45720" marR="109728" marT="27432" marB="27432" anchor="ctr">
                    <a:lnB w="9525" cap="flat" cmpd="sng" algn="ctr">
                      <a:solidFill>
                        <a:srgbClr val="DCE3D6"/>
                      </a:solidFill>
                    </a:lnB>
                    <a:solidFill>
                      <a:srgbClr val="FFFFFF"/>
                    </a:solidFill>
                  </a:tcPr>
                </a:tc>
              </a:tr>
              <a:tr h="347472">
                <a:tc>
                  <a:txBody>
                    <a:bodyPr wrap="square"/>
                    <a:lstStyle/>
                    <a:p>
                      <a:r>
                        <a:rPr sz="1000" b="0">
                          <a:solidFill>
                            <a:srgbClr val="26301F"/>
                          </a:solidFill>
                          <a:latin typeface="Segoe UI"/>
                        </a:rPr>
                        <a:t>Cycles a year</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pPr algn="r"/>
                      <a:r>
                        <a:rPr sz="10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r>
              <a:tr h="347472">
                <a:tc>
                  <a:txBody>
                    <a:bodyPr wrap="square"/>
                    <a:lstStyle/>
                    <a:p>
                      <a:r>
                        <a:rPr sz="1000" b="0">
                          <a:solidFill>
                            <a:srgbClr val="26301F"/>
                          </a:solidFill>
                          <a:latin typeface="Segoe UI"/>
                        </a:rPr>
                        <a:t>Where the profit actually is</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The underwriting margin</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The opening auction premiums</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457444"/>
            <a:ext cx="10637215" cy="731520"/>
          </a:xfrm>
          <a:prstGeom prst="rect">
            <a:avLst/>
          </a:prstGeom>
          <a:noFill/>
        </p:spPr>
        <p:txBody>
          <a:bodyPr wrap="square" lIns="0" rIns="0" tIns="0" bIns="0">
            <a:spAutoFit/>
          </a:bodyPr>
          <a:lstStyle/>
          <a:p>
            <a:pPr algn="l">
              <a:lnSpc>
                <a:spcPct val="140000"/>
              </a:lnSpc>
            </a:pPr>
            <a:r>
              <a:rPr sz="1200" b="0" i="0">
                <a:solidFill>
                  <a:srgbClr val="26301F"/>
                </a:solidFill>
                <a:latin typeface="Segoe UI"/>
              </a:rPr>
              <a:t>Against Rs 4 trillion of annual flow, a one per cent share carries Rs 40 billion, on which the member facing take alone is between Rs 680 million and Rs 800 million a year, before the retail commission, the direct payment commission and the savings trail. The retail and savings lines compound, because they grow with members rather than with circles.</a:t>
            </a:r>
          </a:p>
        </p:txBody>
      </p:sp>
      <p:sp>
        <p:nvSpPr>
          <p:cNvPr id="9" name="TextBox 8"/>
          <p:cNvSpPr txBox="1"/>
          <p:nvPr/>
        </p:nvSpPr>
        <p:spPr>
          <a:xfrm>
            <a:off x="7269480" y="1965960"/>
            <a:ext cx="4114800" cy="292608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The two products earn in different places. On a monthly circle the premium comfortably exceeds expected loss and the underwriting margin is the revenue.</a:t>
            </a:r>
          </a:p>
          <a:p>
            <a:pPr algn="l">
              <a:lnSpc>
                <a:spcPct val="145000"/>
              </a:lnSpc>
              <a:spcBef>
                <a:spcPts val="800"/>
              </a:spcBef>
            </a:pPr>
            <a:r>
              <a:rPr sz="1150" b="0" i="0">
                <a:solidFill>
                  <a:srgbClr val="26301F"/>
                </a:solidFill>
                <a:latin typeface="Segoe UI"/>
              </a:rPr>
              <a:t/>
            </a:r>
          </a:p>
          <a:p>
            <a:pPr algn="l">
              <a:lnSpc>
                <a:spcPct val="145000"/>
              </a:lnSpc>
              <a:spcBef>
                <a:spcPts val="800"/>
              </a:spcBef>
            </a:pPr>
            <a:r>
              <a:rPr sz="1150" b="0" i="0">
                <a:solidFill>
                  <a:srgbClr val="26301F"/>
                </a:solidFill>
                <a:latin typeface="Segoe UI"/>
              </a:rPr>
              <a:t>On a HYPER committee the premium is set precisely at the design default rate, so the underwriting line is close to neutral by construction and the revenue is the opening auction, on which the whole of every premium is received rather than a commission on it.</a:t>
            </a:r>
          </a:p>
          <a:p>
            <a:pPr algn="l">
              <a:lnSpc>
                <a:spcPct val="145000"/>
              </a:lnSpc>
              <a:spcBef>
                <a:spcPts val="800"/>
              </a:spcBef>
            </a:pPr>
            <a:r>
              <a:rPr sz="1150" b="0" i="0">
                <a:solidFill>
                  <a:srgbClr val="26301F"/>
                </a:solidFill>
                <a:latin typeface="Segoe UI"/>
              </a:rPr>
              <a:t/>
            </a:r>
          </a:p>
          <a:p>
            <a:pPr algn="l">
              <a:lnSpc>
                <a:spcPct val="145000"/>
              </a:lnSpc>
              <a:spcBef>
                <a:spcPts val="800"/>
              </a:spcBef>
            </a:pPr>
            <a:r>
              <a:rPr sz="1150" b="0" i="0">
                <a:solidFill>
                  <a:srgbClr val="26301F"/>
                </a:solidFill>
                <a:latin typeface="Segoe UI"/>
              </a:rPr>
              <a:t>Neither default rate is a Halqa measurement yet. Both are modelled from the literature and from the design point.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ECONOMICS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Take rate and scale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66</a:t>
            </a:r>
          </a:p>
        </p:txBody>
      </p:sp>
      <p:graphicFrame>
        <p:nvGraphicFramePr>
          <p:cNvPr id="7" name="Table 6"/>
          <p:cNvGraphicFramePr>
            <a:graphicFrameLocks noGrp="1"/>
          </p:cNvGraphicFramePr>
          <p:nvPr/>
        </p:nvGraphicFramePr>
        <p:xfrm>
          <a:off x="777240" y="1965960"/>
          <a:ext cx="5120640" cy="2194560"/>
        </p:xfrm>
        <a:graphic>
          <a:graphicData uri="http://schemas.openxmlformats.org/drawingml/2006/table">
            <a:tbl>
              <a:tblPr>
                <a:tableStyleId>{5C22544A-7EE6-4342-B048-85BDC9FD1C3A}</a:tableStyleId>
              </a:tblPr>
              <a:tblGrid>
                <a:gridCol w="3474720"/>
                <a:gridCol w="1645920"/>
              </a:tblGrid>
              <a:tr h="365760">
                <a:tc>
                  <a:txBody>
                    <a:bodyPr wrap="square"/>
                    <a:lstStyle/>
                    <a:p>
                      <a:r>
                        <a:rPr sz="900" b="1">
                          <a:solidFill>
                            <a:srgbClr val="41801A"/>
                          </a:solidFill>
                          <a:latin typeface="Segoe UI"/>
                        </a:rPr>
                        <a:t>LINE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SHARE OF FLOW</a:t>
                      </a:r>
                    </a:p>
                  </a:txBody>
                  <a:tcPr marL="45720" marR="109728" marT="27432" marB="27432" anchor="ctr">
                    <a:lnB w="9525" cap="flat" cmpd="sng" algn="ctr">
                      <a:solidFill>
                        <a:srgbClr val="41801A"/>
                      </a:solidFill>
                    </a:lnB>
                    <a:solidFill>
                      <a:srgbClr val="FFFFFF"/>
                    </a:solidFill>
                  </a:tcPr>
                </a:tc>
              </a:tr>
              <a:tr h="365760">
                <a:tc>
                  <a:txBody>
                    <a:bodyPr wrap="square"/>
                    <a:lstStyle/>
                    <a:p>
                      <a:r>
                        <a:rPr sz="1050" b="0">
                          <a:solidFill>
                            <a:srgbClr val="26301F"/>
                          </a:solidFill>
                          <a:latin typeface="Segoe UI"/>
                        </a:rPr>
                        <a:t>Insurance premium, open circles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1.50 per cent</a:t>
                      </a:r>
                    </a:p>
                  </a:txBody>
                  <a:tcPr marL="45720" marR="109728" marT="27432" marB="27432" anchor="ctr">
                    <a:lnB w="9525" cap="flat" cmpd="sng" algn="ctr">
                      <a:solidFill>
                        <a:srgbClr val="DCE3D6"/>
                      </a:solidFill>
                    </a:lnB>
                    <a:solidFill>
                      <a:srgbClr val="FFFFFF"/>
                    </a:solidFill>
                  </a:tcPr>
                </a:tc>
              </a:tr>
              <a:tr h="365760">
                <a:tc>
                  <a:txBody>
                    <a:bodyPr wrap="square"/>
                    <a:lstStyle/>
                    <a:p>
                      <a:r>
                        <a:rPr sz="1050" b="0">
                          <a:solidFill>
                            <a:srgbClr val="26301F"/>
                          </a:solidFill>
                          <a:latin typeface="Segoe UI"/>
                        </a:rPr>
                        <a:t>Early seat fee, averaged across seats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0.05 per cent</a:t>
                      </a:r>
                    </a:p>
                  </a:txBody>
                  <a:tcPr marL="45720" marR="109728" marT="27432" marB="27432" anchor="ctr">
                    <a:lnB w="9525" cap="flat" cmpd="sng" algn="ctr">
                      <a:solidFill>
                        <a:srgbClr val="DCE3D6"/>
                      </a:solidFill>
                    </a:lnB>
                    <a:solidFill>
                      <a:srgbClr val="FFFFFF"/>
                    </a:solidFill>
                  </a:tcPr>
                </a:tc>
              </a:tr>
              <a:tr h="365760">
                <a:tc>
                  <a:txBody>
                    <a:bodyPr wrap="square"/>
                    <a:lstStyle/>
                    <a:p>
                      <a:r>
                        <a:rPr sz="1050" b="0">
                          <a:solidFill>
                            <a:srgbClr val="26301F"/>
                          </a:solidFill>
                          <a:latin typeface="Segoe UI"/>
                        </a:rPr>
                        <a:t>Marketplace and placement fees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0.05 to 0.15 per cent</a:t>
                      </a:r>
                    </a:p>
                  </a:txBody>
                  <a:tcPr marL="45720" marR="109728" marT="27432" marB="27432" anchor="ctr">
                    <a:lnB w="9525" cap="flat" cmpd="sng" algn="ctr">
                      <a:solidFill>
                        <a:srgbClr val="DCE3D6"/>
                      </a:solidFill>
                    </a:lnB>
                    <a:solidFill>
                      <a:srgbClr val="FFFFFF"/>
                    </a:solidFill>
                  </a:tcPr>
                </a:tc>
              </a:tr>
              <a:tr h="365760">
                <a:tc>
                  <a:txBody>
                    <a:bodyPr wrap="square"/>
                    <a:lstStyle/>
                    <a:p>
                      <a:r>
                        <a:rPr sz="1050" b="0">
                          <a:solidFill>
                            <a:srgbClr val="26301F"/>
                          </a:solidFill>
                          <a:latin typeface="Segoe UI"/>
                        </a:rPr>
                        <a:t>Late fees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0.10 to 0.30 per cent</a:t>
                      </a:r>
                    </a:p>
                  </a:txBody>
                  <a:tcPr marL="45720" marR="109728" marT="27432" marB="27432" anchor="ctr">
                    <a:lnB w="9525" cap="flat" cmpd="sng" algn="ctr">
                      <a:solidFill>
                        <a:srgbClr val="DCE3D6"/>
                      </a:solidFill>
                    </a:lnB>
                    <a:solidFill>
                      <a:srgbClr val="FFFFFF"/>
                    </a:solidFill>
                  </a:tcPr>
                </a:tc>
              </a:tr>
              <a:tr h="365760">
                <a:tc>
                  <a:txBody>
                    <a:bodyPr wrap="square"/>
                    <a:lstStyle/>
                    <a:p>
                      <a:r>
                        <a:rPr sz="1050" b="0">
                          <a:solidFill>
                            <a:srgbClr val="26301F"/>
                          </a:solidFill>
                          <a:latin typeface="Segoe UI"/>
                        </a:rPr>
                        <a:t>Total, member facing</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1.70 to 2.00 per cent</a:t>
                      </a:r>
                    </a:p>
                  </a:txBody>
                  <a:tcPr marL="45720" marR="109728" marT="27432" marB="27432" anchor="ctr">
                    <a:lnB w="9525" cap="flat" cmpd="sng" algn="ctr">
                      <a:solidFill>
                        <a:srgbClr val="DCE3D6"/>
                      </a:solidFill>
                    </a:lnB>
                    <a:solidFill>
                      <a:srgbClr val="FFFFFF"/>
                    </a:solidFill>
                  </a:tcPr>
                </a:tc>
              </a:tr>
            </a:tbl>
          </a:graphicData>
        </a:graphic>
      </p:graphicFrame>
      <p:graphicFrame>
        <p:nvGraphicFramePr>
          <p:cNvPr id="8" name="Chart 7"/>
          <p:cNvGraphicFramePr>
            <a:graphicFrameLocks noGrp="1"/>
          </p:cNvGraphicFramePr>
          <p:nvPr/>
        </p:nvGraphicFramePr>
        <p:xfrm>
          <a:off x="6446520" y="1965960"/>
          <a:ext cx="4937760" cy="3017520"/>
        </p:xfrm>
        <a:graphic>
          <a:graphicData uri="http://schemas.openxmlformats.org/drawingml/2006/chart">
            <c:chart xmlns:c="http://schemas.openxmlformats.org/drawingml/2006/chart" r:id="rId2"/>
          </a:graphicData>
        </a:graphic>
      </p:graphicFrame>
      <p:sp>
        <p:nvSpPr>
          <p:cNvPr id="9" name="TextBox 8"/>
          <p:cNvSpPr txBox="1"/>
          <p:nvPr/>
        </p:nvSpPr>
        <p:spPr>
          <a:xfrm>
            <a:off x="6446520" y="5074920"/>
            <a:ext cx="4937760" cy="457200"/>
          </a:xfrm>
          <a:prstGeom prst="rect">
            <a:avLst/>
          </a:prstGeom>
          <a:noFill/>
        </p:spPr>
        <p:txBody>
          <a:bodyPr wrap="square" lIns="0" rIns="0" tIns="0" bIns="0">
            <a:spAutoFit/>
          </a:bodyPr>
          <a:lstStyle/>
          <a:p>
            <a:pPr algn="l">
              <a:lnSpc>
                <a:spcPct val="130000"/>
              </a:lnSpc>
            </a:pPr>
            <a:r>
              <a:rPr sz="1000" b="0" i="0">
                <a:solidFill>
                  <a:srgbClr val="9AA694"/>
                </a:solidFill>
                <a:latin typeface="Segoe UI"/>
              </a:rPr>
              <a:t>Member facing revenue a year at 1.7 per cent, by share of the Rs 4 trillion market. Modelled, not forecast.</a:t>
            </a:r>
          </a:p>
        </p:txBody>
      </p:sp>
      <p:sp>
        <p:nvSpPr>
          <p:cNvPr id="10" name="TextBox 9"/>
          <p:cNvSpPr txBox="1"/>
          <p:nvPr/>
        </p:nvSpPr>
        <p:spPr>
          <a:xfrm>
            <a:off x="777240" y="4434840"/>
            <a:ext cx="5120640" cy="146304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The savings trail is the line which does not appear here and which matters most over time. At Rs 1 billion of assets under management a one per cent trail is Rs 10 million a year, and it recurs without further work.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COUNTERPARTIES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Named counterparties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67</a:t>
            </a:r>
          </a:p>
        </p:txBody>
      </p:sp>
      <p:graphicFrame>
        <p:nvGraphicFramePr>
          <p:cNvPr id="7" name="Table 6"/>
          <p:cNvGraphicFramePr>
            <a:graphicFrameLocks noGrp="1"/>
          </p:cNvGraphicFramePr>
          <p:nvPr/>
        </p:nvGraphicFramePr>
        <p:xfrm>
          <a:off x="777240" y="1965960"/>
          <a:ext cx="10607039" cy="3554382"/>
        </p:xfrm>
        <a:graphic>
          <a:graphicData uri="http://schemas.openxmlformats.org/drawingml/2006/table">
            <a:tbl>
              <a:tblPr>
                <a:tableStyleId>{5C22544A-7EE6-4342-B048-85BDC9FD1C3A}</a:tableStyleId>
              </a:tblPr>
              <a:tblGrid>
                <a:gridCol w="2651760"/>
                <a:gridCol w="4206240"/>
                <a:gridCol w="3749039"/>
              </a:tblGrid>
              <a:tr h="273414">
                <a:tc>
                  <a:txBody>
                    <a:bodyPr wrap="square"/>
                    <a:lstStyle/>
                    <a:p>
                      <a:r>
                        <a:rPr sz="700" b="1">
                          <a:solidFill>
                            <a:srgbClr val="41801A"/>
                          </a:solidFill>
                          <a:latin typeface="Segoe UI"/>
                        </a:rPr>
                        <a:t>FUNCTION</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CANDIDATE</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NOTE</a:t>
                      </a:r>
                    </a:p>
                  </a:txBody>
                  <a:tcPr marL="45720" marR="109728" marT="27432" marB="27432" anchor="ctr">
                    <a:lnB w="9525" cap="flat" cmpd="sng" algn="ctr">
                      <a:solidFill>
                        <a:srgbClr val="41801A"/>
                      </a:solidFill>
                    </a:lnB>
                    <a:solidFill>
                      <a:srgbClr val="FFFFFF"/>
                    </a:solidFill>
                  </a:tcPr>
                </a:tc>
              </a:tr>
              <a:tr h="273414">
                <a:tc>
                  <a:txBody>
                    <a:bodyPr wrap="square"/>
                    <a:lstStyle/>
                    <a:p>
                      <a:r>
                        <a:rPr sz="700" b="0">
                          <a:solidFill>
                            <a:srgbClr val="26301F"/>
                          </a:solidFill>
                          <a:latin typeface="Segoe UI"/>
                        </a:rPr>
                        <a:t>Fund trustee and security trustee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Central Depository Company; Digital Custodian Company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Both qualified. A single sourced trustee is a commercial exposure</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Digital asset manager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Mahaana Wealth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Digital first manager for the savings layer</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Islamic money market funds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Al Meezan; NBP Fund Management; UBL Fund Managers; Alfalah; HBL; Atlas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Daily dividend funds, built for same day and next day redemption</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Leasing counterparty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Orix Modaraba; First Habib Modaraba; Allied Rental Modaraba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Can hold title and write a lease without Halqa holding any licence</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Takaful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Pak-Qatar Family Takaful; Salaam Takaful; Jubilee; EFU</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Cover above the aggregate cap, and credit life at 0.2 to 0.5 per cent of exposure</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Credit bureau</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TASDEEQ, being Aequitas Information Services; DataCheck Limited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TASDEEQ is the first bureau licensed under the Credit Bureaus Act 2015, with 170 plus members including fintechs and non bank financiers. DataCheck, founded 2001, is the second agreement</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Identity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NADRA, through the Nishan Pakistan portal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Verisys and multi biometric. The longest lead item</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Payment rails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1LINK as switch operator; PayFast and Safepay as aggregators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merchant agreement, not a licence</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Messaging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WhatsApp Business Cloud API</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Receipts, reminders and one time codes</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Retail partners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Daraz; Telemart; iShopping; Naheed; Alfatah; Imtiaz; Foodpanda; Bykea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Affiliate registration is enough for the first phase</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Non dilutive funding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Karandaaz Pakistan; Ignite National Technology Fund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Karandaaz co funded the 2018 research validating this architecture</a:t>
                      </a:r>
                    </a:p>
                  </a:txBody>
                  <a:tcPr marL="45720" marR="109728" marT="27432" marB="27432" anchor="ctr">
                    <a:lnB w="9525" cap="flat" cmpd="sng" algn="ctr">
                      <a:solidFill>
                        <a:srgbClr val="DCE3D6"/>
                      </a:solidFill>
                    </a:lnB>
                    <a:solidFill>
                      <a:srgbClr val="FFFFFF"/>
                    </a:solidFill>
                  </a:tcPr>
                </a:tc>
              </a:tr>
              <a:tr h="273414">
                <a:tc>
                  <a:txBody>
                    <a:bodyPr wrap="square"/>
                    <a:lstStyle/>
                    <a:p>
                      <a:r>
                        <a:rPr sz="700" b="0">
                          <a:solidFill>
                            <a:srgbClr val="26301F"/>
                          </a:solidFill>
                          <a:latin typeface="Segoe UI"/>
                        </a:rPr>
                        <a:t>Regulator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SECP regulatory sandbox</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least expensive credibility available</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IMPLEMENTATION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Collection and credit, in production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68</a:t>
            </a:r>
          </a:p>
        </p:txBody>
      </p:sp>
      <p:graphicFrame>
        <p:nvGraphicFramePr>
          <p:cNvPr id="7" name="Table 6"/>
          <p:cNvGraphicFramePr>
            <a:graphicFrameLocks noGrp="1"/>
          </p:cNvGraphicFramePr>
          <p:nvPr/>
        </p:nvGraphicFramePr>
        <p:xfrm>
          <a:off x="777240" y="1965960"/>
          <a:ext cx="10607040" cy="3469626"/>
        </p:xfrm>
        <a:graphic>
          <a:graphicData uri="http://schemas.openxmlformats.org/drawingml/2006/table">
            <a:tbl>
              <a:tblPr>
                <a:tableStyleId>{5C22544A-7EE6-4342-B048-85BDC9FD1C3A}</a:tableStyleId>
              </a:tblPr>
              <a:tblGrid>
                <a:gridCol w="2194560"/>
                <a:gridCol w="8412480"/>
              </a:tblGrid>
              <a:tr h="385514">
                <a:tc>
                  <a:txBody>
                    <a:bodyPr wrap="square"/>
                    <a:lstStyle/>
                    <a:p>
                      <a:r>
                        <a:rPr sz="700" b="1">
                          <a:solidFill>
                            <a:srgbClr val="41801A"/>
                          </a:solidFill>
                          <a:latin typeface="Segoe UI"/>
                        </a:rPr>
                        <a:t>AREA</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IS RUNNING</a:t>
                      </a:r>
                    </a:p>
                  </a:txBody>
                  <a:tcPr marL="45720" marR="109728" marT="27432" marB="27432" anchor="ctr">
                    <a:lnB w="9525" cap="flat" cmpd="sng" algn="ctr">
                      <a:solidFill>
                        <a:srgbClr val="41801A"/>
                      </a:solidFill>
                    </a:lnB>
                    <a:solidFill>
                      <a:srgbClr val="FFFFFF"/>
                    </a:solidFill>
                  </a:tcPr>
                </a:tc>
              </a:tr>
              <a:tr h="385514">
                <a:tc>
                  <a:txBody>
                    <a:bodyPr wrap="square"/>
                    <a:lstStyle/>
                    <a:p>
                      <a:r>
                        <a:rPr sz="700" b="0">
                          <a:solidFill>
                            <a:srgbClr val="26301F"/>
                          </a:solidFill>
                          <a:latin typeface="Segoe UI"/>
                        </a:rPr>
                        <a:t>Checkout and rails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Gateway style checkout across Raast, JazzCash, Easypaisa, bank transfer and cash, with an explicit failure path which leaves the installment untouched</a:t>
                      </a:r>
                    </a:p>
                  </a:txBody>
                  <a:tcPr marL="45720" marR="109728" marT="27432" marB="27432" anchor="ctr">
                    <a:lnB w="9525" cap="flat" cmpd="sng" algn="ctr">
                      <a:solidFill>
                        <a:srgbClr val="DCE3D6"/>
                      </a:solidFill>
                    </a:lnB>
                    <a:solidFill>
                      <a:srgbClr val="FFFFFF"/>
                    </a:solidFill>
                  </a:tcPr>
                </a:tc>
              </a:tr>
              <a:tr h="385514">
                <a:tc>
                  <a:txBody>
                    <a:bodyPr wrap="square"/>
                    <a:lstStyle/>
                    <a:p>
                      <a:r>
                        <a:rPr sz="700" b="0">
                          <a:solidFill>
                            <a:srgbClr val="26301F"/>
                          </a:solidFill>
                          <a:latin typeface="Segoe UI"/>
                        </a:rPr>
                        <a:t>Saved instruments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Captured once and masked at rest, maximum five, one preferred. Card linking stores brand, last four, expiry, holder and billing address only</a:t>
                      </a:r>
                    </a:p>
                  </a:txBody>
                  <a:tcPr marL="45720" marR="109728" marT="27432" marB="27432" anchor="ctr">
                    <a:lnB w="9525" cap="flat" cmpd="sng" algn="ctr">
                      <a:solidFill>
                        <a:srgbClr val="DCE3D6"/>
                      </a:solidFill>
                    </a:lnB>
                    <a:solidFill>
                      <a:srgbClr val="FFFFFF"/>
                    </a:solidFill>
                  </a:tcPr>
                </a:tc>
              </a:tr>
              <a:tr h="385514">
                <a:tc>
                  <a:txBody>
                    <a:bodyPr wrap="square"/>
                    <a:lstStyle/>
                    <a:p>
                      <a:r>
                        <a:rPr sz="700" b="0">
                          <a:solidFill>
                            <a:srgbClr val="26301F"/>
                          </a:solidFill>
                          <a:latin typeface="Segoe UI"/>
                        </a:rPr>
                        <a:t>Mandate verification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one time code over the WhatsApp rail with a ten minute expiry, plus the account title check against the identity card name</a:t>
                      </a:r>
                    </a:p>
                  </a:txBody>
                  <a:tcPr marL="45720" marR="109728" marT="27432" marB="27432" anchor="ctr">
                    <a:lnB w="9525" cap="flat" cmpd="sng" algn="ctr">
                      <a:solidFill>
                        <a:srgbClr val="DCE3D6"/>
                      </a:solidFill>
                    </a:lnB>
                    <a:solidFill>
                      <a:srgbClr val="FFFFFF"/>
                    </a:solidFill>
                  </a:tcPr>
                </a:tc>
              </a:tr>
              <a:tr h="385514">
                <a:tc>
                  <a:txBody>
                    <a:bodyPr wrap="square"/>
                    <a:lstStyle/>
                    <a:p>
                      <a:r>
                        <a:rPr sz="700" b="0">
                          <a:solidFill>
                            <a:srgbClr val="26301F"/>
                          </a:solidFill>
                          <a:latin typeface="Segoe UI"/>
                        </a:rPr>
                        <a:t>Automatic collection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standing per circle mandate, on by default at joining with recorded consent, replaceable but not removable while a circle runs</a:t>
                      </a:r>
                    </a:p>
                  </a:txBody>
                  <a:tcPr marL="45720" marR="109728" marT="27432" marB="27432" anchor="ctr">
                    <a:lnB w="9525" cap="flat" cmpd="sng" algn="ctr">
                      <a:solidFill>
                        <a:srgbClr val="DCE3D6"/>
                      </a:solidFill>
                    </a:lnB>
                    <a:solidFill>
                      <a:srgbClr val="FFFFFF"/>
                    </a:solidFill>
                  </a:tcPr>
                </a:tc>
              </a:tr>
              <a:tr h="385514">
                <a:tc>
                  <a:txBody>
                    <a:bodyPr wrap="square"/>
                    <a:lstStyle/>
                    <a:p>
                      <a:r>
                        <a:rPr sz="700" b="0">
                          <a:solidFill>
                            <a:srgbClr val="26301F"/>
                          </a:solidFill>
                          <a:latin typeface="Segoe UI"/>
                        </a:rPr>
                        <a:t>Payday collection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Balance notice the evening before, execution on the payday morning, a retry ladder to the due date, and four independent verification signals</a:t>
                      </a:r>
                    </a:p>
                  </a:txBody>
                  <a:tcPr marL="45720" marR="109728" marT="27432" marB="27432" anchor="ctr">
                    <a:lnB w="9525" cap="flat" cmpd="sng" algn="ctr">
                      <a:solidFill>
                        <a:srgbClr val="DCE3D6"/>
                      </a:solidFill>
                    </a:lnB>
                    <a:solidFill>
                      <a:srgbClr val="FFFFFF"/>
                    </a:solidFill>
                  </a:tcPr>
                </a:tc>
              </a:tr>
              <a:tr h="385514">
                <a:tc>
                  <a:txBody>
                    <a:bodyPr wrap="square"/>
                    <a:lstStyle/>
                    <a:p>
                      <a:r>
                        <a:rPr sz="700" b="0">
                          <a:solidFill>
                            <a:srgbClr val="26301F"/>
                          </a:solidFill>
                          <a:latin typeface="Segoe UI"/>
                        </a:rPr>
                        <a:t>Sakh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Score from 300 to 850 with bands, credit events with reasons, a movement chart, and an exportable credit record which verifies without a Halqa account</a:t>
                      </a:r>
                    </a:p>
                  </a:txBody>
                  <a:tcPr marL="45720" marR="109728" marT="27432" marB="27432" anchor="ctr">
                    <a:lnB w="9525" cap="flat" cmpd="sng" algn="ctr">
                      <a:solidFill>
                        <a:srgbClr val="DCE3D6"/>
                      </a:solidFill>
                    </a:lnB>
                    <a:solidFill>
                      <a:srgbClr val="FFFFFF"/>
                    </a:solidFill>
                  </a:tcPr>
                </a:tc>
              </a:tr>
              <a:tr h="385514">
                <a:tc>
                  <a:txBody>
                    <a:bodyPr wrap="square"/>
                    <a:lstStyle/>
                    <a:p>
                      <a:r>
                        <a:rPr sz="700" b="0">
                          <a:solidFill>
                            <a:srgbClr val="26301F"/>
                          </a:solidFill>
                          <a:latin typeface="Segoe UI"/>
                        </a:rPr>
                        <a:t>Delinquency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daily job at 02:00 UTC running the escalating ladder, recovery cases with a 10 per cent rehabilitation fee, and a bureau export queue</a:t>
                      </a:r>
                    </a:p>
                  </a:txBody>
                  <a:tcPr marL="45720" marR="109728" marT="27432" marB="27432" anchor="ctr">
                    <a:lnB w="9525" cap="flat" cmpd="sng" algn="ctr">
                      <a:solidFill>
                        <a:srgbClr val="DCE3D6"/>
                      </a:solidFill>
                    </a:lnB>
                    <a:solidFill>
                      <a:srgbClr val="FFFFFF"/>
                    </a:solidFill>
                  </a:tcPr>
                </a:tc>
              </a:tr>
              <a:tr h="385514">
                <a:tc>
                  <a:txBody>
                    <a:bodyPr wrap="square"/>
                    <a:lstStyle/>
                    <a:p>
                      <a:r>
                        <a:rPr sz="700" b="0">
                          <a:solidFill>
                            <a:srgbClr val="26301F"/>
                          </a:solidFill>
                          <a:latin typeface="Segoe UI"/>
                        </a:rPr>
                        <a:t>Turn marketplace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Listing, bidding and acceptance, premium capped at 50 per cent of the payout, 10 per cent commission, zero premium only on Shariah labelled tiers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IMPLEMENTATION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application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69</a:t>
            </a:r>
          </a:p>
        </p:txBody>
      </p:sp>
      <p:sp>
        <p:nvSpPr>
          <p:cNvPr id="7" name="TextBox 6"/>
          <p:cNvSpPr txBox="1"/>
          <p:nvPr/>
        </p:nvSpPr>
        <p:spPr>
          <a:xfrm>
            <a:off x="777240" y="20116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Live</a:t>
            </a:r>
          </a:p>
        </p:txBody>
      </p:sp>
      <p:sp>
        <p:nvSpPr>
          <p:cNvPr id="8" name="TextBox 7"/>
          <p:cNvSpPr txBox="1"/>
          <p:nvPr/>
        </p:nvSpPr>
        <p:spPr>
          <a:xfrm>
            <a:off x="777240" y="25786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In production since 20 July 2026, deliberately not opened to the public</a:t>
            </a:r>
          </a:p>
        </p:txBody>
      </p:sp>
      <p:sp>
        <p:nvSpPr>
          <p:cNvPr id="9" name="TextBox 8"/>
          <p:cNvSpPr txBox="1"/>
          <p:nvPr/>
        </p:nvSpPr>
        <p:spPr>
          <a:xfrm>
            <a:off x="4322978" y="20116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60 / 352</a:t>
            </a:r>
          </a:p>
        </p:txBody>
      </p:sp>
      <p:sp>
        <p:nvSpPr>
          <p:cNvPr id="10" name="TextBox 9"/>
          <p:cNvSpPr txBox="1"/>
          <p:nvPr/>
        </p:nvSpPr>
        <p:spPr>
          <a:xfrm>
            <a:off x="4322978" y="25786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Unit and integration tests, all passing</a:t>
            </a:r>
          </a:p>
        </p:txBody>
      </p:sp>
      <p:sp>
        <p:nvSpPr>
          <p:cNvPr id="11" name="TextBox 10"/>
          <p:cNvSpPr txBox="1"/>
          <p:nvPr/>
        </p:nvSpPr>
        <p:spPr>
          <a:xfrm>
            <a:off x="7868716" y="20116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Rs 0</a:t>
            </a:r>
          </a:p>
        </p:txBody>
      </p:sp>
      <p:sp>
        <p:nvSpPr>
          <p:cNvPr id="12" name="TextBox 11"/>
          <p:cNvSpPr txBox="1"/>
          <p:nvPr/>
        </p:nvSpPr>
        <p:spPr>
          <a:xfrm>
            <a:off x="7868716" y="25786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What a member pays to join or to contribute</a:t>
            </a:r>
          </a:p>
        </p:txBody>
      </p:sp>
      <p:graphicFrame>
        <p:nvGraphicFramePr>
          <p:cNvPr id="13" name="Table 12"/>
          <p:cNvGraphicFramePr>
            <a:graphicFrameLocks noGrp="1"/>
          </p:cNvGraphicFramePr>
          <p:nvPr/>
        </p:nvGraphicFramePr>
        <p:xfrm>
          <a:off x="777240" y="3429000"/>
          <a:ext cx="10607040" cy="2147448"/>
        </p:xfrm>
        <a:graphic>
          <a:graphicData uri="http://schemas.openxmlformats.org/drawingml/2006/table">
            <a:tbl>
              <a:tblPr>
                <a:tableStyleId>{5C22544A-7EE6-4342-B048-85BDC9FD1C3A}</a:tableStyleId>
              </a:tblPr>
              <a:tblGrid>
                <a:gridCol w="2194560"/>
                <a:gridCol w="8412480"/>
              </a:tblGrid>
              <a:tr h="268431">
                <a:tc>
                  <a:txBody>
                    <a:bodyPr wrap="square"/>
                    <a:lstStyle/>
                    <a:p>
                      <a:r>
                        <a:rPr sz="750" b="1">
                          <a:solidFill>
                            <a:srgbClr val="41801A"/>
                          </a:solidFill>
                          <a:latin typeface="Segoe UI"/>
                        </a:rPr>
                        <a:t>SURFACE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STATE</a:t>
                      </a:r>
                    </a:p>
                  </a:txBody>
                  <a:tcPr marL="45720" marR="109728" marT="27432" marB="27432" anchor="ctr">
                    <a:lnB w="9525" cap="flat" cmpd="sng" algn="ctr">
                      <a:solidFill>
                        <a:srgbClr val="41801A"/>
                      </a:solidFill>
                    </a:lnB>
                    <a:solidFill>
                      <a:srgbClr val="FFFFFF"/>
                    </a:solidFill>
                  </a:tcPr>
                </a:tc>
              </a:tr>
              <a:tr h="268431">
                <a:tc>
                  <a:txBody>
                    <a:bodyPr wrap="square"/>
                    <a:lstStyle/>
                    <a:p>
                      <a:r>
                        <a:rPr sz="750" b="0">
                          <a:solidFill>
                            <a:srgbClr val="26301F"/>
                          </a:solidFill>
                          <a:latin typeface="Segoe UI"/>
                        </a:rPr>
                        <a:t>Onboarding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Ten steps: phone verification, identity card capture, live location, occupation, a mandatory collection account and an application PIN</a:t>
                      </a:r>
                    </a:p>
                  </a:txBody>
                  <a:tcPr marL="45720" marR="109728" marT="27432" marB="27432" anchor="ctr">
                    <a:lnB w="9525" cap="flat" cmpd="sng" algn="ctr">
                      <a:solidFill>
                        <a:srgbClr val="DCE3D6"/>
                      </a:solidFill>
                    </a:lnB>
                    <a:solidFill>
                      <a:srgbClr val="FFFFFF"/>
                    </a:solidFill>
                  </a:tcPr>
                </a:tc>
              </a:tr>
              <a:tr h="268431">
                <a:tc>
                  <a:txBody>
                    <a:bodyPr wrap="square"/>
                    <a:lstStyle/>
                    <a:p>
                      <a:r>
                        <a:rPr sz="750" b="0">
                          <a:solidFill>
                            <a:srgbClr val="26301F"/>
                          </a:solidFill>
                          <a:latin typeface="Segoe UI"/>
                        </a:rPr>
                        <a:t>Home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Balance, next installment, eight quick actions, committee cards with live collection progress, recent activity</a:t>
                      </a:r>
                    </a:p>
                  </a:txBody>
                  <a:tcPr marL="45720" marR="109728" marT="27432" marB="27432" anchor="ctr">
                    <a:lnB w="9525" cap="flat" cmpd="sng" algn="ctr">
                      <a:solidFill>
                        <a:srgbClr val="DCE3D6"/>
                      </a:solidFill>
                    </a:lnB>
                    <a:solidFill>
                      <a:srgbClr val="FFFFFF"/>
                    </a:solidFill>
                  </a:tcPr>
                </a:tc>
              </a:tr>
              <a:tr h="268431">
                <a:tc>
                  <a:txBody>
                    <a:bodyPr wrap="square"/>
                    <a:lstStyle/>
                    <a:p>
                      <a:r>
                        <a:rPr sz="750" b="0">
                          <a:solidFill>
                            <a:srgbClr val="26301F"/>
                          </a:solidFill>
                          <a:latin typeface="Segoe UI"/>
                        </a:rPr>
                        <a:t>Committees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Own circles and discovery, invite codes, invitation by WhatsApp, contacts, messages and Skype, a public only filter with its disclosure</a:t>
                      </a:r>
                    </a:p>
                  </a:txBody>
                  <a:tcPr marL="45720" marR="109728" marT="27432" marB="27432" anchor="ctr">
                    <a:lnB w="9525" cap="flat" cmpd="sng" algn="ctr">
                      <a:solidFill>
                        <a:srgbClr val="DCE3D6"/>
                      </a:solidFill>
                    </a:lnB>
                    <a:solidFill>
                      <a:srgbClr val="FFFFFF"/>
                    </a:solidFill>
                  </a:tcPr>
                </a:tc>
              </a:tr>
              <a:tr h="268431">
                <a:tc>
                  <a:txBody>
                    <a:bodyPr wrap="square"/>
                    <a:lstStyle/>
                    <a:p>
                      <a:r>
                        <a:rPr sz="750" b="0">
                          <a:solidFill>
                            <a:srgbClr val="26301F"/>
                          </a:solidFill>
                          <a:latin typeface="Segoe UI"/>
                        </a:rPr>
                        <a:t>Payment and receipts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Every Pakistani rail, card entry which stores nothing sensitive, a processing sequence, and a receipt reference for every settlement</a:t>
                      </a:r>
                    </a:p>
                  </a:txBody>
                  <a:tcPr marL="45720" marR="109728" marT="27432" marB="27432" anchor="ctr">
                    <a:lnB w="9525" cap="flat" cmpd="sng" algn="ctr">
                      <a:solidFill>
                        <a:srgbClr val="DCE3D6"/>
                      </a:solidFill>
                    </a:lnB>
                    <a:solidFill>
                      <a:srgbClr val="FFFFFF"/>
                    </a:solidFill>
                  </a:tcPr>
                </a:tc>
              </a:tr>
              <a:tr h="268431">
                <a:tc>
                  <a:txBody>
                    <a:bodyPr wrap="square"/>
                    <a:lstStyle/>
                    <a:p>
                      <a:r>
                        <a:rPr sz="750" b="0">
                          <a:solidFill>
                            <a:srgbClr val="26301F"/>
                          </a:solidFill>
                          <a:latin typeface="Segoe UI"/>
                        </a:rPr>
                        <a:t>HYPER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Tier selection, the opening auction with a live countdown, standing bids per day and bid entry</a:t>
                      </a:r>
                    </a:p>
                  </a:txBody>
                  <a:tcPr marL="45720" marR="109728" marT="27432" marB="27432" anchor="ctr">
                    <a:lnB w="9525" cap="flat" cmpd="sng" algn="ctr">
                      <a:solidFill>
                        <a:srgbClr val="DCE3D6"/>
                      </a:solidFill>
                    </a:lnB>
                    <a:solidFill>
                      <a:srgbClr val="FFFFFF"/>
                    </a:solidFill>
                  </a:tcPr>
                </a:tc>
              </a:tr>
              <a:tr h="268431">
                <a:tc>
                  <a:txBody>
                    <a:bodyPr wrap="square"/>
                    <a:lstStyle/>
                    <a:p>
                      <a:r>
                        <a:rPr sz="750" b="0">
                          <a:solidFill>
                            <a:srgbClr val="26301F"/>
                          </a:solidFill>
                          <a:latin typeface="Segoe UI"/>
                        </a:rPr>
                        <a:t>Rewards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Streak ladder with unlock states, points balance and the retail partner grid</a:t>
                      </a:r>
                    </a:p>
                  </a:txBody>
                  <a:tcPr marL="45720" marR="109728" marT="27432" marB="27432" anchor="ctr">
                    <a:lnB w="9525" cap="flat" cmpd="sng" algn="ctr">
                      <a:solidFill>
                        <a:srgbClr val="DCE3D6"/>
                      </a:solidFill>
                    </a:lnB>
                    <a:solidFill>
                      <a:srgbClr val="FFFFFF"/>
                    </a:solidFill>
                  </a:tcPr>
                </a:tc>
              </a:tr>
              <a:tr h="268431">
                <a:tc>
                  <a:txBody>
                    <a:bodyPr wrap="square"/>
                    <a:lstStyle/>
                    <a:p>
                      <a:r>
                        <a:rPr sz="750" b="0">
                          <a:solidFill>
                            <a:srgbClr val="26301F"/>
                          </a:solidFill>
                          <a:latin typeface="Segoe UI"/>
                        </a:rPr>
                        <a:t>Account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Score dial, credit report, linked accounts, salary status, recovery cases and settings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IMPLEMENTATION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ladder</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70</a:t>
            </a:r>
          </a:p>
        </p:txBody>
      </p:sp>
      <p:graphicFrame>
        <p:nvGraphicFramePr>
          <p:cNvPr id="7" name="Table 6"/>
          <p:cNvGraphicFramePr>
            <a:graphicFrameLocks noGrp="1"/>
          </p:cNvGraphicFramePr>
          <p:nvPr/>
        </p:nvGraphicFramePr>
        <p:xfrm>
          <a:off x="777240" y="1965960"/>
          <a:ext cx="10607040" cy="3072384"/>
        </p:xfrm>
        <a:graphic>
          <a:graphicData uri="http://schemas.openxmlformats.org/drawingml/2006/table">
            <a:tbl>
              <a:tblPr>
                <a:tableStyleId>{5C22544A-7EE6-4342-B048-85BDC9FD1C3A}</a:tableStyleId>
              </a:tblPr>
              <a:tblGrid>
                <a:gridCol w="411480"/>
                <a:gridCol w="1828800"/>
                <a:gridCol w="5166360"/>
                <a:gridCol w="3200400"/>
              </a:tblGrid>
              <a:tr h="512064">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RUNG</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IT UNLOCKS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GATE</a:t>
                      </a:r>
                    </a:p>
                  </a:txBody>
                  <a:tcPr marL="45720" marR="109728" marT="27432" marB="27432" anchor="ctr">
                    <a:lnB w="9525" cap="flat" cmpd="sng" algn="ctr">
                      <a:solidFill>
                        <a:srgbClr val="41801A"/>
                      </a:solidFill>
                    </a:lnB>
                    <a:solidFill>
                      <a:srgbClr val="FFFFFF"/>
                    </a:solidFill>
                  </a:tcPr>
                </a:tc>
              </a:tr>
              <a:tr h="512064">
                <a:tc>
                  <a:txBody>
                    <a:bodyPr wrap="square"/>
                    <a:lstStyle/>
                    <a:p>
                      <a:r>
                        <a:rPr sz="9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Collection</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Settlement rather than assertion. Without it there is no credible record, no data asset and no business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Company registration and a merchant services agreement</a:t>
                      </a:r>
                    </a:p>
                  </a:txBody>
                  <a:tcPr marL="45720" marR="109728" marT="27432" marB="27432" anchor="ctr">
                    <a:lnB w="9525" cap="flat" cmpd="sng" algn="ctr">
                      <a:solidFill>
                        <a:srgbClr val="DCE3D6"/>
                      </a:solidFill>
                    </a:lnB>
                    <a:solidFill>
                      <a:srgbClr val="FFFFFF"/>
                    </a:solidFill>
                  </a:tcPr>
                </a:tc>
              </a:tr>
              <a:tr h="512064">
                <a:tc>
                  <a:txBody>
                    <a:bodyPr wrap="square"/>
                    <a:lstStyle/>
                    <a:p>
                      <a:r>
                        <a:rPr sz="9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record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Verified repayment at volume, which is the raw material for everything above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Circles completed, not registrations</a:t>
                      </a:r>
                    </a:p>
                  </a:txBody>
                  <a:tcPr marL="45720" marR="109728" marT="27432" marB="27432" anchor="ctr">
                    <a:lnB w="9525" cap="flat" cmpd="sng" algn="ctr">
                      <a:solidFill>
                        <a:srgbClr val="DCE3D6"/>
                      </a:solidFill>
                    </a:lnB>
                    <a:solidFill>
                      <a:srgbClr val="FFFFFF"/>
                    </a:solidFill>
                  </a:tcPr>
                </a:tc>
              </a:tr>
              <a:tr h="512064">
                <a:tc>
                  <a:txBody>
                    <a:bodyPr wrap="square"/>
                    <a:lstStyle/>
                    <a:p>
                      <a:r>
                        <a:rPr sz="9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bureau link</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record becomes a formal credit signal and Halqa becomes the supplier of a data class the system does not hold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 contributor agreement with a bureau</a:t>
                      </a:r>
                    </a:p>
                  </a:txBody>
                  <a:tcPr marL="45720" marR="109728" marT="27432" marB="27432" anchor="ctr">
                    <a:lnB w="9525" cap="flat" cmpd="sng" algn="ctr">
                      <a:solidFill>
                        <a:srgbClr val="DCE3D6"/>
                      </a:solidFill>
                    </a:lnB>
                    <a:solidFill>
                      <a:srgbClr val="FFFFFF"/>
                    </a:solidFill>
                  </a:tcPr>
                </a:tc>
              </a:tr>
              <a:tr h="512064">
                <a:tc>
                  <a:txBody>
                    <a:bodyPr wrap="square"/>
                    <a:lstStyle/>
                    <a:p>
                      <a:r>
                        <a:rPr sz="9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Commerce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Retailers and institutions pay for access to outcomes. Rewards, direct payment and asset circles sit here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Affiliate registration, then merchant agreements</a:t>
                      </a:r>
                    </a:p>
                  </a:txBody>
                  <a:tcPr marL="45720" marR="109728" marT="27432" marB="27432" anchor="ctr">
                    <a:lnB w="9525" cap="flat" cmpd="sng" algn="ctr">
                      <a:solidFill>
                        <a:srgbClr val="DCE3D6"/>
                      </a:solidFill>
                    </a:lnB>
                    <a:solidFill>
                      <a:srgbClr val="FFFFFF"/>
                    </a:solidFill>
                  </a:tcPr>
                </a:tc>
              </a:tr>
              <a:tr h="512064">
                <a:tc>
                  <a:txBody>
                    <a:bodyPr wrap="square"/>
                    <a:lstStyle/>
                    <a:p>
                      <a:r>
                        <a:rPr sz="9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savings layer</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Yield for the member, a trail for the platform, and a pledged buffer which cures default at source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Trustee, asset manager and distributor registration</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221224"/>
            <a:ext cx="10637215" cy="731520"/>
          </a:xfrm>
          <a:prstGeom prst="rect">
            <a:avLst/>
          </a:prstGeom>
          <a:noFill/>
        </p:spPr>
        <p:txBody>
          <a:bodyPr wrap="square" lIns="0" rIns="0" tIns="0" bIns="0">
            <a:spAutoFit/>
          </a:bodyPr>
          <a:lstStyle/>
          <a:p>
            <a:pPr algn="l">
              <a:lnSpc>
                <a:spcPct val="140000"/>
              </a:lnSpc>
            </a:pPr>
            <a:r>
              <a:rPr sz="1250" b="0" i="0">
                <a:solidFill>
                  <a:srgbClr val="6F7B68"/>
                </a:solidFill>
                <a:latin typeface="Segoe UI"/>
              </a:rPr>
              <a:t>The near term work divides into engineering, which is under the company's own control, and counterparty work, which carries lead times measured in months and is therefore started in parallel rather than in sequence.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IMPLEMENTATION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Performance measures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71</a:t>
            </a:r>
          </a:p>
        </p:txBody>
      </p:sp>
      <p:graphicFrame>
        <p:nvGraphicFramePr>
          <p:cNvPr id="7" name="Table 6"/>
          <p:cNvGraphicFramePr>
            <a:graphicFrameLocks noGrp="1"/>
          </p:cNvGraphicFramePr>
          <p:nvPr/>
        </p:nvGraphicFramePr>
        <p:xfrm>
          <a:off x="777240" y="1965960"/>
          <a:ext cx="10607040" cy="3072384"/>
        </p:xfrm>
        <a:graphic>
          <a:graphicData uri="http://schemas.openxmlformats.org/drawingml/2006/table">
            <a:tbl>
              <a:tblPr>
                <a:tableStyleId>{5C22544A-7EE6-4342-B048-85BDC9FD1C3A}</a:tableStyleId>
              </a:tblPr>
              <a:tblGrid>
                <a:gridCol w="411480"/>
                <a:gridCol w="3291840"/>
                <a:gridCol w="6903720"/>
              </a:tblGrid>
              <a:tr h="512064">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MEASURE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WHY IT IS THE ONE THAT MATTERS</a:t>
                      </a:r>
                    </a:p>
                  </a:txBody>
                  <a:tcPr marL="45720" marR="109728" marT="27432" marB="27432" anchor="ctr">
                    <a:lnB w="9525" cap="flat" cmpd="sng" algn="ctr">
                      <a:solidFill>
                        <a:srgbClr val="41801A"/>
                      </a:solidFill>
                    </a:lnB>
                    <a:solidFill>
                      <a:srgbClr val="FFFFFF"/>
                    </a:solidFill>
                  </a:tcPr>
                </a:tc>
              </a:tr>
              <a:tr h="512064">
                <a:tc>
                  <a:txBody>
                    <a:bodyPr wrap="square"/>
                    <a:lstStyle/>
                    <a:p>
                      <a:r>
                        <a:rPr sz="10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Share of contributions settled digitally</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health of the collection rung, and the single most important figure in the company. A ledger of assertions is worth nothing</a:t>
                      </a:r>
                    </a:p>
                  </a:txBody>
                  <a:tcPr marL="45720" marR="109728" marT="27432" marB="27432" anchor="ctr">
                    <a:lnB w="9525" cap="flat" cmpd="sng" algn="ctr">
                      <a:solidFill>
                        <a:srgbClr val="DCE3D6"/>
                      </a:solidFill>
                    </a:lnB>
                    <a:solidFill>
                      <a:srgbClr val="FFFFFF"/>
                    </a:solidFill>
                  </a:tcPr>
                </a:tc>
              </a:tr>
              <a:tr h="512064">
                <a:tc>
                  <a:txBody>
                    <a:bodyPr wrap="square"/>
                    <a:lstStyle/>
                    <a:p>
                      <a:r>
                        <a:rPr sz="10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Circles completed clean</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atomic unit of value. A circle which completes has produced a full record for every member in it</a:t>
                      </a:r>
                    </a:p>
                  </a:txBody>
                  <a:tcPr marL="45720" marR="109728" marT="27432" marB="27432" anchor="ctr">
                    <a:lnB w="9525" cap="flat" cmpd="sng" algn="ctr">
                      <a:solidFill>
                        <a:srgbClr val="DCE3D6"/>
                      </a:solidFill>
                    </a:lnB>
                    <a:solidFill>
                      <a:srgbClr val="FFFFFF"/>
                    </a:solidFill>
                  </a:tcPr>
                </a:tc>
              </a:tr>
              <a:tr h="512064">
                <a:tc>
                  <a:txBody>
                    <a:bodyPr wrap="square"/>
                    <a:lstStyle/>
                    <a:p>
                      <a:r>
                        <a:rPr sz="10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Circles per organiser</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Whether the growth loop compounds or leaks</a:t>
                      </a:r>
                    </a:p>
                  </a:txBody>
                  <a:tcPr marL="45720" marR="109728" marT="27432" marB="27432" anchor="ctr">
                    <a:lnB w="9525" cap="flat" cmpd="sng" algn="ctr">
                      <a:solidFill>
                        <a:srgbClr val="DCE3D6"/>
                      </a:solidFill>
                    </a:lnB>
                    <a:solidFill>
                      <a:srgbClr val="FFFFFF"/>
                    </a:solidFill>
                  </a:tcPr>
                </a:tc>
              </a:tr>
              <a:tr h="512064">
                <a:tc>
                  <a:txBody>
                    <a:bodyPr wrap="square"/>
                    <a:lstStyle/>
                    <a:p>
                      <a:r>
                        <a:rPr sz="10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Measured default across the first hundred completed circles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point at which the loss rate stops being modelled and becomes measured, and at which every price is recomputed</a:t>
                      </a:r>
                    </a:p>
                  </a:txBody>
                  <a:tcPr marL="45720" marR="109728" marT="27432" marB="27432" anchor="ctr">
                    <a:lnB w="9525" cap="flat" cmpd="sng" algn="ctr">
                      <a:solidFill>
                        <a:srgbClr val="DCE3D6"/>
                      </a:solidFill>
                    </a:lnB>
                    <a:solidFill>
                      <a:srgbClr val="FFFFFF"/>
                    </a:solidFill>
                  </a:tcPr>
                </a:tc>
              </a:tr>
              <a:tr h="512064">
                <a:tc>
                  <a:txBody>
                    <a:bodyPr wrap="square"/>
                    <a:lstStyle/>
                    <a:p>
                      <a:r>
                        <a:rPr sz="10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Member to organiser conversion</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only growth loop internal to the product</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221224"/>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Registrations, downloads and total value committed can all be raised without the arrangement working at all, and are not tracked as measures of progress.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377440"/>
            <a:ext cx="9601200" cy="1280160"/>
          </a:xfrm>
          <a:prstGeom prst="rect">
            <a:avLst/>
          </a:prstGeom>
          <a:noFill/>
        </p:spPr>
        <p:txBody>
          <a:bodyPr wrap="square" lIns="0" rIns="0" tIns="0" bIns="0">
            <a:spAutoFit/>
          </a:bodyPr>
          <a:lstStyle/>
          <a:p>
            <a:pPr algn="l">
              <a:lnSpc>
                <a:spcPct val="130000"/>
              </a:lnSpc>
            </a:pPr>
            <a:r>
              <a:rPr sz="2600" b="1" i="0">
                <a:solidFill>
                  <a:srgbClr val="0C1408"/>
                </a:solidFill>
                <a:latin typeface="Segoe UI"/>
              </a:rPr>
              <a:t>The market is established. The instrument is a</a:t>
            </a:r>
          </a:p>
          <a:p>
            <a:pPr algn="l">
              <a:lnSpc>
                <a:spcPct val="130000"/>
              </a:lnSpc>
              <a:spcBef>
                <a:spcPts val="0"/>
              </a:spcBef>
            </a:pPr>
            <a:r>
              <a:rPr sz="2600" b="1" i="0">
                <a:solidFill>
                  <a:srgbClr val="0C1408"/>
                </a:solidFill>
                <a:latin typeface="Segoe UI"/>
              </a:rPr>
              <a:t>thousand years old. The participants number in</a:t>
            </a:r>
          </a:p>
          <a:p>
            <a:pPr algn="l">
              <a:lnSpc>
                <a:spcPct val="130000"/>
              </a:lnSpc>
              <a:spcBef>
                <a:spcPts val="0"/>
              </a:spcBef>
            </a:pPr>
            <a:r>
              <a:rPr sz="2600" b="1" i="0">
                <a:solidFill>
                  <a:srgbClr val="0C1408"/>
                </a:solidFill>
                <a:latin typeface="Segoe UI"/>
              </a:rPr>
              <a:t>the tens of millions.</a:t>
            </a:r>
          </a:p>
        </p:txBody>
      </p:sp>
      <p:sp>
        <p:nvSpPr>
          <p:cNvPr id="4" name="Rectangle 3"/>
          <p:cNvSpPr/>
          <p:nvPr/>
        </p:nvSpPr>
        <p:spPr>
          <a:xfrm>
            <a:off x="777240" y="411480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434840"/>
            <a:ext cx="9601200" cy="548640"/>
          </a:xfrm>
          <a:prstGeom prst="rect">
            <a:avLst/>
          </a:prstGeom>
          <a:noFill/>
        </p:spPr>
        <p:txBody>
          <a:bodyPr wrap="square" lIns="0" rIns="0" tIns="0" bIns="0">
            <a:spAutoFit/>
          </a:bodyPr>
          <a:lstStyle/>
          <a:p>
            <a:pPr algn="l">
              <a:lnSpc>
                <a:spcPct val="125000"/>
              </a:lnSpc>
            </a:pPr>
            <a:r>
              <a:rPr sz="1800" b="1" i="0">
                <a:solidFill>
                  <a:srgbClr val="41801A"/>
                </a:solidFill>
                <a:latin typeface="Segoe UI"/>
              </a:rPr>
              <a:t>What has never existed is the record.</a:t>
            </a:r>
          </a:p>
        </p:txBody>
      </p:sp>
      <p:sp>
        <p:nvSpPr>
          <p:cNvPr id="6" name="TextBox 5"/>
          <p:cNvSpPr txBox="1"/>
          <p:nvPr/>
        </p:nvSpPr>
        <p:spPr>
          <a:xfrm>
            <a:off x="777240" y="5760720"/>
            <a:ext cx="7315200" cy="274320"/>
          </a:xfrm>
          <a:prstGeom prst="rect">
            <a:avLst/>
          </a:prstGeom>
          <a:noFill/>
        </p:spPr>
        <p:txBody>
          <a:bodyPr wrap="square" lIns="0" rIns="0" tIns="0" bIns="0">
            <a:spAutoFit/>
          </a:bodyPr>
          <a:lstStyle/>
          <a:p>
            <a:pPr algn="l">
              <a:lnSpc>
                <a:spcPct val="125000"/>
              </a:lnSpc>
            </a:pPr>
            <a:r>
              <a:rPr sz="1100" b="0" i="0">
                <a:solidFill>
                  <a:srgbClr val="6F7B68"/>
                </a:solidFill>
                <a:latin typeface="Segoe UI"/>
              </a:rPr>
              <a:t>Halqa        12 August 2026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