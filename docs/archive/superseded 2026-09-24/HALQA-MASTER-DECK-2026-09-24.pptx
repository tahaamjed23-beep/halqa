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124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lockup-light.png"/>
          <p:cNvPicPr>
            <a:picLocks noChangeAspect="1"/>
          </p:cNvPicPr>
          <p:nvPr/>
        </p:nvPicPr>
        <p:blipFill>
          <a:blip r:embed="rId2"/>
          <a:stretch>
            <a:fillRect/>
          </a:stretch>
        </p:blipFill>
        <p:spPr>
          <a:xfrm>
            <a:off x="914400" y="1417320"/>
            <a:ext cx="2862695" cy="868680"/>
          </a:xfrm>
          <a:prstGeom prst="rect">
            <a:avLst/>
          </a:prstGeom>
        </p:spPr>
      </p:pic>
      <p:sp>
        <p:nvSpPr>
          <p:cNvPr id="5" name="TextBox 4"/>
          <p:cNvSpPr txBox="1"/>
          <p:nvPr/>
        </p:nvSpPr>
        <p:spPr>
          <a:xfrm>
            <a:off x="960120" y="2743200"/>
            <a:ext cx="9144000" cy="640080"/>
          </a:xfrm>
          <a:prstGeom prst="rect">
            <a:avLst/>
          </a:prstGeom>
          <a:noFill/>
        </p:spPr>
        <p:txBody>
          <a:bodyPr wrap="square" lIns="0" rIns="0" tIns="0" bIns="0" anchor="t">
            <a:spAutoFit/>
          </a:bodyPr>
          <a:lstStyle/>
          <a:p>
            <a:pPr algn="l">
              <a:lnSpc>
                <a:spcPct val="100000"/>
              </a:lnSpc>
              <a:spcAft>
                <a:spcPts val="400"/>
              </a:spcAft>
            </a:pPr>
            <a:r>
              <a:rPr sz="3400" b="0" i="0">
                <a:solidFill>
                  <a:srgbClr val="F3FCE7"/>
                </a:solidFill>
                <a:latin typeface="Georgia"/>
              </a:rPr>
              <a:t>The complete position</a:t>
            </a:r>
          </a:p>
        </p:txBody>
      </p:sp>
      <p:cxnSp>
        <p:nvCxnSpPr>
          <p:cNvPr id="6" name="Connector 5"/>
          <p:cNvCxnSpPr/>
          <p:nvPr/>
        </p:nvCxnSpPr>
        <p:spPr>
          <a:xfrm>
            <a:off x="987552" y="3529584"/>
            <a:ext cx="2121408" cy="0"/>
          </a:xfrm>
          <a:prstGeom prst="line">
            <a:avLst/>
          </a:prstGeom>
          <a:ln w="30480">
            <a:solidFill>
              <a:srgbClr val="6DC72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960120" y="3730752"/>
            <a:ext cx="8961120" cy="914400"/>
          </a:xfrm>
          <a:prstGeom prst="rect">
            <a:avLst/>
          </a:prstGeom>
          <a:noFill/>
        </p:spPr>
        <p:txBody>
          <a:bodyPr wrap="square" lIns="0" rIns="0" tIns="0" bIns="0" anchor="t">
            <a:spAutoFit/>
          </a:bodyPr>
          <a:lstStyle/>
          <a:p>
            <a:pPr algn="l">
              <a:lnSpc>
                <a:spcPct val="118000"/>
              </a:lnSpc>
              <a:spcAft>
                <a:spcPts val="400"/>
              </a:spcAft>
            </a:pPr>
            <a:r>
              <a:rPr sz="1320" b="0" i="0">
                <a:solidFill>
                  <a:srgbClr val="D2E2C6"/>
                </a:solidFill>
                <a:latin typeface="Arial"/>
              </a:rPr>
              <a:t>A committee service that collects through a licensed electronic money institution, charges a stated fee for the service, and holds no member money at any point.</a:t>
            </a:r>
          </a:p>
        </p:txBody>
      </p:sp>
      <p:cxnSp>
        <p:nvCxnSpPr>
          <p:cNvPr id="8" name="Connector 7"/>
          <p:cNvCxnSpPr/>
          <p:nvPr/>
        </p:nvCxnSpPr>
        <p:spPr>
          <a:xfrm>
            <a:off x="960120" y="4846320"/>
            <a:ext cx="10195560" cy="0"/>
          </a:xfrm>
          <a:prstGeom prst="line">
            <a:avLst/>
          </a:prstGeom>
          <a:ln w="9525">
            <a:solidFill>
              <a:srgbClr val="356914"/>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960120" y="4992624"/>
            <a:ext cx="10058400" cy="274320"/>
          </a:xfrm>
          <a:prstGeom prst="rect">
            <a:avLst/>
          </a:prstGeom>
          <a:noFill/>
        </p:spPr>
        <p:txBody>
          <a:bodyPr wrap="square" lIns="0" rIns="0" tIns="0" bIns="0" anchor="t">
            <a:spAutoFit/>
          </a:bodyPr>
          <a:lstStyle/>
          <a:p>
            <a:pPr algn="l">
              <a:lnSpc>
                <a:spcPct val="100000"/>
              </a:lnSpc>
              <a:spcAft>
                <a:spcPts val="400"/>
              </a:spcAft>
            </a:pPr>
            <a:r>
              <a:rPr sz="1040" b="0" i="0">
                <a:solidFill>
                  <a:srgbClr val="A9B4A3"/>
                </a:solidFill>
                <a:latin typeface="Arial"/>
              </a:rPr>
              <a:t>24 September 2026   ·   Prepared for the chairman   ·   Internal and counterparty use</a:t>
            </a:r>
          </a:p>
        </p:txBody>
      </p:sp>
      <p:sp>
        <p:nvSpPr>
          <p:cNvPr id="10" name="TextBox 9"/>
          <p:cNvSpPr txBox="1"/>
          <p:nvPr/>
        </p:nvSpPr>
        <p:spPr>
          <a:xfrm>
            <a:off x="960120" y="6217920"/>
            <a:ext cx="10058400" cy="274320"/>
          </a:xfrm>
          <a:prstGeom prst="rect">
            <a:avLst/>
          </a:prstGeom>
          <a:noFill/>
        </p:spPr>
        <p:txBody>
          <a:bodyPr wrap="square" lIns="0" rIns="0" tIns="0" bIns="0" anchor="t">
            <a:spAutoFit/>
          </a:bodyPr>
          <a:lstStyle/>
          <a:p>
            <a:pPr algn="l">
              <a:lnSpc>
                <a:spcPct val="100000"/>
              </a:lnSpc>
              <a:spcAft>
                <a:spcPts val="400"/>
              </a:spcAft>
            </a:pPr>
            <a:r>
              <a:rPr sz="940" b="0" i="0">
                <a:solidFill>
                  <a:srgbClr val="A9B4A3"/>
                </a:solidFill>
                <a:latin typeface="Arial"/>
              </a:rPr>
              <a:t>Every statement carries a provenance mark or a stage tag. The next page sets out both.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READING THIS DECK</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Provenance and stage tags</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Each statement shows how strongly it is known and what it depends on.</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24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2</a:t>
            </a:r>
          </a:p>
        </p:txBody>
      </p:sp>
      <p:sp>
        <p:nvSpPr>
          <p:cNvPr id="10" name="TextBox 9"/>
          <p:cNvSpPr txBox="1"/>
          <p:nvPr/>
        </p:nvSpPr>
        <p:spPr>
          <a:xfrm>
            <a:off x="566928" y="1554480"/>
            <a:ext cx="5669280" cy="182880"/>
          </a:xfrm>
          <a:prstGeom prst="rect">
            <a:avLst/>
          </a:prstGeom>
          <a:noFill/>
        </p:spPr>
        <p:txBody>
          <a:bodyPr wrap="square" lIns="0" rIns="0" tIns="0" bIns="0" anchor="t">
            <a:spAutoFit/>
          </a:bodyPr>
          <a:lstStyle/>
          <a:p>
            <a:pPr algn="l">
              <a:lnSpc>
                <a:spcPct val="100000"/>
              </a:lnSpc>
              <a:spcAft>
                <a:spcPts val="400"/>
              </a:spcAft>
            </a:pPr>
            <a:r>
              <a:rPr sz="840" b="0" i="1" spc="30">
                <a:solidFill>
                  <a:srgbClr val="6F7B68"/>
                </a:solidFill>
                <a:latin typeface="Arial"/>
              </a:rPr>
              <a:t>EXHIBIT 1   The two kinds of mark used throughout</a:t>
            </a:r>
          </a:p>
        </p:txBody>
      </p:sp>
      <p:graphicFrame>
        <p:nvGraphicFramePr>
          <p:cNvPr id="11" name="Table 10"/>
          <p:cNvGraphicFramePr>
            <a:graphicFrameLocks noGrp="1"/>
          </p:cNvGraphicFramePr>
          <p:nvPr/>
        </p:nvGraphicFramePr>
        <p:xfrm>
          <a:off x="566928" y="1810512"/>
          <a:ext cx="5669279" cy="1316736"/>
        </p:xfrm>
        <a:graphic>
          <a:graphicData uri="http://schemas.openxmlformats.org/drawingml/2006/table">
            <a:tbl>
              <a:tblPr>
                <a:tableStyleId>{5C22544A-7EE6-4342-B048-85BDC9FD1C3A}</a:tableStyleId>
              </a:tblPr>
              <a:tblGrid>
                <a:gridCol w="1247241"/>
                <a:gridCol w="4422038"/>
              </a:tblGrid>
              <a:tr h="329184">
                <a:tc>
                  <a:txBody>
                    <a:bodyPr wrap="square"/>
                    <a:lstStyle/>
                    <a:p>
                      <a:pPr algn="l"/>
                      <a:r>
                        <a:rPr sz="900" b="1">
                          <a:solidFill>
                            <a:srgbClr val="F3FCE7"/>
                          </a:solidFill>
                          <a:latin typeface="Arial"/>
                        </a:rPr>
                        <a:t>Provenance</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Meaning</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40" b="1">
                          <a:solidFill>
                            <a:srgbClr val="22450C"/>
                          </a:solidFill>
                          <a:latin typeface="Arial"/>
                        </a:rPr>
                        <a:t>verified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Checked against its source: the application code, a test, or a primary legal text read in full</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40" b="1">
                          <a:solidFill>
                            <a:srgbClr val="22450C"/>
                          </a:solidFill>
                          <a:latin typeface="Arial"/>
                        </a:rPr>
                        <a:t>modelled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Arithmetic or simulation, not yet measured in operation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40" b="1">
                          <a:solidFill>
                            <a:srgbClr val="22450C"/>
                          </a:solidFill>
                          <a:latin typeface="Arial"/>
                        </a:rPr>
                        <a:t>reported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Stated by a third party: a company, a regulator, the press or a published study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graphicFrame>
        <p:nvGraphicFramePr>
          <p:cNvPr id="12" name="Table 11"/>
          <p:cNvGraphicFramePr>
            <a:graphicFrameLocks noGrp="1"/>
          </p:cNvGraphicFramePr>
          <p:nvPr/>
        </p:nvGraphicFramePr>
        <p:xfrm>
          <a:off x="566928" y="3310128"/>
          <a:ext cx="5669279" cy="1865376"/>
        </p:xfrm>
        <a:graphic>
          <a:graphicData uri="http://schemas.openxmlformats.org/drawingml/2006/table">
            <a:tbl>
              <a:tblPr>
                <a:tableStyleId>{5C22544A-7EE6-4342-B048-85BDC9FD1C3A}</a:tableStyleId>
              </a:tblPr>
              <a:tblGrid>
                <a:gridCol w="1247241"/>
                <a:gridCol w="4422038"/>
              </a:tblGrid>
              <a:tr h="310896">
                <a:tc>
                  <a:txBody>
                    <a:bodyPr wrap="square"/>
                    <a:lstStyle/>
                    <a:p>
                      <a:pPr algn="l"/>
                      <a:r>
                        <a:rPr sz="900" b="1">
                          <a:solidFill>
                            <a:srgbClr val="F3FCE7"/>
                          </a:solidFill>
                          <a:latin typeface="Arial"/>
                        </a:rPr>
                        <a:t>Stage tag</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What it depends on</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10896">
                <a:tc>
                  <a:txBody>
                    <a:bodyPr wrap="square"/>
                    <a:lstStyle/>
                    <a:p>
                      <a:pPr algn="l"/>
                      <a:r>
                        <a:rPr sz="940" b="1">
                          <a:solidFill>
                            <a:srgbClr val="22450C"/>
                          </a:solidFill>
                          <a:latin typeface="Arial"/>
                        </a:rPr>
                        <a:t>BUILT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Present in the application today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10896">
                <a:tc>
                  <a:txBody>
                    <a:bodyPr wrap="square"/>
                    <a:lstStyle/>
                    <a:p>
                      <a:pPr algn="l"/>
                      <a:r>
                        <a:rPr sz="940" b="1">
                          <a:solidFill>
                            <a:srgbClr val="22450C"/>
                          </a:solidFill>
                          <a:latin typeface="Arial"/>
                        </a:rPr>
                        <a:t>TO BUILD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Specified, with no external dependency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10896">
                <a:tc>
                  <a:txBody>
                    <a:bodyPr wrap="square"/>
                    <a:lstStyle/>
                    <a:p>
                      <a:pPr algn="l"/>
                      <a:r>
                        <a:rPr sz="940" b="1">
                          <a:solidFill>
                            <a:srgbClr val="22450C"/>
                          </a:solidFill>
                          <a:latin typeface="Arial"/>
                        </a:rPr>
                        <a:t>PARTNER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The services agreement with a licensed electronic money institution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10896">
                <a:tc>
                  <a:txBody>
                    <a:bodyPr wrap="square"/>
                    <a:lstStyle/>
                    <a:p>
                      <a:pPr algn="l"/>
                      <a:r>
                        <a:rPr sz="940" b="1">
                          <a:solidFill>
                            <a:srgbClr val="22450C"/>
                          </a:solidFill>
                          <a:latin typeface="Arial"/>
                        </a:rPr>
                        <a:t>AGENT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Corporate insurance agent registration and an operator agreement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10896">
                <a:tc>
                  <a:txBody>
                    <a:bodyPr wrap="square"/>
                    <a:lstStyle/>
                    <a:p>
                      <a:pPr algn="l"/>
                      <a:r>
                        <a:rPr sz="940" b="1">
                          <a:solidFill>
                            <a:srgbClr val="22450C"/>
                          </a:solidFill>
                          <a:latin typeface="Arial"/>
                        </a:rPr>
                        <a:t>STAGE 2</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Distributor registration, a trustee and an asset manager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13" name="Rectangle 12"/>
          <p:cNvSpPr/>
          <p:nvPr/>
        </p:nvSpPr>
        <p:spPr>
          <a:xfrm>
            <a:off x="6647688" y="1810512"/>
            <a:ext cx="4965192" cy="420624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647688" y="1810512"/>
            <a:ext cx="45720" cy="420624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12280" y="1920240"/>
            <a:ext cx="4690872"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The position in one paragraph</a:t>
            </a:r>
          </a:p>
        </p:txBody>
      </p:sp>
      <p:sp>
        <p:nvSpPr>
          <p:cNvPr id="16" name="TextBox 15"/>
          <p:cNvSpPr txBox="1"/>
          <p:nvPr/>
        </p:nvSpPr>
        <p:spPr>
          <a:xfrm>
            <a:off x="6812280" y="2212848"/>
            <a:ext cx="4690872" cy="3749040"/>
          </a:xfrm>
          <a:prstGeom prst="rect">
            <a:avLst/>
          </a:prstGeom>
          <a:noFill/>
        </p:spPr>
        <p:txBody>
          <a:bodyPr wrap="square" lIns="0" rIns="0" tIns="0" bIns="0" anchor="t">
            <a:spAutoFit/>
          </a:bodyPr>
          <a:lstStyle/>
          <a:p>
            <a:pPr algn="l">
              <a:lnSpc>
                <a:spcPct val="112000"/>
              </a:lnSpc>
              <a:spcAft>
                <a:spcPts val="500"/>
              </a:spcAft>
            </a:pPr>
            <a:r>
              <a:rPr sz="1060" b="0" i="0">
                <a:solidFill>
                  <a:srgbClr val="0C1408"/>
                </a:solidFill>
                <a:latin typeface="Arial"/>
              </a:rPr>
              <a:t>Halqa never takes possession of member money. A contribution moves from the paying member’s account to the collecting member’s account through a licensed electronic money institution. Halqa’s service fee is collected separately and is the only money Halqa receives from members. Where cover is taken, the takaful contribution passes to a risk fund held by a licensed operator.</a:t>
            </a:r>
          </a:p>
          <a:p>
            <a:pPr algn="l">
              <a:lnSpc>
                <a:spcPct val="112000"/>
              </a:lnSpc>
              <a:spcAft>
                <a:spcPts val="500"/>
              </a:spcAft>
            </a:pPr>
            <a:r>
              <a:rPr sz="1060" b="0" i="0">
                <a:solidFill>
                  <a:srgbClr val="0C1408"/>
                </a:solidFill>
                <a:latin typeface="Arial"/>
              </a:rPr>
              <a:t>Halqa requires no financial licence, seeks no regulatory approval and does not pursue a sandbox. It operates under the general law and reaches the payment system through its partner’s licence.</a:t>
            </a:r>
          </a:p>
          <a:p>
            <a:pPr algn="l">
              <a:lnSpc>
                <a:spcPct val="112000"/>
              </a:lnSpc>
              <a:spcAft>
                <a:spcPts val="500"/>
              </a:spcAft>
            </a:pPr>
            <a:r>
              <a:rPr sz="1060" b="0" i="0">
                <a:solidFill>
                  <a:srgbClr val="0C1408"/>
                </a:solidFill>
                <a:latin typeface="Arial"/>
              </a:rPr>
              <a:t>Source: Statutory Position, revision 3, section 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CONTENTS</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What is in this deck</a:t>
            </a:r>
          </a:p>
        </p:txBody>
      </p:sp>
      <p:pic>
        <p:nvPicPr>
          <p:cNvPr id="5" name="Picture 4"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6" name="Connector 5"/>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24 SEPTEMBER 2026</a:t>
            </a:r>
          </a:p>
        </p:txBody>
      </p:sp>
      <p:sp>
        <p:nvSpPr>
          <p:cNvPr id="8" name="TextBox 7"/>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3</a:t>
            </a:r>
          </a:p>
        </p:txBody>
      </p:sp>
      <p:sp>
        <p:nvSpPr>
          <p:cNvPr id="9" name="TextBox 8"/>
          <p:cNvSpPr txBox="1"/>
          <p:nvPr/>
        </p:nvSpPr>
        <p:spPr>
          <a:xfrm>
            <a:off x="566928" y="1371600"/>
            <a:ext cx="731520" cy="457200"/>
          </a:xfrm>
          <a:prstGeom prst="rect">
            <a:avLst/>
          </a:prstGeom>
          <a:noFill/>
        </p:spPr>
        <p:txBody>
          <a:bodyPr wrap="square" lIns="0" rIns="0" tIns="0" bIns="0" anchor="t">
            <a:spAutoFit/>
          </a:bodyPr>
          <a:lstStyle/>
          <a:p>
            <a:pPr algn="l">
              <a:lnSpc>
                <a:spcPct val="100000"/>
              </a:lnSpc>
              <a:spcAft>
                <a:spcPts val="400"/>
              </a:spcAft>
            </a:pPr>
            <a:r>
              <a:rPr sz="2400" b="0" i="0">
                <a:solidFill>
                  <a:srgbClr val="6DC72A"/>
                </a:solidFill>
                <a:latin typeface="Georgia"/>
              </a:rPr>
              <a:t>01</a:t>
            </a:r>
          </a:p>
        </p:txBody>
      </p:sp>
      <p:sp>
        <p:nvSpPr>
          <p:cNvPr id="10" name="TextBox 9"/>
          <p:cNvSpPr txBox="1"/>
          <p:nvPr/>
        </p:nvSpPr>
        <p:spPr>
          <a:xfrm>
            <a:off x="1481328" y="1389888"/>
            <a:ext cx="3840480" cy="365760"/>
          </a:xfrm>
          <a:prstGeom prst="rect">
            <a:avLst/>
          </a:prstGeom>
          <a:noFill/>
        </p:spPr>
        <p:txBody>
          <a:bodyPr wrap="square" lIns="0" rIns="0" tIns="0" bIns="0" anchor="t">
            <a:spAutoFit/>
          </a:bodyPr>
          <a:lstStyle/>
          <a:p>
            <a:pPr algn="l">
              <a:lnSpc>
                <a:spcPct val="100000"/>
              </a:lnSpc>
              <a:spcAft>
                <a:spcPts val="400"/>
              </a:spcAft>
            </a:pPr>
            <a:r>
              <a:rPr sz="1500" b="0" i="0">
                <a:solidFill>
                  <a:srgbClr val="22450C"/>
                </a:solidFill>
                <a:latin typeface="Georgia"/>
              </a:rPr>
              <a:t>The instrument and the market</a:t>
            </a:r>
          </a:p>
        </p:txBody>
      </p:sp>
      <p:sp>
        <p:nvSpPr>
          <p:cNvPr id="11" name="TextBox 10"/>
          <p:cNvSpPr txBox="1"/>
          <p:nvPr/>
        </p:nvSpPr>
        <p:spPr>
          <a:xfrm>
            <a:off x="5413248" y="1444752"/>
            <a:ext cx="6126480" cy="365760"/>
          </a:xfrm>
          <a:prstGeom prst="rect">
            <a:avLst/>
          </a:prstGeom>
          <a:noFill/>
        </p:spPr>
        <p:txBody>
          <a:bodyPr wrap="square" lIns="0" rIns="0" tIns="0" bIns="0" anchor="t">
            <a:spAutoFit/>
          </a:bodyPr>
          <a:lstStyle/>
          <a:p>
            <a:pPr algn="l">
              <a:lnSpc>
                <a:spcPct val="100000"/>
              </a:lnSpc>
              <a:spcAft>
                <a:spcPts val="400"/>
              </a:spcAft>
            </a:pPr>
            <a:r>
              <a:rPr sz="1080" b="0" i="0">
                <a:solidFill>
                  <a:srgbClr val="6F7B68"/>
                </a:solidFill>
                <a:latin typeface="Arial"/>
              </a:rPr>
              <a:t>What a committee is, where its risk sits, and who uses one</a:t>
            </a:r>
          </a:p>
        </p:txBody>
      </p:sp>
      <p:cxnSp>
        <p:nvCxnSpPr>
          <p:cNvPr id="12" name="Connector 11"/>
          <p:cNvCxnSpPr/>
          <p:nvPr/>
        </p:nvCxnSpPr>
        <p:spPr>
          <a:xfrm>
            <a:off x="566928" y="1975104"/>
            <a:ext cx="11057839" cy="0"/>
          </a:xfrm>
          <a:prstGeom prst="line">
            <a:avLst/>
          </a:prstGeom>
          <a:ln w="9525">
            <a:solidFill>
              <a:srgbClr val="E3F8C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66928" y="2048256"/>
            <a:ext cx="731520" cy="457200"/>
          </a:xfrm>
          <a:prstGeom prst="rect">
            <a:avLst/>
          </a:prstGeom>
          <a:noFill/>
        </p:spPr>
        <p:txBody>
          <a:bodyPr wrap="square" lIns="0" rIns="0" tIns="0" bIns="0" anchor="t">
            <a:spAutoFit/>
          </a:bodyPr>
          <a:lstStyle/>
          <a:p>
            <a:pPr algn="l">
              <a:lnSpc>
                <a:spcPct val="100000"/>
              </a:lnSpc>
              <a:spcAft>
                <a:spcPts val="400"/>
              </a:spcAft>
            </a:pPr>
            <a:r>
              <a:rPr sz="2400" b="0" i="0">
                <a:solidFill>
                  <a:srgbClr val="6DC72A"/>
                </a:solidFill>
                <a:latin typeface="Georgia"/>
              </a:rPr>
              <a:t>02</a:t>
            </a:r>
          </a:p>
        </p:txBody>
      </p:sp>
      <p:sp>
        <p:nvSpPr>
          <p:cNvPr id="14" name="TextBox 13"/>
          <p:cNvSpPr txBox="1"/>
          <p:nvPr/>
        </p:nvSpPr>
        <p:spPr>
          <a:xfrm>
            <a:off x="1481328" y="2066544"/>
            <a:ext cx="3840480" cy="365760"/>
          </a:xfrm>
          <a:prstGeom prst="rect">
            <a:avLst/>
          </a:prstGeom>
          <a:noFill/>
        </p:spPr>
        <p:txBody>
          <a:bodyPr wrap="square" lIns="0" rIns="0" tIns="0" bIns="0" anchor="t">
            <a:spAutoFit/>
          </a:bodyPr>
          <a:lstStyle/>
          <a:p>
            <a:pPr algn="l">
              <a:lnSpc>
                <a:spcPct val="100000"/>
              </a:lnSpc>
              <a:spcAft>
                <a:spcPts val="400"/>
              </a:spcAft>
            </a:pPr>
            <a:r>
              <a:rPr sz="1500" b="0" i="0">
                <a:solidFill>
                  <a:srgbClr val="22450C"/>
                </a:solidFill>
                <a:latin typeface="Georgia"/>
              </a:rPr>
              <a:t>The legal position</a:t>
            </a:r>
          </a:p>
        </p:txBody>
      </p:sp>
      <p:sp>
        <p:nvSpPr>
          <p:cNvPr id="15" name="TextBox 14"/>
          <p:cNvSpPr txBox="1"/>
          <p:nvPr/>
        </p:nvSpPr>
        <p:spPr>
          <a:xfrm>
            <a:off x="5413248" y="2121408"/>
            <a:ext cx="6126480" cy="365760"/>
          </a:xfrm>
          <a:prstGeom prst="rect">
            <a:avLst/>
          </a:prstGeom>
          <a:noFill/>
        </p:spPr>
        <p:txBody>
          <a:bodyPr wrap="square" lIns="0" rIns="0" tIns="0" bIns="0" anchor="t">
            <a:spAutoFit/>
          </a:bodyPr>
          <a:lstStyle/>
          <a:p>
            <a:pPr algn="l">
              <a:lnSpc>
                <a:spcPct val="100000"/>
              </a:lnSpc>
              <a:spcAft>
                <a:spcPts val="400"/>
              </a:spcAft>
            </a:pPr>
            <a:r>
              <a:rPr sz="1080" b="0" i="0">
                <a:solidFill>
                  <a:srgbClr val="6F7B68"/>
                </a:solidFill>
                <a:latin typeface="Arial"/>
              </a:rPr>
              <a:t>Where the money goes, the licences that do not attach, and whose duty each duty is</a:t>
            </a:r>
          </a:p>
        </p:txBody>
      </p:sp>
      <p:cxnSp>
        <p:nvCxnSpPr>
          <p:cNvPr id="16" name="Connector 15"/>
          <p:cNvCxnSpPr/>
          <p:nvPr/>
        </p:nvCxnSpPr>
        <p:spPr>
          <a:xfrm>
            <a:off x="566928" y="2651760"/>
            <a:ext cx="11057839" cy="0"/>
          </a:xfrm>
          <a:prstGeom prst="line">
            <a:avLst/>
          </a:prstGeom>
          <a:ln w="9525">
            <a:solidFill>
              <a:srgbClr val="E3F8CA"/>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66928" y="2724912"/>
            <a:ext cx="731520" cy="457200"/>
          </a:xfrm>
          <a:prstGeom prst="rect">
            <a:avLst/>
          </a:prstGeom>
          <a:noFill/>
        </p:spPr>
        <p:txBody>
          <a:bodyPr wrap="square" lIns="0" rIns="0" tIns="0" bIns="0" anchor="t">
            <a:spAutoFit/>
          </a:bodyPr>
          <a:lstStyle/>
          <a:p>
            <a:pPr algn="l">
              <a:lnSpc>
                <a:spcPct val="100000"/>
              </a:lnSpc>
              <a:spcAft>
                <a:spcPts val="400"/>
              </a:spcAft>
            </a:pPr>
            <a:r>
              <a:rPr sz="2400" b="0" i="0">
                <a:solidFill>
                  <a:srgbClr val="6DC72A"/>
                </a:solidFill>
                <a:latin typeface="Georgia"/>
              </a:rPr>
              <a:t>03</a:t>
            </a:r>
          </a:p>
        </p:txBody>
      </p:sp>
      <p:sp>
        <p:nvSpPr>
          <p:cNvPr id="18" name="TextBox 17"/>
          <p:cNvSpPr txBox="1"/>
          <p:nvPr/>
        </p:nvSpPr>
        <p:spPr>
          <a:xfrm>
            <a:off x="1481328" y="2743200"/>
            <a:ext cx="3840480" cy="365760"/>
          </a:xfrm>
          <a:prstGeom prst="rect">
            <a:avLst/>
          </a:prstGeom>
          <a:noFill/>
        </p:spPr>
        <p:txBody>
          <a:bodyPr wrap="square" lIns="0" rIns="0" tIns="0" bIns="0" anchor="t">
            <a:spAutoFit/>
          </a:bodyPr>
          <a:lstStyle/>
          <a:p>
            <a:pPr algn="l">
              <a:lnSpc>
                <a:spcPct val="100000"/>
              </a:lnSpc>
              <a:spcAft>
                <a:spcPts val="400"/>
              </a:spcAft>
            </a:pPr>
            <a:r>
              <a:rPr sz="1500" b="0" i="0">
                <a:solidFill>
                  <a:srgbClr val="22450C"/>
                </a:solidFill>
                <a:latin typeface="Georgia"/>
              </a:rPr>
              <a:t>The economics</a:t>
            </a:r>
          </a:p>
        </p:txBody>
      </p:sp>
      <p:sp>
        <p:nvSpPr>
          <p:cNvPr id="19" name="TextBox 18"/>
          <p:cNvSpPr txBox="1"/>
          <p:nvPr/>
        </p:nvSpPr>
        <p:spPr>
          <a:xfrm>
            <a:off x="5413248" y="2798064"/>
            <a:ext cx="6126480" cy="365760"/>
          </a:xfrm>
          <a:prstGeom prst="rect">
            <a:avLst/>
          </a:prstGeom>
          <a:noFill/>
        </p:spPr>
        <p:txBody>
          <a:bodyPr wrap="square" lIns="0" rIns="0" tIns="0" bIns="0" anchor="t">
            <a:spAutoFit/>
          </a:bodyPr>
          <a:lstStyle/>
          <a:p>
            <a:pPr algn="l">
              <a:lnSpc>
                <a:spcPct val="100000"/>
              </a:lnSpc>
              <a:spcAft>
                <a:spcPts val="400"/>
              </a:spcAft>
            </a:pPr>
            <a:r>
              <a:rPr sz="1080" b="0" i="0">
                <a:solidFill>
                  <a:srgbClr val="6F7B68"/>
                </a:solidFill>
                <a:latin typeface="Arial"/>
              </a:rPr>
              <a:t>The fee grid, the cost of carrying a committee, the rail constraint and the launch timeline</a:t>
            </a:r>
          </a:p>
        </p:txBody>
      </p:sp>
      <p:cxnSp>
        <p:nvCxnSpPr>
          <p:cNvPr id="20" name="Connector 19"/>
          <p:cNvCxnSpPr/>
          <p:nvPr/>
        </p:nvCxnSpPr>
        <p:spPr>
          <a:xfrm>
            <a:off x="566928" y="3328416"/>
            <a:ext cx="11057839" cy="0"/>
          </a:xfrm>
          <a:prstGeom prst="line">
            <a:avLst/>
          </a:prstGeom>
          <a:ln w="9525">
            <a:solidFill>
              <a:srgbClr val="E3F8CA"/>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66928" y="3401568"/>
            <a:ext cx="731520" cy="457200"/>
          </a:xfrm>
          <a:prstGeom prst="rect">
            <a:avLst/>
          </a:prstGeom>
          <a:noFill/>
        </p:spPr>
        <p:txBody>
          <a:bodyPr wrap="square" lIns="0" rIns="0" tIns="0" bIns="0" anchor="t">
            <a:spAutoFit/>
          </a:bodyPr>
          <a:lstStyle/>
          <a:p>
            <a:pPr algn="l">
              <a:lnSpc>
                <a:spcPct val="100000"/>
              </a:lnSpc>
              <a:spcAft>
                <a:spcPts val="400"/>
              </a:spcAft>
            </a:pPr>
            <a:r>
              <a:rPr sz="2400" b="0" i="0">
                <a:solidFill>
                  <a:srgbClr val="6DC72A"/>
                </a:solidFill>
                <a:latin typeface="Georgia"/>
              </a:rPr>
              <a:t>04</a:t>
            </a:r>
          </a:p>
        </p:txBody>
      </p:sp>
      <p:sp>
        <p:nvSpPr>
          <p:cNvPr id="22" name="TextBox 21"/>
          <p:cNvSpPr txBox="1"/>
          <p:nvPr/>
        </p:nvSpPr>
        <p:spPr>
          <a:xfrm>
            <a:off x="1481328" y="3419856"/>
            <a:ext cx="3840480" cy="365760"/>
          </a:xfrm>
          <a:prstGeom prst="rect">
            <a:avLst/>
          </a:prstGeom>
          <a:noFill/>
        </p:spPr>
        <p:txBody>
          <a:bodyPr wrap="square" lIns="0" rIns="0" tIns="0" bIns="0" anchor="t">
            <a:spAutoFit/>
          </a:bodyPr>
          <a:lstStyle/>
          <a:p>
            <a:pPr algn="l">
              <a:lnSpc>
                <a:spcPct val="100000"/>
              </a:lnSpc>
              <a:spcAft>
                <a:spcPts val="400"/>
              </a:spcAft>
            </a:pPr>
            <a:r>
              <a:rPr sz="1500" b="0" i="0">
                <a:solidFill>
                  <a:srgbClr val="22450C"/>
                </a:solidFill>
                <a:latin typeface="Georgia"/>
              </a:rPr>
              <a:t>Hyper</a:t>
            </a:r>
          </a:p>
        </p:txBody>
      </p:sp>
      <p:sp>
        <p:nvSpPr>
          <p:cNvPr id="23" name="TextBox 22"/>
          <p:cNvSpPr txBox="1"/>
          <p:nvPr/>
        </p:nvSpPr>
        <p:spPr>
          <a:xfrm>
            <a:off x="5413248" y="3474720"/>
            <a:ext cx="6126480" cy="365760"/>
          </a:xfrm>
          <a:prstGeom prst="rect">
            <a:avLst/>
          </a:prstGeom>
          <a:noFill/>
        </p:spPr>
        <p:txBody>
          <a:bodyPr wrap="square" lIns="0" rIns="0" tIns="0" bIns="0" anchor="t">
            <a:spAutoFit/>
          </a:bodyPr>
          <a:lstStyle/>
          <a:p>
            <a:pPr algn="l">
              <a:lnSpc>
                <a:spcPct val="100000"/>
              </a:lnSpc>
              <a:spcAft>
                <a:spcPts val="400"/>
              </a:spcAft>
            </a:pPr>
            <a:r>
              <a:rPr sz="1080" b="0" i="0">
                <a:solidFill>
                  <a:srgbClr val="6F7B68"/>
                </a:solidFill>
                <a:latin typeface="Arial"/>
              </a:rPr>
              <a:t>The daily product in two configurations. The only section that sets out calculations</a:t>
            </a:r>
          </a:p>
        </p:txBody>
      </p:sp>
      <p:cxnSp>
        <p:nvCxnSpPr>
          <p:cNvPr id="24" name="Connector 23"/>
          <p:cNvCxnSpPr/>
          <p:nvPr/>
        </p:nvCxnSpPr>
        <p:spPr>
          <a:xfrm>
            <a:off x="566928" y="4005072"/>
            <a:ext cx="11057839" cy="0"/>
          </a:xfrm>
          <a:prstGeom prst="line">
            <a:avLst/>
          </a:prstGeom>
          <a:ln w="9525">
            <a:solidFill>
              <a:srgbClr val="E3F8CA"/>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4078224"/>
            <a:ext cx="731520" cy="457200"/>
          </a:xfrm>
          <a:prstGeom prst="rect">
            <a:avLst/>
          </a:prstGeom>
          <a:noFill/>
        </p:spPr>
        <p:txBody>
          <a:bodyPr wrap="square" lIns="0" rIns="0" tIns="0" bIns="0" anchor="t">
            <a:spAutoFit/>
          </a:bodyPr>
          <a:lstStyle/>
          <a:p>
            <a:pPr algn="l">
              <a:lnSpc>
                <a:spcPct val="100000"/>
              </a:lnSpc>
              <a:spcAft>
                <a:spcPts val="400"/>
              </a:spcAft>
            </a:pPr>
            <a:r>
              <a:rPr sz="2400" b="0" i="0">
                <a:solidFill>
                  <a:srgbClr val="6DC72A"/>
                </a:solidFill>
                <a:latin typeface="Georgia"/>
              </a:rPr>
              <a:t>05</a:t>
            </a:r>
          </a:p>
        </p:txBody>
      </p:sp>
      <p:sp>
        <p:nvSpPr>
          <p:cNvPr id="26" name="TextBox 25"/>
          <p:cNvSpPr txBox="1"/>
          <p:nvPr/>
        </p:nvSpPr>
        <p:spPr>
          <a:xfrm>
            <a:off x="1481328" y="4096512"/>
            <a:ext cx="3840480" cy="365760"/>
          </a:xfrm>
          <a:prstGeom prst="rect">
            <a:avLst/>
          </a:prstGeom>
          <a:noFill/>
        </p:spPr>
        <p:txBody>
          <a:bodyPr wrap="square" lIns="0" rIns="0" tIns="0" bIns="0" anchor="t">
            <a:spAutoFit/>
          </a:bodyPr>
          <a:lstStyle/>
          <a:p>
            <a:pPr algn="l">
              <a:lnSpc>
                <a:spcPct val="100000"/>
              </a:lnSpc>
              <a:spcAft>
                <a:spcPts val="400"/>
              </a:spcAft>
            </a:pPr>
            <a:r>
              <a:rPr sz="1500" b="0" i="0">
                <a:solidFill>
                  <a:srgbClr val="22450C"/>
                </a:solidFill>
                <a:latin typeface="Georgia"/>
              </a:rPr>
              <a:t>The product</a:t>
            </a:r>
          </a:p>
        </p:txBody>
      </p:sp>
      <p:sp>
        <p:nvSpPr>
          <p:cNvPr id="27" name="TextBox 26"/>
          <p:cNvSpPr txBox="1"/>
          <p:nvPr/>
        </p:nvSpPr>
        <p:spPr>
          <a:xfrm>
            <a:off x="5413248" y="4151376"/>
            <a:ext cx="6126480" cy="365760"/>
          </a:xfrm>
          <a:prstGeom prst="rect">
            <a:avLst/>
          </a:prstGeom>
          <a:noFill/>
        </p:spPr>
        <p:txBody>
          <a:bodyPr wrap="square" lIns="0" rIns="0" tIns="0" bIns="0" anchor="t">
            <a:spAutoFit/>
          </a:bodyPr>
          <a:lstStyle/>
          <a:p>
            <a:pPr algn="l">
              <a:lnSpc>
                <a:spcPct val="100000"/>
              </a:lnSpc>
              <a:spcAft>
                <a:spcPts val="400"/>
              </a:spcAft>
            </a:pPr>
            <a:r>
              <a:rPr sz="1080" b="0" i="0">
                <a:solidFill>
                  <a:srgbClr val="6F7B68"/>
                </a:solidFill>
                <a:latin typeface="Arial"/>
              </a:rPr>
              <a:t>The member journey, standing, default prevention, exit, the bureau link and the later stages</a:t>
            </a:r>
          </a:p>
        </p:txBody>
      </p:sp>
      <p:cxnSp>
        <p:nvCxnSpPr>
          <p:cNvPr id="28" name="Connector 27"/>
          <p:cNvCxnSpPr/>
          <p:nvPr/>
        </p:nvCxnSpPr>
        <p:spPr>
          <a:xfrm>
            <a:off x="566928" y="4681728"/>
            <a:ext cx="11057839" cy="0"/>
          </a:xfrm>
          <a:prstGeom prst="line">
            <a:avLst/>
          </a:prstGeom>
          <a:ln w="9525">
            <a:solidFill>
              <a:srgbClr val="E3F8CA"/>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66928" y="4754880"/>
            <a:ext cx="731520" cy="457200"/>
          </a:xfrm>
          <a:prstGeom prst="rect">
            <a:avLst/>
          </a:prstGeom>
          <a:noFill/>
        </p:spPr>
        <p:txBody>
          <a:bodyPr wrap="square" lIns="0" rIns="0" tIns="0" bIns="0" anchor="t">
            <a:spAutoFit/>
          </a:bodyPr>
          <a:lstStyle/>
          <a:p>
            <a:pPr algn="l">
              <a:lnSpc>
                <a:spcPct val="100000"/>
              </a:lnSpc>
              <a:spcAft>
                <a:spcPts val="400"/>
              </a:spcAft>
            </a:pPr>
            <a:r>
              <a:rPr sz="2400" b="0" i="0">
                <a:solidFill>
                  <a:srgbClr val="6DC72A"/>
                </a:solidFill>
                <a:latin typeface="Georgia"/>
              </a:rPr>
              <a:t>06</a:t>
            </a:r>
          </a:p>
        </p:txBody>
      </p:sp>
      <p:sp>
        <p:nvSpPr>
          <p:cNvPr id="30" name="TextBox 29"/>
          <p:cNvSpPr txBox="1"/>
          <p:nvPr/>
        </p:nvSpPr>
        <p:spPr>
          <a:xfrm>
            <a:off x="1481328" y="4773168"/>
            <a:ext cx="3840480" cy="365760"/>
          </a:xfrm>
          <a:prstGeom prst="rect">
            <a:avLst/>
          </a:prstGeom>
          <a:noFill/>
        </p:spPr>
        <p:txBody>
          <a:bodyPr wrap="square" lIns="0" rIns="0" tIns="0" bIns="0" anchor="t">
            <a:spAutoFit/>
          </a:bodyPr>
          <a:lstStyle/>
          <a:p>
            <a:pPr algn="l">
              <a:lnSpc>
                <a:spcPct val="100000"/>
              </a:lnSpc>
              <a:spcAft>
                <a:spcPts val="400"/>
              </a:spcAft>
            </a:pPr>
            <a:r>
              <a:rPr sz="1500" b="0" i="0">
                <a:solidFill>
                  <a:srgbClr val="22450C"/>
                </a:solidFill>
                <a:latin typeface="Georgia"/>
              </a:rPr>
              <a:t>The evidence</a:t>
            </a:r>
          </a:p>
        </p:txBody>
      </p:sp>
      <p:sp>
        <p:nvSpPr>
          <p:cNvPr id="31" name="TextBox 30"/>
          <p:cNvSpPr txBox="1"/>
          <p:nvPr/>
        </p:nvSpPr>
        <p:spPr>
          <a:xfrm>
            <a:off x="5413248" y="4828032"/>
            <a:ext cx="6126480" cy="365760"/>
          </a:xfrm>
          <a:prstGeom prst="rect">
            <a:avLst/>
          </a:prstGeom>
          <a:noFill/>
        </p:spPr>
        <p:txBody>
          <a:bodyPr wrap="square" lIns="0" rIns="0" tIns="0" bIns="0" anchor="t">
            <a:spAutoFit/>
          </a:bodyPr>
          <a:lstStyle/>
          <a:p>
            <a:pPr algn="l">
              <a:lnSpc>
                <a:spcPct val="100000"/>
              </a:lnSpc>
              <a:spcAft>
                <a:spcPts val="400"/>
              </a:spcAft>
            </a:pPr>
            <a:r>
              <a:rPr sz="1080" b="0" i="0">
                <a:solidFill>
                  <a:srgbClr val="6F7B68"/>
                </a:solidFill>
                <a:latin typeface="Arial"/>
              </a:rPr>
              <a:t>Twenty-five attempts in nine markets, and the competitive position</a:t>
            </a:r>
          </a:p>
        </p:txBody>
      </p:sp>
      <p:cxnSp>
        <p:nvCxnSpPr>
          <p:cNvPr id="32" name="Connector 31"/>
          <p:cNvCxnSpPr/>
          <p:nvPr/>
        </p:nvCxnSpPr>
        <p:spPr>
          <a:xfrm>
            <a:off x="566928" y="5358384"/>
            <a:ext cx="11057839" cy="0"/>
          </a:xfrm>
          <a:prstGeom prst="line">
            <a:avLst/>
          </a:prstGeom>
          <a:ln w="9525">
            <a:solidFill>
              <a:srgbClr val="E3F8CA"/>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5431536"/>
            <a:ext cx="731520" cy="457200"/>
          </a:xfrm>
          <a:prstGeom prst="rect">
            <a:avLst/>
          </a:prstGeom>
          <a:noFill/>
        </p:spPr>
        <p:txBody>
          <a:bodyPr wrap="square" lIns="0" rIns="0" tIns="0" bIns="0" anchor="t">
            <a:spAutoFit/>
          </a:bodyPr>
          <a:lstStyle/>
          <a:p>
            <a:pPr algn="l">
              <a:lnSpc>
                <a:spcPct val="100000"/>
              </a:lnSpc>
              <a:spcAft>
                <a:spcPts val="400"/>
              </a:spcAft>
            </a:pPr>
            <a:r>
              <a:rPr sz="2400" b="0" i="0">
                <a:solidFill>
                  <a:srgbClr val="6DC72A"/>
                </a:solidFill>
                <a:latin typeface="Georgia"/>
              </a:rPr>
              <a:t>07</a:t>
            </a:r>
          </a:p>
        </p:txBody>
      </p:sp>
      <p:sp>
        <p:nvSpPr>
          <p:cNvPr id="34" name="TextBox 33"/>
          <p:cNvSpPr txBox="1"/>
          <p:nvPr/>
        </p:nvSpPr>
        <p:spPr>
          <a:xfrm>
            <a:off x="1481328" y="5449824"/>
            <a:ext cx="3840480" cy="365760"/>
          </a:xfrm>
          <a:prstGeom prst="rect">
            <a:avLst/>
          </a:prstGeom>
          <a:noFill/>
        </p:spPr>
        <p:txBody>
          <a:bodyPr wrap="square" lIns="0" rIns="0" tIns="0" bIns="0" anchor="t">
            <a:spAutoFit/>
          </a:bodyPr>
          <a:lstStyle/>
          <a:p>
            <a:pPr algn="l">
              <a:lnSpc>
                <a:spcPct val="100000"/>
              </a:lnSpc>
              <a:spcAft>
                <a:spcPts val="400"/>
              </a:spcAft>
            </a:pPr>
            <a:r>
              <a:rPr sz="1500" b="0" i="0">
                <a:solidFill>
                  <a:srgbClr val="22450C"/>
                </a:solidFill>
                <a:latin typeface="Georgia"/>
              </a:rPr>
              <a:t>State and plan</a:t>
            </a:r>
          </a:p>
        </p:txBody>
      </p:sp>
      <p:sp>
        <p:nvSpPr>
          <p:cNvPr id="35" name="TextBox 34"/>
          <p:cNvSpPr txBox="1"/>
          <p:nvPr/>
        </p:nvSpPr>
        <p:spPr>
          <a:xfrm>
            <a:off x="5413248" y="5504688"/>
            <a:ext cx="6126480" cy="365760"/>
          </a:xfrm>
          <a:prstGeom prst="rect">
            <a:avLst/>
          </a:prstGeom>
          <a:noFill/>
        </p:spPr>
        <p:txBody>
          <a:bodyPr wrap="square" lIns="0" rIns="0" tIns="0" bIns="0" anchor="t">
            <a:spAutoFit/>
          </a:bodyPr>
          <a:lstStyle/>
          <a:p>
            <a:pPr algn="l">
              <a:lnSpc>
                <a:spcPct val="100000"/>
              </a:lnSpc>
              <a:spcAft>
                <a:spcPts val="400"/>
              </a:spcAft>
            </a:pPr>
            <a:r>
              <a:rPr sz="1080" b="0" i="0">
                <a:solidFill>
                  <a:srgbClr val="6F7B68"/>
                </a:solidFill>
                <a:latin typeface="Arial"/>
              </a:rPr>
              <a:t>Where the company stands on 24 September 2026, the order of what follows, and what is open</a:t>
            </a:r>
          </a:p>
        </p:txBody>
      </p:sp>
      <p:cxnSp>
        <p:nvCxnSpPr>
          <p:cNvPr id="36" name="Connector 35"/>
          <p:cNvCxnSpPr/>
          <p:nvPr/>
        </p:nvCxnSpPr>
        <p:spPr>
          <a:xfrm>
            <a:off x="566928" y="6035040"/>
            <a:ext cx="11057839" cy="0"/>
          </a:xfrm>
          <a:prstGeom prst="line">
            <a:avLst/>
          </a:prstGeom>
          <a:ln w="9525">
            <a:solidFill>
              <a:srgbClr val="E3F8CA"/>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2194560"/>
            <a:ext cx="1828800" cy="822960"/>
          </a:xfrm>
          <a:prstGeom prst="rect">
            <a:avLst/>
          </a:prstGeom>
          <a:noFill/>
        </p:spPr>
        <p:txBody>
          <a:bodyPr wrap="square" lIns="0" rIns="0" tIns="0" bIns="0" anchor="t">
            <a:spAutoFit/>
          </a:bodyPr>
          <a:lstStyle/>
          <a:p>
            <a:pPr algn="l">
              <a:lnSpc>
                <a:spcPct val="100000"/>
              </a:lnSpc>
              <a:spcAft>
                <a:spcPts val="400"/>
              </a:spcAft>
            </a:pPr>
            <a:r>
              <a:rPr sz="6000" b="0" i="0">
                <a:solidFill>
                  <a:srgbClr val="6DC72A"/>
                </a:solidFill>
                <a:latin typeface="Georgia"/>
              </a:rPr>
              <a:t>01</a:t>
            </a:r>
          </a:p>
        </p:txBody>
      </p:sp>
      <p:sp>
        <p:nvSpPr>
          <p:cNvPr id="5" name="TextBox 4"/>
          <p:cNvSpPr txBox="1"/>
          <p:nvPr/>
        </p:nvSpPr>
        <p:spPr>
          <a:xfrm>
            <a:off x="2560320" y="2359152"/>
            <a:ext cx="7498079" cy="731520"/>
          </a:xfrm>
          <a:prstGeom prst="rect">
            <a:avLst/>
          </a:prstGeom>
          <a:noFill/>
        </p:spPr>
        <p:txBody>
          <a:bodyPr wrap="square" lIns="0" rIns="0" tIns="0" bIns="0" anchor="t">
            <a:spAutoFit/>
          </a:bodyPr>
          <a:lstStyle/>
          <a:p>
            <a:pPr algn="l">
              <a:lnSpc>
                <a:spcPct val="100000"/>
              </a:lnSpc>
              <a:spcAft>
                <a:spcPts val="400"/>
              </a:spcAft>
            </a:pPr>
            <a:r>
              <a:rPr sz="3100" b="0" i="0">
                <a:solidFill>
                  <a:srgbClr val="F3FCE7"/>
                </a:solidFill>
                <a:latin typeface="Georgia"/>
              </a:rPr>
              <a:t>The instrument and the market</a:t>
            </a:r>
          </a:p>
        </p:txBody>
      </p:sp>
      <p:cxnSp>
        <p:nvCxnSpPr>
          <p:cNvPr id="6" name="Connector 5"/>
          <p:cNvCxnSpPr/>
          <p:nvPr/>
        </p:nvCxnSpPr>
        <p:spPr>
          <a:xfrm>
            <a:off x="2606040" y="3127248"/>
            <a:ext cx="3429000" cy="0"/>
          </a:xfrm>
          <a:prstGeom prst="line">
            <a:avLst/>
          </a:prstGeom>
          <a:ln w="17780">
            <a:solidFill>
              <a:srgbClr val="8ADC4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2606040" y="3310128"/>
            <a:ext cx="6949440" cy="1463040"/>
          </a:xfrm>
          <a:prstGeom prst="rect">
            <a:avLst/>
          </a:prstGeom>
          <a:noFill/>
        </p:spPr>
        <p:txBody>
          <a:bodyPr wrap="square" lIns="0" rIns="0" tIns="0" bIns="0" anchor="t">
            <a:spAutoFit/>
          </a:bodyPr>
          <a:lstStyle/>
          <a:p>
            <a:pPr algn="l">
              <a:lnSpc>
                <a:spcPct val="110000"/>
              </a:lnSpc>
              <a:spcAft>
                <a:spcPts val="700"/>
              </a:spcAft>
            </a:pPr>
            <a:r>
              <a:rPr sz="1220" b="0" i="0">
                <a:solidFill>
                  <a:srgbClr val="D2E2C6"/>
                </a:solidFill>
                <a:latin typeface="Arial"/>
              </a:rPr>
              <a:t>A committee combines an advance and a savings plan in one schedule.</a:t>
            </a:r>
          </a:p>
          <a:p>
            <a:pPr algn="l">
              <a:lnSpc>
                <a:spcPct val="110000"/>
              </a:lnSpc>
              <a:spcAft>
                <a:spcPts val="700"/>
              </a:spcAft>
            </a:pPr>
            <a:r>
              <a:rPr sz="1220" b="0" i="0">
                <a:solidFill>
                  <a:srgbClr val="D2E2C6"/>
                </a:solidFill>
                <a:latin typeface="Arial"/>
              </a:rPr>
              <a:t>Its risk sits in the early seats, not across the roster.</a:t>
            </a:r>
          </a:p>
          <a:p>
            <a:pPr algn="l">
              <a:lnSpc>
                <a:spcPct val="110000"/>
              </a:lnSpc>
              <a:spcAft>
                <a:spcPts val="700"/>
              </a:spcAft>
            </a:pPr>
            <a:r>
              <a:rPr sz="1220" b="0" i="0">
                <a:solidFill>
                  <a:srgbClr val="D2E2C6"/>
                </a:solidFill>
                <a:latin typeface="Arial"/>
              </a:rPr>
              <a:t>About Rs 4 trillion rotates through committees in Pakistan every year.</a:t>
            </a:r>
          </a:p>
        </p:txBody>
      </p:sp>
      <p:pic>
        <p:nvPicPr>
          <p:cNvPr id="8" name="Picture 7" descr="logo-mark.png"/>
          <p:cNvPicPr>
            <a:picLocks noChangeAspect="1"/>
          </p:cNvPicPr>
          <p:nvPr/>
        </p:nvPicPr>
        <p:blipFill>
          <a:blip r:embed="rId2"/>
          <a:stretch>
            <a:fillRect/>
          </a:stretch>
        </p:blipFill>
        <p:spPr>
          <a:xfrm>
            <a:off x="9357055" y="2468880"/>
            <a:ext cx="1920240" cy="192024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01 · THE INSTRUMENT</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A committee is two financial products in one schedule</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Each member pays the same contribution every period, and each period one member collects the whole pot. At the end every member has paid in exactly what that member collected.</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24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5</a:t>
            </a:r>
          </a:p>
        </p:txBody>
      </p:sp>
      <p:sp>
        <p:nvSpPr>
          <p:cNvPr id="10" name="TextBox 9"/>
          <p:cNvSpPr txBox="1"/>
          <p:nvPr/>
        </p:nvSpPr>
        <p:spPr>
          <a:xfrm>
            <a:off x="566928" y="1572768"/>
            <a:ext cx="6583680" cy="182880"/>
          </a:xfrm>
          <a:prstGeom prst="rect">
            <a:avLst/>
          </a:prstGeom>
          <a:noFill/>
        </p:spPr>
        <p:txBody>
          <a:bodyPr wrap="square" lIns="0" rIns="0" tIns="0" bIns="0" anchor="t">
            <a:spAutoFit/>
          </a:bodyPr>
          <a:lstStyle/>
          <a:p>
            <a:pPr algn="l">
              <a:lnSpc>
                <a:spcPct val="100000"/>
              </a:lnSpc>
              <a:spcAft>
                <a:spcPts val="400"/>
              </a:spcAft>
            </a:pPr>
            <a:r>
              <a:rPr sz="840" b="0" i="1" spc="30">
                <a:solidFill>
                  <a:srgbClr val="6F7B68"/>
                </a:solidFill>
                <a:latin typeface="Arial"/>
              </a:rPr>
              <a:t>EXHIBIT 2   Three rounds of a twelve member circle. The lime cell collects.</a:t>
            </a:r>
          </a:p>
        </p:txBody>
      </p:sp>
      <p:sp>
        <p:nvSpPr>
          <p:cNvPr id="11" name="TextBox 10"/>
          <p:cNvSpPr txBox="1"/>
          <p:nvPr/>
        </p:nvSpPr>
        <p:spPr>
          <a:xfrm>
            <a:off x="566928" y="1920240"/>
            <a:ext cx="777240" cy="329184"/>
          </a:xfrm>
          <a:prstGeom prst="rect">
            <a:avLst/>
          </a:prstGeom>
          <a:noFill/>
        </p:spPr>
        <p:txBody>
          <a:bodyPr wrap="square" lIns="0" rIns="0" tIns="0" bIns="0" anchor="t">
            <a:spAutoFit/>
          </a:bodyPr>
          <a:lstStyle/>
          <a:p>
            <a:pPr algn="l">
              <a:lnSpc>
                <a:spcPct val="100000"/>
              </a:lnSpc>
              <a:spcAft>
                <a:spcPts val="400"/>
              </a:spcAft>
            </a:pPr>
            <a:r>
              <a:rPr sz="940" b="1" i="0">
                <a:solidFill>
                  <a:srgbClr val="22450C"/>
                </a:solidFill>
                <a:latin typeface="Arial"/>
              </a:rPr>
              <a:t>Round 1</a:t>
            </a:r>
          </a:p>
        </p:txBody>
      </p:sp>
      <p:sp>
        <p:nvSpPr>
          <p:cNvPr id="12" name="Rectangle 11"/>
          <p:cNvSpPr/>
          <p:nvPr/>
        </p:nvSpPr>
        <p:spPr>
          <a:xfrm>
            <a:off x="1389888" y="1847088"/>
            <a:ext cx="429768" cy="329184"/>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89888" y="1938528"/>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0C1408"/>
                </a:solidFill>
                <a:latin typeface="Arial"/>
              </a:rPr>
              <a:t>collects</a:t>
            </a:r>
          </a:p>
        </p:txBody>
      </p:sp>
      <p:sp>
        <p:nvSpPr>
          <p:cNvPr id="14" name="Rectangle 13"/>
          <p:cNvSpPr/>
          <p:nvPr/>
        </p:nvSpPr>
        <p:spPr>
          <a:xfrm>
            <a:off x="1865376" y="1847088"/>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865376" y="1938528"/>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16" name="Rectangle 15"/>
          <p:cNvSpPr/>
          <p:nvPr/>
        </p:nvSpPr>
        <p:spPr>
          <a:xfrm>
            <a:off x="2340864" y="1847088"/>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40864" y="1938528"/>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18" name="Rectangle 17"/>
          <p:cNvSpPr/>
          <p:nvPr/>
        </p:nvSpPr>
        <p:spPr>
          <a:xfrm>
            <a:off x="2816352" y="1847088"/>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816352" y="1938528"/>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20" name="Rectangle 19"/>
          <p:cNvSpPr/>
          <p:nvPr/>
        </p:nvSpPr>
        <p:spPr>
          <a:xfrm>
            <a:off x="3291840" y="1847088"/>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91840" y="1938528"/>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22" name="Rectangle 21"/>
          <p:cNvSpPr/>
          <p:nvPr/>
        </p:nvSpPr>
        <p:spPr>
          <a:xfrm>
            <a:off x="3767328" y="1847088"/>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767328" y="1938528"/>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24" name="Rectangle 23"/>
          <p:cNvSpPr/>
          <p:nvPr/>
        </p:nvSpPr>
        <p:spPr>
          <a:xfrm>
            <a:off x="4242816" y="1847088"/>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242816" y="1938528"/>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26" name="Rectangle 25"/>
          <p:cNvSpPr/>
          <p:nvPr/>
        </p:nvSpPr>
        <p:spPr>
          <a:xfrm>
            <a:off x="4718304" y="1847088"/>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18304" y="1938528"/>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28" name="Rectangle 27"/>
          <p:cNvSpPr/>
          <p:nvPr/>
        </p:nvSpPr>
        <p:spPr>
          <a:xfrm>
            <a:off x="5193792" y="1847088"/>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193792" y="1938528"/>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30" name="Rectangle 29"/>
          <p:cNvSpPr/>
          <p:nvPr/>
        </p:nvSpPr>
        <p:spPr>
          <a:xfrm>
            <a:off x="5669280" y="1847088"/>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0" y="1938528"/>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32" name="Rectangle 31"/>
          <p:cNvSpPr/>
          <p:nvPr/>
        </p:nvSpPr>
        <p:spPr>
          <a:xfrm>
            <a:off x="6144768" y="1847088"/>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144768" y="1938528"/>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34" name="Rectangle 33"/>
          <p:cNvSpPr/>
          <p:nvPr/>
        </p:nvSpPr>
        <p:spPr>
          <a:xfrm>
            <a:off x="6620256" y="1847088"/>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20256" y="1938528"/>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36" name="TextBox 35"/>
          <p:cNvSpPr txBox="1"/>
          <p:nvPr/>
        </p:nvSpPr>
        <p:spPr>
          <a:xfrm>
            <a:off x="566928" y="2322576"/>
            <a:ext cx="777240" cy="329184"/>
          </a:xfrm>
          <a:prstGeom prst="rect">
            <a:avLst/>
          </a:prstGeom>
          <a:noFill/>
        </p:spPr>
        <p:txBody>
          <a:bodyPr wrap="square" lIns="0" rIns="0" tIns="0" bIns="0" anchor="t">
            <a:spAutoFit/>
          </a:bodyPr>
          <a:lstStyle/>
          <a:p>
            <a:pPr algn="l">
              <a:lnSpc>
                <a:spcPct val="100000"/>
              </a:lnSpc>
              <a:spcAft>
                <a:spcPts val="400"/>
              </a:spcAft>
            </a:pPr>
            <a:r>
              <a:rPr sz="940" b="1" i="0">
                <a:solidFill>
                  <a:srgbClr val="22450C"/>
                </a:solidFill>
                <a:latin typeface="Arial"/>
              </a:rPr>
              <a:t>Round 2</a:t>
            </a:r>
          </a:p>
        </p:txBody>
      </p:sp>
      <p:sp>
        <p:nvSpPr>
          <p:cNvPr id="37" name="Rectangle 36"/>
          <p:cNvSpPr/>
          <p:nvPr/>
        </p:nvSpPr>
        <p:spPr>
          <a:xfrm>
            <a:off x="1389888" y="2249424"/>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389888" y="2340864"/>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39" name="Rectangle 38"/>
          <p:cNvSpPr/>
          <p:nvPr/>
        </p:nvSpPr>
        <p:spPr>
          <a:xfrm>
            <a:off x="1865376" y="2249424"/>
            <a:ext cx="429768" cy="329184"/>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865376" y="2340864"/>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0C1408"/>
                </a:solidFill>
                <a:latin typeface="Arial"/>
              </a:rPr>
              <a:t>collects</a:t>
            </a:r>
          </a:p>
        </p:txBody>
      </p:sp>
      <p:sp>
        <p:nvSpPr>
          <p:cNvPr id="41" name="Rectangle 40"/>
          <p:cNvSpPr/>
          <p:nvPr/>
        </p:nvSpPr>
        <p:spPr>
          <a:xfrm>
            <a:off x="2340864" y="2249424"/>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340864" y="2340864"/>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43" name="Rectangle 42"/>
          <p:cNvSpPr/>
          <p:nvPr/>
        </p:nvSpPr>
        <p:spPr>
          <a:xfrm>
            <a:off x="2816352" y="2249424"/>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816352" y="2340864"/>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45" name="Rectangle 44"/>
          <p:cNvSpPr/>
          <p:nvPr/>
        </p:nvSpPr>
        <p:spPr>
          <a:xfrm>
            <a:off x="3291840" y="2249424"/>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291840" y="2340864"/>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47" name="Rectangle 46"/>
          <p:cNvSpPr/>
          <p:nvPr/>
        </p:nvSpPr>
        <p:spPr>
          <a:xfrm>
            <a:off x="3767328" y="2249424"/>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767328" y="2340864"/>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49" name="Rectangle 48"/>
          <p:cNvSpPr/>
          <p:nvPr/>
        </p:nvSpPr>
        <p:spPr>
          <a:xfrm>
            <a:off x="4242816" y="2249424"/>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242816" y="2340864"/>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51" name="Rectangle 50"/>
          <p:cNvSpPr/>
          <p:nvPr/>
        </p:nvSpPr>
        <p:spPr>
          <a:xfrm>
            <a:off x="4718304" y="2249424"/>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718304" y="2340864"/>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53" name="Rectangle 52"/>
          <p:cNvSpPr/>
          <p:nvPr/>
        </p:nvSpPr>
        <p:spPr>
          <a:xfrm>
            <a:off x="5193792" y="2249424"/>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193792" y="2340864"/>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55" name="Rectangle 54"/>
          <p:cNvSpPr/>
          <p:nvPr/>
        </p:nvSpPr>
        <p:spPr>
          <a:xfrm>
            <a:off x="5669280" y="2249424"/>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669280" y="2340864"/>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57" name="Rectangle 56"/>
          <p:cNvSpPr/>
          <p:nvPr/>
        </p:nvSpPr>
        <p:spPr>
          <a:xfrm>
            <a:off x="6144768" y="2249424"/>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144768" y="2340864"/>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59" name="Rectangle 58"/>
          <p:cNvSpPr/>
          <p:nvPr/>
        </p:nvSpPr>
        <p:spPr>
          <a:xfrm>
            <a:off x="6620256" y="2249424"/>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620256" y="2340864"/>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61" name="TextBox 60"/>
          <p:cNvSpPr txBox="1"/>
          <p:nvPr/>
        </p:nvSpPr>
        <p:spPr>
          <a:xfrm>
            <a:off x="566928" y="2724912"/>
            <a:ext cx="777240" cy="329184"/>
          </a:xfrm>
          <a:prstGeom prst="rect">
            <a:avLst/>
          </a:prstGeom>
          <a:noFill/>
        </p:spPr>
        <p:txBody>
          <a:bodyPr wrap="square" lIns="0" rIns="0" tIns="0" bIns="0" anchor="t">
            <a:spAutoFit/>
          </a:bodyPr>
          <a:lstStyle/>
          <a:p>
            <a:pPr algn="l">
              <a:lnSpc>
                <a:spcPct val="100000"/>
              </a:lnSpc>
              <a:spcAft>
                <a:spcPts val="400"/>
              </a:spcAft>
            </a:pPr>
            <a:r>
              <a:rPr sz="940" b="1" i="0">
                <a:solidFill>
                  <a:srgbClr val="22450C"/>
                </a:solidFill>
                <a:latin typeface="Arial"/>
              </a:rPr>
              <a:t>Round 3</a:t>
            </a:r>
          </a:p>
        </p:txBody>
      </p:sp>
      <p:sp>
        <p:nvSpPr>
          <p:cNvPr id="62" name="Rectangle 61"/>
          <p:cNvSpPr/>
          <p:nvPr/>
        </p:nvSpPr>
        <p:spPr>
          <a:xfrm>
            <a:off x="1389888" y="2651760"/>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389888" y="2743200"/>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64" name="Rectangle 63"/>
          <p:cNvSpPr/>
          <p:nvPr/>
        </p:nvSpPr>
        <p:spPr>
          <a:xfrm>
            <a:off x="1865376" y="2651760"/>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865376" y="2743200"/>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66" name="Rectangle 65"/>
          <p:cNvSpPr/>
          <p:nvPr/>
        </p:nvSpPr>
        <p:spPr>
          <a:xfrm>
            <a:off x="2340864" y="2651760"/>
            <a:ext cx="429768" cy="329184"/>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340864" y="2743200"/>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0C1408"/>
                </a:solidFill>
                <a:latin typeface="Arial"/>
              </a:rPr>
              <a:t>collects</a:t>
            </a:r>
          </a:p>
        </p:txBody>
      </p:sp>
      <p:sp>
        <p:nvSpPr>
          <p:cNvPr id="68" name="Rectangle 67"/>
          <p:cNvSpPr/>
          <p:nvPr/>
        </p:nvSpPr>
        <p:spPr>
          <a:xfrm>
            <a:off x="2816352" y="2651760"/>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816352" y="2743200"/>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70" name="Rectangle 69"/>
          <p:cNvSpPr/>
          <p:nvPr/>
        </p:nvSpPr>
        <p:spPr>
          <a:xfrm>
            <a:off x="3291840" y="2651760"/>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291840" y="2743200"/>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72" name="Rectangle 71"/>
          <p:cNvSpPr/>
          <p:nvPr/>
        </p:nvSpPr>
        <p:spPr>
          <a:xfrm>
            <a:off x="3767328" y="2651760"/>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3767328" y="2743200"/>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74" name="Rectangle 73"/>
          <p:cNvSpPr/>
          <p:nvPr/>
        </p:nvSpPr>
        <p:spPr>
          <a:xfrm>
            <a:off x="4242816" y="2651760"/>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242816" y="2743200"/>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76" name="Rectangle 75"/>
          <p:cNvSpPr/>
          <p:nvPr/>
        </p:nvSpPr>
        <p:spPr>
          <a:xfrm>
            <a:off x="4718304" y="2651760"/>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718304" y="2743200"/>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78" name="Rectangle 77"/>
          <p:cNvSpPr/>
          <p:nvPr/>
        </p:nvSpPr>
        <p:spPr>
          <a:xfrm>
            <a:off x="5193792" y="2651760"/>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193792" y="2743200"/>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80" name="Rectangle 79"/>
          <p:cNvSpPr/>
          <p:nvPr/>
        </p:nvSpPr>
        <p:spPr>
          <a:xfrm>
            <a:off x="5669280" y="2651760"/>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5669280" y="2743200"/>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82" name="Rectangle 81"/>
          <p:cNvSpPr/>
          <p:nvPr/>
        </p:nvSpPr>
        <p:spPr>
          <a:xfrm>
            <a:off x="6144768" y="2651760"/>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6144768" y="2743200"/>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84" name="Rectangle 83"/>
          <p:cNvSpPr/>
          <p:nvPr/>
        </p:nvSpPr>
        <p:spPr>
          <a:xfrm>
            <a:off x="6620256" y="2651760"/>
            <a:ext cx="429768" cy="329184"/>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620256" y="2743200"/>
            <a:ext cx="429768" cy="329184"/>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pays</a:t>
            </a:r>
          </a:p>
        </p:txBody>
      </p:sp>
      <p:sp>
        <p:nvSpPr>
          <p:cNvPr id="86" name="TextBox 85"/>
          <p:cNvSpPr txBox="1"/>
          <p:nvPr/>
        </p:nvSpPr>
        <p:spPr>
          <a:xfrm>
            <a:off x="1389888" y="3054096"/>
            <a:ext cx="429768" cy="182880"/>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seat 1</a:t>
            </a:r>
          </a:p>
        </p:txBody>
      </p:sp>
      <p:sp>
        <p:nvSpPr>
          <p:cNvPr id="87" name="TextBox 86"/>
          <p:cNvSpPr txBox="1"/>
          <p:nvPr/>
        </p:nvSpPr>
        <p:spPr>
          <a:xfrm>
            <a:off x="1865376" y="3054096"/>
            <a:ext cx="429768" cy="182880"/>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seat 2</a:t>
            </a:r>
          </a:p>
        </p:txBody>
      </p:sp>
      <p:sp>
        <p:nvSpPr>
          <p:cNvPr id="88" name="TextBox 87"/>
          <p:cNvSpPr txBox="1"/>
          <p:nvPr/>
        </p:nvSpPr>
        <p:spPr>
          <a:xfrm>
            <a:off x="2340864" y="3054096"/>
            <a:ext cx="429768" cy="182880"/>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seat 3</a:t>
            </a:r>
          </a:p>
        </p:txBody>
      </p:sp>
      <p:sp>
        <p:nvSpPr>
          <p:cNvPr id="89" name="TextBox 88"/>
          <p:cNvSpPr txBox="1"/>
          <p:nvPr/>
        </p:nvSpPr>
        <p:spPr>
          <a:xfrm>
            <a:off x="2816352" y="3054096"/>
            <a:ext cx="429768" cy="182880"/>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seat 4</a:t>
            </a:r>
          </a:p>
        </p:txBody>
      </p:sp>
      <p:sp>
        <p:nvSpPr>
          <p:cNvPr id="90" name="TextBox 89"/>
          <p:cNvSpPr txBox="1"/>
          <p:nvPr/>
        </p:nvSpPr>
        <p:spPr>
          <a:xfrm>
            <a:off x="3291840" y="3054096"/>
            <a:ext cx="429768" cy="182880"/>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seat 5</a:t>
            </a:r>
          </a:p>
        </p:txBody>
      </p:sp>
      <p:sp>
        <p:nvSpPr>
          <p:cNvPr id="91" name="TextBox 90"/>
          <p:cNvSpPr txBox="1"/>
          <p:nvPr/>
        </p:nvSpPr>
        <p:spPr>
          <a:xfrm>
            <a:off x="3767328" y="3054096"/>
            <a:ext cx="429768" cy="182880"/>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seat 6</a:t>
            </a:r>
          </a:p>
        </p:txBody>
      </p:sp>
      <p:sp>
        <p:nvSpPr>
          <p:cNvPr id="92" name="TextBox 91"/>
          <p:cNvSpPr txBox="1"/>
          <p:nvPr/>
        </p:nvSpPr>
        <p:spPr>
          <a:xfrm>
            <a:off x="4242816" y="3054096"/>
            <a:ext cx="429768" cy="182880"/>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seat 7</a:t>
            </a:r>
          </a:p>
        </p:txBody>
      </p:sp>
      <p:sp>
        <p:nvSpPr>
          <p:cNvPr id="93" name="TextBox 92"/>
          <p:cNvSpPr txBox="1"/>
          <p:nvPr/>
        </p:nvSpPr>
        <p:spPr>
          <a:xfrm>
            <a:off x="4718304" y="3054096"/>
            <a:ext cx="429768" cy="182880"/>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seat 8</a:t>
            </a:r>
          </a:p>
        </p:txBody>
      </p:sp>
      <p:sp>
        <p:nvSpPr>
          <p:cNvPr id="94" name="TextBox 93"/>
          <p:cNvSpPr txBox="1"/>
          <p:nvPr/>
        </p:nvSpPr>
        <p:spPr>
          <a:xfrm>
            <a:off x="5193792" y="3054096"/>
            <a:ext cx="429768" cy="182880"/>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seat 9</a:t>
            </a:r>
          </a:p>
        </p:txBody>
      </p:sp>
      <p:sp>
        <p:nvSpPr>
          <p:cNvPr id="95" name="TextBox 94"/>
          <p:cNvSpPr txBox="1"/>
          <p:nvPr/>
        </p:nvSpPr>
        <p:spPr>
          <a:xfrm>
            <a:off x="5669280" y="3054096"/>
            <a:ext cx="429768" cy="182880"/>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seat 10</a:t>
            </a:r>
          </a:p>
        </p:txBody>
      </p:sp>
      <p:sp>
        <p:nvSpPr>
          <p:cNvPr id="96" name="TextBox 95"/>
          <p:cNvSpPr txBox="1"/>
          <p:nvPr/>
        </p:nvSpPr>
        <p:spPr>
          <a:xfrm>
            <a:off x="6144768" y="3054096"/>
            <a:ext cx="429768" cy="182880"/>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seat 11</a:t>
            </a:r>
          </a:p>
        </p:txBody>
      </p:sp>
      <p:sp>
        <p:nvSpPr>
          <p:cNvPr id="97" name="TextBox 96"/>
          <p:cNvSpPr txBox="1"/>
          <p:nvPr/>
        </p:nvSpPr>
        <p:spPr>
          <a:xfrm>
            <a:off x="6620256" y="3054096"/>
            <a:ext cx="429768" cy="182880"/>
          </a:xfrm>
          <a:prstGeom prst="rect">
            <a:avLst/>
          </a:prstGeom>
          <a:noFill/>
        </p:spPr>
        <p:txBody>
          <a:bodyPr wrap="square" lIns="0" rIns="0" tIns="0" bIns="0" anchor="t">
            <a:spAutoFit/>
          </a:bodyPr>
          <a:lstStyle/>
          <a:p>
            <a:pPr algn="ctr">
              <a:lnSpc>
                <a:spcPct val="100000"/>
              </a:lnSpc>
              <a:spcAft>
                <a:spcPts val="400"/>
              </a:spcAft>
            </a:pPr>
            <a:r>
              <a:rPr sz="720" b="0" i="0">
                <a:solidFill>
                  <a:srgbClr val="6F7B68"/>
                </a:solidFill>
                <a:latin typeface="Arial"/>
              </a:rPr>
              <a:t>seat 12</a:t>
            </a:r>
          </a:p>
        </p:txBody>
      </p:sp>
      <p:graphicFrame>
        <p:nvGraphicFramePr>
          <p:cNvPr id="98" name="Table 97"/>
          <p:cNvGraphicFramePr>
            <a:graphicFrameLocks noGrp="1"/>
          </p:cNvGraphicFramePr>
          <p:nvPr/>
        </p:nvGraphicFramePr>
        <p:xfrm>
          <a:off x="566928" y="3675887"/>
          <a:ext cx="6583680" cy="1463040"/>
        </p:xfrm>
        <a:graphic>
          <a:graphicData uri="http://schemas.openxmlformats.org/drawingml/2006/table">
            <a:tbl>
              <a:tblPr>
                <a:tableStyleId>{5C22544A-7EE6-4342-B048-85BDC9FD1C3A}</a:tableStyleId>
              </a:tblPr>
              <a:tblGrid>
                <a:gridCol w="3621024"/>
                <a:gridCol w="2962656"/>
              </a:tblGrid>
              <a:tr h="292608">
                <a:tc>
                  <a:txBody>
                    <a:bodyPr wrap="square"/>
                    <a:lstStyle/>
                    <a:p>
                      <a:pPr algn="l"/>
                      <a:r>
                        <a:rPr sz="900" b="1">
                          <a:solidFill>
                            <a:srgbClr val="F3FCE7"/>
                          </a:solidFill>
                          <a:latin typeface="Arial"/>
                        </a:rPr>
                        <a:t>Worked in rupees</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Amount</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92608">
                <a:tc>
                  <a:txBody>
                    <a:bodyPr wrap="square"/>
                    <a:lstStyle/>
                    <a:p>
                      <a:pPr algn="l"/>
                      <a:r>
                        <a:rPr sz="960" b="0">
                          <a:solidFill>
                            <a:srgbClr val="0C1408"/>
                          </a:solidFill>
                          <a:latin typeface="Arial"/>
                        </a:rPr>
                        <a:t>Twelve members, Rs 10,000 each a month</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Pot of Rs 120,000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92608">
                <a:tc>
                  <a:txBody>
                    <a:bodyPr wrap="square"/>
                    <a:lstStyle/>
                    <a:p>
                      <a:pPr algn="l"/>
                      <a:r>
                        <a:rPr sz="960" b="0">
                          <a:solidFill>
                            <a:srgbClr val="0C1408"/>
                          </a:solidFill>
                          <a:latin typeface="Arial"/>
                        </a:rPr>
                        <a:t>Seat 1 collects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Rs 120,000, having paid Rs 10,000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92608">
                <a:tc>
                  <a:txBody>
                    <a:bodyPr wrap="square"/>
                    <a:lstStyle/>
                    <a:p>
                      <a:pPr algn="l"/>
                      <a:r>
                        <a:rPr sz="960" b="0">
                          <a:solidFill>
                            <a:srgbClr val="0C1408"/>
                          </a:solidFill>
                          <a:latin typeface="Arial"/>
                        </a:rPr>
                        <a:t>Seat 12 collects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Rs 120,000, having paid Rs 120,000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92608">
                <a:tc>
                  <a:txBody>
                    <a:bodyPr wrap="square"/>
                    <a:lstStyle/>
                    <a:p>
                      <a:pPr algn="l"/>
                      <a:r>
                        <a:rPr sz="960" b="0">
                          <a:solidFill>
                            <a:srgbClr val="0C1408"/>
                          </a:solidFill>
                          <a:latin typeface="Arial"/>
                        </a:rPr>
                        <a:t>Every member, at the end of the cycle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Paid Rs 120,000 and received Rs 120,000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99" name="TextBox 98"/>
          <p:cNvSpPr txBox="1"/>
          <p:nvPr/>
        </p:nvSpPr>
        <p:spPr>
          <a:xfrm>
            <a:off x="7607808" y="1572768"/>
            <a:ext cx="4023360" cy="274320"/>
          </a:xfrm>
          <a:prstGeom prst="rect">
            <a:avLst/>
          </a:prstGeom>
          <a:noFill/>
        </p:spPr>
        <p:txBody>
          <a:bodyPr wrap="square" lIns="0" rIns="0" tIns="0" bIns="0" anchor="t">
            <a:spAutoFit/>
          </a:bodyPr>
          <a:lstStyle/>
          <a:p>
            <a:pPr algn="l">
              <a:lnSpc>
                <a:spcPct val="100000"/>
              </a:lnSpc>
              <a:spcAft>
                <a:spcPts val="400"/>
              </a:spcAft>
            </a:pPr>
            <a:r>
              <a:rPr sz="1240" b="0" i="0">
                <a:solidFill>
                  <a:srgbClr val="22450C"/>
                </a:solidFill>
                <a:latin typeface="Georgia"/>
              </a:rPr>
              <a:t>The two halves</a:t>
            </a:r>
          </a:p>
        </p:txBody>
      </p:sp>
      <p:sp>
        <p:nvSpPr>
          <p:cNvPr id="100" name="TextBox 99"/>
          <p:cNvSpPr txBox="1"/>
          <p:nvPr/>
        </p:nvSpPr>
        <p:spPr>
          <a:xfrm>
            <a:off x="7607808" y="1920240"/>
            <a:ext cx="4023360" cy="365760"/>
          </a:xfrm>
          <a:prstGeom prst="rect">
            <a:avLst/>
          </a:prstGeom>
          <a:noFill/>
        </p:spPr>
        <p:txBody>
          <a:bodyPr wrap="square" lIns="0" rIns="0" tIns="0" bIns="0">
            <a:spAutoFit/>
          </a:bodyPr>
          <a:lstStyle/>
          <a:p>
            <a:pPr>
              <a:lnSpc>
                <a:spcPct val="105000"/>
              </a:lnSpc>
              <a:spcAft>
                <a:spcPts val="900"/>
              </a:spcAft>
            </a:pPr>
            <a:r>
              <a:rPr sz="1040" b="1">
                <a:solidFill>
                  <a:srgbClr val="6DC72A"/>
                </a:solidFill>
                <a:latin typeface="Georgia"/>
              </a:rPr>
              <a:t>|  </a:t>
            </a:r>
            <a:r>
              <a:rPr sz="1040" b="1">
                <a:solidFill>
                  <a:srgbClr val="22450C"/>
                </a:solidFill>
                <a:latin typeface="Arial"/>
              </a:rPr>
              <a:t>Collecting early.  </a:t>
            </a:r>
            <a:r>
              <a:rPr sz="1040">
                <a:solidFill>
                  <a:srgbClr val="0C1408"/>
                </a:solidFill>
                <a:latin typeface="Arial"/>
              </a:rPr>
              <a:t>A member receives a lump sum before paying for it: an advance without interest, repaid in instalments.</a:t>
            </a:r>
          </a:p>
          <a:p>
            <a:pPr>
              <a:lnSpc>
                <a:spcPct val="105000"/>
              </a:lnSpc>
              <a:spcAft>
                <a:spcPts val="900"/>
              </a:spcAft>
            </a:pPr>
            <a:r>
              <a:rPr sz="1040" b="1">
                <a:solidFill>
                  <a:srgbClr val="6DC72A"/>
                </a:solidFill>
                <a:latin typeface="Georgia"/>
              </a:rPr>
              <a:t>|  </a:t>
            </a:r>
            <a:r>
              <a:rPr sz="1040" b="1">
                <a:solidFill>
                  <a:srgbClr val="22450C"/>
                </a:solidFill>
                <a:latin typeface="Arial"/>
              </a:rPr>
              <a:t>Collecting late.  </a:t>
            </a:r>
            <a:r>
              <a:rPr sz="1040">
                <a:solidFill>
                  <a:srgbClr val="0C1408"/>
                </a:solidFill>
                <a:latin typeface="Arial"/>
              </a:rPr>
              <a:t>A member pays before receiving: saving under a commitment the group enforces.</a:t>
            </a:r>
          </a:p>
          <a:p>
            <a:pPr>
              <a:lnSpc>
                <a:spcPct val="105000"/>
              </a:lnSpc>
              <a:spcAft>
                <a:spcPts val="900"/>
              </a:spcAft>
            </a:pPr>
            <a:r>
              <a:rPr sz="1040" b="1">
                <a:solidFill>
                  <a:srgbClr val="6DC72A"/>
                </a:solidFill>
                <a:latin typeface="Georgia"/>
              </a:rPr>
              <a:t>|  </a:t>
            </a:r>
            <a:r>
              <a:rPr sz="1040" b="1">
                <a:solidFill>
                  <a:srgbClr val="22450C"/>
                </a:solidFill>
                <a:latin typeface="Arial"/>
              </a:rPr>
              <a:t>Paid in equals paid out.  </a:t>
            </a:r>
            <a:r>
              <a:rPr sz="1040">
                <a:solidFill>
                  <a:srgbClr val="0C1408"/>
                </a:solidFill>
                <a:latin typeface="Arial"/>
              </a:rPr>
              <a:t>The committee holds nothing at rest and earns nothing for itself.</a:t>
            </a:r>
          </a:p>
          <a:p>
            <a:pPr>
              <a:lnSpc>
                <a:spcPct val="105000"/>
              </a:lnSpc>
              <a:spcAft>
                <a:spcPts val="900"/>
              </a:spcAft>
            </a:pPr>
            <a:r>
              <a:rPr sz="1040" b="1">
                <a:solidFill>
                  <a:srgbClr val="6DC72A"/>
                </a:solidFill>
                <a:latin typeface="Georgia"/>
              </a:rPr>
              <a:t>|  </a:t>
            </a:r>
            <a:r>
              <a:rPr sz="1040" b="1">
                <a:solidFill>
                  <a:srgbClr val="22450C"/>
                </a:solidFill>
                <a:latin typeface="Arial"/>
              </a:rPr>
              <a:t>The organiser.  </a:t>
            </a:r>
            <a:r>
              <a:rPr sz="1040">
                <a:solidFill>
                  <a:srgbClr val="0C1408"/>
                </a:solidFill>
                <a:latin typeface="Arial"/>
              </a:rPr>
              <a:t>In the offline committee the organiser holds the pot. Halqa removes that custody, which is the precondition of every large committee fraud on record.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01 · THE INSTRUMENT</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The risk sits in the early seats</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When a member collects, the contributions still owed to the group are that member’s forward liability. It is largest at the first seat and nil at the last.</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24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6</a:t>
            </a:r>
          </a:p>
        </p:txBody>
      </p:sp>
      <p:sp>
        <p:nvSpPr>
          <p:cNvPr id="10" name="TextBox 9"/>
          <p:cNvSpPr txBox="1"/>
          <p:nvPr/>
        </p:nvSpPr>
        <p:spPr>
          <a:xfrm>
            <a:off x="566928" y="1572768"/>
            <a:ext cx="6035040" cy="182880"/>
          </a:xfrm>
          <a:prstGeom prst="rect">
            <a:avLst/>
          </a:prstGeom>
          <a:noFill/>
        </p:spPr>
        <p:txBody>
          <a:bodyPr wrap="square" lIns="0" rIns="0" tIns="0" bIns="0" anchor="t">
            <a:spAutoFit/>
          </a:bodyPr>
          <a:lstStyle/>
          <a:p>
            <a:pPr algn="l">
              <a:lnSpc>
                <a:spcPct val="100000"/>
              </a:lnSpc>
              <a:spcAft>
                <a:spcPts val="400"/>
              </a:spcAft>
            </a:pPr>
            <a:r>
              <a:rPr sz="840" b="0" i="1" spc="30">
                <a:solidFill>
                  <a:srgbClr val="6F7B68"/>
                </a:solidFill>
                <a:latin typeface="Arial"/>
              </a:rPr>
              <a:t>EXHIBIT 3   Forward liability by seat, twelve members at Rs 10,000</a:t>
            </a:r>
          </a:p>
        </p:txBody>
      </p:sp>
      <p:sp>
        <p:nvSpPr>
          <p:cNvPr id="11" name="TextBox 10"/>
          <p:cNvSpPr txBox="1"/>
          <p:nvPr/>
        </p:nvSpPr>
        <p:spPr>
          <a:xfrm>
            <a:off x="566928" y="1883663"/>
            <a:ext cx="713232" cy="182880"/>
          </a:xfrm>
          <a:prstGeom prst="rect">
            <a:avLst/>
          </a:prstGeom>
          <a:noFill/>
        </p:spPr>
        <p:txBody>
          <a:bodyPr wrap="square" lIns="0" rIns="0" tIns="0" bIns="0" anchor="t">
            <a:spAutoFit/>
          </a:bodyPr>
          <a:lstStyle/>
          <a:p>
            <a:pPr algn="r">
              <a:lnSpc>
                <a:spcPct val="100000"/>
              </a:lnSpc>
              <a:spcAft>
                <a:spcPts val="400"/>
              </a:spcAft>
            </a:pPr>
            <a:r>
              <a:rPr sz="960" b="0" i="0">
                <a:solidFill>
                  <a:srgbClr val="0C1408"/>
                </a:solidFill>
                <a:latin typeface="Arial"/>
              </a:rPr>
              <a:t>Seat 1</a:t>
            </a:r>
          </a:p>
        </p:txBody>
      </p:sp>
      <p:sp>
        <p:nvSpPr>
          <p:cNvPr id="12" name="Rectangle 11"/>
          <p:cNvSpPr/>
          <p:nvPr/>
        </p:nvSpPr>
        <p:spPr>
          <a:xfrm>
            <a:off x="1389888" y="1874519"/>
            <a:ext cx="4206240" cy="182880"/>
          </a:xfrm>
          <a:prstGeom prst="rect">
            <a:avLst/>
          </a:prstGeom>
          <a:solidFill>
            <a:srgbClr val="356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0" y="1883663"/>
            <a:ext cx="1005840" cy="182880"/>
          </a:xfrm>
          <a:prstGeom prst="rect">
            <a:avLst/>
          </a:prstGeom>
          <a:noFill/>
        </p:spPr>
        <p:txBody>
          <a:bodyPr wrap="square" lIns="0" rIns="0" tIns="0" bIns="0" anchor="t">
            <a:spAutoFit/>
          </a:bodyPr>
          <a:lstStyle/>
          <a:p>
            <a:pPr algn="l">
              <a:lnSpc>
                <a:spcPct val="100000"/>
              </a:lnSpc>
              <a:spcAft>
                <a:spcPts val="400"/>
              </a:spcAft>
            </a:pPr>
            <a:r>
              <a:rPr sz="960" b="1" i="0">
                <a:solidFill>
                  <a:srgbClr val="22450C"/>
                </a:solidFill>
                <a:latin typeface="Arial"/>
              </a:rPr>
              <a:t>Rs 110,000</a:t>
            </a:r>
          </a:p>
        </p:txBody>
      </p:sp>
      <p:sp>
        <p:nvSpPr>
          <p:cNvPr id="14" name="TextBox 13"/>
          <p:cNvSpPr txBox="1"/>
          <p:nvPr/>
        </p:nvSpPr>
        <p:spPr>
          <a:xfrm>
            <a:off x="566928" y="2199131"/>
            <a:ext cx="713232" cy="182880"/>
          </a:xfrm>
          <a:prstGeom prst="rect">
            <a:avLst/>
          </a:prstGeom>
          <a:noFill/>
        </p:spPr>
        <p:txBody>
          <a:bodyPr wrap="square" lIns="0" rIns="0" tIns="0" bIns="0" anchor="t">
            <a:spAutoFit/>
          </a:bodyPr>
          <a:lstStyle/>
          <a:p>
            <a:pPr algn="r">
              <a:lnSpc>
                <a:spcPct val="100000"/>
              </a:lnSpc>
              <a:spcAft>
                <a:spcPts val="400"/>
              </a:spcAft>
            </a:pPr>
            <a:r>
              <a:rPr sz="960" b="0" i="0">
                <a:solidFill>
                  <a:srgbClr val="0C1408"/>
                </a:solidFill>
                <a:latin typeface="Arial"/>
              </a:rPr>
              <a:t>Seat 2</a:t>
            </a:r>
          </a:p>
        </p:txBody>
      </p:sp>
      <p:sp>
        <p:nvSpPr>
          <p:cNvPr id="15" name="Rectangle 14"/>
          <p:cNvSpPr/>
          <p:nvPr/>
        </p:nvSpPr>
        <p:spPr>
          <a:xfrm>
            <a:off x="1389888" y="2189987"/>
            <a:ext cx="3823854" cy="182880"/>
          </a:xfrm>
          <a:prstGeom prst="rect">
            <a:avLst/>
          </a:prstGeom>
          <a:solidFill>
            <a:srgbClr val="356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86894" y="2199131"/>
            <a:ext cx="1005840" cy="182880"/>
          </a:xfrm>
          <a:prstGeom prst="rect">
            <a:avLst/>
          </a:prstGeom>
          <a:noFill/>
        </p:spPr>
        <p:txBody>
          <a:bodyPr wrap="square" lIns="0" rIns="0" tIns="0" bIns="0" anchor="t">
            <a:spAutoFit/>
          </a:bodyPr>
          <a:lstStyle/>
          <a:p>
            <a:pPr algn="l">
              <a:lnSpc>
                <a:spcPct val="100000"/>
              </a:lnSpc>
              <a:spcAft>
                <a:spcPts val="400"/>
              </a:spcAft>
            </a:pPr>
            <a:r>
              <a:rPr sz="960" b="1" i="0">
                <a:solidFill>
                  <a:srgbClr val="22450C"/>
                </a:solidFill>
                <a:latin typeface="Arial"/>
              </a:rPr>
              <a:t>Rs 100,000</a:t>
            </a:r>
          </a:p>
        </p:txBody>
      </p:sp>
      <p:sp>
        <p:nvSpPr>
          <p:cNvPr id="17" name="TextBox 16"/>
          <p:cNvSpPr txBox="1"/>
          <p:nvPr/>
        </p:nvSpPr>
        <p:spPr>
          <a:xfrm>
            <a:off x="566928" y="2514599"/>
            <a:ext cx="713232" cy="182880"/>
          </a:xfrm>
          <a:prstGeom prst="rect">
            <a:avLst/>
          </a:prstGeom>
          <a:noFill/>
        </p:spPr>
        <p:txBody>
          <a:bodyPr wrap="square" lIns="0" rIns="0" tIns="0" bIns="0" anchor="t">
            <a:spAutoFit/>
          </a:bodyPr>
          <a:lstStyle/>
          <a:p>
            <a:pPr algn="r">
              <a:lnSpc>
                <a:spcPct val="100000"/>
              </a:lnSpc>
              <a:spcAft>
                <a:spcPts val="400"/>
              </a:spcAft>
            </a:pPr>
            <a:r>
              <a:rPr sz="960" b="0" i="0">
                <a:solidFill>
                  <a:srgbClr val="0C1408"/>
                </a:solidFill>
                <a:latin typeface="Arial"/>
              </a:rPr>
              <a:t>Seat 3</a:t>
            </a:r>
          </a:p>
        </p:txBody>
      </p:sp>
      <p:sp>
        <p:nvSpPr>
          <p:cNvPr id="18" name="Rectangle 17"/>
          <p:cNvSpPr/>
          <p:nvPr/>
        </p:nvSpPr>
        <p:spPr>
          <a:xfrm>
            <a:off x="1389888" y="2505455"/>
            <a:ext cx="3441469" cy="182880"/>
          </a:xfrm>
          <a:prstGeom prst="rect">
            <a:avLst/>
          </a:prstGeom>
          <a:solidFill>
            <a:srgbClr val="356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904509" y="2514599"/>
            <a:ext cx="1005840" cy="182880"/>
          </a:xfrm>
          <a:prstGeom prst="rect">
            <a:avLst/>
          </a:prstGeom>
          <a:noFill/>
        </p:spPr>
        <p:txBody>
          <a:bodyPr wrap="square" lIns="0" rIns="0" tIns="0" bIns="0" anchor="t">
            <a:spAutoFit/>
          </a:bodyPr>
          <a:lstStyle/>
          <a:p>
            <a:pPr algn="l">
              <a:lnSpc>
                <a:spcPct val="100000"/>
              </a:lnSpc>
              <a:spcAft>
                <a:spcPts val="400"/>
              </a:spcAft>
            </a:pPr>
            <a:r>
              <a:rPr sz="960" b="1" i="0">
                <a:solidFill>
                  <a:srgbClr val="22450C"/>
                </a:solidFill>
                <a:latin typeface="Arial"/>
              </a:rPr>
              <a:t>Rs 90,000</a:t>
            </a:r>
          </a:p>
        </p:txBody>
      </p:sp>
      <p:sp>
        <p:nvSpPr>
          <p:cNvPr id="20" name="TextBox 19"/>
          <p:cNvSpPr txBox="1"/>
          <p:nvPr/>
        </p:nvSpPr>
        <p:spPr>
          <a:xfrm>
            <a:off x="566928" y="2830067"/>
            <a:ext cx="713232" cy="182880"/>
          </a:xfrm>
          <a:prstGeom prst="rect">
            <a:avLst/>
          </a:prstGeom>
          <a:noFill/>
        </p:spPr>
        <p:txBody>
          <a:bodyPr wrap="square" lIns="0" rIns="0" tIns="0" bIns="0" anchor="t">
            <a:spAutoFit/>
          </a:bodyPr>
          <a:lstStyle/>
          <a:p>
            <a:pPr algn="r">
              <a:lnSpc>
                <a:spcPct val="100000"/>
              </a:lnSpc>
              <a:spcAft>
                <a:spcPts val="400"/>
              </a:spcAft>
            </a:pPr>
            <a:r>
              <a:rPr sz="960" b="0" i="0">
                <a:solidFill>
                  <a:srgbClr val="0C1408"/>
                </a:solidFill>
                <a:latin typeface="Arial"/>
              </a:rPr>
              <a:t>Seat 4</a:t>
            </a:r>
          </a:p>
        </p:txBody>
      </p:sp>
      <p:sp>
        <p:nvSpPr>
          <p:cNvPr id="21" name="Rectangle 20"/>
          <p:cNvSpPr/>
          <p:nvPr/>
        </p:nvSpPr>
        <p:spPr>
          <a:xfrm>
            <a:off x="1389888" y="2820923"/>
            <a:ext cx="3059083" cy="182880"/>
          </a:xfrm>
          <a:prstGeom prst="rect">
            <a:avLst/>
          </a:prstGeom>
          <a:solidFill>
            <a:srgbClr val="356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22123" y="2830067"/>
            <a:ext cx="1005840" cy="182880"/>
          </a:xfrm>
          <a:prstGeom prst="rect">
            <a:avLst/>
          </a:prstGeom>
          <a:noFill/>
        </p:spPr>
        <p:txBody>
          <a:bodyPr wrap="square" lIns="0" rIns="0" tIns="0" bIns="0" anchor="t">
            <a:spAutoFit/>
          </a:bodyPr>
          <a:lstStyle/>
          <a:p>
            <a:pPr algn="l">
              <a:lnSpc>
                <a:spcPct val="100000"/>
              </a:lnSpc>
              <a:spcAft>
                <a:spcPts val="400"/>
              </a:spcAft>
            </a:pPr>
            <a:r>
              <a:rPr sz="960" b="1" i="0">
                <a:solidFill>
                  <a:srgbClr val="22450C"/>
                </a:solidFill>
                <a:latin typeface="Arial"/>
              </a:rPr>
              <a:t>Rs 80,000</a:t>
            </a:r>
          </a:p>
        </p:txBody>
      </p:sp>
      <p:sp>
        <p:nvSpPr>
          <p:cNvPr id="23" name="TextBox 22"/>
          <p:cNvSpPr txBox="1"/>
          <p:nvPr/>
        </p:nvSpPr>
        <p:spPr>
          <a:xfrm>
            <a:off x="566928" y="3145535"/>
            <a:ext cx="713232" cy="182880"/>
          </a:xfrm>
          <a:prstGeom prst="rect">
            <a:avLst/>
          </a:prstGeom>
          <a:noFill/>
        </p:spPr>
        <p:txBody>
          <a:bodyPr wrap="square" lIns="0" rIns="0" tIns="0" bIns="0" anchor="t">
            <a:spAutoFit/>
          </a:bodyPr>
          <a:lstStyle/>
          <a:p>
            <a:pPr algn="r">
              <a:lnSpc>
                <a:spcPct val="100000"/>
              </a:lnSpc>
              <a:spcAft>
                <a:spcPts val="400"/>
              </a:spcAft>
            </a:pPr>
            <a:r>
              <a:rPr sz="960" b="0" i="0">
                <a:solidFill>
                  <a:srgbClr val="0C1408"/>
                </a:solidFill>
                <a:latin typeface="Arial"/>
              </a:rPr>
              <a:t>Seat 5</a:t>
            </a:r>
          </a:p>
        </p:txBody>
      </p:sp>
      <p:sp>
        <p:nvSpPr>
          <p:cNvPr id="24" name="Rectangle 23"/>
          <p:cNvSpPr/>
          <p:nvPr/>
        </p:nvSpPr>
        <p:spPr>
          <a:xfrm>
            <a:off x="1389888" y="3136391"/>
            <a:ext cx="2676698" cy="182880"/>
          </a:xfrm>
          <a:prstGeom prst="rect">
            <a:avLst/>
          </a:prstGeom>
          <a:solidFill>
            <a:srgbClr val="356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39738" y="3145535"/>
            <a:ext cx="1005840" cy="182880"/>
          </a:xfrm>
          <a:prstGeom prst="rect">
            <a:avLst/>
          </a:prstGeom>
          <a:noFill/>
        </p:spPr>
        <p:txBody>
          <a:bodyPr wrap="square" lIns="0" rIns="0" tIns="0" bIns="0" anchor="t">
            <a:spAutoFit/>
          </a:bodyPr>
          <a:lstStyle/>
          <a:p>
            <a:pPr algn="l">
              <a:lnSpc>
                <a:spcPct val="100000"/>
              </a:lnSpc>
              <a:spcAft>
                <a:spcPts val="400"/>
              </a:spcAft>
            </a:pPr>
            <a:r>
              <a:rPr sz="960" b="1" i="0">
                <a:solidFill>
                  <a:srgbClr val="22450C"/>
                </a:solidFill>
                <a:latin typeface="Arial"/>
              </a:rPr>
              <a:t>Rs 70,000</a:t>
            </a:r>
          </a:p>
        </p:txBody>
      </p:sp>
      <p:sp>
        <p:nvSpPr>
          <p:cNvPr id="26" name="TextBox 25"/>
          <p:cNvSpPr txBox="1"/>
          <p:nvPr/>
        </p:nvSpPr>
        <p:spPr>
          <a:xfrm>
            <a:off x="566928" y="3461003"/>
            <a:ext cx="713232" cy="182880"/>
          </a:xfrm>
          <a:prstGeom prst="rect">
            <a:avLst/>
          </a:prstGeom>
          <a:noFill/>
        </p:spPr>
        <p:txBody>
          <a:bodyPr wrap="square" lIns="0" rIns="0" tIns="0" bIns="0" anchor="t">
            <a:spAutoFit/>
          </a:bodyPr>
          <a:lstStyle/>
          <a:p>
            <a:pPr algn="r">
              <a:lnSpc>
                <a:spcPct val="100000"/>
              </a:lnSpc>
              <a:spcAft>
                <a:spcPts val="400"/>
              </a:spcAft>
            </a:pPr>
            <a:r>
              <a:rPr sz="960" b="0" i="0">
                <a:solidFill>
                  <a:srgbClr val="0C1408"/>
                </a:solidFill>
                <a:latin typeface="Arial"/>
              </a:rPr>
              <a:t>Seat 6</a:t>
            </a:r>
          </a:p>
        </p:txBody>
      </p:sp>
      <p:sp>
        <p:nvSpPr>
          <p:cNvPr id="27" name="Rectangle 26"/>
          <p:cNvSpPr/>
          <p:nvPr/>
        </p:nvSpPr>
        <p:spPr>
          <a:xfrm>
            <a:off x="1389888" y="3451859"/>
            <a:ext cx="2294312" cy="182880"/>
          </a:xfrm>
          <a:prstGeom prst="rect">
            <a:avLst/>
          </a:prstGeom>
          <a:solidFill>
            <a:srgbClr val="356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757352" y="3461003"/>
            <a:ext cx="1005840" cy="182880"/>
          </a:xfrm>
          <a:prstGeom prst="rect">
            <a:avLst/>
          </a:prstGeom>
          <a:noFill/>
        </p:spPr>
        <p:txBody>
          <a:bodyPr wrap="square" lIns="0" rIns="0" tIns="0" bIns="0" anchor="t">
            <a:spAutoFit/>
          </a:bodyPr>
          <a:lstStyle/>
          <a:p>
            <a:pPr algn="l">
              <a:lnSpc>
                <a:spcPct val="100000"/>
              </a:lnSpc>
              <a:spcAft>
                <a:spcPts val="400"/>
              </a:spcAft>
            </a:pPr>
            <a:r>
              <a:rPr sz="960" b="1" i="0">
                <a:solidFill>
                  <a:srgbClr val="22450C"/>
                </a:solidFill>
                <a:latin typeface="Arial"/>
              </a:rPr>
              <a:t>Rs 60,000</a:t>
            </a:r>
          </a:p>
        </p:txBody>
      </p:sp>
      <p:sp>
        <p:nvSpPr>
          <p:cNvPr id="29" name="TextBox 28"/>
          <p:cNvSpPr txBox="1"/>
          <p:nvPr/>
        </p:nvSpPr>
        <p:spPr>
          <a:xfrm>
            <a:off x="566928" y="3776471"/>
            <a:ext cx="713232" cy="182880"/>
          </a:xfrm>
          <a:prstGeom prst="rect">
            <a:avLst/>
          </a:prstGeom>
          <a:noFill/>
        </p:spPr>
        <p:txBody>
          <a:bodyPr wrap="square" lIns="0" rIns="0" tIns="0" bIns="0" anchor="t">
            <a:spAutoFit/>
          </a:bodyPr>
          <a:lstStyle/>
          <a:p>
            <a:pPr algn="r">
              <a:lnSpc>
                <a:spcPct val="100000"/>
              </a:lnSpc>
              <a:spcAft>
                <a:spcPts val="400"/>
              </a:spcAft>
            </a:pPr>
            <a:r>
              <a:rPr sz="960" b="0" i="0">
                <a:solidFill>
                  <a:srgbClr val="0C1408"/>
                </a:solidFill>
                <a:latin typeface="Arial"/>
              </a:rPr>
              <a:t>Seat 7</a:t>
            </a:r>
          </a:p>
        </p:txBody>
      </p:sp>
      <p:sp>
        <p:nvSpPr>
          <p:cNvPr id="30" name="Rectangle 29"/>
          <p:cNvSpPr/>
          <p:nvPr/>
        </p:nvSpPr>
        <p:spPr>
          <a:xfrm>
            <a:off x="1389888" y="3767327"/>
            <a:ext cx="1911927" cy="182880"/>
          </a:xfrm>
          <a:prstGeom prst="rect">
            <a:avLst/>
          </a:prstGeom>
          <a:solidFill>
            <a:srgbClr val="356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374967" y="3776471"/>
            <a:ext cx="1005840" cy="182880"/>
          </a:xfrm>
          <a:prstGeom prst="rect">
            <a:avLst/>
          </a:prstGeom>
          <a:noFill/>
        </p:spPr>
        <p:txBody>
          <a:bodyPr wrap="square" lIns="0" rIns="0" tIns="0" bIns="0" anchor="t">
            <a:spAutoFit/>
          </a:bodyPr>
          <a:lstStyle/>
          <a:p>
            <a:pPr algn="l">
              <a:lnSpc>
                <a:spcPct val="100000"/>
              </a:lnSpc>
              <a:spcAft>
                <a:spcPts val="400"/>
              </a:spcAft>
            </a:pPr>
            <a:r>
              <a:rPr sz="960" b="1" i="0">
                <a:solidFill>
                  <a:srgbClr val="22450C"/>
                </a:solidFill>
                <a:latin typeface="Arial"/>
              </a:rPr>
              <a:t>Rs 50,000</a:t>
            </a:r>
          </a:p>
        </p:txBody>
      </p:sp>
      <p:sp>
        <p:nvSpPr>
          <p:cNvPr id="32" name="TextBox 31"/>
          <p:cNvSpPr txBox="1"/>
          <p:nvPr/>
        </p:nvSpPr>
        <p:spPr>
          <a:xfrm>
            <a:off x="566928" y="4091939"/>
            <a:ext cx="713232" cy="182880"/>
          </a:xfrm>
          <a:prstGeom prst="rect">
            <a:avLst/>
          </a:prstGeom>
          <a:noFill/>
        </p:spPr>
        <p:txBody>
          <a:bodyPr wrap="square" lIns="0" rIns="0" tIns="0" bIns="0" anchor="t">
            <a:spAutoFit/>
          </a:bodyPr>
          <a:lstStyle/>
          <a:p>
            <a:pPr algn="r">
              <a:lnSpc>
                <a:spcPct val="100000"/>
              </a:lnSpc>
              <a:spcAft>
                <a:spcPts val="400"/>
              </a:spcAft>
            </a:pPr>
            <a:r>
              <a:rPr sz="960" b="0" i="0">
                <a:solidFill>
                  <a:srgbClr val="0C1408"/>
                </a:solidFill>
                <a:latin typeface="Arial"/>
              </a:rPr>
              <a:t>Seat 8</a:t>
            </a:r>
          </a:p>
        </p:txBody>
      </p:sp>
      <p:sp>
        <p:nvSpPr>
          <p:cNvPr id="33" name="Rectangle 32"/>
          <p:cNvSpPr/>
          <p:nvPr/>
        </p:nvSpPr>
        <p:spPr>
          <a:xfrm>
            <a:off x="1389888" y="4082795"/>
            <a:ext cx="1529541" cy="182880"/>
          </a:xfrm>
          <a:prstGeom prst="rect">
            <a:avLst/>
          </a:prstGeom>
          <a:solidFill>
            <a:srgbClr val="356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992581" y="4091939"/>
            <a:ext cx="1005840" cy="182880"/>
          </a:xfrm>
          <a:prstGeom prst="rect">
            <a:avLst/>
          </a:prstGeom>
          <a:noFill/>
        </p:spPr>
        <p:txBody>
          <a:bodyPr wrap="square" lIns="0" rIns="0" tIns="0" bIns="0" anchor="t">
            <a:spAutoFit/>
          </a:bodyPr>
          <a:lstStyle/>
          <a:p>
            <a:pPr algn="l">
              <a:lnSpc>
                <a:spcPct val="100000"/>
              </a:lnSpc>
              <a:spcAft>
                <a:spcPts val="400"/>
              </a:spcAft>
            </a:pPr>
            <a:r>
              <a:rPr sz="960" b="1" i="0">
                <a:solidFill>
                  <a:srgbClr val="22450C"/>
                </a:solidFill>
                <a:latin typeface="Arial"/>
              </a:rPr>
              <a:t>Rs 40,000</a:t>
            </a:r>
          </a:p>
        </p:txBody>
      </p:sp>
      <p:sp>
        <p:nvSpPr>
          <p:cNvPr id="35" name="TextBox 34"/>
          <p:cNvSpPr txBox="1"/>
          <p:nvPr/>
        </p:nvSpPr>
        <p:spPr>
          <a:xfrm>
            <a:off x="566928" y="4407407"/>
            <a:ext cx="713232" cy="182880"/>
          </a:xfrm>
          <a:prstGeom prst="rect">
            <a:avLst/>
          </a:prstGeom>
          <a:noFill/>
        </p:spPr>
        <p:txBody>
          <a:bodyPr wrap="square" lIns="0" rIns="0" tIns="0" bIns="0" anchor="t">
            <a:spAutoFit/>
          </a:bodyPr>
          <a:lstStyle/>
          <a:p>
            <a:pPr algn="r">
              <a:lnSpc>
                <a:spcPct val="100000"/>
              </a:lnSpc>
              <a:spcAft>
                <a:spcPts val="400"/>
              </a:spcAft>
            </a:pPr>
            <a:r>
              <a:rPr sz="960" b="0" i="0">
                <a:solidFill>
                  <a:srgbClr val="0C1408"/>
                </a:solidFill>
                <a:latin typeface="Arial"/>
              </a:rPr>
              <a:t>Seat 9</a:t>
            </a:r>
          </a:p>
        </p:txBody>
      </p:sp>
      <p:sp>
        <p:nvSpPr>
          <p:cNvPr id="36" name="Rectangle 35"/>
          <p:cNvSpPr/>
          <p:nvPr/>
        </p:nvSpPr>
        <p:spPr>
          <a:xfrm>
            <a:off x="1389888" y="4398263"/>
            <a:ext cx="1147156" cy="182880"/>
          </a:xfrm>
          <a:prstGeom prst="rect">
            <a:avLst/>
          </a:prstGeom>
          <a:solidFill>
            <a:srgbClr val="356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610196" y="4407407"/>
            <a:ext cx="1005840" cy="182880"/>
          </a:xfrm>
          <a:prstGeom prst="rect">
            <a:avLst/>
          </a:prstGeom>
          <a:noFill/>
        </p:spPr>
        <p:txBody>
          <a:bodyPr wrap="square" lIns="0" rIns="0" tIns="0" bIns="0" anchor="t">
            <a:spAutoFit/>
          </a:bodyPr>
          <a:lstStyle/>
          <a:p>
            <a:pPr algn="l">
              <a:lnSpc>
                <a:spcPct val="100000"/>
              </a:lnSpc>
              <a:spcAft>
                <a:spcPts val="400"/>
              </a:spcAft>
            </a:pPr>
            <a:r>
              <a:rPr sz="960" b="1" i="0">
                <a:solidFill>
                  <a:srgbClr val="22450C"/>
                </a:solidFill>
                <a:latin typeface="Arial"/>
              </a:rPr>
              <a:t>Rs 30,000</a:t>
            </a:r>
          </a:p>
        </p:txBody>
      </p:sp>
      <p:sp>
        <p:nvSpPr>
          <p:cNvPr id="38" name="TextBox 37"/>
          <p:cNvSpPr txBox="1"/>
          <p:nvPr/>
        </p:nvSpPr>
        <p:spPr>
          <a:xfrm>
            <a:off x="566928" y="4722875"/>
            <a:ext cx="713232" cy="182880"/>
          </a:xfrm>
          <a:prstGeom prst="rect">
            <a:avLst/>
          </a:prstGeom>
          <a:noFill/>
        </p:spPr>
        <p:txBody>
          <a:bodyPr wrap="square" lIns="0" rIns="0" tIns="0" bIns="0" anchor="t">
            <a:spAutoFit/>
          </a:bodyPr>
          <a:lstStyle/>
          <a:p>
            <a:pPr algn="r">
              <a:lnSpc>
                <a:spcPct val="100000"/>
              </a:lnSpc>
              <a:spcAft>
                <a:spcPts val="400"/>
              </a:spcAft>
            </a:pPr>
            <a:r>
              <a:rPr sz="960" b="0" i="0">
                <a:solidFill>
                  <a:srgbClr val="0C1408"/>
                </a:solidFill>
                <a:latin typeface="Arial"/>
              </a:rPr>
              <a:t>Seat 10</a:t>
            </a:r>
          </a:p>
        </p:txBody>
      </p:sp>
      <p:sp>
        <p:nvSpPr>
          <p:cNvPr id="39" name="Rectangle 38"/>
          <p:cNvSpPr/>
          <p:nvPr/>
        </p:nvSpPr>
        <p:spPr>
          <a:xfrm>
            <a:off x="1389888" y="4713731"/>
            <a:ext cx="764770" cy="18288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227810" y="4722875"/>
            <a:ext cx="1005840" cy="182880"/>
          </a:xfrm>
          <a:prstGeom prst="rect">
            <a:avLst/>
          </a:prstGeom>
          <a:noFill/>
        </p:spPr>
        <p:txBody>
          <a:bodyPr wrap="square" lIns="0" rIns="0" tIns="0" bIns="0" anchor="t">
            <a:spAutoFit/>
          </a:bodyPr>
          <a:lstStyle/>
          <a:p>
            <a:pPr algn="l">
              <a:lnSpc>
                <a:spcPct val="100000"/>
              </a:lnSpc>
              <a:spcAft>
                <a:spcPts val="400"/>
              </a:spcAft>
            </a:pPr>
            <a:r>
              <a:rPr sz="960" b="1" i="0">
                <a:solidFill>
                  <a:srgbClr val="22450C"/>
                </a:solidFill>
                <a:latin typeface="Arial"/>
              </a:rPr>
              <a:t>Rs 20,000</a:t>
            </a:r>
          </a:p>
        </p:txBody>
      </p:sp>
      <p:sp>
        <p:nvSpPr>
          <p:cNvPr id="41" name="TextBox 40"/>
          <p:cNvSpPr txBox="1"/>
          <p:nvPr/>
        </p:nvSpPr>
        <p:spPr>
          <a:xfrm>
            <a:off x="566928" y="5038343"/>
            <a:ext cx="713232" cy="182880"/>
          </a:xfrm>
          <a:prstGeom prst="rect">
            <a:avLst/>
          </a:prstGeom>
          <a:noFill/>
        </p:spPr>
        <p:txBody>
          <a:bodyPr wrap="square" lIns="0" rIns="0" tIns="0" bIns="0" anchor="t">
            <a:spAutoFit/>
          </a:bodyPr>
          <a:lstStyle/>
          <a:p>
            <a:pPr algn="r">
              <a:lnSpc>
                <a:spcPct val="100000"/>
              </a:lnSpc>
              <a:spcAft>
                <a:spcPts val="400"/>
              </a:spcAft>
            </a:pPr>
            <a:r>
              <a:rPr sz="960" b="0" i="0">
                <a:solidFill>
                  <a:srgbClr val="0C1408"/>
                </a:solidFill>
                <a:latin typeface="Arial"/>
              </a:rPr>
              <a:t>Seat 11</a:t>
            </a:r>
          </a:p>
        </p:txBody>
      </p:sp>
      <p:sp>
        <p:nvSpPr>
          <p:cNvPr id="42" name="Rectangle 41"/>
          <p:cNvSpPr/>
          <p:nvPr/>
        </p:nvSpPr>
        <p:spPr>
          <a:xfrm>
            <a:off x="1389888" y="5029199"/>
            <a:ext cx="382385" cy="18288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845425" y="5038343"/>
            <a:ext cx="1005840" cy="182880"/>
          </a:xfrm>
          <a:prstGeom prst="rect">
            <a:avLst/>
          </a:prstGeom>
          <a:noFill/>
        </p:spPr>
        <p:txBody>
          <a:bodyPr wrap="square" lIns="0" rIns="0" tIns="0" bIns="0" anchor="t">
            <a:spAutoFit/>
          </a:bodyPr>
          <a:lstStyle/>
          <a:p>
            <a:pPr algn="l">
              <a:lnSpc>
                <a:spcPct val="100000"/>
              </a:lnSpc>
              <a:spcAft>
                <a:spcPts val="400"/>
              </a:spcAft>
            </a:pPr>
            <a:r>
              <a:rPr sz="960" b="1" i="0">
                <a:solidFill>
                  <a:srgbClr val="22450C"/>
                </a:solidFill>
                <a:latin typeface="Arial"/>
              </a:rPr>
              <a:t>Rs 10,000</a:t>
            </a:r>
          </a:p>
        </p:txBody>
      </p:sp>
      <p:sp>
        <p:nvSpPr>
          <p:cNvPr id="44" name="TextBox 43"/>
          <p:cNvSpPr txBox="1"/>
          <p:nvPr/>
        </p:nvSpPr>
        <p:spPr>
          <a:xfrm>
            <a:off x="566928" y="5353811"/>
            <a:ext cx="713232" cy="182880"/>
          </a:xfrm>
          <a:prstGeom prst="rect">
            <a:avLst/>
          </a:prstGeom>
          <a:noFill/>
        </p:spPr>
        <p:txBody>
          <a:bodyPr wrap="square" lIns="0" rIns="0" tIns="0" bIns="0" anchor="t">
            <a:spAutoFit/>
          </a:bodyPr>
          <a:lstStyle/>
          <a:p>
            <a:pPr algn="r">
              <a:lnSpc>
                <a:spcPct val="100000"/>
              </a:lnSpc>
              <a:spcAft>
                <a:spcPts val="400"/>
              </a:spcAft>
            </a:pPr>
            <a:r>
              <a:rPr sz="960" b="0" i="0">
                <a:solidFill>
                  <a:srgbClr val="0C1408"/>
                </a:solidFill>
                <a:latin typeface="Arial"/>
              </a:rPr>
              <a:t>Seat 12</a:t>
            </a:r>
          </a:p>
        </p:txBody>
      </p:sp>
      <p:sp>
        <p:nvSpPr>
          <p:cNvPr id="45" name="Rectangle 44"/>
          <p:cNvSpPr/>
          <p:nvPr/>
        </p:nvSpPr>
        <p:spPr>
          <a:xfrm>
            <a:off x="1389888" y="5344667"/>
            <a:ext cx="27432" cy="18288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490472" y="5353811"/>
            <a:ext cx="1005840" cy="182880"/>
          </a:xfrm>
          <a:prstGeom prst="rect">
            <a:avLst/>
          </a:prstGeom>
          <a:noFill/>
        </p:spPr>
        <p:txBody>
          <a:bodyPr wrap="square" lIns="0" rIns="0" tIns="0" bIns="0" anchor="t">
            <a:spAutoFit/>
          </a:bodyPr>
          <a:lstStyle/>
          <a:p>
            <a:pPr algn="l">
              <a:lnSpc>
                <a:spcPct val="100000"/>
              </a:lnSpc>
              <a:spcAft>
                <a:spcPts val="400"/>
              </a:spcAft>
            </a:pPr>
            <a:r>
              <a:rPr sz="960" b="1" i="0">
                <a:solidFill>
                  <a:srgbClr val="22450C"/>
                </a:solidFill>
                <a:latin typeface="Arial"/>
              </a:rPr>
              <a:t>nil</a:t>
            </a:r>
          </a:p>
        </p:txBody>
      </p:sp>
      <p:cxnSp>
        <p:nvCxnSpPr>
          <p:cNvPr id="47" name="Connector 46"/>
          <p:cNvCxnSpPr/>
          <p:nvPr/>
        </p:nvCxnSpPr>
        <p:spPr>
          <a:xfrm>
            <a:off x="1389888" y="1828799"/>
            <a:ext cx="0" cy="3744468"/>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566928" y="5742432"/>
            <a:ext cx="6035040"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Lime marks the only seats open to a new member, or to a member in the Rebuilding band, on a twelve member circle. verified against score-bands.ts</a:t>
            </a:r>
          </a:p>
        </p:txBody>
      </p:sp>
      <p:sp>
        <p:nvSpPr>
          <p:cNvPr id="49" name="TextBox 48"/>
          <p:cNvSpPr txBox="1"/>
          <p:nvPr/>
        </p:nvSpPr>
        <p:spPr>
          <a:xfrm>
            <a:off x="7059168" y="1572768"/>
            <a:ext cx="4572000" cy="274320"/>
          </a:xfrm>
          <a:prstGeom prst="rect">
            <a:avLst/>
          </a:prstGeom>
          <a:noFill/>
        </p:spPr>
        <p:txBody>
          <a:bodyPr wrap="square" lIns="0" rIns="0" tIns="0" bIns="0" anchor="t">
            <a:spAutoFit/>
          </a:bodyPr>
          <a:lstStyle/>
          <a:p>
            <a:pPr algn="l">
              <a:lnSpc>
                <a:spcPct val="100000"/>
              </a:lnSpc>
              <a:spcAft>
                <a:spcPts val="400"/>
              </a:spcAft>
            </a:pPr>
            <a:r>
              <a:rPr sz="1240" b="0" i="0">
                <a:solidFill>
                  <a:srgbClr val="22450C"/>
                </a:solidFill>
                <a:latin typeface="Georgia"/>
              </a:rPr>
              <a:t>Who may sit early, and what stands behind them</a:t>
            </a:r>
          </a:p>
        </p:txBody>
      </p:sp>
      <p:sp>
        <p:nvSpPr>
          <p:cNvPr id="50" name="TextBox 49"/>
          <p:cNvSpPr txBox="1"/>
          <p:nvPr/>
        </p:nvSpPr>
        <p:spPr>
          <a:xfrm>
            <a:off x="7059168" y="1938528"/>
            <a:ext cx="4572000" cy="365760"/>
          </a:xfrm>
          <a:prstGeom prst="rect">
            <a:avLst/>
          </a:prstGeom>
          <a:noFill/>
        </p:spPr>
        <p:txBody>
          <a:bodyPr wrap="square" lIns="0" rIns="0" tIns="0" bIns="0">
            <a:spAutoFit/>
          </a:bodyPr>
          <a:lstStyle/>
          <a:p>
            <a:pPr>
              <a:lnSpc>
                <a:spcPct val="105000"/>
              </a:lnSpc>
              <a:spcAft>
                <a:spcPts val="800"/>
              </a:spcAft>
            </a:pPr>
            <a:r>
              <a:rPr sz="1040" b="1">
                <a:solidFill>
                  <a:srgbClr val="6DC72A"/>
                </a:solidFill>
                <a:latin typeface="Georgia"/>
              </a:rPr>
              <a:t>|  </a:t>
            </a:r>
            <a:r>
              <a:rPr sz="1040" b="1">
                <a:solidFill>
                  <a:srgbClr val="22450C"/>
                </a:solidFill>
                <a:latin typeface="Arial"/>
              </a:rPr>
              <a:t>Score bands.  </a:t>
            </a:r>
            <a:r>
              <a:rPr sz="1040">
                <a:solidFill>
                  <a:srgbClr val="0C1408"/>
                </a:solidFill>
                <a:latin typeface="Arial"/>
              </a:rPr>
              <a:t>Four bands decide which seats a member may claim at join.</a:t>
            </a:r>
          </a:p>
          <a:p>
            <a:pPr>
              <a:lnSpc>
                <a:spcPct val="105000"/>
              </a:lnSpc>
              <a:spcAft>
                <a:spcPts val="800"/>
              </a:spcAft>
            </a:pPr>
            <a:r>
              <a:rPr sz="1040" b="1">
                <a:solidFill>
                  <a:srgbClr val="6DC72A"/>
                </a:solidFill>
                <a:latin typeface="Georgia"/>
              </a:rPr>
              <a:t>|  </a:t>
            </a:r>
            <a:r>
              <a:rPr sz="1040" b="1">
                <a:solidFill>
                  <a:srgbClr val="22450C"/>
                </a:solidFill>
                <a:latin typeface="Arial"/>
              </a:rPr>
              <a:t>New member rule.  </a:t>
            </a:r>
            <a:r>
              <a:rPr sz="1040">
                <a:solidFill>
                  <a:srgbClr val="0C1408"/>
                </a:solidFill>
                <a:latin typeface="Arial"/>
              </a:rPr>
              <a:t>With no history, only the final seats, until two clean circles and verification.</a:t>
            </a:r>
          </a:p>
          <a:p>
            <a:pPr>
              <a:lnSpc>
                <a:spcPct val="105000"/>
              </a:lnSpc>
              <a:spcAft>
                <a:spcPts val="800"/>
              </a:spcAft>
            </a:pPr>
            <a:r>
              <a:rPr sz="1040" b="1">
                <a:solidFill>
                  <a:srgbClr val="6DC72A"/>
                </a:solidFill>
                <a:latin typeface="Georgia"/>
              </a:rPr>
              <a:t>|  </a:t>
            </a:r>
            <a:r>
              <a:rPr sz="1040" b="1">
                <a:solidFill>
                  <a:srgbClr val="22450C"/>
                </a:solidFill>
                <a:latin typeface="Arial"/>
              </a:rPr>
              <a:t>Forward liability gate.  </a:t>
            </a:r>
            <a:r>
              <a:rPr sz="1040">
                <a:solidFill>
                  <a:srgbClr val="0C1408"/>
                </a:solidFill>
                <a:latin typeface="Arial"/>
              </a:rPr>
              <a:t>An early seat is withheld where the obligation left after collecting would be too large.</a:t>
            </a:r>
          </a:p>
          <a:p>
            <a:pPr>
              <a:lnSpc>
                <a:spcPct val="105000"/>
              </a:lnSpc>
              <a:spcAft>
                <a:spcPts val="800"/>
              </a:spcAft>
            </a:pPr>
            <a:r>
              <a:rPr sz="1040" b="1">
                <a:solidFill>
                  <a:srgbClr val="6DC72A"/>
                </a:solidFill>
                <a:latin typeface="Georgia"/>
              </a:rPr>
              <a:t>|  </a:t>
            </a:r>
            <a:r>
              <a:rPr sz="1040" b="1">
                <a:solidFill>
                  <a:srgbClr val="22450C"/>
                </a:solidFill>
                <a:latin typeface="Arial"/>
              </a:rPr>
              <a:t>Affordability gate.  </a:t>
            </a:r>
            <a:r>
              <a:rPr sz="1040">
                <a:solidFill>
                  <a:srgbClr val="0C1408"/>
                </a:solidFill>
                <a:latin typeface="Arial"/>
              </a:rPr>
              <a:t>Committed instalments are held to one third of income.</a:t>
            </a:r>
          </a:p>
          <a:p>
            <a:pPr>
              <a:lnSpc>
                <a:spcPct val="105000"/>
              </a:lnSpc>
              <a:spcAft>
                <a:spcPts val="800"/>
              </a:spcAft>
            </a:pPr>
            <a:r>
              <a:rPr sz="1040" b="1">
                <a:solidFill>
                  <a:srgbClr val="6DC72A"/>
                </a:solidFill>
                <a:latin typeface="Georgia"/>
              </a:rPr>
              <a:t>|  </a:t>
            </a:r>
            <a:r>
              <a:rPr sz="1040" b="1">
                <a:solidFill>
                  <a:srgbClr val="22450C"/>
                </a:solidFill>
                <a:latin typeface="Arial"/>
              </a:rPr>
              <a:t>Mutual guarantee and undertaking.  </a:t>
            </a:r>
            <a:r>
              <a:rPr sz="1040">
                <a:solidFill>
                  <a:srgbClr val="0C1408"/>
                </a:solidFill>
                <a:latin typeface="Arial"/>
              </a:rPr>
              <a:t>Signed at join, member to member, and framed for a summary suit.</a:t>
            </a:r>
          </a:p>
          <a:p>
            <a:pPr>
              <a:lnSpc>
                <a:spcPct val="105000"/>
              </a:lnSpc>
              <a:spcAft>
                <a:spcPts val="800"/>
              </a:spcAft>
            </a:pPr>
            <a:r>
              <a:rPr sz="1040" b="1">
                <a:solidFill>
                  <a:srgbClr val="6DC72A"/>
                </a:solidFill>
                <a:latin typeface="Georgia"/>
              </a:rPr>
              <a:t>|  </a:t>
            </a:r>
            <a:r>
              <a:rPr sz="1040" b="1">
                <a:solidFill>
                  <a:srgbClr val="22450C"/>
                </a:solidFill>
                <a:latin typeface="Arial"/>
              </a:rPr>
              <a:t>Cover.  </a:t>
            </a:r>
            <a:r>
              <a:rPr sz="1040">
                <a:solidFill>
                  <a:srgbClr val="0C1408"/>
                </a:solidFill>
                <a:latin typeface="Arial"/>
              </a:rPr>
              <a:t>Where attached, a licensed takaful operator covers default after collection.</a:t>
            </a:r>
          </a:p>
        </p:txBody>
      </p:sp>
      <p:sp>
        <p:nvSpPr>
          <p:cNvPr id="51" name="Rectangle 50"/>
          <p:cNvSpPr/>
          <p:nvPr/>
        </p:nvSpPr>
        <p:spPr>
          <a:xfrm>
            <a:off x="7059168" y="4892040"/>
            <a:ext cx="4572000" cy="109728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059168" y="4892040"/>
            <a:ext cx="45720" cy="109728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223760" y="5001768"/>
            <a:ext cx="4297680"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What no control uses</a:t>
            </a:r>
          </a:p>
        </p:txBody>
      </p:sp>
      <p:sp>
        <p:nvSpPr>
          <p:cNvPr id="54" name="TextBox 53"/>
          <p:cNvSpPr txBox="1"/>
          <p:nvPr/>
        </p:nvSpPr>
        <p:spPr>
          <a:xfrm>
            <a:off x="7223760" y="5294376"/>
            <a:ext cx="4297680" cy="640080"/>
          </a:xfrm>
          <a:prstGeom prst="rect">
            <a:avLst/>
          </a:prstGeom>
          <a:noFill/>
        </p:spPr>
        <p:txBody>
          <a:bodyPr wrap="square" lIns="0" rIns="0" tIns="0" bIns="0" anchor="t">
            <a:spAutoFit/>
          </a:bodyPr>
          <a:lstStyle/>
          <a:p>
            <a:pPr algn="l">
              <a:lnSpc>
                <a:spcPct val="112000"/>
              </a:lnSpc>
              <a:spcAft>
                <a:spcPts val="500"/>
              </a:spcAft>
            </a:pPr>
            <a:r>
              <a:rPr sz="1000" b="0" i="0">
                <a:solidFill>
                  <a:srgbClr val="0C1408"/>
                </a:solidFill>
                <a:latin typeface="Arial"/>
              </a:rPr>
              <a:t>A pool of money, a security deposit or a payout held back. Each would place member money with Halqa, which the design does not permit.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01 · THE INSTRUMENT</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How the collection order is set</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Two methods are offered. Two are refused, each because it would change what the arrangement is in law.</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24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7</a:t>
            </a:r>
          </a:p>
        </p:txBody>
      </p:sp>
      <p:sp>
        <p:nvSpPr>
          <p:cNvPr id="10" name="TextBox 9"/>
          <p:cNvSpPr txBox="1"/>
          <p:nvPr/>
        </p:nvSpPr>
        <p:spPr>
          <a:xfrm>
            <a:off x="566928" y="1572768"/>
            <a:ext cx="11057839" cy="182880"/>
          </a:xfrm>
          <a:prstGeom prst="rect">
            <a:avLst/>
          </a:prstGeom>
          <a:noFill/>
        </p:spPr>
        <p:txBody>
          <a:bodyPr wrap="square" lIns="0" rIns="0" tIns="0" bIns="0" anchor="t">
            <a:spAutoFit/>
          </a:bodyPr>
          <a:lstStyle/>
          <a:p>
            <a:pPr algn="l">
              <a:lnSpc>
                <a:spcPct val="100000"/>
              </a:lnSpc>
              <a:spcAft>
                <a:spcPts val="400"/>
              </a:spcAft>
            </a:pPr>
            <a:r>
              <a:rPr sz="840" b="0" i="1" spc="30">
                <a:solidFill>
                  <a:srgbClr val="6F7B68"/>
                </a:solidFill>
                <a:latin typeface="Arial"/>
              </a:rPr>
              <a:t>EXHIBIT 4   Methods of setting the order, and the position on each</a:t>
            </a:r>
          </a:p>
        </p:txBody>
      </p:sp>
      <p:graphicFrame>
        <p:nvGraphicFramePr>
          <p:cNvPr id="11" name="Table 10"/>
          <p:cNvGraphicFramePr>
            <a:graphicFrameLocks noGrp="1"/>
          </p:cNvGraphicFramePr>
          <p:nvPr/>
        </p:nvGraphicFramePr>
        <p:xfrm>
          <a:off x="566928" y="1828800"/>
          <a:ext cx="11057838" cy="2194560"/>
        </p:xfrm>
        <a:graphic>
          <a:graphicData uri="http://schemas.openxmlformats.org/drawingml/2006/table">
            <a:tbl>
              <a:tblPr>
                <a:tableStyleId>{5C22544A-7EE6-4342-B048-85BDC9FD1C3A}</a:tableStyleId>
              </a:tblPr>
              <a:tblGrid>
                <a:gridCol w="1990411"/>
                <a:gridCol w="4644292"/>
                <a:gridCol w="4423135"/>
              </a:tblGrid>
              <a:tr h="365760">
                <a:tc>
                  <a:txBody>
                    <a:bodyPr wrap="square"/>
                    <a:lstStyle/>
                    <a:p>
                      <a:pPr algn="l"/>
                      <a:r>
                        <a:rPr sz="900" b="1">
                          <a:solidFill>
                            <a:srgbClr val="F3FCE7"/>
                          </a:solidFill>
                          <a:latin typeface="Arial"/>
                        </a:rPr>
                        <a:t>Method</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How it works</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Position</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65760">
                <a:tc>
                  <a:txBody>
                    <a:bodyPr wrap="square"/>
                    <a:lstStyle/>
                    <a:p>
                      <a:pPr algn="l"/>
                      <a:r>
                        <a:rPr sz="980" b="1">
                          <a:solidFill>
                            <a:srgbClr val="22450C"/>
                          </a:solidFill>
                          <a:latin typeface="Arial"/>
                        </a:rPr>
                        <a:t>Selection at join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80" b="0">
                          <a:solidFill>
                            <a:srgbClr val="0C1408"/>
                          </a:solidFill>
                          <a:latin typeface="Arial"/>
                        </a:rPr>
                        <a:t>The member chooses a free seat from those the band allows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80" b="0">
                          <a:solidFill>
                            <a:srgbClr val="0C1408"/>
                          </a:solidFill>
                          <a:latin typeface="Arial"/>
                        </a:rPr>
                        <a:t>Offered. The standard method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65760">
                <a:tc>
                  <a:txBody>
                    <a:bodyPr wrap="square"/>
                    <a:lstStyle/>
                    <a:p>
                      <a:pPr algn="l"/>
                      <a:r>
                        <a:rPr sz="980" b="1">
                          <a:solidFill>
                            <a:srgbClr val="22450C"/>
                          </a:solidFill>
                          <a:latin typeface="Arial"/>
                        </a:rPr>
                        <a:t>Host assignment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80" b="0">
                          <a:solidFill>
                            <a:srgbClr val="0C1408"/>
                          </a:solidFill>
                          <a:latin typeface="Arial"/>
                        </a:rPr>
                        <a:t>The host sets the order at creation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80" b="0">
                          <a:solidFill>
                            <a:srgbClr val="0C1408"/>
                          </a:solidFill>
                          <a:latin typeface="Arial"/>
                        </a:rPr>
                        <a:t>Offered where the circle policy allows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65760">
                <a:tc>
                  <a:txBody>
                    <a:bodyPr wrap="square"/>
                    <a:lstStyle/>
                    <a:p>
                      <a:pPr algn="l"/>
                      <a:r>
                        <a:rPr sz="980" b="1">
                          <a:solidFill>
                            <a:srgbClr val="22450C"/>
                          </a:solidFill>
                          <a:latin typeface="Arial"/>
                        </a:rPr>
                        <a:t>Auction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80" b="0">
                          <a:solidFill>
                            <a:srgbClr val="0C1408"/>
                          </a:solidFill>
                          <a:latin typeface="Arial"/>
                        </a:rPr>
                        <a:t>The member accepting the largest discount on the pot collects first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80" b="0">
                          <a:solidFill>
                            <a:srgbClr val="0C1408"/>
                          </a:solidFill>
                          <a:latin typeface="Arial"/>
                        </a:rPr>
                        <a:t>Refused. A price discovered between members creates a lender and a borrower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65760">
                <a:tc>
                  <a:txBody>
                    <a:bodyPr wrap="square"/>
                    <a:lstStyle/>
                    <a:p>
                      <a:pPr algn="l"/>
                      <a:r>
                        <a:rPr sz="980" b="1">
                          <a:solidFill>
                            <a:srgbClr val="22450C"/>
                          </a:solidFill>
                          <a:latin typeface="Arial"/>
                        </a:rPr>
                        <a:t>Prize or lucky draw</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80" b="0">
                          <a:solidFill>
                            <a:srgbClr val="0C1408"/>
                          </a:solidFill>
                          <a:latin typeface="Arial"/>
                        </a:rPr>
                        <a:t>A drawn winner collects the pot and stops paying</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80" b="0">
                          <a:solidFill>
                            <a:srgbClr val="0C1408"/>
                          </a:solidFill>
                          <a:latin typeface="Arial"/>
                        </a:rPr>
                        <a:t>Refused. A sum determined by a draw is a lottery under section 294-A of the Penal Code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65760">
                <a:tc>
                  <a:txBody>
                    <a:bodyPr wrap="square"/>
                    <a:lstStyle/>
                    <a:p>
                      <a:pPr algn="l"/>
                      <a:r>
                        <a:rPr sz="980" b="1">
                          <a:solidFill>
                            <a:srgbClr val="22450C"/>
                          </a:solidFill>
                          <a:latin typeface="Arial"/>
                        </a:rPr>
                        <a:t>Ballot by lot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80" b="0">
                          <a:solidFill>
                            <a:srgbClr val="0C1408"/>
                          </a:solidFill>
                          <a:latin typeface="Arial"/>
                        </a:rPr>
                        <a:t>Names are drawn to fix the order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80" b="0">
                          <a:solidFill>
                            <a:srgbClr val="0C1408"/>
                          </a:solidFill>
                          <a:latin typeface="Arial"/>
                        </a:rPr>
                        <a:t>Not offered. The order is set by rule or by the host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12" name="Rectangle 11"/>
          <p:cNvSpPr/>
          <p:nvPr/>
        </p:nvSpPr>
        <p:spPr>
          <a:xfrm>
            <a:off x="566928" y="4315968"/>
            <a:ext cx="5394960" cy="160020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6928" y="4315968"/>
            <a:ext cx="45720" cy="160020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425696"/>
            <a:ext cx="5120640"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Why the auction is refused</a:t>
            </a:r>
          </a:p>
        </p:txBody>
      </p:sp>
      <p:sp>
        <p:nvSpPr>
          <p:cNvPr id="15" name="TextBox 14"/>
          <p:cNvSpPr txBox="1"/>
          <p:nvPr/>
        </p:nvSpPr>
        <p:spPr>
          <a:xfrm>
            <a:off x="731520" y="4718304"/>
            <a:ext cx="5120640" cy="1143000"/>
          </a:xfrm>
          <a:prstGeom prst="rect">
            <a:avLst/>
          </a:prstGeom>
          <a:noFill/>
        </p:spPr>
        <p:txBody>
          <a:bodyPr wrap="square" lIns="0" rIns="0" tIns="0" bIns="0" anchor="t">
            <a:spAutoFit/>
          </a:bodyPr>
          <a:lstStyle/>
          <a:p>
            <a:pPr algn="l">
              <a:lnSpc>
                <a:spcPct val="112000"/>
              </a:lnSpc>
              <a:spcAft>
                <a:spcPts val="500"/>
              </a:spcAft>
            </a:pPr>
            <a:r>
              <a:rPr sz="1019" b="0" i="0">
                <a:solidFill>
                  <a:srgbClr val="0C1408"/>
                </a:solidFill>
                <a:latin typeface="Arial"/>
              </a:rPr>
              <a:t>The early collector accepts less than the pot and repays it in full. The discount is a price for money over time, which is interest in substance whatever it is called. India regulates this family separately, under the Chit Funds Act 1982.</a:t>
            </a:r>
          </a:p>
        </p:txBody>
      </p:sp>
      <p:sp>
        <p:nvSpPr>
          <p:cNvPr id="16" name="Rectangle 15"/>
          <p:cNvSpPr/>
          <p:nvPr/>
        </p:nvSpPr>
        <p:spPr>
          <a:xfrm>
            <a:off x="6236208" y="4315968"/>
            <a:ext cx="5394960" cy="160020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36208" y="4315968"/>
            <a:ext cx="45720" cy="160020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4425696"/>
            <a:ext cx="5120640"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Why the prize committee is refused</a:t>
            </a:r>
          </a:p>
        </p:txBody>
      </p:sp>
      <p:sp>
        <p:nvSpPr>
          <p:cNvPr id="19" name="TextBox 18"/>
          <p:cNvSpPr txBox="1"/>
          <p:nvPr/>
        </p:nvSpPr>
        <p:spPr>
          <a:xfrm>
            <a:off x="6400800" y="4718304"/>
            <a:ext cx="5120640" cy="1143000"/>
          </a:xfrm>
          <a:prstGeom prst="rect">
            <a:avLst/>
          </a:prstGeom>
          <a:noFill/>
        </p:spPr>
        <p:txBody>
          <a:bodyPr wrap="square" lIns="0" rIns="0" tIns="0" bIns="0" anchor="t">
            <a:spAutoFit/>
          </a:bodyPr>
          <a:lstStyle/>
          <a:p>
            <a:pPr algn="l">
              <a:lnSpc>
                <a:spcPct val="112000"/>
              </a:lnSpc>
              <a:spcAft>
                <a:spcPts val="500"/>
              </a:spcAft>
            </a:pPr>
            <a:r>
              <a:rPr sz="1019" b="0" i="0">
                <a:solidFill>
                  <a:srgbClr val="0C1408"/>
                </a:solidFill>
                <a:latin typeface="Arial"/>
              </a:rPr>
              <a:t>Once the winner stops paying, contributions no longer equal payouts, and most participants pay more than they can receive. The arrangement becomes a lottery funded by the members who do not win.</a:t>
            </a:r>
          </a:p>
        </p:txBody>
      </p:sp>
      <p:sp>
        <p:nvSpPr>
          <p:cNvPr id="20" name="TextBox 19"/>
          <p:cNvSpPr txBox="1"/>
          <p:nvPr/>
        </p:nvSpPr>
        <p:spPr>
          <a:xfrm>
            <a:off x="566928" y="6035040"/>
            <a:ext cx="11057839"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verified against the Complete Feature and Process List, revision 3, sections 4 and 6, and the Pakistan Penal Code 1860, section 294-A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01 · THE MARKET</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The third largest savings channel in the country</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The figures used in every Halqa document, with the source for each.</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24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8</a:t>
            </a:r>
          </a:p>
        </p:txBody>
      </p:sp>
      <p:cxnSp>
        <p:nvCxnSpPr>
          <p:cNvPr id="10" name="Connector 9"/>
          <p:cNvCxnSpPr/>
          <p:nvPr/>
        </p:nvCxnSpPr>
        <p:spPr>
          <a:xfrm>
            <a:off x="566928" y="1572768"/>
            <a:ext cx="11057839" cy="0"/>
          </a:xfrm>
          <a:prstGeom prst="line">
            <a:avLst/>
          </a:prstGeom>
          <a:ln w="13970">
            <a:solidFill>
              <a:srgbClr val="22450C"/>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66928" y="2414016"/>
            <a:ext cx="11057839" cy="0"/>
          </a:xfrm>
          <a:prstGeom prst="line">
            <a:avLst/>
          </a:prstGeom>
          <a:ln w="13970">
            <a:solidFill>
              <a:srgbClr val="22450C"/>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76656" y="1673717"/>
            <a:ext cx="1992111" cy="420624"/>
          </a:xfrm>
          <a:prstGeom prst="rect">
            <a:avLst/>
          </a:prstGeom>
          <a:noFill/>
        </p:spPr>
        <p:txBody>
          <a:bodyPr wrap="square" lIns="0" rIns="0" tIns="0" bIns="0" anchor="t">
            <a:spAutoFit/>
          </a:bodyPr>
          <a:lstStyle/>
          <a:p>
            <a:pPr algn="l">
              <a:lnSpc>
                <a:spcPct val="100000"/>
              </a:lnSpc>
              <a:spcAft>
                <a:spcPts val="400"/>
              </a:spcAft>
            </a:pPr>
            <a:r>
              <a:rPr sz="2200" b="0" i="0">
                <a:solidFill>
                  <a:srgbClr val="22450C"/>
                </a:solidFill>
                <a:latin typeface="Georgia"/>
              </a:rPr>
              <a:t>Rs 4 trillion</a:t>
            </a:r>
          </a:p>
        </p:txBody>
      </p:sp>
      <p:sp>
        <p:nvSpPr>
          <p:cNvPr id="13" name="TextBox 12"/>
          <p:cNvSpPr txBox="1"/>
          <p:nvPr/>
        </p:nvSpPr>
        <p:spPr>
          <a:xfrm>
            <a:off x="676656" y="2111166"/>
            <a:ext cx="1992111" cy="286024"/>
          </a:xfrm>
          <a:prstGeom prst="rect">
            <a:avLst/>
          </a:prstGeom>
          <a:noFill/>
        </p:spPr>
        <p:txBody>
          <a:bodyPr wrap="square" lIns="0" rIns="0" tIns="0" bIns="0" anchor="t">
            <a:spAutoFit/>
          </a:bodyPr>
          <a:lstStyle/>
          <a:p>
            <a:pPr algn="l">
              <a:lnSpc>
                <a:spcPct val="100000"/>
              </a:lnSpc>
              <a:spcAft>
                <a:spcPts val="400"/>
              </a:spcAft>
            </a:pPr>
            <a:r>
              <a:rPr sz="819" b="0" i="0" spc="50">
                <a:solidFill>
                  <a:srgbClr val="6F7B68"/>
                </a:solidFill>
                <a:latin typeface="Arial"/>
              </a:rPr>
              <a:t>ROTATES EACH YEAR</a:t>
            </a:r>
          </a:p>
        </p:txBody>
      </p:sp>
      <p:cxnSp>
        <p:nvCxnSpPr>
          <p:cNvPr id="14" name="Connector 13"/>
          <p:cNvCxnSpPr/>
          <p:nvPr/>
        </p:nvCxnSpPr>
        <p:spPr>
          <a:xfrm>
            <a:off x="2778495" y="1724192"/>
            <a:ext cx="0" cy="538399"/>
          </a:xfrm>
          <a:prstGeom prst="line">
            <a:avLst/>
          </a:prstGeom>
          <a:ln w="12700">
            <a:solidFill>
              <a:srgbClr val="6DC72A"/>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2888223" y="1673717"/>
            <a:ext cx="1992111" cy="420624"/>
          </a:xfrm>
          <a:prstGeom prst="rect">
            <a:avLst/>
          </a:prstGeom>
          <a:noFill/>
        </p:spPr>
        <p:txBody>
          <a:bodyPr wrap="square" lIns="0" rIns="0" tIns="0" bIns="0" anchor="t">
            <a:spAutoFit/>
          </a:bodyPr>
          <a:lstStyle/>
          <a:p>
            <a:pPr algn="l">
              <a:lnSpc>
                <a:spcPct val="100000"/>
              </a:lnSpc>
              <a:spcAft>
                <a:spcPts val="400"/>
              </a:spcAft>
            </a:pPr>
            <a:r>
              <a:rPr sz="2200" b="0" i="0">
                <a:solidFill>
                  <a:srgbClr val="22450C"/>
                </a:solidFill>
                <a:latin typeface="Georgia"/>
              </a:rPr>
              <a:t>52 million</a:t>
            </a:r>
          </a:p>
        </p:txBody>
      </p:sp>
      <p:sp>
        <p:nvSpPr>
          <p:cNvPr id="16" name="TextBox 15"/>
          <p:cNvSpPr txBox="1"/>
          <p:nvPr/>
        </p:nvSpPr>
        <p:spPr>
          <a:xfrm>
            <a:off x="2888223" y="2111166"/>
            <a:ext cx="1992111" cy="286024"/>
          </a:xfrm>
          <a:prstGeom prst="rect">
            <a:avLst/>
          </a:prstGeom>
          <a:noFill/>
        </p:spPr>
        <p:txBody>
          <a:bodyPr wrap="square" lIns="0" rIns="0" tIns="0" bIns="0" anchor="t">
            <a:spAutoFit/>
          </a:bodyPr>
          <a:lstStyle/>
          <a:p>
            <a:pPr algn="l">
              <a:lnSpc>
                <a:spcPct val="100000"/>
              </a:lnSpc>
              <a:spcAft>
                <a:spcPts val="400"/>
              </a:spcAft>
            </a:pPr>
            <a:r>
              <a:rPr sz="819" b="0" i="0" spc="50">
                <a:solidFill>
                  <a:srgbClr val="6F7B68"/>
                </a:solidFill>
                <a:latin typeface="Arial"/>
              </a:rPr>
              <a:t>ADULTS PARTICIPATING</a:t>
            </a:r>
          </a:p>
        </p:txBody>
      </p:sp>
      <p:cxnSp>
        <p:nvCxnSpPr>
          <p:cNvPr id="17" name="Connector 16"/>
          <p:cNvCxnSpPr/>
          <p:nvPr/>
        </p:nvCxnSpPr>
        <p:spPr>
          <a:xfrm>
            <a:off x="4990063" y="1724192"/>
            <a:ext cx="0" cy="538399"/>
          </a:xfrm>
          <a:prstGeom prst="line">
            <a:avLst/>
          </a:prstGeom>
          <a:ln w="12700">
            <a:solidFill>
              <a:srgbClr val="6DC72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099791" y="1673717"/>
            <a:ext cx="1992111" cy="420624"/>
          </a:xfrm>
          <a:prstGeom prst="rect">
            <a:avLst/>
          </a:prstGeom>
          <a:noFill/>
        </p:spPr>
        <p:txBody>
          <a:bodyPr wrap="square" lIns="0" rIns="0" tIns="0" bIns="0" anchor="t">
            <a:spAutoFit/>
          </a:bodyPr>
          <a:lstStyle/>
          <a:p>
            <a:pPr algn="l">
              <a:lnSpc>
                <a:spcPct val="100000"/>
              </a:lnSpc>
              <a:spcAft>
                <a:spcPts val="400"/>
              </a:spcAft>
            </a:pPr>
            <a:r>
              <a:rPr sz="2200" b="0" i="0">
                <a:solidFill>
                  <a:srgbClr val="22450C"/>
                </a:solidFill>
                <a:latin typeface="Georgia"/>
              </a:rPr>
              <a:t>37%</a:t>
            </a:r>
          </a:p>
        </p:txBody>
      </p:sp>
      <p:sp>
        <p:nvSpPr>
          <p:cNvPr id="19" name="TextBox 18"/>
          <p:cNvSpPr txBox="1"/>
          <p:nvPr/>
        </p:nvSpPr>
        <p:spPr>
          <a:xfrm>
            <a:off x="5099791" y="2111166"/>
            <a:ext cx="1992111" cy="286024"/>
          </a:xfrm>
          <a:prstGeom prst="rect">
            <a:avLst/>
          </a:prstGeom>
          <a:noFill/>
        </p:spPr>
        <p:txBody>
          <a:bodyPr wrap="square" lIns="0" rIns="0" tIns="0" bIns="0" anchor="t">
            <a:spAutoFit/>
          </a:bodyPr>
          <a:lstStyle/>
          <a:p>
            <a:pPr algn="l">
              <a:lnSpc>
                <a:spcPct val="100000"/>
              </a:lnSpc>
              <a:spcAft>
                <a:spcPts val="400"/>
              </a:spcAft>
            </a:pPr>
            <a:r>
              <a:rPr sz="819" b="0" i="0" spc="50">
                <a:solidFill>
                  <a:srgbClr val="6F7B68"/>
                </a:solidFill>
                <a:latin typeface="Arial"/>
              </a:rPr>
              <a:t>OF ADULTS HAVE USED ONE</a:t>
            </a:r>
          </a:p>
        </p:txBody>
      </p:sp>
      <p:cxnSp>
        <p:nvCxnSpPr>
          <p:cNvPr id="20" name="Connector 19"/>
          <p:cNvCxnSpPr/>
          <p:nvPr/>
        </p:nvCxnSpPr>
        <p:spPr>
          <a:xfrm>
            <a:off x="7201631" y="1724192"/>
            <a:ext cx="0" cy="538399"/>
          </a:xfrm>
          <a:prstGeom prst="line">
            <a:avLst/>
          </a:prstGeom>
          <a:ln w="12700">
            <a:solidFill>
              <a:srgbClr val="6DC72A"/>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311359" y="1673717"/>
            <a:ext cx="1992111" cy="420624"/>
          </a:xfrm>
          <a:prstGeom prst="rect">
            <a:avLst/>
          </a:prstGeom>
          <a:noFill/>
        </p:spPr>
        <p:txBody>
          <a:bodyPr wrap="square" lIns="0" rIns="0" tIns="0" bIns="0" anchor="t">
            <a:spAutoFit/>
          </a:bodyPr>
          <a:lstStyle/>
          <a:p>
            <a:pPr algn="l">
              <a:lnSpc>
                <a:spcPct val="100000"/>
              </a:lnSpc>
              <a:spcAft>
                <a:spcPts val="400"/>
              </a:spcAft>
            </a:pPr>
            <a:r>
              <a:rPr sz="2200" b="0" i="0">
                <a:solidFill>
                  <a:srgbClr val="22450C"/>
                </a:solidFill>
                <a:latin typeface="Georgia"/>
              </a:rPr>
              <a:t>12%</a:t>
            </a:r>
          </a:p>
        </p:txBody>
      </p:sp>
      <p:sp>
        <p:nvSpPr>
          <p:cNvPr id="22" name="TextBox 21"/>
          <p:cNvSpPr txBox="1"/>
          <p:nvPr/>
        </p:nvSpPr>
        <p:spPr>
          <a:xfrm>
            <a:off x="7311359" y="2111166"/>
            <a:ext cx="1992111" cy="286024"/>
          </a:xfrm>
          <a:prstGeom prst="rect">
            <a:avLst/>
          </a:prstGeom>
          <a:noFill/>
        </p:spPr>
        <p:txBody>
          <a:bodyPr wrap="square" lIns="0" rIns="0" tIns="0" bIns="0" anchor="t">
            <a:spAutoFit/>
          </a:bodyPr>
          <a:lstStyle/>
          <a:p>
            <a:pPr algn="l">
              <a:lnSpc>
                <a:spcPct val="100000"/>
              </a:lnSpc>
              <a:spcAft>
                <a:spcPts val="400"/>
              </a:spcAft>
            </a:pPr>
            <a:r>
              <a:rPr sz="819" b="0" i="0" spc="50">
                <a:solidFill>
                  <a:srgbClr val="6F7B68"/>
                </a:solidFill>
                <a:latin typeface="Arial"/>
              </a:rPr>
              <a:t>HAVE LOST MONEY TO FRAUD</a:t>
            </a:r>
          </a:p>
        </p:txBody>
      </p:sp>
      <p:cxnSp>
        <p:nvCxnSpPr>
          <p:cNvPr id="23" name="Connector 22"/>
          <p:cNvCxnSpPr/>
          <p:nvPr/>
        </p:nvCxnSpPr>
        <p:spPr>
          <a:xfrm>
            <a:off x="9413199" y="1724192"/>
            <a:ext cx="0" cy="538399"/>
          </a:xfrm>
          <a:prstGeom prst="line">
            <a:avLst/>
          </a:prstGeom>
          <a:ln w="12700">
            <a:solidFill>
              <a:srgbClr val="6DC72A"/>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9522927" y="1673717"/>
            <a:ext cx="1992111" cy="420624"/>
          </a:xfrm>
          <a:prstGeom prst="rect">
            <a:avLst/>
          </a:prstGeom>
          <a:noFill/>
        </p:spPr>
        <p:txBody>
          <a:bodyPr wrap="square" lIns="0" rIns="0" tIns="0" bIns="0" anchor="t">
            <a:spAutoFit/>
          </a:bodyPr>
          <a:lstStyle/>
          <a:p>
            <a:pPr algn="l">
              <a:lnSpc>
                <a:spcPct val="100000"/>
              </a:lnSpc>
              <a:spcAft>
                <a:spcPts val="400"/>
              </a:spcAft>
            </a:pPr>
            <a:r>
              <a:rPr sz="2200" b="0" i="0">
                <a:solidFill>
                  <a:srgbClr val="22450C"/>
                </a:solidFill>
                <a:latin typeface="Georgia"/>
              </a:rPr>
              <a:t>31%</a:t>
            </a:r>
          </a:p>
        </p:txBody>
      </p:sp>
      <p:sp>
        <p:nvSpPr>
          <p:cNvPr id="25" name="TextBox 24"/>
          <p:cNvSpPr txBox="1"/>
          <p:nvPr/>
        </p:nvSpPr>
        <p:spPr>
          <a:xfrm>
            <a:off x="9522927" y="2111166"/>
            <a:ext cx="1992111" cy="286024"/>
          </a:xfrm>
          <a:prstGeom prst="rect">
            <a:avLst/>
          </a:prstGeom>
          <a:noFill/>
        </p:spPr>
        <p:txBody>
          <a:bodyPr wrap="square" lIns="0" rIns="0" tIns="0" bIns="0" anchor="t">
            <a:spAutoFit/>
          </a:bodyPr>
          <a:lstStyle/>
          <a:p>
            <a:pPr algn="l">
              <a:lnSpc>
                <a:spcPct val="100000"/>
              </a:lnSpc>
              <a:spcAft>
                <a:spcPts val="400"/>
              </a:spcAft>
            </a:pPr>
            <a:r>
              <a:rPr sz="819" b="0" i="0" spc="50">
                <a:solidFill>
                  <a:srgbClr val="6F7B68"/>
                </a:solidFill>
                <a:latin typeface="Arial"/>
              </a:rPr>
              <a:t>CAN SEND OR RECEIVE A TEXT MESSAGE</a:t>
            </a:r>
          </a:p>
        </p:txBody>
      </p:sp>
      <p:sp>
        <p:nvSpPr>
          <p:cNvPr id="26" name="TextBox 25"/>
          <p:cNvSpPr txBox="1"/>
          <p:nvPr/>
        </p:nvSpPr>
        <p:spPr>
          <a:xfrm>
            <a:off x="566928" y="2651760"/>
            <a:ext cx="5120640" cy="182880"/>
          </a:xfrm>
          <a:prstGeom prst="rect">
            <a:avLst/>
          </a:prstGeom>
          <a:noFill/>
        </p:spPr>
        <p:txBody>
          <a:bodyPr wrap="square" lIns="0" rIns="0" tIns="0" bIns="0" anchor="t">
            <a:spAutoFit/>
          </a:bodyPr>
          <a:lstStyle/>
          <a:p>
            <a:pPr algn="l">
              <a:lnSpc>
                <a:spcPct val="100000"/>
              </a:lnSpc>
              <a:spcAft>
                <a:spcPts val="400"/>
              </a:spcAft>
            </a:pPr>
            <a:r>
              <a:rPr sz="840" b="0" i="1" spc="30">
                <a:solidFill>
                  <a:srgbClr val="6F7B68"/>
                </a:solidFill>
                <a:latin typeface="Arial"/>
              </a:rPr>
              <a:t>EXHIBIT 5   Where a Pakistani saver keeps money</a:t>
            </a:r>
          </a:p>
        </p:txBody>
      </p:sp>
      <p:sp>
        <p:nvSpPr>
          <p:cNvPr id="27" name="TextBox 26"/>
          <p:cNvSpPr txBox="1"/>
          <p:nvPr/>
        </p:nvSpPr>
        <p:spPr>
          <a:xfrm>
            <a:off x="566928" y="2953512"/>
            <a:ext cx="1261872" cy="274320"/>
          </a:xfrm>
          <a:prstGeom prst="rect">
            <a:avLst/>
          </a:prstGeom>
          <a:noFill/>
        </p:spPr>
        <p:txBody>
          <a:bodyPr wrap="square" lIns="0" rIns="0" tIns="0" bIns="0" anchor="t">
            <a:spAutoFit/>
          </a:bodyPr>
          <a:lstStyle/>
          <a:p>
            <a:pPr algn="r">
              <a:lnSpc>
                <a:spcPct val="100000"/>
              </a:lnSpc>
              <a:spcAft>
                <a:spcPts val="400"/>
              </a:spcAft>
            </a:pPr>
            <a:r>
              <a:rPr sz="960" b="0" i="0">
                <a:solidFill>
                  <a:srgbClr val="0C1408"/>
                </a:solidFill>
                <a:latin typeface="Arial"/>
              </a:rPr>
              <a:t>Cash at home</a:t>
            </a:r>
          </a:p>
        </p:txBody>
      </p:sp>
      <p:sp>
        <p:nvSpPr>
          <p:cNvPr id="28" name="Rectangle 27"/>
          <p:cNvSpPr/>
          <p:nvPr/>
        </p:nvSpPr>
        <p:spPr>
          <a:xfrm>
            <a:off x="1938528" y="2944368"/>
            <a:ext cx="2715768" cy="274320"/>
          </a:xfrm>
          <a:prstGeom prst="rect">
            <a:avLst/>
          </a:prstGeom>
          <a:solidFill>
            <a:srgbClr val="356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27448" y="2953512"/>
            <a:ext cx="731520" cy="274320"/>
          </a:xfrm>
          <a:prstGeom prst="rect">
            <a:avLst/>
          </a:prstGeom>
          <a:noFill/>
        </p:spPr>
        <p:txBody>
          <a:bodyPr wrap="square" lIns="0" rIns="0" tIns="0" bIns="0" anchor="t">
            <a:spAutoFit/>
          </a:bodyPr>
          <a:lstStyle/>
          <a:p>
            <a:pPr algn="l">
              <a:lnSpc>
                <a:spcPct val="100000"/>
              </a:lnSpc>
              <a:spcAft>
                <a:spcPts val="400"/>
              </a:spcAft>
            </a:pPr>
            <a:r>
              <a:rPr sz="960" b="1" i="0">
                <a:solidFill>
                  <a:srgbClr val="22450C"/>
                </a:solidFill>
                <a:latin typeface="Arial"/>
              </a:rPr>
              <a:t>63%</a:t>
            </a:r>
          </a:p>
        </p:txBody>
      </p:sp>
      <p:sp>
        <p:nvSpPr>
          <p:cNvPr id="30" name="TextBox 29"/>
          <p:cNvSpPr txBox="1"/>
          <p:nvPr/>
        </p:nvSpPr>
        <p:spPr>
          <a:xfrm>
            <a:off x="566928" y="3410712"/>
            <a:ext cx="1261872" cy="274320"/>
          </a:xfrm>
          <a:prstGeom prst="rect">
            <a:avLst/>
          </a:prstGeom>
          <a:noFill/>
        </p:spPr>
        <p:txBody>
          <a:bodyPr wrap="square" lIns="0" rIns="0" tIns="0" bIns="0" anchor="t">
            <a:spAutoFit/>
          </a:bodyPr>
          <a:lstStyle/>
          <a:p>
            <a:pPr algn="r">
              <a:lnSpc>
                <a:spcPct val="100000"/>
              </a:lnSpc>
              <a:spcAft>
                <a:spcPts val="400"/>
              </a:spcAft>
            </a:pPr>
            <a:r>
              <a:rPr sz="960" b="0" i="0">
                <a:solidFill>
                  <a:srgbClr val="0C1408"/>
                </a:solidFill>
                <a:latin typeface="Arial"/>
              </a:rPr>
              <a:t>A committee</a:t>
            </a:r>
          </a:p>
        </p:txBody>
      </p:sp>
      <p:sp>
        <p:nvSpPr>
          <p:cNvPr id="31" name="Rectangle 30"/>
          <p:cNvSpPr/>
          <p:nvPr/>
        </p:nvSpPr>
        <p:spPr>
          <a:xfrm>
            <a:off x="1938528" y="3401568"/>
            <a:ext cx="1422545" cy="27432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434225" y="3410712"/>
            <a:ext cx="731520" cy="274320"/>
          </a:xfrm>
          <a:prstGeom prst="rect">
            <a:avLst/>
          </a:prstGeom>
          <a:noFill/>
        </p:spPr>
        <p:txBody>
          <a:bodyPr wrap="square" lIns="0" rIns="0" tIns="0" bIns="0" anchor="t">
            <a:spAutoFit/>
          </a:bodyPr>
          <a:lstStyle/>
          <a:p>
            <a:pPr algn="l">
              <a:lnSpc>
                <a:spcPct val="100000"/>
              </a:lnSpc>
              <a:spcAft>
                <a:spcPts val="400"/>
              </a:spcAft>
            </a:pPr>
            <a:r>
              <a:rPr sz="960" b="1" i="0">
                <a:solidFill>
                  <a:srgbClr val="22450C"/>
                </a:solidFill>
                <a:latin typeface="Arial"/>
              </a:rPr>
              <a:t>33%</a:t>
            </a:r>
          </a:p>
        </p:txBody>
      </p:sp>
      <p:sp>
        <p:nvSpPr>
          <p:cNvPr id="33" name="TextBox 32"/>
          <p:cNvSpPr txBox="1"/>
          <p:nvPr/>
        </p:nvSpPr>
        <p:spPr>
          <a:xfrm>
            <a:off x="566928" y="3867912"/>
            <a:ext cx="1261872" cy="274320"/>
          </a:xfrm>
          <a:prstGeom prst="rect">
            <a:avLst/>
          </a:prstGeom>
          <a:noFill/>
        </p:spPr>
        <p:txBody>
          <a:bodyPr wrap="square" lIns="0" rIns="0" tIns="0" bIns="0" anchor="t">
            <a:spAutoFit/>
          </a:bodyPr>
          <a:lstStyle/>
          <a:p>
            <a:pPr algn="r">
              <a:lnSpc>
                <a:spcPct val="100000"/>
              </a:lnSpc>
              <a:spcAft>
                <a:spcPts val="400"/>
              </a:spcAft>
            </a:pPr>
            <a:r>
              <a:rPr sz="960" b="0" i="0">
                <a:solidFill>
                  <a:srgbClr val="0C1408"/>
                </a:solidFill>
                <a:latin typeface="Arial"/>
              </a:rPr>
              <a:t>A bank account</a:t>
            </a:r>
          </a:p>
        </p:txBody>
      </p:sp>
      <p:sp>
        <p:nvSpPr>
          <p:cNvPr id="34" name="Rectangle 33"/>
          <p:cNvSpPr/>
          <p:nvPr/>
        </p:nvSpPr>
        <p:spPr>
          <a:xfrm>
            <a:off x="1938528" y="3858768"/>
            <a:ext cx="560396" cy="274320"/>
          </a:xfrm>
          <a:prstGeom prst="rect">
            <a:avLst/>
          </a:prstGeom>
          <a:solidFill>
            <a:srgbClr val="A9B4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572076" y="3867912"/>
            <a:ext cx="731520" cy="274320"/>
          </a:xfrm>
          <a:prstGeom prst="rect">
            <a:avLst/>
          </a:prstGeom>
          <a:noFill/>
        </p:spPr>
        <p:txBody>
          <a:bodyPr wrap="square" lIns="0" rIns="0" tIns="0" bIns="0" anchor="t">
            <a:spAutoFit/>
          </a:bodyPr>
          <a:lstStyle/>
          <a:p>
            <a:pPr algn="l">
              <a:lnSpc>
                <a:spcPct val="100000"/>
              </a:lnSpc>
              <a:spcAft>
                <a:spcPts val="400"/>
              </a:spcAft>
            </a:pPr>
            <a:r>
              <a:rPr sz="960" b="1" i="0">
                <a:solidFill>
                  <a:srgbClr val="22450C"/>
                </a:solidFill>
                <a:latin typeface="Arial"/>
              </a:rPr>
              <a:t>13%</a:t>
            </a:r>
          </a:p>
        </p:txBody>
      </p:sp>
      <p:cxnSp>
        <p:nvCxnSpPr>
          <p:cNvPr id="36" name="Connector 35"/>
          <p:cNvCxnSpPr/>
          <p:nvPr/>
        </p:nvCxnSpPr>
        <p:spPr>
          <a:xfrm>
            <a:off x="1938528" y="2898648"/>
            <a:ext cx="0" cy="128016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66928" y="4434840"/>
            <a:ext cx="5120640" cy="548640"/>
          </a:xfrm>
          <a:prstGeom prst="rect">
            <a:avLst/>
          </a:prstGeom>
          <a:noFill/>
        </p:spPr>
        <p:txBody>
          <a:bodyPr wrap="square" lIns="0" rIns="0" tIns="0" bIns="0" anchor="t">
            <a:spAutoFit/>
          </a:bodyPr>
          <a:lstStyle/>
          <a:p>
            <a:pPr algn="l">
              <a:lnSpc>
                <a:spcPct val="110000"/>
              </a:lnSpc>
              <a:spcAft>
                <a:spcPts val="400"/>
              </a:spcAft>
            </a:pPr>
            <a:r>
              <a:rPr sz="1200" b="0" i="0">
                <a:solidFill>
                  <a:srgbClr val="22450C"/>
                </a:solidFill>
                <a:latin typeface="Georgia"/>
              </a:rPr>
              <a:t>The committee competes with cash held at home, not with the bank account.</a:t>
            </a:r>
          </a:p>
        </p:txBody>
      </p:sp>
      <p:graphicFrame>
        <p:nvGraphicFramePr>
          <p:cNvPr id="38" name="Table 37"/>
          <p:cNvGraphicFramePr>
            <a:graphicFrameLocks noGrp="1"/>
          </p:cNvGraphicFramePr>
          <p:nvPr/>
        </p:nvGraphicFramePr>
        <p:xfrm>
          <a:off x="6144768" y="2651760"/>
          <a:ext cx="5477255" cy="2304288"/>
        </p:xfrm>
        <a:graphic>
          <a:graphicData uri="http://schemas.openxmlformats.org/drawingml/2006/table">
            <a:tbl>
              <a:tblPr>
                <a:tableStyleId>{5C22544A-7EE6-4342-B048-85BDC9FD1C3A}</a:tableStyleId>
              </a:tblPr>
              <a:tblGrid>
                <a:gridCol w="3724534"/>
                <a:gridCol w="1752721"/>
              </a:tblGrid>
              <a:tr h="329184">
                <a:tc>
                  <a:txBody>
                    <a:bodyPr wrap="square"/>
                    <a:lstStyle/>
                    <a:p>
                      <a:pPr algn="l"/>
                      <a:r>
                        <a:rPr sz="900" b="1">
                          <a:solidFill>
                            <a:srgbClr val="F3FCE7"/>
                          </a:solidFill>
                          <a:latin typeface="Arial"/>
                        </a:rPr>
                        <a:t>Further figure</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Source</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19" b="0">
                          <a:solidFill>
                            <a:srgbClr val="0C1408"/>
                          </a:solidFill>
                          <a:latin typeface="Arial"/>
                        </a:rPr>
                        <a:t>36% of Pakistanis save; 4% of savers use a formal institution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Financial Inclusion Insights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19" b="0">
                          <a:solidFill>
                            <a:srgbClr val="0C1408"/>
                          </a:solidFill>
                          <a:latin typeface="Arial"/>
                        </a:rPr>
                        <a:t>19% use the pot for a one-time durable purchase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Financial Inclusion Insights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19" b="0">
                          <a:solidFill>
                            <a:srgbClr val="0C1408"/>
                          </a:solidFill>
                          <a:latin typeface="Arial"/>
                        </a:rPr>
                        <a:t>Just over half own a phone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Financial Inclusion Insights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19" b="0">
                          <a:solidFill>
                            <a:srgbClr val="0C1408"/>
                          </a:solidFill>
                          <a:latin typeface="Arial"/>
                        </a:rPr>
                        <a:t>Women participate at twice the rate of men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Financial Inclusion Insights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19" b="0">
                          <a:solidFill>
                            <a:srgbClr val="0C1408"/>
                          </a:solidFill>
                          <a:latin typeface="Arial"/>
                        </a:rPr>
                        <a:t>About 100 million lack formal financial services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World Bank</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19" b="0">
                          <a:solidFill>
                            <a:srgbClr val="0C1408"/>
                          </a:solidFill>
                          <a:latin typeface="Arial"/>
                        </a:rPr>
                        <a:t>About 41% have participated; about $5 billion rotating</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Oraan research</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39" name="TextBox 38"/>
          <p:cNvSpPr txBox="1"/>
          <p:nvPr/>
        </p:nvSpPr>
        <p:spPr>
          <a:xfrm>
            <a:off x="566928" y="5989320"/>
            <a:ext cx="11057839"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reported. Participation estimates range from 34 to 41 per cent across sources.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01 · THE MARKET</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Who the product serves</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The research narrows the market in a way that strengthens the case with a regulator.</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24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9</a:t>
            </a:r>
          </a:p>
        </p:txBody>
      </p:sp>
      <p:sp>
        <p:nvSpPr>
          <p:cNvPr id="10" name="TextBox 9"/>
          <p:cNvSpPr txBox="1"/>
          <p:nvPr/>
        </p:nvSpPr>
        <p:spPr>
          <a:xfrm>
            <a:off x="566928" y="1572768"/>
            <a:ext cx="11057839" cy="182880"/>
          </a:xfrm>
          <a:prstGeom prst="rect">
            <a:avLst/>
          </a:prstGeom>
          <a:noFill/>
        </p:spPr>
        <p:txBody>
          <a:bodyPr wrap="square" lIns="0" rIns="0" tIns="0" bIns="0" anchor="t">
            <a:spAutoFit/>
          </a:bodyPr>
          <a:lstStyle/>
          <a:p>
            <a:pPr algn="l">
              <a:lnSpc>
                <a:spcPct val="100000"/>
              </a:lnSpc>
              <a:spcAft>
                <a:spcPts val="400"/>
              </a:spcAft>
            </a:pPr>
            <a:r>
              <a:rPr sz="840" b="0" i="1" spc="30">
                <a:solidFill>
                  <a:srgbClr val="6F7B68"/>
                </a:solidFill>
                <a:latin typeface="Arial"/>
              </a:rPr>
              <a:t>EXHIBIT 6   Two studies that appear to conflict, and the reading that reconciles them</a:t>
            </a:r>
          </a:p>
        </p:txBody>
      </p:sp>
      <p:sp>
        <p:nvSpPr>
          <p:cNvPr id="11" name="Rectangle 10"/>
          <p:cNvSpPr/>
          <p:nvPr/>
        </p:nvSpPr>
        <p:spPr>
          <a:xfrm>
            <a:off x="566928" y="1828800"/>
            <a:ext cx="5394960" cy="132588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1828800"/>
            <a:ext cx="45720" cy="132588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1938528"/>
            <a:ext cx="5120640"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Khan (2013), fieldwork in Dera Ghazi Khan</a:t>
            </a:r>
          </a:p>
        </p:txBody>
      </p:sp>
      <p:sp>
        <p:nvSpPr>
          <p:cNvPr id="14" name="TextBox 13"/>
          <p:cNvSpPr txBox="1"/>
          <p:nvPr/>
        </p:nvSpPr>
        <p:spPr>
          <a:xfrm>
            <a:off x="731520" y="2231136"/>
            <a:ext cx="5120640" cy="868680"/>
          </a:xfrm>
          <a:prstGeom prst="rect">
            <a:avLst/>
          </a:prstGeom>
          <a:noFill/>
        </p:spPr>
        <p:txBody>
          <a:bodyPr wrap="square" lIns="0" rIns="0" tIns="0" bIns="0" anchor="t">
            <a:spAutoFit/>
          </a:bodyPr>
          <a:lstStyle/>
          <a:p>
            <a:pPr algn="l">
              <a:lnSpc>
                <a:spcPct val="112000"/>
              </a:lnSpc>
              <a:spcAft>
                <a:spcPts val="500"/>
              </a:spcAft>
            </a:pPr>
            <a:r>
              <a:rPr sz="1000" b="0" i="0">
                <a:solidFill>
                  <a:srgbClr val="0C1408"/>
                </a:solidFill>
                <a:latin typeface="Arial"/>
              </a:rPr>
              <a:t>Regular income is a precondition of membership. The poorest are excluded by the groups themselves as bad risks, so committees cannot substitute for microfinance.</a:t>
            </a:r>
          </a:p>
        </p:txBody>
      </p:sp>
      <p:sp>
        <p:nvSpPr>
          <p:cNvPr id="15" name="Rectangle 14"/>
          <p:cNvSpPr/>
          <p:nvPr/>
        </p:nvSpPr>
        <p:spPr>
          <a:xfrm>
            <a:off x="6236208" y="1828800"/>
            <a:ext cx="5394960" cy="132588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6208" y="1828800"/>
            <a:ext cx="45720" cy="132588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938528"/>
            <a:ext cx="5120640"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Kamran (2017), thirty unbanked informants</a:t>
            </a:r>
          </a:p>
        </p:txBody>
      </p:sp>
      <p:sp>
        <p:nvSpPr>
          <p:cNvPr id="18" name="TextBox 17"/>
          <p:cNvSpPr txBox="1"/>
          <p:nvPr/>
        </p:nvSpPr>
        <p:spPr>
          <a:xfrm>
            <a:off x="6400800" y="2231136"/>
            <a:ext cx="5120640" cy="868680"/>
          </a:xfrm>
          <a:prstGeom prst="rect">
            <a:avLst/>
          </a:prstGeom>
          <a:noFill/>
        </p:spPr>
        <p:txBody>
          <a:bodyPr wrap="square" lIns="0" rIns="0" tIns="0" bIns="0" anchor="t">
            <a:spAutoFit/>
          </a:bodyPr>
          <a:lstStyle/>
          <a:p>
            <a:pPr algn="l">
              <a:lnSpc>
                <a:spcPct val="112000"/>
              </a:lnSpc>
              <a:spcAft>
                <a:spcPts val="500"/>
              </a:spcAft>
            </a:pPr>
            <a:r>
              <a:rPr sz="1000" b="0" i="0">
                <a:solidFill>
                  <a:srgbClr val="0C1408"/>
                </a:solidFill>
                <a:latin typeface="Arial"/>
              </a:rPr>
              <a:t>Committees give real control over money. None of the thirty informants had experienced a member default.</a:t>
            </a:r>
          </a:p>
        </p:txBody>
      </p:sp>
      <p:sp>
        <p:nvSpPr>
          <p:cNvPr id="19" name="TextBox 18"/>
          <p:cNvSpPr txBox="1"/>
          <p:nvPr/>
        </p:nvSpPr>
        <p:spPr>
          <a:xfrm>
            <a:off x="566928" y="3310128"/>
            <a:ext cx="11057839" cy="365760"/>
          </a:xfrm>
          <a:prstGeom prst="rect">
            <a:avLst/>
          </a:prstGeom>
          <a:noFill/>
        </p:spPr>
        <p:txBody>
          <a:bodyPr wrap="square" lIns="0" rIns="0" tIns="0" bIns="0" anchor="t">
            <a:spAutoFit/>
          </a:bodyPr>
          <a:lstStyle/>
          <a:p>
            <a:pPr algn="l">
              <a:lnSpc>
                <a:spcPct val="100000"/>
              </a:lnSpc>
              <a:spcAft>
                <a:spcPts val="400"/>
              </a:spcAft>
            </a:pPr>
            <a:r>
              <a:rPr sz="1300" b="0" i="0">
                <a:solidFill>
                  <a:srgbClr val="22450C"/>
                </a:solidFill>
                <a:latin typeface="Georgia"/>
              </a:rPr>
              <a:t>Committees filter on the regularity of income, not its level. Both studies hold at once.</a:t>
            </a:r>
          </a:p>
        </p:txBody>
      </p:sp>
      <p:graphicFrame>
        <p:nvGraphicFramePr>
          <p:cNvPr id="20" name="Table 19"/>
          <p:cNvGraphicFramePr>
            <a:graphicFrameLocks noGrp="1"/>
          </p:cNvGraphicFramePr>
          <p:nvPr/>
        </p:nvGraphicFramePr>
        <p:xfrm>
          <a:off x="566928" y="3767328"/>
          <a:ext cx="11057837" cy="1152144"/>
        </p:xfrm>
        <a:graphic>
          <a:graphicData uri="http://schemas.openxmlformats.org/drawingml/2006/table">
            <a:tbl>
              <a:tblPr>
                <a:tableStyleId>{5C22544A-7EE6-4342-B048-85BDC9FD1C3A}</a:tableStyleId>
              </a:tblPr>
              <a:tblGrid>
                <a:gridCol w="4644292"/>
                <a:gridCol w="3096194"/>
                <a:gridCol w="3317351"/>
              </a:tblGrid>
              <a:tr h="384048">
                <a:tc>
                  <a:txBody>
                    <a:bodyPr wrap="square"/>
                    <a:lstStyle/>
                    <a:p>
                      <a:pPr algn="l"/>
                      <a:r>
                        <a:rPr sz="900" b="1">
                          <a:solidFill>
                            <a:srgbClr val="F3FCE7"/>
                          </a:solidFill>
                          <a:latin typeface="Arial"/>
                        </a:rPr>
                        <a:t>Segment</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Outcome</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Consequence for Halqa</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84048">
                <a:tc>
                  <a:txBody>
                    <a:bodyPr wrap="square"/>
                    <a:lstStyle/>
                    <a:p>
                      <a:pPr algn="l"/>
                      <a:r>
                        <a:rPr sz="960" b="1">
                          <a:solidFill>
                            <a:srgbClr val="22450C"/>
                          </a:solidFill>
                          <a:latin typeface="Arial"/>
                        </a:rPr>
                        <a:t>Irregular or insufficient income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Excluded by the groups themselves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Outside the market, and not claimed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84048">
                <a:tc>
                  <a:txBody>
                    <a:bodyPr wrap="square"/>
                    <a:lstStyle/>
                    <a:p>
                      <a:pPr algn="l"/>
                      <a:r>
                        <a:rPr sz="960" b="1">
                          <a:solidFill>
                            <a:srgbClr val="22450C"/>
                          </a:solidFill>
                          <a:latin typeface="Arial"/>
                        </a:rPr>
                        <a:t>Regular earners without a bank account, such as a tailor on Rs 17,000 or a driver on Rs 22,000 a month</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Served well, with near-zero observed default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The market: tens of millions of people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21" name="TextBox 20"/>
          <p:cNvSpPr txBox="1"/>
          <p:nvPr/>
        </p:nvSpPr>
        <p:spPr>
          <a:xfrm>
            <a:off x="566928" y="5138928"/>
            <a:ext cx="11057839" cy="731520"/>
          </a:xfrm>
          <a:prstGeom prst="rect">
            <a:avLst/>
          </a:prstGeom>
          <a:noFill/>
        </p:spPr>
        <p:txBody>
          <a:bodyPr wrap="square" lIns="0" rIns="0" tIns="0" bIns="0" anchor="t">
            <a:spAutoFit/>
          </a:bodyPr>
          <a:lstStyle/>
          <a:p>
            <a:pPr algn="l">
              <a:lnSpc>
                <a:spcPct val="112000"/>
              </a:lnSpc>
              <a:spcAft>
                <a:spcPts val="400"/>
              </a:spcAft>
            </a:pPr>
            <a:r>
              <a:rPr sz="1040" b="0" i="0">
                <a:solidFill>
                  <a:srgbClr val="0C1408"/>
                </a:solidFill>
                <a:latin typeface="Arial"/>
              </a:rPr>
              <a:t>Two claims are withdrawn and appear in no Halqa material: that Halqa serves the poorest, and that committees substitute for formal finance. The claim that holds is that Halqa is an on-ramp to formal finance, through the credit score it builds from committee payments.</a:t>
            </a:r>
          </a:p>
        </p:txBody>
      </p:sp>
      <p:sp>
        <p:nvSpPr>
          <p:cNvPr id="22" name="TextBox 21"/>
          <p:cNvSpPr txBox="1"/>
          <p:nvPr/>
        </p:nvSpPr>
        <p:spPr>
          <a:xfrm>
            <a:off x="566928" y="6053328"/>
            <a:ext cx="11057839"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reported, from the two studies named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2194560"/>
            <a:ext cx="1828800" cy="822960"/>
          </a:xfrm>
          <a:prstGeom prst="rect">
            <a:avLst/>
          </a:prstGeom>
          <a:noFill/>
        </p:spPr>
        <p:txBody>
          <a:bodyPr wrap="square" lIns="0" rIns="0" tIns="0" bIns="0" anchor="t">
            <a:spAutoFit/>
          </a:bodyPr>
          <a:lstStyle/>
          <a:p>
            <a:pPr algn="l">
              <a:lnSpc>
                <a:spcPct val="100000"/>
              </a:lnSpc>
              <a:spcAft>
                <a:spcPts val="400"/>
              </a:spcAft>
            </a:pPr>
            <a:r>
              <a:rPr sz="6000" b="0" i="0">
                <a:solidFill>
                  <a:srgbClr val="6DC72A"/>
                </a:solidFill>
                <a:latin typeface="Georgia"/>
              </a:rPr>
              <a:t>02</a:t>
            </a:r>
          </a:p>
        </p:txBody>
      </p:sp>
      <p:sp>
        <p:nvSpPr>
          <p:cNvPr id="5" name="TextBox 4"/>
          <p:cNvSpPr txBox="1"/>
          <p:nvPr/>
        </p:nvSpPr>
        <p:spPr>
          <a:xfrm>
            <a:off x="2560320" y="2359152"/>
            <a:ext cx="7498079" cy="731520"/>
          </a:xfrm>
          <a:prstGeom prst="rect">
            <a:avLst/>
          </a:prstGeom>
          <a:noFill/>
        </p:spPr>
        <p:txBody>
          <a:bodyPr wrap="square" lIns="0" rIns="0" tIns="0" bIns="0" anchor="t">
            <a:spAutoFit/>
          </a:bodyPr>
          <a:lstStyle/>
          <a:p>
            <a:pPr algn="l">
              <a:lnSpc>
                <a:spcPct val="100000"/>
              </a:lnSpc>
              <a:spcAft>
                <a:spcPts val="400"/>
              </a:spcAft>
            </a:pPr>
            <a:r>
              <a:rPr sz="3100" b="0" i="0">
                <a:solidFill>
                  <a:srgbClr val="F3FCE7"/>
                </a:solidFill>
                <a:latin typeface="Georgia"/>
              </a:rPr>
              <a:t>The legal position</a:t>
            </a:r>
          </a:p>
        </p:txBody>
      </p:sp>
      <p:cxnSp>
        <p:nvCxnSpPr>
          <p:cNvPr id="6" name="Connector 5"/>
          <p:cNvCxnSpPr/>
          <p:nvPr/>
        </p:nvCxnSpPr>
        <p:spPr>
          <a:xfrm>
            <a:off x="2606040" y="3127248"/>
            <a:ext cx="3429000" cy="0"/>
          </a:xfrm>
          <a:prstGeom prst="line">
            <a:avLst/>
          </a:prstGeom>
          <a:ln w="17780">
            <a:solidFill>
              <a:srgbClr val="8ADC4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2606040" y="3310128"/>
            <a:ext cx="6949440" cy="1463040"/>
          </a:xfrm>
          <a:prstGeom prst="rect">
            <a:avLst/>
          </a:prstGeom>
          <a:noFill/>
        </p:spPr>
        <p:txBody>
          <a:bodyPr wrap="square" lIns="0" rIns="0" tIns="0" bIns="0" anchor="t">
            <a:spAutoFit/>
          </a:bodyPr>
          <a:lstStyle/>
          <a:p>
            <a:pPr algn="l">
              <a:lnSpc>
                <a:spcPct val="110000"/>
              </a:lnSpc>
              <a:spcAft>
                <a:spcPts val="700"/>
              </a:spcAft>
            </a:pPr>
            <a:r>
              <a:rPr sz="1220" b="0" i="0">
                <a:solidFill>
                  <a:srgbClr val="D2E2C6"/>
                </a:solidFill>
                <a:latin typeface="Arial"/>
              </a:rPr>
              <a:t>No contribution passes through an account of Halqa’s at any point.</a:t>
            </a:r>
          </a:p>
          <a:p>
            <a:pPr algn="l">
              <a:lnSpc>
                <a:spcPct val="110000"/>
              </a:lnSpc>
              <a:spcAft>
                <a:spcPts val="700"/>
              </a:spcAft>
            </a:pPr>
            <a:r>
              <a:rPr sz="1220" b="0" i="0">
                <a:solidFill>
                  <a:srgbClr val="D2E2C6"/>
                </a:solidFill>
                <a:latin typeface="Arial"/>
              </a:rPr>
              <a:t>Each licence that could attach is drafted against conduct that does not occur.</a:t>
            </a:r>
          </a:p>
          <a:p>
            <a:pPr algn="l">
              <a:lnSpc>
                <a:spcPct val="110000"/>
              </a:lnSpc>
              <a:spcAft>
                <a:spcPts val="700"/>
              </a:spcAft>
            </a:pPr>
            <a:r>
              <a:rPr sz="1220" b="0" i="0">
                <a:solidFill>
                  <a:srgbClr val="D2E2C6"/>
                </a:solidFill>
                <a:latin typeface="Arial"/>
              </a:rPr>
              <a:t>No approval is sought and no sandbox is pursued. Halqa operates under the general law.</a:t>
            </a:r>
          </a:p>
        </p:txBody>
      </p:sp>
      <p:pic>
        <p:nvPicPr>
          <p:cNvPr id="8" name="Picture 7" descr="logo-mark.png"/>
          <p:cNvPicPr>
            <a:picLocks noChangeAspect="1"/>
          </p:cNvPicPr>
          <p:nvPr/>
        </p:nvPicPr>
        <p:blipFill>
          <a:blip r:embed="rId2"/>
          <a:stretch>
            <a:fillRect/>
          </a:stretch>
        </p:blipFill>
        <p:spPr>
          <a:xfrm>
            <a:off x="9357055" y="2468880"/>
            <a:ext cx="1920240" cy="192024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02 · THE MONEY PATH</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Every payment splits three ways at the moment it is taken</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The three parts are ledgered separately, reconciled separately and never mixed.</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24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11</a:t>
            </a:r>
          </a:p>
        </p:txBody>
      </p:sp>
      <p:sp>
        <p:nvSpPr>
          <p:cNvPr id="10" name="TextBox 9"/>
          <p:cNvSpPr txBox="1"/>
          <p:nvPr/>
        </p:nvSpPr>
        <p:spPr>
          <a:xfrm>
            <a:off x="566928" y="1572768"/>
            <a:ext cx="11057839" cy="182880"/>
          </a:xfrm>
          <a:prstGeom prst="rect">
            <a:avLst/>
          </a:prstGeom>
          <a:noFill/>
        </p:spPr>
        <p:txBody>
          <a:bodyPr wrap="square" lIns="0" rIns="0" tIns="0" bIns="0" anchor="t">
            <a:spAutoFit/>
          </a:bodyPr>
          <a:lstStyle/>
          <a:p>
            <a:pPr algn="l">
              <a:lnSpc>
                <a:spcPct val="100000"/>
              </a:lnSpc>
              <a:spcAft>
                <a:spcPts val="400"/>
              </a:spcAft>
            </a:pPr>
            <a:r>
              <a:rPr sz="840" b="0" i="1" spc="30">
                <a:solidFill>
                  <a:srgbClr val="6F7B68"/>
                </a:solidFill>
                <a:latin typeface="Arial"/>
              </a:rPr>
              <a:t>EXHIBIT 7   The path of one payment. Halqa instructs the partner and keeps the ledger; the money does not pass through Halqa.</a:t>
            </a:r>
          </a:p>
        </p:txBody>
      </p:sp>
      <p:sp>
        <p:nvSpPr>
          <p:cNvPr id="11" name="Rectangle 10"/>
          <p:cNvSpPr/>
          <p:nvPr/>
        </p:nvSpPr>
        <p:spPr>
          <a:xfrm>
            <a:off x="566928" y="2377439"/>
            <a:ext cx="2103120" cy="822960"/>
          </a:xfrm>
          <a:prstGeom prst="rect">
            <a:avLst/>
          </a:prstGeom>
          <a:solidFill>
            <a:srgbClr val="F5F7F2"/>
          </a:solidFill>
          <a:ln w="12700">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2532887"/>
            <a:ext cx="2103120" cy="274320"/>
          </a:xfrm>
          <a:prstGeom prst="rect">
            <a:avLst/>
          </a:prstGeom>
          <a:noFill/>
        </p:spPr>
        <p:txBody>
          <a:bodyPr wrap="square" lIns="0" rIns="0" tIns="0" bIns="0" anchor="t">
            <a:spAutoFit/>
          </a:bodyPr>
          <a:lstStyle/>
          <a:p>
            <a:pPr algn="ctr">
              <a:lnSpc>
                <a:spcPct val="100000"/>
              </a:lnSpc>
              <a:spcAft>
                <a:spcPts val="400"/>
              </a:spcAft>
            </a:pPr>
            <a:r>
              <a:rPr sz="1140" b="1" i="0">
                <a:solidFill>
                  <a:srgbClr val="22450C"/>
                </a:solidFill>
                <a:latin typeface="Arial"/>
              </a:rPr>
              <a:t>Paying member</a:t>
            </a:r>
          </a:p>
        </p:txBody>
      </p:sp>
      <p:sp>
        <p:nvSpPr>
          <p:cNvPr id="13" name="TextBox 12"/>
          <p:cNvSpPr txBox="1"/>
          <p:nvPr/>
        </p:nvSpPr>
        <p:spPr>
          <a:xfrm>
            <a:off x="566928" y="2807207"/>
            <a:ext cx="2103120" cy="274320"/>
          </a:xfrm>
          <a:prstGeom prst="rect">
            <a:avLst/>
          </a:prstGeom>
          <a:noFill/>
        </p:spPr>
        <p:txBody>
          <a:bodyPr wrap="square" lIns="0" rIns="0" tIns="0" bIns="0" anchor="t">
            <a:spAutoFit/>
          </a:bodyPr>
          <a:lstStyle/>
          <a:p>
            <a:pPr algn="ctr">
              <a:lnSpc>
                <a:spcPct val="100000"/>
              </a:lnSpc>
              <a:spcAft>
                <a:spcPts val="400"/>
              </a:spcAft>
            </a:pPr>
            <a:r>
              <a:rPr sz="880" b="0" i="0">
                <a:solidFill>
                  <a:srgbClr val="6F7B68"/>
                </a:solidFill>
                <a:latin typeface="Arial"/>
              </a:rPr>
              <a:t>approves in the application</a:t>
            </a:r>
          </a:p>
        </p:txBody>
      </p:sp>
      <p:sp>
        <p:nvSpPr>
          <p:cNvPr id="14" name="Rectangle 13"/>
          <p:cNvSpPr/>
          <p:nvPr/>
        </p:nvSpPr>
        <p:spPr>
          <a:xfrm>
            <a:off x="3310128" y="2377439"/>
            <a:ext cx="2651760" cy="822960"/>
          </a:xfrm>
          <a:prstGeom prst="rect">
            <a:avLst/>
          </a:prstGeom>
          <a:solidFill>
            <a:srgbClr val="FFFFFF"/>
          </a:solidFill>
          <a:ln w="12700">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10128" y="2496311"/>
            <a:ext cx="2651760" cy="274320"/>
          </a:xfrm>
          <a:prstGeom prst="rect">
            <a:avLst/>
          </a:prstGeom>
          <a:noFill/>
        </p:spPr>
        <p:txBody>
          <a:bodyPr wrap="square" lIns="0" rIns="0" tIns="0" bIns="0" anchor="t">
            <a:spAutoFit/>
          </a:bodyPr>
          <a:lstStyle/>
          <a:p>
            <a:pPr algn="ctr">
              <a:lnSpc>
                <a:spcPct val="100000"/>
              </a:lnSpc>
              <a:spcAft>
                <a:spcPts val="400"/>
              </a:spcAft>
            </a:pPr>
            <a:r>
              <a:rPr sz="1100" b="1" i="0">
                <a:solidFill>
                  <a:srgbClr val="22450C"/>
                </a:solidFill>
                <a:latin typeface="Arial"/>
              </a:rPr>
              <a:t>Electronic money institution</a:t>
            </a:r>
          </a:p>
        </p:txBody>
      </p:sp>
      <p:sp>
        <p:nvSpPr>
          <p:cNvPr id="16" name="TextBox 15"/>
          <p:cNvSpPr txBox="1"/>
          <p:nvPr/>
        </p:nvSpPr>
        <p:spPr>
          <a:xfrm>
            <a:off x="3310128" y="2770631"/>
            <a:ext cx="2651760" cy="365760"/>
          </a:xfrm>
          <a:prstGeom prst="rect">
            <a:avLst/>
          </a:prstGeom>
          <a:noFill/>
        </p:spPr>
        <p:txBody>
          <a:bodyPr wrap="square" lIns="0" rIns="0" tIns="0" bIns="0" anchor="t">
            <a:spAutoFit/>
          </a:bodyPr>
          <a:lstStyle/>
          <a:p>
            <a:pPr algn="ctr">
              <a:lnSpc>
                <a:spcPct val="100000"/>
              </a:lnSpc>
              <a:spcAft>
                <a:spcPts val="100"/>
              </a:spcAft>
            </a:pPr>
            <a:r>
              <a:rPr sz="860" b="0" i="0">
                <a:solidFill>
                  <a:srgbClr val="6F7B68"/>
                </a:solidFill>
                <a:latin typeface="Arial"/>
              </a:rPr>
              <a:t>licensed partner; initiates the payment</a:t>
            </a:r>
          </a:p>
          <a:p>
            <a:pPr algn="ctr">
              <a:lnSpc>
                <a:spcPct val="100000"/>
              </a:lnSpc>
              <a:spcAft>
                <a:spcPts val="100"/>
              </a:spcAft>
            </a:pPr>
            <a:r>
              <a:rPr sz="860" b="0" i="0">
                <a:solidFill>
                  <a:srgbClr val="6F7B68"/>
                </a:solidFill>
                <a:latin typeface="Arial"/>
              </a:rPr>
              <a:t>NayaPay or SadaPay, not contracted</a:t>
            </a:r>
          </a:p>
        </p:txBody>
      </p:sp>
      <p:cxnSp>
        <p:nvCxnSpPr>
          <p:cNvPr id="17" name="Connector 16"/>
          <p:cNvCxnSpPr/>
          <p:nvPr/>
        </p:nvCxnSpPr>
        <p:spPr>
          <a:xfrm>
            <a:off x="2670048" y="2788919"/>
            <a:ext cx="640080" cy="0"/>
          </a:xfrm>
          <a:prstGeom prst="line">
            <a:avLst/>
          </a:prstGeom>
          <a:ln w="17780">
            <a:solidFill>
              <a:srgbClr val="2245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6784848" y="1892807"/>
            <a:ext cx="4837176" cy="512064"/>
          </a:xfrm>
          <a:prstGeom prst="rect">
            <a:avLst/>
          </a:prstGeom>
          <a:solidFill>
            <a:srgbClr val="FFFFFF"/>
          </a:solidFill>
          <a:ln w="12700">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22008" y="1965959"/>
            <a:ext cx="2103120" cy="274320"/>
          </a:xfrm>
          <a:prstGeom prst="rect">
            <a:avLst/>
          </a:prstGeom>
          <a:noFill/>
        </p:spPr>
        <p:txBody>
          <a:bodyPr wrap="square" lIns="0" rIns="0" tIns="0" bIns="0" anchor="t">
            <a:spAutoFit/>
          </a:bodyPr>
          <a:lstStyle/>
          <a:p>
            <a:pPr algn="l">
              <a:lnSpc>
                <a:spcPct val="100000"/>
              </a:lnSpc>
              <a:spcAft>
                <a:spcPts val="400"/>
              </a:spcAft>
            </a:pPr>
            <a:r>
              <a:rPr sz="1060" b="1" i="0">
                <a:solidFill>
                  <a:srgbClr val="22450C"/>
                </a:solidFill>
                <a:latin typeface="Arial"/>
              </a:rPr>
              <a:t>Collecting member</a:t>
            </a:r>
          </a:p>
        </p:txBody>
      </p:sp>
      <p:sp>
        <p:nvSpPr>
          <p:cNvPr id="20" name="TextBox 19"/>
          <p:cNvSpPr txBox="1"/>
          <p:nvPr/>
        </p:nvSpPr>
        <p:spPr>
          <a:xfrm>
            <a:off x="8887968" y="1984247"/>
            <a:ext cx="2697480" cy="365760"/>
          </a:xfrm>
          <a:prstGeom prst="rect">
            <a:avLst/>
          </a:prstGeom>
          <a:noFill/>
        </p:spPr>
        <p:txBody>
          <a:bodyPr wrap="square" lIns="0" rIns="0" tIns="0" bIns="0" anchor="t">
            <a:spAutoFit/>
          </a:bodyPr>
          <a:lstStyle/>
          <a:p>
            <a:pPr algn="l">
              <a:lnSpc>
                <a:spcPct val="100000"/>
              </a:lnSpc>
              <a:spcAft>
                <a:spcPts val="400"/>
              </a:spcAft>
            </a:pPr>
            <a:r>
              <a:rPr sz="900" b="0" i="0">
                <a:solidFill>
                  <a:srgbClr val="6F7B68"/>
                </a:solidFill>
                <a:latin typeface="Arial"/>
              </a:rPr>
              <a:t>the contribution, which alone forms the pot</a:t>
            </a:r>
          </a:p>
        </p:txBody>
      </p:sp>
      <p:cxnSp>
        <p:nvCxnSpPr>
          <p:cNvPr id="21" name="Connector 20"/>
          <p:cNvCxnSpPr/>
          <p:nvPr/>
        </p:nvCxnSpPr>
        <p:spPr>
          <a:xfrm flipV="1">
            <a:off x="5961888" y="2148839"/>
            <a:ext cx="822960" cy="640080"/>
          </a:xfrm>
          <a:prstGeom prst="line">
            <a:avLst/>
          </a:prstGeom>
          <a:ln w="17780">
            <a:solidFill>
              <a:srgbClr val="6DC7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6784848" y="2496311"/>
            <a:ext cx="4837176" cy="512064"/>
          </a:xfrm>
          <a:prstGeom prst="rect">
            <a:avLst/>
          </a:prstGeom>
          <a:solidFill>
            <a:srgbClr val="FFFFFF"/>
          </a:solidFill>
          <a:ln w="12700">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22008" y="2569463"/>
            <a:ext cx="2103120" cy="274320"/>
          </a:xfrm>
          <a:prstGeom prst="rect">
            <a:avLst/>
          </a:prstGeom>
          <a:noFill/>
        </p:spPr>
        <p:txBody>
          <a:bodyPr wrap="square" lIns="0" rIns="0" tIns="0" bIns="0" anchor="t">
            <a:spAutoFit/>
          </a:bodyPr>
          <a:lstStyle/>
          <a:p>
            <a:pPr algn="l">
              <a:lnSpc>
                <a:spcPct val="100000"/>
              </a:lnSpc>
              <a:spcAft>
                <a:spcPts val="400"/>
              </a:spcAft>
            </a:pPr>
            <a:r>
              <a:rPr sz="1060" b="1" i="0">
                <a:solidFill>
                  <a:srgbClr val="22450C"/>
                </a:solidFill>
                <a:latin typeface="Arial"/>
              </a:rPr>
              <a:t>Participants risk fund</a:t>
            </a:r>
          </a:p>
        </p:txBody>
      </p:sp>
      <p:sp>
        <p:nvSpPr>
          <p:cNvPr id="24" name="TextBox 23"/>
          <p:cNvSpPr txBox="1"/>
          <p:nvPr/>
        </p:nvSpPr>
        <p:spPr>
          <a:xfrm>
            <a:off x="8887968" y="2587751"/>
            <a:ext cx="2697480" cy="365760"/>
          </a:xfrm>
          <a:prstGeom prst="rect">
            <a:avLst/>
          </a:prstGeom>
          <a:noFill/>
        </p:spPr>
        <p:txBody>
          <a:bodyPr wrap="square" lIns="0" rIns="0" tIns="0" bIns="0" anchor="t">
            <a:spAutoFit/>
          </a:bodyPr>
          <a:lstStyle/>
          <a:p>
            <a:pPr algn="l">
              <a:lnSpc>
                <a:spcPct val="100000"/>
              </a:lnSpc>
              <a:spcAft>
                <a:spcPts val="400"/>
              </a:spcAft>
            </a:pPr>
            <a:r>
              <a:rPr sz="900" b="0" i="0">
                <a:solidFill>
                  <a:srgbClr val="6F7B68"/>
                </a:solidFill>
                <a:latin typeface="Arial"/>
              </a:rPr>
              <a:t>the takaful contribution, where cover is attached</a:t>
            </a:r>
          </a:p>
        </p:txBody>
      </p:sp>
      <p:cxnSp>
        <p:nvCxnSpPr>
          <p:cNvPr id="25" name="Connector 24"/>
          <p:cNvCxnSpPr/>
          <p:nvPr/>
        </p:nvCxnSpPr>
        <p:spPr>
          <a:xfrm flipV="1">
            <a:off x="5961888" y="2752343"/>
            <a:ext cx="822960" cy="36576"/>
          </a:xfrm>
          <a:prstGeom prst="line">
            <a:avLst/>
          </a:prstGeom>
          <a:ln w="17780">
            <a:solidFill>
              <a:srgbClr val="6DC7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6784848" y="3099815"/>
            <a:ext cx="4837176" cy="512064"/>
          </a:xfrm>
          <a:prstGeom prst="rect">
            <a:avLst/>
          </a:prstGeom>
          <a:solidFill>
            <a:srgbClr val="E3F8CA"/>
          </a:solidFill>
          <a:ln w="12700">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22008" y="3172967"/>
            <a:ext cx="2103120" cy="274320"/>
          </a:xfrm>
          <a:prstGeom prst="rect">
            <a:avLst/>
          </a:prstGeom>
          <a:noFill/>
        </p:spPr>
        <p:txBody>
          <a:bodyPr wrap="square" lIns="0" rIns="0" tIns="0" bIns="0" anchor="t">
            <a:spAutoFit/>
          </a:bodyPr>
          <a:lstStyle/>
          <a:p>
            <a:pPr algn="l">
              <a:lnSpc>
                <a:spcPct val="100000"/>
              </a:lnSpc>
              <a:spcAft>
                <a:spcPts val="400"/>
              </a:spcAft>
            </a:pPr>
            <a:r>
              <a:rPr sz="1060" b="1" i="0">
                <a:solidFill>
                  <a:srgbClr val="22450C"/>
                </a:solidFill>
                <a:latin typeface="Arial"/>
              </a:rPr>
              <a:t>Halqa revenue account</a:t>
            </a:r>
          </a:p>
        </p:txBody>
      </p:sp>
      <p:sp>
        <p:nvSpPr>
          <p:cNvPr id="28" name="TextBox 27"/>
          <p:cNvSpPr txBox="1"/>
          <p:nvPr/>
        </p:nvSpPr>
        <p:spPr>
          <a:xfrm>
            <a:off x="8887968" y="3191255"/>
            <a:ext cx="2697480" cy="365760"/>
          </a:xfrm>
          <a:prstGeom prst="rect">
            <a:avLst/>
          </a:prstGeom>
          <a:noFill/>
        </p:spPr>
        <p:txBody>
          <a:bodyPr wrap="square" lIns="0" rIns="0" tIns="0" bIns="0" anchor="t">
            <a:spAutoFit/>
          </a:bodyPr>
          <a:lstStyle/>
          <a:p>
            <a:pPr algn="l">
              <a:lnSpc>
                <a:spcPct val="100000"/>
              </a:lnSpc>
              <a:spcAft>
                <a:spcPts val="400"/>
              </a:spcAft>
            </a:pPr>
            <a:r>
              <a:rPr sz="900" b="0" i="0">
                <a:solidFill>
                  <a:srgbClr val="6F7B68"/>
                </a:solidFill>
                <a:latin typeface="Arial"/>
              </a:rPr>
              <a:t>the service fee, collected separately</a:t>
            </a:r>
          </a:p>
        </p:txBody>
      </p:sp>
      <p:cxnSp>
        <p:nvCxnSpPr>
          <p:cNvPr id="29" name="Connector 28"/>
          <p:cNvCxnSpPr/>
          <p:nvPr/>
        </p:nvCxnSpPr>
        <p:spPr>
          <a:xfrm>
            <a:off x="5961888" y="2788919"/>
            <a:ext cx="822960" cy="566928"/>
          </a:xfrm>
          <a:prstGeom prst="line">
            <a:avLst/>
          </a:prstGeom>
          <a:ln w="17780">
            <a:solidFill>
              <a:srgbClr val="22450C"/>
            </a:solidFill>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30" name="Table 29"/>
          <p:cNvGraphicFramePr>
            <a:graphicFrameLocks noGrp="1"/>
          </p:cNvGraphicFramePr>
          <p:nvPr/>
        </p:nvGraphicFramePr>
        <p:xfrm>
          <a:off x="566928" y="3840480"/>
          <a:ext cx="11057836" cy="1463040"/>
        </p:xfrm>
        <a:graphic>
          <a:graphicData uri="http://schemas.openxmlformats.org/drawingml/2006/table">
            <a:tbl>
              <a:tblPr>
                <a:tableStyleId>{5C22544A-7EE6-4342-B048-85BDC9FD1C3A}</a:tableStyleId>
              </a:tblPr>
              <a:tblGrid>
                <a:gridCol w="1658675"/>
                <a:gridCol w="3538508"/>
                <a:gridCol w="2211567"/>
                <a:gridCol w="3649086"/>
              </a:tblGrid>
              <a:tr h="365760">
                <a:tc>
                  <a:txBody>
                    <a:bodyPr wrap="square"/>
                    <a:lstStyle/>
                    <a:p>
                      <a:pPr algn="l"/>
                      <a:r>
                        <a:rPr sz="900" b="1">
                          <a:solidFill>
                            <a:srgbClr val="F3FCE7"/>
                          </a:solidFill>
                          <a:latin typeface="Arial"/>
                        </a:rPr>
                        <a:t>Part</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Destination</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Owner of that money</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Basis</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65760">
                <a:tc>
                  <a:txBody>
                    <a:bodyPr wrap="square"/>
                    <a:lstStyle/>
                    <a:p>
                      <a:pPr algn="l"/>
                      <a:r>
                        <a:rPr sz="919" b="1">
                          <a:solidFill>
                            <a:srgbClr val="22450C"/>
                          </a:solidFill>
                          <a:latin typeface="Arial"/>
                        </a:rPr>
                        <a:t>Contribution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The collecting member, through the electronic money institution partner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The collecting member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The pot. The pot equals the contribution for each period, taken over every period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65760">
                <a:tc>
                  <a:txBody>
                    <a:bodyPr wrap="square"/>
                    <a:lstStyle/>
                    <a:p>
                      <a:pPr algn="l"/>
                      <a:r>
                        <a:rPr sz="919" b="1">
                          <a:solidFill>
                            <a:srgbClr val="22450C"/>
                          </a:solidFill>
                          <a:latin typeface="Arial"/>
                        </a:rPr>
                        <a:t>Takaful contribution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Participants risk fund at a licensed operator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The participants, collectively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Cover against default after collection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65760">
                <a:tc>
                  <a:txBody>
                    <a:bodyPr wrap="square"/>
                    <a:lstStyle/>
                    <a:p>
                      <a:pPr algn="l"/>
                      <a:r>
                        <a:rPr sz="919" b="1">
                          <a:solidFill>
                            <a:srgbClr val="22450C"/>
                          </a:solidFill>
                          <a:latin typeface="Arial"/>
                        </a:rPr>
                        <a:t>Service fee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Halqa’s own revenue account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Halqa</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An advance for services, which section 84 of the Companies Act excludes from the meaning of a deposit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31" name="TextBox 30"/>
          <p:cNvSpPr txBox="1"/>
          <p:nvPr/>
        </p:nvSpPr>
        <p:spPr>
          <a:xfrm>
            <a:off x="566928" y="5760720"/>
            <a:ext cx="11057839"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No part of a contribution passes through an account of Halqa’s, however briefly. Source: Business Model, revision 3, section 1; Collection and Auto-Pull Specification, revision 3, section 1.</a:t>
            </a:r>
          </a:p>
        </p:txBody>
      </p:sp>
      <p:cxnSp>
        <p:nvCxnSpPr>
          <p:cNvPr id="32" name="Connector 31"/>
          <p:cNvCxnSpPr/>
          <p:nvPr/>
        </p:nvCxnSpPr>
        <p:spPr>
          <a:xfrm>
            <a:off x="566928" y="6144768"/>
            <a:ext cx="0" cy="155448"/>
          </a:xfrm>
          <a:prstGeom prst="line">
            <a:avLst/>
          </a:prstGeom>
          <a:ln w="27940">
            <a:solidFill>
              <a:srgbClr val="6DC72A"/>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6144768"/>
            <a:ext cx="7315200" cy="182880"/>
          </a:xfrm>
          <a:prstGeom prst="rect">
            <a:avLst/>
          </a:prstGeom>
          <a:noFill/>
        </p:spPr>
        <p:txBody>
          <a:bodyPr wrap="square" lIns="0" rIns="0" tIns="0" bIns="0" anchor="t">
            <a:spAutoFit/>
          </a:bodyPr>
          <a:lstStyle/>
          <a:p>
            <a:pPr algn="l">
              <a:lnSpc>
                <a:spcPct val="100000"/>
              </a:lnSpc>
              <a:spcAft>
                <a:spcPts val="400"/>
              </a:spcAft>
            </a:pPr>
            <a:r>
              <a:rPr sz="819" b="1" i="0" spc="80">
                <a:solidFill>
                  <a:srgbClr val="22450C"/>
                </a:solidFill>
                <a:latin typeface="Arial"/>
              </a:rPr>
              <a:t>PARTNER  ·  NO RAIL IS CONNECTED AND NO MONEY HAS MOVED AT THIS DATE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02 · LICENSING</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The licences that do not attach, and why</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Each prohibition is drafted against conduct. Where the conduct does not occur, the provision does not engage.</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24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12</a:t>
            </a:r>
          </a:p>
        </p:txBody>
      </p:sp>
      <p:sp>
        <p:nvSpPr>
          <p:cNvPr id="10" name="TextBox 9"/>
          <p:cNvSpPr txBox="1"/>
          <p:nvPr/>
        </p:nvSpPr>
        <p:spPr>
          <a:xfrm>
            <a:off x="566928" y="1517904"/>
            <a:ext cx="7589520" cy="182880"/>
          </a:xfrm>
          <a:prstGeom prst="rect">
            <a:avLst/>
          </a:prstGeom>
          <a:noFill/>
        </p:spPr>
        <p:txBody>
          <a:bodyPr wrap="square" lIns="0" rIns="0" tIns="0" bIns="0" anchor="t">
            <a:spAutoFit/>
          </a:bodyPr>
          <a:lstStyle/>
          <a:p>
            <a:pPr algn="l">
              <a:lnSpc>
                <a:spcPct val="100000"/>
              </a:lnSpc>
              <a:spcAft>
                <a:spcPts val="400"/>
              </a:spcAft>
            </a:pPr>
            <a:r>
              <a:rPr sz="840" b="0" i="1" spc="30">
                <a:solidFill>
                  <a:srgbClr val="6F7B68"/>
                </a:solidFill>
                <a:latin typeface="Arial"/>
              </a:rPr>
              <a:t>EXHIBIT 8   Nine provisions, the conduct each governs, and why it does not reach Halqa</a:t>
            </a:r>
          </a:p>
        </p:txBody>
      </p:sp>
      <p:graphicFrame>
        <p:nvGraphicFramePr>
          <p:cNvPr id="11" name="Table 10"/>
          <p:cNvGraphicFramePr>
            <a:graphicFrameLocks noGrp="1"/>
          </p:cNvGraphicFramePr>
          <p:nvPr/>
        </p:nvGraphicFramePr>
        <p:xfrm>
          <a:off x="566928" y="1755648"/>
          <a:ext cx="7589519" cy="3931920"/>
        </p:xfrm>
        <a:graphic>
          <a:graphicData uri="http://schemas.openxmlformats.org/drawingml/2006/table">
            <a:tbl>
              <a:tblPr>
                <a:tableStyleId>{5C22544A-7EE6-4342-B048-85BDC9FD1C3A}</a:tableStyleId>
              </a:tblPr>
              <a:tblGrid>
                <a:gridCol w="2504541"/>
                <a:gridCol w="2049170"/>
                <a:gridCol w="3035808"/>
              </a:tblGrid>
              <a:tr h="393192">
                <a:tc>
                  <a:txBody>
                    <a:bodyPr wrap="square"/>
                    <a:lstStyle/>
                    <a:p>
                      <a:pPr algn="l"/>
                      <a:r>
                        <a:rPr sz="880" b="1">
                          <a:solidFill>
                            <a:srgbClr val="F3FCE7"/>
                          </a:solidFill>
                          <a:latin typeface="Arial"/>
                        </a:rPr>
                        <a:t>Provision</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1">
                          <a:solidFill>
                            <a:srgbClr val="F3FCE7"/>
                          </a:solidFill>
                          <a:latin typeface="Arial"/>
                        </a:rPr>
                        <a:t>Conduct governed</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1">
                          <a:solidFill>
                            <a:srgbClr val="F3FCE7"/>
                          </a:solidFill>
                          <a:latin typeface="Arial"/>
                        </a:rPr>
                        <a:t>Why it does not reach Halqa</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93192">
                <a:tc>
                  <a:txBody>
                    <a:bodyPr wrap="square"/>
                    <a:lstStyle/>
                    <a:p>
                      <a:pPr algn="l"/>
                      <a:r>
                        <a:rPr sz="880" b="0">
                          <a:solidFill>
                            <a:srgbClr val="0C1408"/>
                          </a:solidFill>
                          <a:latin typeface="Arial"/>
                        </a:rPr>
                        <a:t>Companies Act 2017, s.84</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Accepting deposits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Contributions settle member to member; the fee is an advance for services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93192">
                <a:tc>
                  <a:txBody>
                    <a:bodyPr wrap="square"/>
                    <a:lstStyle/>
                    <a:p>
                      <a:pPr algn="l"/>
                      <a:r>
                        <a:rPr sz="880" b="0">
                          <a:solidFill>
                            <a:srgbClr val="0C1408"/>
                          </a:solidFill>
                          <a:latin typeface="Arial"/>
                        </a:rPr>
                        <a:t>PS&amp;EFT Act 2007; EMI Regulations 2023</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Issuing electronic money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No balance is issued and no funds are received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93192">
                <a:tc>
                  <a:txBody>
                    <a:bodyPr wrap="square"/>
                    <a:lstStyle/>
                    <a:p>
                      <a:pPr algn="l"/>
                      <a:r>
                        <a:rPr sz="880" b="0">
                          <a:solidFill>
                            <a:srgbClr val="0C1408"/>
                          </a:solidFill>
                          <a:latin typeface="Arial"/>
                        </a:rPr>
                        <a:t>PSO/PSP Rules 2014</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Providing a payment system</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Initiation is the partner’s service under para 7.I(f) and (h)</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93192">
                <a:tc>
                  <a:txBody>
                    <a:bodyPr wrap="square"/>
                    <a:lstStyle/>
                    <a:p>
                      <a:pPr algn="l"/>
                      <a:r>
                        <a:rPr sz="880" b="0">
                          <a:solidFill>
                            <a:srgbClr val="0C1408"/>
                          </a:solidFill>
                          <a:latin typeface="Arial"/>
                        </a:rPr>
                        <a:t>Companies Ordinance 1984, Part VIIIA</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Lending as a finance company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Halqa advances nothing and computes no rate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93192">
                <a:tc>
                  <a:txBody>
                    <a:bodyPr wrap="square"/>
                    <a:lstStyle/>
                    <a:p>
                      <a:pPr algn="l"/>
                      <a:r>
                        <a:rPr sz="880" b="0">
                          <a:solidFill>
                            <a:srgbClr val="0C1408"/>
                          </a:solidFill>
                          <a:latin typeface="Arial"/>
                        </a:rPr>
                        <a:t>NBFC Regulations 2008, peer to peer chapter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Loans between persons on a platform</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No member pays another for a position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93192">
                <a:tc>
                  <a:txBody>
                    <a:bodyPr wrap="square"/>
                    <a:lstStyle/>
                    <a:p>
                      <a:pPr algn="l"/>
                      <a:r>
                        <a:rPr sz="880" b="0">
                          <a:solidFill>
                            <a:srgbClr val="0C1408"/>
                          </a:solidFill>
                          <a:latin typeface="Arial"/>
                        </a:rPr>
                        <a:t>Insurance Ordinance 2000, ss.2(xxvii), 5(1)</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Promising payment on another’s loss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A licensed operator writes the cover; Halqa is an agent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93192">
                <a:tc>
                  <a:txBody>
                    <a:bodyPr wrap="square"/>
                    <a:lstStyle/>
                    <a:p>
                      <a:pPr algn="l"/>
                      <a:r>
                        <a:rPr sz="880" b="0">
                          <a:solidFill>
                            <a:srgbClr val="0C1408"/>
                          </a:solidFill>
                          <a:latin typeface="Arial"/>
                        </a:rPr>
                        <a:t>Credit Bureaus Act 2015, s.4</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Functioning as a bureau</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Reports only on the member’s instruction, s.19(1)(b)</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93192">
                <a:tc>
                  <a:txBody>
                    <a:bodyPr wrap="square"/>
                    <a:lstStyle/>
                    <a:p>
                      <a:pPr algn="l"/>
                      <a:r>
                        <a:rPr sz="880" b="0">
                          <a:solidFill>
                            <a:srgbClr val="0C1408"/>
                          </a:solidFill>
                          <a:latin typeface="Arial"/>
                        </a:rPr>
                        <a:t>Companies Act 2017, s.9</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Association of more than 20 for gain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Each member receives exactly what each pays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93192">
                <a:tc>
                  <a:txBody>
                    <a:bodyPr wrap="square"/>
                    <a:lstStyle/>
                    <a:p>
                      <a:pPr algn="l"/>
                      <a:r>
                        <a:rPr sz="880" b="0">
                          <a:solidFill>
                            <a:srgbClr val="0C1408"/>
                          </a:solidFill>
                          <a:latin typeface="Arial"/>
                        </a:rPr>
                        <a:t>Penal Code 1860, s.294-A</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Keeping a lottery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No sum is determined by a draw</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12" name="Rectangle 11"/>
          <p:cNvSpPr/>
          <p:nvPr/>
        </p:nvSpPr>
        <p:spPr>
          <a:xfrm>
            <a:off x="8430768" y="1755648"/>
            <a:ext cx="3191256" cy="201168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430768" y="1755648"/>
            <a:ext cx="45720" cy="201168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0" y="1865376"/>
            <a:ext cx="2916936"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Required to operate</a:t>
            </a:r>
          </a:p>
        </p:txBody>
      </p:sp>
      <p:sp>
        <p:nvSpPr>
          <p:cNvPr id="15" name="TextBox 14"/>
          <p:cNvSpPr txBox="1"/>
          <p:nvPr/>
        </p:nvSpPr>
        <p:spPr>
          <a:xfrm>
            <a:off x="8595360" y="2157984"/>
            <a:ext cx="2916936" cy="1554480"/>
          </a:xfrm>
          <a:prstGeom prst="rect">
            <a:avLst/>
          </a:prstGeom>
          <a:noFill/>
        </p:spPr>
        <p:txBody>
          <a:bodyPr wrap="square" lIns="0" rIns="0" tIns="0" bIns="0" anchor="t">
            <a:spAutoFit/>
          </a:bodyPr>
          <a:lstStyle/>
          <a:p>
            <a:pPr algn="l">
              <a:lnSpc>
                <a:spcPct val="112000"/>
              </a:lnSpc>
              <a:spcAft>
                <a:spcPts val="500"/>
              </a:spcAft>
            </a:pPr>
            <a:r>
              <a:rPr sz="980" b="0" i="0">
                <a:solidFill>
                  <a:srgbClr val="0C1408"/>
                </a:solidFill>
                <a:latin typeface="Arial"/>
              </a:rPr>
              <a:t>Incorporation as a private limited company.</a:t>
            </a:r>
          </a:p>
          <a:p>
            <a:pPr algn="l">
              <a:lnSpc>
                <a:spcPct val="112000"/>
              </a:lnSpc>
              <a:spcAft>
                <a:spcPts val="500"/>
              </a:spcAft>
            </a:pPr>
            <a:r>
              <a:rPr sz="980" b="0" i="0">
                <a:solidFill>
                  <a:srgbClr val="0C1408"/>
                </a:solidFill>
                <a:latin typeface="Arial"/>
              </a:rPr>
              <a:t>A National Tax Number.</a:t>
            </a:r>
          </a:p>
          <a:p>
            <a:pPr algn="l">
              <a:lnSpc>
                <a:spcPct val="112000"/>
              </a:lnSpc>
              <a:spcAft>
                <a:spcPts val="500"/>
              </a:spcAft>
            </a:pPr>
            <a:r>
              <a:rPr sz="980" b="0" i="0">
                <a:solidFill>
                  <a:srgbClr val="0C1408"/>
                </a:solidFill>
                <a:latin typeface="Arial"/>
              </a:rPr>
              <a:t>A services agreement with a licensed electronic money institution.</a:t>
            </a:r>
          </a:p>
        </p:txBody>
      </p:sp>
      <p:sp>
        <p:nvSpPr>
          <p:cNvPr id="16" name="Rectangle 15"/>
          <p:cNvSpPr/>
          <p:nvPr/>
        </p:nvSpPr>
        <p:spPr>
          <a:xfrm>
            <a:off x="8430768" y="3931920"/>
            <a:ext cx="3191256" cy="182880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430768" y="3931920"/>
            <a:ext cx="45720" cy="182880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95360" y="4041648"/>
            <a:ext cx="2916936"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Required when a stage opens</a:t>
            </a:r>
          </a:p>
        </p:txBody>
      </p:sp>
      <p:sp>
        <p:nvSpPr>
          <p:cNvPr id="19" name="TextBox 18"/>
          <p:cNvSpPr txBox="1"/>
          <p:nvPr/>
        </p:nvSpPr>
        <p:spPr>
          <a:xfrm>
            <a:off x="8595360" y="4334256"/>
            <a:ext cx="2916936" cy="1371600"/>
          </a:xfrm>
          <a:prstGeom prst="rect">
            <a:avLst/>
          </a:prstGeom>
          <a:noFill/>
        </p:spPr>
        <p:txBody>
          <a:bodyPr wrap="square" lIns="0" rIns="0" tIns="0" bIns="0" anchor="t">
            <a:spAutoFit/>
          </a:bodyPr>
          <a:lstStyle/>
          <a:p>
            <a:pPr algn="l">
              <a:lnSpc>
                <a:spcPct val="112000"/>
              </a:lnSpc>
              <a:spcAft>
                <a:spcPts val="500"/>
              </a:spcAft>
            </a:pPr>
            <a:r>
              <a:rPr sz="980" b="0" i="0">
                <a:solidFill>
                  <a:srgbClr val="0C1408"/>
                </a:solidFill>
                <a:latin typeface="Arial"/>
              </a:rPr>
              <a:t>Corporate insurance agent registration, before cover.</a:t>
            </a:r>
          </a:p>
          <a:p>
            <a:pPr algn="l">
              <a:lnSpc>
                <a:spcPct val="112000"/>
              </a:lnSpc>
              <a:spcAft>
                <a:spcPts val="500"/>
              </a:spcAft>
            </a:pPr>
            <a:r>
              <a:rPr sz="980" b="0" i="0">
                <a:solidFill>
                  <a:srgbClr val="0C1408"/>
                </a:solidFill>
                <a:latin typeface="Arial"/>
              </a:rPr>
              <a:t>Mutual fund distributor registration, before savings.</a:t>
            </a:r>
          </a:p>
          <a:p>
            <a:pPr algn="l">
              <a:lnSpc>
                <a:spcPct val="112000"/>
              </a:lnSpc>
              <a:spcAft>
                <a:spcPts val="500"/>
              </a:spcAft>
            </a:pPr>
            <a:r>
              <a:rPr sz="980" b="0" i="0">
                <a:solidFill>
                  <a:srgbClr val="0C1408"/>
                </a:solidFill>
                <a:latin typeface="Arial"/>
              </a:rPr>
              <a:t>Neither carries a capital requirement of the kind a financial licence carries.</a:t>
            </a:r>
          </a:p>
        </p:txBody>
      </p:sp>
      <p:sp>
        <p:nvSpPr>
          <p:cNvPr id="20" name="TextBox 19"/>
          <p:cNvSpPr txBox="1"/>
          <p:nvPr/>
        </p:nvSpPr>
        <p:spPr>
          <a:xfrm>
            <a:off x="566928" y="5943600"/>
            <a:ext cx="11057839"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verified. Each clause read in the primary text; see the Statutory Position, revision 3, sections 1 to 3, and the Legal Verification of 24 September 2026.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02 · COLLECTION</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Collection runs through a licensed electronic money institution</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The partner initiates each payment and holds any mandate. Halqa uses the service as a third party service provider and does not provide it.</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24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13</a:t>
            </a:r>
          </a:p>
        </p:txBody>
      </p:sp>
      <p:sp>
        <p:nvSpPr>
          <p:cNvPr id="10" name="TextBox 9"/>
          <p:cNvSpPr txBox="1"/>
          <p:nvPr/>
        </p:nvSpPr>
        <p:spPr>
          <a:xfrm>
            <a:off x="566928" y="1572768"/>
            <a:ext cx="6675120" cy="182880"/>
          </a:xfrm>
          <a:prstGeom prst="rect">
            <a:avLst/>
          </a:prstGeom>
          <a:noFill/>
        </p:spPr>
        <p:txBody>
          <a:bodyPr wrap="square" lIns="0" rIns="0" tIns="0" bIns="0" anchor="t">
            <a:spAutoFit/>
          </a:bodyPr>
          <a:lstStyle/>
          <a:p>
            <a:pPr algn="l">
              <a:lnSpc>
                <a:spcPct val="100000"/>
              </a:lnSpc>
              <a:spcAft>
                <a:spcPts val="400"/>
              </a:spcAft>
            </a:pPr>
            <a:r>
              <a:rPr sz="840" b="0" i="1" spc="30">
                <a:solidFill>
                  <a:srgbClr val="6F7B68"/>
                </a:solidFill>
                <a:latin typeface="Arial"/>
              </a:rPr>
              <a:t>EXHIBIT 9   The collection tiers</a:t>
            </a:r>
          </a:p>
        </p:txBody>
      </p:sp>
      <p:graphicFrame>
        <p:nvGraphicFramePr>
          <p:cNvPr id="11" name="Table 10"/>
          <p:cNvGraphicFramePr>
            <a:graphicFrameLocks noGrp="1"/>
          </p:cNvGraphicFramePr>
          <p:nvPr/>
        </p:nvGraphicFramePr>
        <p:xfrm>
          <a:off x="566928" y="1828800"/>
          <a:ext cx="6675119" cy="2286000"/>
        </p:xfrm>
        <a:graphic>
          <a:graphicData uri="http://schemas.openxmlformats.org/drawingml/2006/table">
            <a:tbl>
              <a:tblPr>
                <a:tableStyleId>{5C22544A-7EE6-4342-B048-85BDC9FD1C3A}</a:tableStyleId>
              </a:tblPr>
              <a:tblGrid>
                <a:gridCol w="467258"/>
                <a:gridCol w="2336292"/>
                <a:gridCol w="1335024"/>
                <a:gridCol w="1201521"/>
                <a:gridCol w="1335024"/>
              </a:tblGrid>
              <a:tr h="457200">
                <a:tc>
                  <a:txBody>
                    <a:bodyPr wrap="square"/>
                    <a:lstStyle/>
                    <a:p>
                      <a:pPr algn="l"/>
                      <a:r>
                        <a:rPr sz="880" b="1">
                          <a:solidFill>
                            <a:srgbClr val="F3FCE7"/>
                          </a:solidFill>
                          <a:latin typeface="Arial"/>
                        </a:rPr>
                        <a:t>Tier</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1">
                          <a:solidFill>
                            <a:srgbClr val="F3FCE7"/>
                          </a:solidFill>
                          <a:latin typeface="Arial"/>
                        </a:rPr>
                        <a:t>Mechanism</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1">
                          <a:solidFill>
                            <a:srgbClr val="F3FCE7"/>
                          </a:solidFill>
                          <a:latin typeface="Arial"/>
                        </a:rPr>
                        <a:t>Member action</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1">
                          <a:solidFill>
                            <a:srgbClr val="F3FCE7"/>
                          </a:solidFill>
                          <a:latin typeface="Arial"/>
                        </a:rPr>
                        <a:t>Cost</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1">
                          <a:solidFill>
                            <a:srgbClr val="F3FCE7"/>
                          </a:solidFill>
                          <a:latin typeface="Arial"/>
                        </a:rPr>
                        <a:t>Used on</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457200">
                <a:tc>
                  <a:txBody>
                    <a:bodyPr wrap="square"/>
                    <a:lstStyle/>
                    <a:p>
                      <a:pPr algn="l"/>
                      <a:r>
                        <a:rPr sz="890" b="1">
                          <a:solidFill>
                            <a:srgbClr val="22450C"/>
                          </a:solidFill>
                          <a:latin typeface="Arial"/>
                        </a:rPr>
                        <a:t>1</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90" b="0">
                          <a:solidFill>
                            <a:srgbClr val="0C1408"/>
                          </a:solidFill>
                          <a:latin typeface="Arial"/>
                        </a:rPr>
                        <a:t>Payment initiation by the partner, over Raast where available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90" b="0">
                          <a:solidFill>
                            <a:srgbClr val="0C1408"/>
                          </a:solidFill>
                          <a:latin typeface="Arial"/>
                        </a:rPr>
                        <a:t>One approval in the application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90" b="0">
                          <a:solidFill>
                            <a:srgbClr val="0C1408"/>
                          </a:solidFill>
                          <a:latin typeface="Arial"/>
                        </a:rPr>
                        <a:t>The partner’s rate, to be agreed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90" b="0">
                          <a:solidFill>
                            <a:srgbClr val="0C1408"/>
                          </a:solidFill>
                          <a:latin typeface="Arial"/>
                        </a:rPr>
                        <a:t>Every monthly circle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457200">
                <a:tc>
                  <a:txBody>
                    <a:bodyPr wrap="square"/>
                    <a:lstStyle/>
                    <a:p>
                      <a:pPr algn="l"/>
                      <a:r>
                        <a:rPr sz="890" b="1">
                          <a:solidFill>
                            <a:srgbClr val="22450C"/>
                          </a:solidFill>
                          <a:latin typeface="Arial"/>
                        </a:rPr>
                        <a:t>2</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90" b="0">
                          <a:solidFill>
                            <a:srgbClr val="0C1408"/>
                          </a:solidFill>
                          <a:latin typeface="Arial"/>
                        </a:rPr>
                        <a:t>Token mandate held by the partner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90" b="0">
                          <a:solidFill>
                            <a:srgbClr val="0C1408"/>
                          </a:solidFill>
                          <a:latin typeface="Arial"/>
                        </a:rPr>
                        <a:t>None after the first authorisation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90" b="0">
                          <a:solidFill>
                            <a:srgbClr val="0C1408"/>
                          </a:solidFill>
                          <a:latin typeface="Arial"/>
                        </a:rPr>
                        <a:t>About 1.5%, to be confirmed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90" b="0">
                          <a:solidFill>
                            <a:srgbClr val="0C1408"/>
                          </a:solidFill>
                          <a:latin typeface="Arial"/>
                        </a:rPr>
                        <a:t>Hyper, where a daily prompt is impractical</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457200">
                <a:tc>
                  <a:txBody>
                    <a:bodyPr wrap="square"/>
                    <a:lstStyle/>
                    <a:p>
                      <a:pPr algn="l"/>
                      <a:r>
                        <a:rPr sz="890" b="1">
                          <a:solidFill>
                            <a:srgbClr val="22450C"/>
                          </a:solidFill>
                          <a:latin typeface="Arial"/>
                        </a:rPr>
                        <a:t>3</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90" b="0">
                          <a:solidFill>
                            <a:srgbClr val="0C1408"/>
                          </a:solidFill>
                          <a:latin typeface="Arial"/>
                        </a:rPr>
                        <a:t>The member sends over Raast to the collector’s Raast ID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90" b="0">
                          <a:solidFill>
                            <a:srgbClr val="0C1408"/>
                          </a:solidFill>
                          <a:latin typeface="Arial"/>
                        </a:rPr>
                        <a:t>The member initiates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90" b="0">
                          <a:solidFill>
                            <a:srgbClr val="0C1408"/>
                          </a:solidFill>
                          <a:latin typeface="Arial"/>
                        </a:rPr>
                        <a:t>Nil</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90" b="0">
                          <a:solidFill>
                            <a:srgbClr val="0C1408"/>
                          </a:solidFill>
                          <a:latin typeface="Arial"/>
                        </a:rPr>
                        <a:t>Always available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457200">
                <a:tc>
                  <a:txBody>
                    <a:bodyPr wrap="square"/>
                    <a:lstStyle/>
                    <a:p>
                      <a:pPr algn="l"/>
                      <a:r>
                        <a:rPr sz="890" b="1">
                          <a:solidFill>
                            <a:srgbClr val="22450C"/>
                          </a:solidFill>
                          <a:latin typeface="Arial"/>
                        </a:rPr>
                        <a:t>Fee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90" b="0">
                          <a:solidFill>
                            <a:srgbClr val="0C1408"/>
                          </a:solidFill>
                          <a:latin typeface="Arial"/>
                        </a:rPr>
                        <a:t>Raast Request to Pay sent by Halqa, the payee of its own fee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90" b="0">
                          <a:solidFill>
                            <a:srgbClr val="0C1408"/>
                          </a:solidFill>
                          <a:latin typeface="Arial"/>
                        </a:rPr>
                        <a:t>One approval</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90" b="0">
                          <a:solidFill>
                            <a:srgbClr val="0C1408"/>
                          </a:solidFill>
                          <a:latin typeface="Arial"/>
                        </a:rPr>
                        <a:t>Nil at present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90" b="0">
                          <a:solidFill>
                            <a:srgbClr val="0C1408"/>
                          </a:solidFill>
                          <a:latin typeface="Arial"/>
                        </a:rPr>
                        <a:t>Halqa’s fee only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12" name="TextBox 11"/>
          <p:cNvSpPr txBox="1"/>
          <p:nvPr/>
        </p:nvSpPr>
        <p:spPr>
          <a:xfrm>
            <a:off x="566928" y="4315968"/>
            <a:ext cx="6675120" cy="1097280"/>
          </a:xfrm>
          <a:prstGeom prst="rect">
            <a:avLst/>
          </a:prstGeom>
          <a:noFill/>
        </p:spPr>
        <p:txBody>
          <a:bodyPr wrap="square" lIns="0" rIns="0" tIns="0" bIns="0" anchor="t">
            <a:spAutoFit/>
          </a:bodyPr>
          <a:lstStyle/>
          <a:p>
            <a:pPr algn="l">
              <a:lnSpc>
                <a:spcPct val="114000"/>
              </a:lnSpc>
              <a:spcAft>
                <a:spcPts val="400"/>
              </a:spcAft>
            </a:pPr>
            <a:r>
              <a:rPr sz="1000" b="0" i="0">
                <a:solidFill>
                  <a:srgbClr val="0C1408"/>
                </a:solidFill>
                <a:latin typeface="Arial"/>
              </a:rPr>
              <a:t>A Raast Request to Pay settles to the merchant that sends it, under the Raast person to merchant terms published by Bank Alfalah. A contribution collected that way would land in Halqa’s account, which is the acceptance of a deposit under section 84(1) of the Companies Act 2017. Halqa therefore sends a Request to Pay only for its own fee.</a:t>
            </a:r>
          </a:p>
        </p:txBody>
      </p:sp>
      <p:sp>
        <p:nvSpPr>
          <p:cNvPr id="13" name="Rectangle 12"/>
          <p:cNvSpPr/>
          <p:nvPr/>
        </p:nvSpPr>
        <p:spPr>
          <a:xfrm>
            <a:off x="7562088" y="1828800"/>
            <a:ext cx="4059936" cy="205740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562088" y="1828800"/>
            <a:ext cx="45720" cy="205740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26680" y="1938528"/>
            <a:ext cx="3785616"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Why the partner is an electronic money institution</a:t>
            </a:r>
          </a:p>
        </p:txBody>
      </p:sp>
      <p:sp>
        <p:nvSpPr>
          <p:cNvPr id="16" name="TextBox 15"/>
          <p:cNvSpPr txBox="1"/>
          <p:nvPr/>
        </p:nvSpPr>
        <p:spPr>
          <a:xfrm>
            <a:off x="7726680" y="2231136"/>
            <a:ext cx="3785616" cy="1600200"/>
          </a:xfrm>
          <a:prstGeom prst="rect">
            <a:avLst/>
          </a:prstGeom>
          <a:noFill/>
        </p:spPr>
        <p:txBody>
          <a:bodyPr wrap="square" lIns="0" rIns="0" tIns="0" bIns="0" anchor="t">
            <a:spAutoFit/>
          </a:bodyPr>
          <a:lstStyle/>
          <a:p>
            <a:pPr algn="l">
              <a:lnSpc>
                <a:spcPct val="112000"/>
              </a:lnSpc>
              <a:spcAft>
                <a:spcPts val="500"/>
              </a:spcAft>
            </a:pPr>
            <a:r>
              <a:rPr sz="960" b="0" i="0">
                <a:solidFill>
                  <a:srgbClr val="0C1408"/>
                </a:solidFill>
                <a:latin typeface="Arial"/>
              </a:rPr>
              <a:t>The 2023 Regulations allow an electronic money institution to provide payment initiation and aggregation (para 7.I(f)) and to serve a fintech through its interface (para 7.I(h)), after 30 days’ notice to the State Bank. A payment service provider “will not act as custodian of consumer’s money” (PSO/PSP Rules 2014, rule 6.5).</a:t>
            </a:r>
          </a:p>
        </p:txBody>
      </p:sp>
      <p:sp>
        <p:nvSpPr>
          <p:cNvPr id="17" name="Rectangle 16"/>
          <p:cNvSpPr/>
          <p:nvPr/>
        </p:nvSpPr>
        <p:spPr>
          <a:xfrm>
            <a:off x="7562088" y="4023360"/>
            <a:ext cx="4059936" cy="178308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562088" y="4023360"/>
            <a:ext cx="45720" cy="178308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26680" y="4133088"/>
            <a:ext cx="3785616"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Why a mandate is lawful</a:t>
            </a:r>
          </a:p>
        </p:txBody>
      </p:sp>
      <p:sp>
        <p:nvSpPr>
          <p:cNvPr id="20" name="TextBox 19"/>
          <p:cNvSpPr txBox="1"/>
          <p:nvPr/>
        </p:nvSpPr>
        <p:spPr>
          <a:xfrm>
            <a:off x="7726680" y="4425696"/>
            <a:ext cx="3785616" cy="1325880"/>
          </a:xfrm>
          <a:prstGeom prst="rect">
            <a:avLst/>
          </a:prstGeom>
          <a:noFill/>
        </p:spPr>
        <p:txBody>
          <a:bodyPr wrap="square" lIns="0" rIns="0" tIns="0" bIns="0" anchor="t">
            <a:spAutoFit/>
          </a:bodyPr>
          <a:lstStyle/>
          <a:p>
            <a:pPr algn="l">
              <a:lnSpc>
                <a:spcPct val="112000"/>
              </a:lnSpc>
              <a:spcAft>
                <a:spcPts val="500"/>
              </a:spcAft>
            </a:pPr>
            <a:r>
              <a:rPr sz="960" b="0" i="0">
                <a:solidFill>
                  <a:srgbClr val="0C1408"/>
                </a:solidFill>
                <a:latin typeface="Arial"/>
              </a:rPr>
              <a:t>A preauthorised transfer “may be authorized by the Consumer either in writing, or in any other accepted form” (PS&amp;EFT Act 2007, s.35(1)). The member may stop it by notifying the financial institution (s.35(2)), and cancelling the mandate does not end the commitment to the circle.</a:t>
            </a:r>
          </a:p>
        </p:txBody>
      </p:sp>
      <p:cxnSp>
        <p:nvCxnSpPr>
          <p:cNvPr id="21" name="Connector 20"/>
          <p:cNvCxnSpPr/>
          <p:nvPr/>
        </p:nvCxnSpPr>
        <p:spPr>
          <a:xfrm>
            <a:off x="566928" y="6053328"/>
            <a:ext cx="0" cy="155448"/>
          </a:xfrm>
          <a:prstGeom prst="line">
            <a:avLst/>
          </a:prstGeom>
          <a:ln w="27940">
            <a:solidFill>
              <a:srgbClr val="6DC72A"/>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40080" y="6053328"/>
            <a:ext cx="7315200" cy="182880"/>
          </a:xfrm>
          <a:prstGeom prst="rect">
            <a:avLst/>
          </a:prstGeom>
          <a:noFill/>
        </p:spPr>
        <p:txBody>
          <a:bodyPr wrap="square" lIns="0" rIns="0" tIns="0" bIns="0" anchor="t">
            <a:spAutoFit/>
          </a:bodyPr>
          <a:lstStyle/>
          <a:p>
            <a:pPr algn="l">
              <a:lnSpc>
                <a:spcPct val="100000"/>
              </a:lnSpc>
              <a:spcAft>
                <a:spcPts val="400"/>
              </a:spcAft>
            </a:pPr>
            <a:r>
              <a:rPr sz="819" b="1" i="0" spc="80">
                <a:solidFill>
                  <a:srgbClr val="22450C"/>
                </a:solidFill>
                <a:latin typeface="Arial"/>
              </a:rPr>
              <a:t>PARTNER  ·  VERIFIED AGAINST THE PRIMARY TEXTS ON 24 SEPTEMBER 2026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02 · DUTIES</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Whose duty each duty is</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Duties under the payment statute bind the member’s bank and the licensed partner. Halqa supports each by design and by contract, and carries the bureau and agency duties itself.</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24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14</a:t>
            </a:r>
          </a:p>
        </p:txBody>
      </p:sp>
      <p:sp>
        <p:nvSpPr>
          <p:cNvPr id="10" name="TextBox 9"/>
          <p:cNvSpPr txBox="1"/>
          <p:nvPr/>
        </p:nvSpPr>
        <p:spPr>
          <a:xfrm>
            <a:off x="566928" y="1572768"/>
            <a:ext cx="11057839" cy="182880"/>
          </a:xfrm>
          <a:prstGeom prst="rect">
            <a:avLst/>
          </a:prstGeom>
          <a:noFill/>
        </p:spPr>
        <p:txBody>
          <a:bodyPr wrap="square" lIns="0" rIns="0" tIns="0" bIns="0" anchor="t">
            <a:spAutoFit/>
          </a:bodyPr>
          <a:lstStyle/>
          <a:p>
            <a:pPr algn="l">
              <a:lnSpc>
                <a:spcPct val="100000"/>
              </a:lnSpc>
              <a:spcAft>
                <a:spcPts val="400"/>
              </a:spcAft>
            </a:pPr>
            <a:r>
              <a:rPr sz="840" b="0" i="1" spc="30">
                <a:solidFill>
                  <a:srgbClr val="6F7B68"/>
                </a:solidFill>
                <a:latin typeface="Arial"/>
              </a:rPr>
              <a:t>EXHIBIT 10   Eleven duties, the party each binds, and how Halqa meets or supports it</a:t>
            </a:r>
          </a:p>
        </p:txBody>
      </p:sp>
      <p:graphicFrame>
        <p:nvGraphicFramePr>
          <p:cNvPr id="11" name="Table 10"/>
          <p:cNvGraphicFramePr>
            <a:graphicFrameLocks noGrp="1"/>
          </p:cNvGraphicFramePr>
          <p:nvPr/>
        </p:nvGraphicFramePr>
        <p:xfrm>
          <a:off x="566928" y="1810512"/>
          <a:ext cx="11057836" cy="4059936"/>
        </p:xfrm>
        <a:graphic>
          <a:graphicData uri="http://schemas.openxmlformats.org/drawingml/2006/table">
            <a:tbl>
              <a:tblPr>
                <a:tableStyleId>{5C22544A-7EE6-4342-B048-85BDC9FD1C3A}</a:tableStyleId>
              </a:tblPr>
              <a:tblGrid>
                <a:gridCol w="2764459"/>
                <a:gridCol w="1658675"/>
                <a:gridCol w="1879832"/>
                <a:gridCol w="3870243"/>
                <a:gridCol w="884627"/>
              </a:tblGrid>
              <a:tr h="338328">
                <a:tc>
                  <a:txBody>
                    <a:bodyPr wrap="square"/>
                    <a:lstStyle/>
                    <a:p>
                      <a:pPr algn="l"/>
                      <a:r>
                        <a:rPr sz="840" b="1">
                          <a:solidFill>
                            <a:srgbClr val="F3FCE7"/>
                          </a:solidFill>
                          <a:latin typeface="Arial"/>
                        </a:rPr>
                        <a:t>Duty</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1">
                          <a:solidFill>
                            <a:srgbClr val="F3FCE7"/>
                          </a:solidFill>
                          <a:latin typeface="Arial"/>
                        </a:rPr>
                        <a:t>Instrument</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1">
                          <a:solidFill>
                            <a:srgbClr val="F3FCE7"/>
                          </a:solidFill>
                          <a:latin typeface="Arial"/>
                        </a:rPr>
                        <a:t>Owed by</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1">
                          <a:solidFill>
                            <a:srgbClr val="F3FCE7"/>
                          </a:solidFill>
                          <a:latin typeface="Arial"/>
                        </a:rPr>
                        <a:t>How Halqa meets or supports it</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1">
                          <a:solidFill>
                            <a:srgbClr val="F3FCE7"/>
                          </a:solidFill>
                          <a:latin typeface="Arial"/>
                        </a:rPr>
                        <a:t>Stage</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38328">
                <a:tc>
                  <a:txBody>
                    <a:bodyPr wrap="square"/>
                    <a:lstStyle/>
                    <a:p>
                      <a:pPr algn="l"/>
                      <a:r>
                        <a:rPr sz="840" b="0">
                          <a:solidFill>
                            <a:srgbClr val="0C1408"/>
                          </a:solidFill>
                          <a:latin typeface="Arial"/>
                        </a:rPr>
                        <a:t>Disclose the terms at contracting</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PS&amp;EFT s.30(1)</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Financial institution or Authorized Party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Terms screen before any mandate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To build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38328">
                <a:tc>
                  <a:txBody>
                    <a:bodyPr wrap="square"/>
                    <a:lstStyle/>
                    <a:p>
                      <a:pPr algn="l"/>
                      <a:r>
                        <a:rPr sz="840" b="0">
                          <a:solidFill>
                            <a:srgbClr val="0C1408"/>
                          </a:solidFill>
                          <a:latin typeface="Arial"/>
                        </a:rPr>
                        <a:t>21 days’ notice of a material change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PS&amp;EFT s.31(1)</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Financial institution or Authorized Party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Notice job on the mandate record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To build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38328">
                <a:tc>
                  <a:txBody>
                    <a:bodyPr wrap="square"/>
                    <a:lstStyle/>
                    <a:p>
                      <a:pPr algn="l"/>
                      <a:r>
                        <a:rPr sz="840" b="0">
                          <a:solidFill>
                            <a:srgbClr val="0C1408"/>
                          </a:solidFill>
                          <a:latin typeface="Arial"/>
                        </a:rPr>
                        <a:t>Honour a stop instruction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PS&amp;EFT s.35(2)</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Financial institution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Cancellation in the application, effective at once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To build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38328">
                <a:tc>
                  <a:txBody>
                    <a:bodyPr wrap="square"/>
                    <a:lstStyle/>
                    <a:p>
                      <a:pPr algn="l"/>
                      <a:r>
                        <a:rPr sz="840" b="0">
                          <a:solidFill>
                            <a:srgbClr val="0C1408"/>
                          </a:solidFill>
                          <a:latin typeface="Arial"/>
                        </a:rPr>
                        <a:t>Investigate an alleged error in 10 Business Days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PS&amp;EFT s.36(2)</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Financial institution or Authorized Party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Dispute ticket with a ten day clock</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To build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38328">
                <a:tc>
                  <a:txBody>
                    <a:bodyPr wrap="square"/>
                    <a:lstStyle/>
                    <a:p>
                      <a:pPr algn="l"/>
                      <a:r>
                        <a:rPr sz="840" b="0">
                          <a:solidFill>
                            <a:srgbClr val="0C1408"/>
                          </a:solidFill>
                          <a:latin typeface="Arial"/>
                        </a:rPr>
                        <a:t>Adverse action pack where a report restricts a seat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CBA 2015 s.31</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Halqa, as user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Report, bureau details, summary of rights, statement that the bureau did not decide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To build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38328">
                <a:tc>
                  <a:txBody>
                    <a:bodyPr wrap="square"/>
                    <a:lstStyle/>
                    <a:p>
                      <a:pPr algn="l"/>
                      <a:r>
                        <a:rPr sz="840" b="0">
                          <a:solidFill>
                            <a:srgbClr val="0C1408"/>
                          </a:solidFill>
                          <a:latin typeface="Arial"/>
                        </a:rPr>
                        <a:t>Disclose credit information only as authorised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CBA 2015 s.26</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Halqa</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Bureau data never shown to other members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To build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38328">
                <a:tc>
                  <a:txBody>
                    <a:bodyPr wrap="square"/>
                    <a:lstStyle/>
                    <a:p>
                      <a:pPr algn="l"/>
                      <a:r>
                        <a:rPr sz="840" b="0">
                          <a:solidFill>
                            <a:srgbClr val="0C1408"/>
                          </a:solidFill>
                          <a:latin typeface="Arial"/>
                        </a:rPr>
                        <a:t>Pay the gross premium to the insurer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CIA Regulations 2020, reg 5(4)</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Halqa, as agent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Takaful contribution passes to the operator in full</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Agent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38328">
                <a:tc>
                  <a:txBody>
                    <a:bodyPr wrap="square"/>
                    <a:lstStyle/>
                    <a:p>
                      <a:pPr algn="l"/>
                      <a:r>
                        <a:rPr sz="840" b="0">
                          <a:solidFill>
                            <a:srgbClr val="0C1408"/>
                          </a:solidFill>
                          <a:latin typeface="Arial"/>
                        </a:rPr>
                        <a:t>Claims paid in the member’s own name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reg 7(4)</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The operator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Halqa supplies the payment record; never paid to a circle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Agent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38328">
                <a:tc>
                  <a:txBody>
                    <a:bodyPr wrap="square"/>
                    <a:lstStyle/>
                    <a:p>
                      <a:pPr algn="l"/>
                      <a:r>
                        <a:rPr sz="840" b="0">
                          <a:solidFill>
                            <a:srgbClr val="0C1408"/>
                          </a:solidFill>
                          <a:latin typeface="Arial"/>
                        </a:rPr>
                        <a:t>No fee for distributing cover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reg 8(3)</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Halqa, as agent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The service fee covers the committee service only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Agent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38328">
                <a:tc>
                  <a:txBody>
                    <a:bodyPr wrap="square"/>
                    <a:lstStyle/>
                    <a:p>
                      <a:pPr algn="l"/>
                      <a:r>
                        <a:rPr sz="840" b="0">
                          <a:solidFill>
                            <a:srgbClr val="0C1408"/>
                          </a:solidFill>
                          <a:latin typeface="Arial"/>
                        </a:rPr>
                        <a:t>Show a bundled product’s cost separately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reg 11(1)(d)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Halqa, as agent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Cover stated apart on the join sheet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Agent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38328">
                <a:tc>
                  <a:txBody>
                    <a:bodyPr wrap="square"/>
                    <a:lstStyle/>
                    <a:p>
                      <a:pPr algn="l"/>
                      <a:r>
                        <a:rPr sz="840" b="0">
                          <a:solidFill>
                            <a:srgbClr val="0C1408"/>
                          </a:solidFill>
                          <a:latin typeface="Arial"/>
                        </a:rPr>
                        <a:t>Coerce no prospect to buy cover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reg 10(c)</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Halqa, as agent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Counsel’s written opinion on compulsory cover before Hyper opens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0">
                          <a:solidFill>
                            <a:srgbClr val="0C1408"/>
                          </a:solidFill>
                          <a:latin typeface="Arial"/>
                        </a:rPr>
                        <a:t>Open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12" name="TextBox 11"/>
          <p:cNvSpPr txBox="1"/>
          <p:nvPr/>
        </p:nvSpPr>
        <p:spPr>
          <a:xfrm>
            <a:off x="566928" y="6053328"/>
            <a:ext cx="11057839"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verified. Presenting the payment statute’s duties as Halqa’s own would characterise Halqa as an Authorized Party, which is the reading the design avoids (Legal Verification, section 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02 · IMPLEMENTATION</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What changes in the code before the partner agreement</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The application still carries constructs of the August design. Each is removed before the partner agreement is executed, and the listed components are built before the first live collection.</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24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15</a:t>
            </a:r>
          </a:p>
        </p:txBody>
      </p:sp>
      <p:sp>
        <p:nvSpPr>
          <p:cNvPr id="10" name="Rectangle 9"/>
          <p:cNvSpPr/>
          <p:nvPr/>
        </p:nvSpPr>
        <p:spPr>
          <a:xfrm>
            <a:off x="566928" y="1645920"/>
            <a:ext cx="5394960" cy="429768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1645920"/>
            <a:ext cx="45720" cy="429768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755648"/>
            <a:ext cx="5120640"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To be removed</a:t>
            </a:r>
          </a:p>
        </p:txBody>
      </p:sp>
      <p:sp>
        <p:nvSpPr>
          <p:cNvPr id="13" name="TextBox 12"/>
          <p:cNvSpPr txBox="1"/>
          <p:nvPr/>
        </p:nvSpPr>
        <p:spPr>
          <a:xfrm>
            <a:off x="731520" y="2048256"/>
            <a:ext cx="5120640" cy="3840480"/>
          </a:xfrm>
          <a:prstGeom prst="rect">
            <a:avLst/>
          </a:prstGeom>
          <a:noFill/>
        </p:spPr>
        <p:txBody>
          <a:bodyPr wrap="square" lIns="0" rIns="0" tIns="0" bIns="0" anchor="t">
            <a:spAutoFit/>
          </a:bodyPr>
          <a:lstStyle/>
          <a:p>
            <a:pPr algn="l">
              <a:lnSpc>
                <a:spcPct val="112000"/>
              </a:lnSpc>
              <a:spcAft>
                <a:spcPts val="500"/>
              </a:spcAft>
            </a:pPr>
            <a:r>
              <a:rPr sz="1000" b="0" i="0">
                <a:solidFill>
                  <a:srgbClr val="0C1408"/>
                </a:solidFill>
                <a:latin typeface="Arial"/>
              </a:rPr>
              <a:t>The turn premium recorded from buyer to seller, and the ten per cent marketplace fee taken on it.</a:t>
            </a:r>
          </a:p>
          <a:p>
            <a:pPr algn="l">
              <a:lnSpc>
                <a:spcPct val="112000"/>
              </a:lnSpc>
              <a:spcAft>
                <a:spcPts val="500"/>
              </a:spcAft>
            </a:pPr>
            <a:r>
              <a:rPr sz="1000" b="0" i="0">
                <a:solidFill>
                  <a:srgbClr val="0C1408"/>
                </a:solidFill>
                <a:latin typeface="Arial"/>
              </a:rPr>
              <a:t>The early fee distributed to members.</a:t>
            </a:r>
          </a:p>
          <a:p>
            <a:pPr algn="l">
              <a:lnSpc>
                <a:spcPct val="112000"/>
              </a:lnSpc>
              <a:spcAft>
                <a:spcPts val="500"/>
              </a:spcAft>
            </a:pPr>
            <a:r>
              <a:rPr sz="1000" b="0" i="0">
                <a:solidFill>
                  <a:srgbClr val="0C1408"/>
                </a:solidFill>
                <a:latin typeface="Arial"/>
              </a:rPr>
              <a:t>Member-held balances accruing an indicative rate.</a:t>
            </a:r>
          </a:p>
          <a:p>
            <a:pPr algn="l">
              <a:lnSpc>
                <a:spcPct val="112000"/>
              </a:lnSpc>
              <a:spcAft>
                <a:spcPts val="500"/>
              </a:spcAft>
            </a:pPr>
            <a:r>
              <a:rPr sz="1000" b="0" i="0">
                <a:solidFill>
                  <a:srgbClr val="0C1408"/>
                </a:solidFill>
                <a:latin typeface="Arial"/>
              </a:rPr>
              <a:t>Security deposits held with accrued yield, and payout holdbacks.</a:t>
            </a:r>
          </a:p>
          <a:p>
            <a:pPr algn="l">
              <a:lnSpc>
                <a:spcPct val="112000"/>
              </a:lnSpc>
              <a:spcAft>
                <a:spcPts val="500"/>
              </a:spcAft>
            </a:pPr>
            <a:r>
              <a:rPr sz="1000" b="0" i="0">
                <a:solidFill>
                  <a:srgbClr val="0C1408"/>
                </a:solidFill>
                <a:latin typeface="Arial"/>
              </a:rPr>
              <a:t>Every annualised rate computation and every rate ceiling, including the bid arithmetic of the earlier daily design.</a:t>
            </a:r>
          </a:p>
          <a:p>
            <a:pPr algn="l">
              <a:lnSpc>
                <a:spcPct val="112000"/>
              </a:lnSpc>
              <a:spcAft>
                <a:spcPts val="500"/>
              </a:spcAft>
            </a:pPr>
            <a:r>
              <a:rPr sz="1000" b="0" i="0">
                <a:solidFill>
                  <a:srgbClr val="0C1408"/>
                </a:solidFill>
                <a:latin typeface="Arial"/>
              </a:rPr>
              <a:t>The prize draw surface.</a:t>
            </a:r>
          </a:p>
          <a:p>
            <a:pPr algn="l">
              <a:lnSpc>
                <a:spcPct val="112000"/>
              </a:lnSpc>
              <a:spcAft>
                <a:spcPts val="500"/>
              </a:spcAft>
            </a:pPr>
            <a:r>
              <a:rPr sz="1000" b="0" i="0">
                <a:solidFill>
                  <a:srgbClr val="0C1408"/>
                </a:solidFill>
                <a:latin typeface="Arial"/>
              </a:rPr>
              <a:t>Any seat price that varies with the collection day, on any cadence.</a:t>
            </a:r>
          </a:p>
          <a:p>
            <a:pPr algn="l">
              <a:lnSpc>
                <a:spcPct val="112000"/>
              </a:lnSpc>
              <a:spcAft>
                <a:spcPts val="500"/>
              </a:spcAft>
            </a:pPr>
            <a:r>
              <a:rPr sz="1000" b="0" i="0">
                <a:solidFill>
                  <a:srgbClr val="0C1408"/>
                </a:solidFill>
                <a:latin typeface="Arial"/>
              </a:rPr>
              <a:t>Ballot by lot and credit weighted ordering, which the circle creation route still accepts.</a:t>
            </a:r>
          </a:p>
        </p:txBody>
      </p:sp>
      <p:sp>
        <p:nvSpPr>
          <p:cNvPr id="14" name="Rectangle 13"/>
          <p:cNvSpPr/>
          <p:nvPr/>
        </p:nvSpPr>
        <p:spPr>
          <a:xfrm>
            <a:off x="6236208" y="1645920"/>
            <a:ext cx="5394960" cy="4297680"/>
          </a:xfrm>
          <a:prstGeom prst="rect">
            <a:avLst/>
          </a:prstGeom>
          <a:solidFill>
            <a:srgbClr val="E3F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6208" y="1645920"/>
            <a:ext cx="45720" cy="429768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1755648"/>
            <a:ext cx="5120640"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To be built</a:t>
            </a:r>
          </a:p>
        </p:txBody>
      </p:sp>
      <p:sp>
        <p:nvSpPr>
          <p:cNvPr id="17" name="TextBox 16"/>
          <p:cNvSpPr txBox="1"/>
          <p:nvPr/>
        </p:nvSpPr>
        <p:spPr>
          <a:xfrm>
            <a:off x="6400800" y="2048256"/>
            <a:ext cx="5120640" cy="3840480"/>
          </a:xfrm>
          <a:prstGeom prst="rect">
            <a:avLst/>
          </a:prstGeom>
          <a:noFill/>
        </p:spPr>
        <p:txBody>
          <a:bodyPr wrap="square" lIns="0" rIns="0" tIns="0" bIns="0" anchor="t">
            <a:spAutoFit/>
          </a:bodyPr>
          <a:lstStyle/>
          <a:p>
            <a:pPr algn="l">
              <a:lnSpc>
                <a:spcPct val="112000"/>
              </a:lnSpc>
              <a:spcAft>
                <a:spcPts val="500"/>
              </a:spcAft>
            </a:pPr>
            <a:r>
              <a:rPr sz="1000" b="0" i="0">
                <a:solidFill>
                  <a:srgbClr val="0C1408"/>
                </a:solidFill>
                <a:latin typeface="Arial"/>
              </a:rPr>
              <a:t>The three way split, with each part written to its own ledger account.</a:t>
            </a:r>
          </a:p>
          <a:p>
            <a:pPr algn="l">
              <a:lnSpc>
                <a:spcPct val="112000"/>
              </a:lnSpc>
              <a:spcAft>
                <a:spcPts val="500"/>
              </a:spcAft>
            </a:pPr>
            <a:r>
              <a:rPr sz="1000" b="0" i="0">
                <a:solidFill>
                  <a:srgbClr val="0C1408"/>
                </a:solidFill>
                <a:latin typeface="Arial"/>
              </a:rPr>
              <a:t>The two identity assertions at circle creation.</a:t>
            </a:r>
          </a:p>
          <a:p>
            <a:pPr algn="l">
              <a:lnSpc>
                <a:spcPct val="112000"/>
              </a:lnSpc>
              <a:spcAft>
                <a:spcPts val="500"/>
              </a:spcAft>
            </a:pPr>
            <a:r>
              <a:rPr sz="1000" b="0" i="0">
                <a:solidFill>
                  <a:srgbClr val="0C1408"/>
                </a:solidFill>
                <a:latin typeface="Arial"/>
              </a:rPr>
              <a:t>The mandate register, the authorisation screen, the confirmation, the cancellation and the advance notice.</a:t>
            </a:r>
          </a:p>
          <a:p>
            <a:pPr algn="l">
              <a:lnSpc>
                <a:spcPct val="112000"/>
              </a:lnSpc>
              <a:spcAft>
                <a:spcPts val="500"/>
              </a:spcAft>
            </a:pPr>
            <a:r>
              <a:rPr sz="1000" b="0" i="0">
                <a:solidFill>
                  <a:srgbClr val="0C1408"/>
                </a:solidFill>
                <a:latin typeface="Arial"/>
              </a:rPr>
              <a:t>The arrears record, expressed as owed to the member left short and never as a balance.</a:t>
            </a:r>
          </a:p>
          <a:p>
            <a:pPr algn="l">
              <a:lnSpc>
                <a:spcPct val="112000"/>
              </a:lnSpc>
              <a:spcAft>
                <a:spcPts val="500"/>
              </a:spcAft>
            </a:pPr>
            <a:r>
              <a:rPr sz="1000" b="0" i="0">
                <a:solidFill>
                  <a:srgbClr val="0C1408"/>
                </a:solidFill>
                <a:latin typeface="Arial"/>
              </a:rPr>
              <a:t>The bureau instruction screen and the adverse action pack.</a:t>
            </a:r>
          </a:p>
          <a:p>
            <a:pPr algn="l">
              <a:lnSpc>
                <a:spcPct val="112000"/>
              </a:lnSpc>
              <a:spcAft>
                <a:spcPts val="500"/>
              </a:spcAft>
            </a:pPr>
            <a:r>
              <a:rPr sz="1000" b="0" i="0">
                <a:solidFill>
                  <a:srgbClr val="0C1408"/>
                </a:solidFill>
                <a:latin typeface="Arial"/>
              </a:rPr>
              <a:t>The fee schedule stating every charge before commitment.</a:t>
            </a:r>
          </a:p>
          <a:p>
            <a:pPr algn="l">
              <a:lnSpc>
                <a:spcPct val="112000"/>
              </a:lnSpc>
              <a:spcAft>
                <a:spcPts val="500"/>
              </a:spcAft>
            </a:pPr>
            <a:r>
              <a:rPr sz="1000" b="0" i="0">
                <a:solidFill>
                  <a:srgbClr val="0C1408"/>
                </a:solidFill>
                <a:latin typeface="Arial"/>
              </a:rPr>
              <a:t>Payment initiation and the mandate through the partner’s interface, with Halqa’s fee collected separately.</a:t>
            </a:r>
          </a:p>
        </p:txBody>
      </p:sp>
      <p:sp>
        <p:nvSpPr>
          <p:cNvPr id="18" name="TextBox 17"/>
          <p:cNvSpPr txBox="1"/>
          <p:nvPr/>
        </p:nvSpPr>
        <p:spPr>
          <a:xfrm>
            <a:off x="566928" y="6035040"/>
            <a:ext cx="11057839"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verified. Source: Statutory Position, revision 3, section 7. The final line of the left column is verified against the circle creation route in the application code on 24 September 2026.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2194560"/>
            <a:ext cx="1828800" cy="822960"/>
          </a:xfrm>
          <a:prstGeom prst="rect">
            <a:avLst/>
          </a:prstGeom>
          <a:noFill/>
        </p:spPr>
        <p:txBody>
          <a:bodyPr wrap="square" lIns="0" rIns="0" tIns="0" bIns="0" anchor="t">
            <a:spAutoFit/>
          </a:bodyPr>
          <a:lstStyle/>
          <a:p>
            <a:pPr algn="l">
              <a:lnSpc>
                <a:spcPct val="100000"/>
              </a:lnSpc>
              <a:spcAft>
                <a:spcPts val="400"/>
              </a:spcAft>
            </a:pPr>
            <a:r>
              <a:rPr sz="6000" b="0" i="0">
                <a:solidFill>
                  <a:srgbClr val="6DC72A"/>
                </a:solidFill>
                <a:latin typeface="Georgia"/>
              </a:rPr>
              <a:t>03</a:t>
            </a:r>
          </a:p>
        </p:txBody>
      </p:sp>
      <p:sp>
        <p:nvSpPr>
          <p:cNvPr id="5" name="TextBox 4"/>
          <p:cNvSpPr txBox="1"/>
          <p:nvPr/>
        </p:nvSpPr>
        <p:spPr>
          <a:xfrm>
            <a:off x="2560320" y="2359152"/>
            <a:ext cx="7498079" cy="731520"/>
          </a:xfrm>
          <a:prstGeom prst="rect">
            <a:avLst/>
          </a:prstGeom>
          <a:noFill/>
        </p:spPr>
        <p:txBody>
          <a:bodyPr wrap="square" lIns="0" rIns="0" tIns="0" bIns="0" anchor="t">
            <a:spAutoFit/>
          </a:bodyPr>
          <a:lstStyle/>
          <a:p>
            <a:pPr algn="l">
              <a:lnSpc>
                <a:spcPct val="100000"/>
              </a:lnSpc>
              <a:spcAft>
                <a:spcPts val="400"/>
              </a:spcAft>
            </a:pPr>
            <a:r>
              <a:rPr sz="3100" b="0" i="0">
                <a:solidFill>
                  <a:srgbClr val="F3FCE7"/>
                </a:solidFill>
                <a:latin typeface="Georgia"/>
              </a:rPr>
              <a:t>The economics</a:t>
            </a:r>
          </a:p>
        </p:txBody>
      </p:sp>
      <p:cxnSp>
        <p:nvCxnSpPr>
          <p:cNvPr id="6" name="Connector 5"/>
          <p:cNvCxnSpPr/>
          <p:nvPr/>
        </p:nvCxnSpPr>
        <p:spPr>
          <a:xfrm>
            <a:off x="2606040" y="3127248"/>
            <a:ext cx="3429000" cy="0"/>
          </a:xfrm>
          <a:prstGeom prst="line">
            <a:avLst/>
          </a:prstGeom>
          <a:ln w="17780">
            <a:solidFill>
              <a:srgbClr val="8ADC4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2606040" y="3310128"/>
            <a:ext cx="6949440" cy="1463040"/>
          </a:xfrm>
          <a:prstGeom prst="rect">
            <a:avLst/>
          </a:prstGeom>
          <a:noFill/>
        </p:spPr>
        <p:txBody>
          <a:bodyPr wrap="square" lIns="0" rIns="0" tIns="0" bIns="0" anchor="t">
            <a:spAutoFit/>
          </a:bodyPr>
          <a:lstStyle/>
          <a:p>
            <a:pPr algn="l">
              <a:lnSpc>
                <a:spcPct val="110000"/>
              </a:lnSpc>
              <a:spcAft>
                <a:spcPts val="700"/>
              </a:spcAft>
            </a:pPr>
            <a:r>
              <a:rPr sz="1220" b="0" i="0">
                <a:solidFill>
                  <a:srgbClr val="D2E2C6"/>
                </a:solidFill>
                <a:latin typeface="Arial"/>
              </a:rPr>
              <a:t>One flat fee per instalment, set by instalment size and roster size.</a:t>
            </a:r>
          </a:p>
          <a:p>
            <a:pPr algn="l">
              <a:lnSpc>
                <a:spcPct val="110000"/>
              </a:lnSpc>
              <a:spcAft>
                <a:spcPts val="700"/>
              </a:spcAft>
            </a:pPr>
            <a:r>
              <a:rPr sz="1220" b="0" i="0">
                <a:solidFill>
                  <a:srgbClr val="D2E2C6"/>
                </a:solidFill>
                <a:latin typeface="Arial"/>
              </a:rPr>
              <a:t>Rs 100 an instalment covers the cost of an open circle; every band above carries margin.</a:t>
            </a:r>
          </a:p>
          <a:p>
            <a:pPr algn="l">
              <a:lnSpc>
                <a:spcPct val="110000"/>
              </a:lnSpc>
              <a:spcAft>
                <a:spcPts val="700"/>
              </a:spcAft>
            </a:pPr>
            <a:r>
              <a:rPr sz="1220" b="0" i="0">
                <a:solidFill>
                  <a:srgbClr val="D2E2C6"/>
                </a:solidFill>
                <a:latin typeface="Arial"/>
              </a:rPr>
              <a:t>A percentage rail against a flat fee is the binding constraint.</a:t>
            </a:r>
          </a:p>
        </p:txBody>
      </p:sp>
      <p:pic>
        <p:nvPicPr>
          <p:cNvPr id="8" name="Picture 7" descr="logo-mark.png"/>
          <p:cNvPicPr>
            <a:picLocks noChangeAspect="1"/>
          </p:cNvPicPr>
          <p:nvPr/>
        </p:nvPicPr>
        <p:blipFill>
          <a:blip r:embed="rId2"/>
          <a:stretch>
            <a:fillRect/>
          </a:stretch>
        </p:blipFill>
        <p:spPr>
          <a:xfrm>
            <a:off x="9357055" y="2468880"/>
            <a:ext cx="1920240" cy="192024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03 · THE FEE</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A flat fee per instalment, stated before any commitment</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The fee is set by instalment size and roster size, and is the same for every seat on the roster.</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24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17</a:t>
            </a:r>
          </a:p>
        </p:txBody>
      </p:sp>
      <p:sp>
        <p:nvSpPr>
          <p:cNvPr id="10" name="TextBox 9"/>
          <p:cNvSpPr txBox="1"/>
          <p:nvPr/>
        </p:nvSpPr>
        <p:spPr>
          <a:xfrm>
            <a:off x="566928" y="1572768"/>
            <a:ext cx="6035040" cy="182880"/>
          </a:xfrm>
          <a:prstGeom prst="rect">
            <a:avLst/>
          </a:prstGeom>
          <a:noFill/>
        </p:spPr>
        <p:txBody>
          <a:bodyPr wrap="square" lIns="0" rIns="0" tIns="0" bIns="0" anchor="t">
            <a:spAutoFit/>
          </a:bodyPr>
          <a:lstStyle/>
          <a:p>
            <a:pPr algn="l">
              <a:lnSpc>
                <a:spcPct val="100000"/>
              </a:lnSpc>
              <a:spcAft>
                <a:spcPts val="400"/>
              </a:spcAft>
            </a:pPr>
            <a:r>
              <a:rPr sz="840" b="0" i="1" spc="30">
                <a:solidFill>
                  <a:srgbClr val="6F7B68"/>
                </a:solidFill>
                <a:latin typeface="Arial"/>
              </a:rPr>
              <a:t>EXHIBIT 11   Fee per instalment on monthly circles, in rupees, paid to Halqa</a:t>
            </a:r>
          </a:p>
        </p:txBody>
      </p:sp>
      <p:graphicFrame>
        <p:nvGraphicFramePr>
          <p:cNvPr id="11" name="Table 10"/>
          <p:cNvGraphicFramePr>
            <a:graphicFrameLocks noGrp="1"/>
          </p:cNvGraphicFramePr>
          <p:nvPr/>
        </p:nvGraphicFramePr>
        <p:xfrm>
          <a:off x="566928" y="1828800"/>
          <a:ext cx="6035037" cy="1737360"/>
        </p:xfrm>
        <a:graphic>
          <a:graphicData uri="http://schemas.openxmlformats.org/drawingml/2006/table">
            <a:tbl>
              <a:tblPr>
                <a:tableStyleId>{5C22544A-7EE6-4342-B048-85BDC9FD1C3A}</a:tableStyleId>
              </a:tblPr>
              <a:tblGrid>
                <a:gridCol w="2051913"/>
                <a:gridCol w="1327708"/>
                <a:gridCol w="1327708"/>
                <a:gridCol w="1327708"/>
              </a:tblGrid>
              <a:tr h="347472">
                <a:tc>
                  <a:txBody>
                    <a:bodyPr wrap="square"/>
                    <a:lstStyle/>
                    <a:p>
                      <a:pPr algn="l"/>
                      <a:r>
                        <a:rPr sz="900" b="1">
                          <a:solidFill>
                            <a:srgbClr val="F3FCE7"/>
                          </a:solidFill>
                          <a:latin typeface="Arial"/>
                        </a:rPr>
                        <a:t>Instalment</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ctr"/>
                      <a:r>
                        <a:rPr sz="900" b="1">
                          <a:solidFill>
                            <a:srgbClr val="F3FCE7"/>
                          </a:solidFill>
                          <a:latin typeface="Arial"/>
                        </a:rPr>
                        <a:t>2 to 6 members</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ctr"/>
                      <a:r>
                        <a:rPr sz="900" b="1">
                          <a:solidFill>
                            <a:srgbClr val="F3FCE7"/>
                          </a:solidFill>
                          <a:latin typeface="Arial"/>
                        </a:rPr>
                        <a:t>7 to 10 members</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ctr"/>
                      <a:r>
                        <a:rPr sz="900" b="1">
                          <a:solidFill>
                            <a:srgbClr val="F3FCE7"/>
                          </a:solidFill>
                          <a:latin typeface="Arial"/>
                        </a:rPr>
                        <a:t>11 or more</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47472">
                <a:tc>
                  <a:txBody>
                    <a:bodyPr wrap="square"/>
                    <a:lstStyle/>
                    <a:p>
                      <a:pPr algn="l"/>
                      <a:r>
                        <a:rPr sz="1040" b="1">
                          <a:solidFill>
                            <a:srgbClr val="22450C"/>
                          </a:solidFill>
                          <a:latin typeface="Arial"/>
                        </a:rPr>
                        <a:t>Up to Rs 2,500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ctr"/>
                      <a:r>
                        <a:rPr sz="1040" b="0">
                          <a:solidFill>
                            <a:srgbClr val="0C1408"/>
                          </a:solidFill>
                          <a:latin typeface="Arial"/>
                        </a:rPr>
                        <a:t>100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ctr"/>
                      <a:r>
                        <a:rPr sz="1040" b="0">
                          <a:solidFill>
                            <a:srgbClr val="0C1408"/>
                          </a:solidFill>
                          <a:latin typeface="Arial"/>
                        </a:rPr>
                        <a:t>100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ctr"/>
                      <a:r>
                        <a:rPr sz="1040" b="0">
                          <a:solidFill>
                            <a:srgbClr val="0C1408"/>
                          </a:solidFill>
                          <a:latin typeface="Arial"/>
                        </a:rPr>
                        <a:t>150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47472">
                <a:tc>
                  <a:txBody>
                    <a:bodyPr wrap="square"/>
                    <a:lstStyle/>
                    <a:p>
                      <a:pPr algn="l"/>
                      <a:r>
                        <a:rPr sz="1040" b="1">
                          <a:solidFill>
                            <a:srgbClr val="22450C"/>
                          </a:solidFill>
                          <a:latin typeface="Arial"/>
                        </a:rPr>
                        <a:t>Rs 2,501 to 5,000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ctr"/>
                      <a:r>
                        <a:rPr sz="1040" b="0">
                          <a:solidFill>
                            <a:srgbClr val="0C1408"/>
                          </a:solidFill>
                          <a:latin typeface="Arial"/>
                        </a:rPr>
                        <a:t>100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ctr"/>
                      <a:r>
                        <a:rPr sz="1040" b="0">
                          <a:solidFill>
                            <a:srgbClr val="0C1408"/>
                          </a:solidFill>
                          <a:latin typeface="Arial"/>
                        </a:rPr>
                        <a:t>150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ctr"/>
                      <a:r>
                        <a:rPr sz="1040" b="0">
                          <a:solidFill>
                            <a:srgbClr val="0C1408"/>
                          </a:solidFill>
                          <a:latin typeface="Arial"/>
                        </a:rPr>
                        <a:t>200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47472">
                <a:tc>
                  <a:txBody>
                    <a:bodyPr wrap="square"/>
                    <a:lstStyle/>
                    <a:p>
                      <a:pPr algn="l"/>
                      <a:r>
                        <a:rPr sz="1040" b="1">
                          <a:solidFill>
                            <a:srgbClr val="22450C"/>
                          </a:solidFill>
                          <a:latin typeface="Arial"/>
                        </a:rPr>
                        <a:t>Rs 5,001 to 10,000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ctr"/>
                      <a:r>
                        <a:rPr sz="1040" b="0">
                          <a:solidFill>
                            <a:srgbClr val="0C1408"/>
                          </a:solidFill>
                          <a:latin typeface="Arial"/>
                        </a:rPr>
                        <a:t>150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ctr"/>
                      <a:r>
                        <a:rPr sz="1040" b="0">
                          <a:solidFill>
                            <a:srgbClr val="0C1408"/>
                          </a:solidFill>
                          <a:latin typeface="Arial"/>
                        </a:rPr>
                        <a:t>300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ctr"/>
                      <a:r>
                        <a:rPr sz="1040" b="0">
                          <a:solidFill>
                            <a:srgbClr val="0C1408"/>
                          </a:solidFill>
                          <a:latin typeface="Arial"/>
                        </a:rPr>
                        <a:t>500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47472">
                <a:tc>
                  <a:txBody>
                    <a:bodyPr wrap="square"/>
                    <a:lstStyle/>
                    <a:p>
                      <a:pPr algn="l"/>
                      <a:r>
                        <a:rPr sz="1040" b="1">
                          <a:solidFill>
                            <a:srgbClr val="22450C"/>
                          </a:solidFill>
                          <a:latin typeface="Arial"/>
                        </a:rPr>
                        <a:t>Above Rs 10,000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ctr"/>
                      <a:r>
                        <a:rPr sz="1040" b="0">
                          <a:solidFill>
                            <a:srgbClr val="0C1408"/>
                          </a:solidFill>
                          <a:latin typeface="Arial"/>
                        </a:rPr>
                        <a:t>200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ctr"/>
                      <a:r>
                        <a:rPr sz="1040" b="0">
                          <a:solidFill>
                            <a:srgbClr val="0C1408"/>
                          </a:solidFill>
                          <a:latin typeface="Arial"/>
                        </a:rPr>
                        <a:t>400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ctr"/>
                      <a:r>
                        <a:rPr sz="1040" b="0">
                          <a:solidFill>
                            <a:srgbClr val="0C1408"/>
                          </a:solidFill>
                          <a:latin typeface="Arial"/>
                        </a:rPr>
                        <a:t>500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12" name="TextBox 11"/>
          <p:cNvSpPr txBox="1"/>
          <p:nvPr/>
        </p:nvSpPr>
        <p:spPr>
          <a:xfrm>
            <a:off x="566928" y="3639312"/>
            <a:ext cx="6035040"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The national average instalment of Rs 6,400 falls in the third band.</a:t>
            </a:r>
          </a:p>
        </p:txBody>
      </p:sp>
      <p:sp>
        <p:nvSpPr>
          <p:cNvPr id="13" name="TextBox 12"/>
          <p:cNvSpPr txBox="1"/>
          <p:nvPr/>
        </p:nvSpPr>
        <p:spPr>
          <a:xfrm>
            <a:off x="566928" y="3986784"/>
            <a:ext cx="6035040" cy="182880"/>
          </a:xfrm>
          <a:prstGeom prst="rect">
            <a:avLst/>
          </a:prstGeom>
          <a:noFill/>
        </p:spPr>
        <p:txBody>
          <a:bodyPr wrap="square" lIns="0" rIns="0" tIns="0" bIns="0" anchor="t">
            <a:spAutoFit/>
          </a:bodyPr>
          <a:lstStyle/>
          <a:p>
            <a:pPr algn="l">
              <a:lnSpc>
                <a:spcPct val="100000"/>
              </a:lnSpc>
              <a:spcAft>
                <a:spcPts val="400"/>
              </a:spcAft>
            </a:pPr>
            <a:r>
              <a:rPr sz="840" b="0" i="1" spc="30">
                <a:solidFill>
                  <a:srgbClr val="6F7B68"/>
                </a:solidFill>
                <a:latin typeface="Arial"/>
              </a:rPr>
              <a:t>EXHIBIT 12   Fee discounts. The largest applicable discount is taken; they do not stack.</a:t>
            </a:r>
          </a:p>
        </p:txBody>
      </p:sp>
      <p:graphicFrame>
        <p:nvGraphicFramePr>
          <p:cNvPr id="14" name="Table 13"/>
          <p:cNvGraphicFramePr>
            <a:graphicFrameLocks noGrp="1"/>
          </p:cNvGraphicFramePr>
          <p:nvPr/>
        </p:nvGraphicFramePr>
        <p:xfrm>
          <a:off x="566928" y="4224528"/>
          <a:ext cx="6035039" cy="1316736"/>
        </p:xfrm>
        <a:graphic>
          <a:graphicData uri="http://schemas.openxmlformats.org/drawingml/2006/table">
            <a:tbl>
              <a:tblPr>
                <a:tableStyleId>{5C22544A-7EE6-4342-B048-85BDC9FD1C3A}</a:tableStyleId>
              </a:tblPr>
              <a:tblGrid>
                <a:gridCol w="2172614"/>
                <a:gridCol w="965606"/>
                <a:gridCol w="2896819"/>
              </a:tblGrid>
              <a:tr h="329184">
                <a:tc>
                  <a:txBody>
                    <a:bodyPr wrap="square"/>
                    <a:lstStyle/>
                    <a:p>
                      <a:pPr algn="l"/>
                      <a:r>
                        <a:rPr sz="900" b="1">
                          <a:solidFill>
                            <a:srgbClr val="F3FCE7"/>
                          </a:solidFill>
                          <a:latin typeface="Arial"/>
                        </a:rPr>
                        <a:t>Condition</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Effect</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Basis</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40" b="1">
                          <a:solidFill>
                            <a:srgbClr val="22450C"/>
                          </a:solidFill>
                          <a:latin typeface="Arial"/>
                        </a:rPr>
                        <a:t>Guarantee cheque held on file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80% off</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Opens a route under section 489-F of the Penal Code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40" b="1">
                          <a:solidFill>
                            <a:srgbClr val="22450C"/>
                          </a:solidFill>
                          <a:latin typeface="Arial"/>
                        </a:rPr>
                        <a:t>Income slip and employer verified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50% off</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Certain and traceable income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40" b="1">
                          <a:solidFill>
                            <a:srgbClr val="22450C"/>
                          </a:solidFill>
                          <a:latin typeface="Arial"/>
                        </a:rPr>
                        <a:t>Salary account linked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Mandatory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Required on any roster of strangers. Not a discount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15" name="Rectangle 14"/>
          <p:cNvSpPr/>
          <p:nvPr/>
        </p:nvSpPr>
        <p:spPr>
          <a:xfrm>
            <a:off x="6967728" y="1828800"/>
            <a:ext cx="4654296" cy="192024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967728" y="1828800"/>
            <a:ext cx="45720" cy="192024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0" y="1938528"/>
            <a:ext cx="4379976"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Why the fee is flat</a:t>
            </a:r>
          </a:p>
        </p:txBody>
      </p:sp>
      <p:sp>
        <p:nvSpPr>
          <p:cNvPr id="18" name="TextBox 17"/>
          <p:cNvSpPr txBox="1"/>
          <p:nvPr/>
        </p:nvSpPr>
        <p:spPr>
          <a:xfrm>
            <a:off x="7132320" y="2231136"/>
            <a:ext cx="4379976" cy="1463040"/>
          </a:xfrm>
          <a:prstGeom prst="rect">
            <a:avLst/>
          </a:prstGeom>
          <a:noFill/>
        </p:spPr>
        <p:txBody>
          <a:bodyPr wrap="square" lIns="0" rIns="0" tIns="0" bIns="0" anchor="t">
            <a:spAutoFit/>
          </a:bodyPr>
          <a:lstStyle/>
          <a:p>
            <a:pPr algn="l">
              <a:lnSpc>
                <a:spcPct val="112000"/>
              </a:lnSpc>
              <a:spcAft>
                <a:spcPts val="500"/>
              </a:spcAft>
            </a:pPr>
            <a:r>
              <a:rPr sz="1000" b="0" i="0">
                <a:solidFill>
                  <a:srgbClr val="0C1408"/>
                </a:solidFill>
                <a:latin typeface="Arial"/>
              </a:rPr>
              <a:t>A fee graded by collection day is priced on the advance and reads as interest. Members in later seats are compensated by Halqa in points and fee waivers issued from its own revenue, never by another member.</a:t>
            </a:r>
          </a:p>
        </p:txBody>
      </p:sp>
      <p:sp>
        <p:nvSpPr>
          <p:cNvPr id="19" name="Rectangle 18"/>
          <p:cNvSpPr/>
          <p:nvPr/>
        </p:nvSpPr>
        <p:spPr>
          <a:xfrm>
            <a:off x="6967728" y="3931920"/>
            <a:ext cx="4654296" cy="178308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967728" y="3931920"/>
            <a:ext cx="45720" cy="178308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0" y="4041648"/>
            <a:ext cx="4379976"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Why the fee is lawful</a:t>
            </a:r>
          </a:p>
        </p:txBody>
      </p:sp>
      <p:sp>
        <p:nvSpPr>
          <p:cNvPr id="22" name="TextBox 21"/>
          <p:cNvSpPr txBox="1"/>
          <p:nvPr/>
        </p:nvSpPr>
        <p:spPr>
          <a:xfrm>
            <a:off x="7132320" y="4334256"/>
            <a:ext cx="4379976" cy="1325880"/>
          </a:xfrm>
          <a:prstGeom prst="rect">
            <a:avLst/>
          </a:prstGeom>
          <a:noFill/>
        </p:spPr>
        <p:txBody>
          <a:bodyPr wrap="square" lIns="0" rIns="0" tIns="0" bIns="0" anchor="t">
            <a:spAutoFit/>
          </a:bodyPr>
          <a:lstStyle/>
          <a:p>
            <a:pPr algn="l">
              <a:lnSpc>
                <a:spcPct val="112000"/>
              </a:lnSpc>
              <a:spcAft>
                <a:spcPts val="500"/>
              </a:spcAft>
            </a:pPr>
            <a:r>
              <a:rPr sz="1000" b="0" i="0">
                <a:solidFill>
                  <a:srgbClr val="0C1408"/>
                </a:solidFill>
                <a:latin typeface="Arial"/>
              </a:rPr>
              <a:t>The Explanation to section 84 of the Companies Act 2017 excludes “an advance against sale of goods or provision of services in the ordinary course of business” from the meaning of a deposit. A fee charged in advance for a service is revenue.</a:t>
            </a:r>
          </a:p>
        </p:txBody>
      </p:sp>
      <p:cxnSp>
        <p:nvCxnSpPr>
          <p:cNvPr id="23" name="Connector 22"/>
          <p:cNvCxnSpPr/>
          <p:nvPr/>
        </p:nvCxnSpPr>
        <p:spPr>
          <a:xfrm>
            <a:off x="566928" y="6053328"/>
            <a:ext cx="0" cy="155448"/>
          </a:xfrm>
          <a:prstGeom prst="line">
            <a:avLst/>
          </a:prstGeom>
          <a:ln w="27940">
            <a:solidFill>
              <a:srgbClr val="6DC72A"/>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40080" y="6053328"/>
            <a:ext cx="7315200" cy="182880"/>
          </a:xfrm>
          <a:prstGeom prst="rect">
            <a:avLst/>
          </a:prstGeom>
          <a:noFill/>
        </p:spPr>
        <p:txBody>
          <a:bodyPr wrap="square" lIns="0" rIns="0" tIns="0" bIns="0" anchor="t">
            <a:spAutoFit/>
          </a:bodyPr>
          <a:lstStyle/>
          <a:p>
            <a:pPr algn="l">
              <a:lnSpc>
                <a:spcPct val="100000"/>
              </a:lnSpc>
              <a:spcAft>
                <a:spcPts val="400"/>
              </a:spcAft>
            </a:pPr>
            <a:r>
              <a:rPr sz="819" b="1" i="0" spc="80">
                <a:solidFill>
                  <a:srgbClr val="22450C"/>
                </a:solidFill>
                <a:latin typeface="Arial"/>
              </a:rPr>
              <a:t>TO BUILD  ·  THE PUBLISHED FEE SCHEDULE IS LISTED IN SECTION 02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03 · COST</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What it costs to carry one committee for a year</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Reference case: twelve members, Rs 2,500 each, collected monthly, for one year.</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24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18</a:t>
            </a:r>
          </a:p>
        </p:txBody>
      </p:sp>
      <p:sp>
        <p:nvSpPr>
          <p:cNvPr id="10" name="TextBox 9"/>
          <p:cNvSpPr txBox="1"/>
          <p:nvPr/>
        </p:nvSpPr>
        <p:spPr>
          <a:xfrm>
            <a:off x="566928" y="1572768"/>
            <a:ext cx="6309360" cy="182880"/>
          </a:xfrm>
          <a:prstGeom prst="rect">
            <a:avLst/>
          </a:prstGeom>
          <a:noFill/>
        </p:spPr>
        <p:txBody>
          <a:bodyPr wrap="square" lIns="0" rIns="0" tIns="0" bIns="0" anchor="t">
            <a:spAutoFit/>
          </a:bodyPr>
          <a:lstStyle/>
          <a:p>
            <a:pPr algn="l">
              <a:lnSpc>
                <a:spcPct val="100000"/>
              </a:lnSpc>
              <a:spcAft>
                <a:spcPts val="400"/>
              </a:spcAft>
            </a:pPr>
            <a:r>
              <a:rPr sz="840" b="0" i="1" spc="30">
                <a:solidFill>
                  <a:srgbClr val="6F7B68"/>
                </a:solidFill>
                <a:latin typeface="Arial"/>
              </a:rPr>
              <a:t>EXHIBIT 13   The reference case</a:t>
            </a:r>
          </a:p>
        </p:txBody>
      </p:sp>
      <p:graphicFrame>
        <p:nvGraphicFramePr>
          <p:cNvPr id="11" name="Table 10"/>
          <p:cNvGraphicFramePr>
            <a:graphicFrameLocks noGrp="1"/>
          </p:cNvGraphicFramePr>
          <p:nvPr/>
        </p:nvGraphicFramePr>
        <p:xfrm>
          <a:off x="566928" y="1828800"/>
          <a:ext cx="6309359" cy="3108960"/>
        </p:xfrm>
        <a:graphic>
          <a:graphicData uri="http://schemas.openxmlformats.org/drawingml/2006/table">
            <a:tbl>
              <a:tblPr>
                <a:tableStyleId>{5C22544A-7EE6-4342-B048-85BDC9FD1C3A}</a:tableStyleId>
              </a:tblPr>
              <a:tblGrid>
                <a:gridCol w="2271369"/>
                <a:gridCol w="2523744"/>
                <a:gridCol w="1514246"/>
              </a:tblGrid>
              <a:tr h="310896">
                <a:tc>
                  <a:txBody>
                    <a:bodyPr wrap="square"/>
                    <a:lstStyle/>
                    <a:p>
                      <a:pPr algn="l"/>
                      <a:r>
                        <a:rPr sz="900" b="1">
                          <a:solidFill>
                            <a:srgbClr val="F3FCE7"/>
                          </a:solidFill>
                          <a:latin typeface="Arial"/>
                        </a:rPr>
                        <a:t>Line</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Basis</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Amount</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10896">
                <a:tc>
                  <a:txBody>
                    <a:bodyPr wrap="square"/>
                    <a:lstStyle/>
                    <a:p>
                      <a:pPr algn="l"/>
                      <a:r>
                        <a:rPr sz="940" b="0">
                          <a:solidFill>
                            <a:srgbClr val="0C1408"/>
                          </a:solidFill>
                          <a:latin typeface="Arial"/>
                        </a:rPr>
                        <a:t>Instalments collected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12 members over 12 rounds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144</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10896">
                <a:tc>
                  <a:txBody>
                    <a:bodyPr wrap="square"/>
                    <a:lstStyle/>
                    <a:p>
                      <a:pPr algn="l"/>
                      <a:r>
                        <a:rPr sz="940" b="0">
                          <a:solidFill>
                            <a:srgbClr val="0C1408"/>
                          </a:solidFill>
                          <a:latin typeface="Arial"/>
                        </a:rPr>
                        <a:t>Messaging</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2.3 sends per payment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in the per payment figure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10896">
                <a:tc>
                  <a:txBody>
                    <a:bodyPr wrap="square"/>
                    <a:lstStyle/>
                    <a:p>
                      <a:pPr algn="l"/>
                      <a:r>
                        <a:rPr sz="940" b="0">
                          <a:solidFill>
                            <a:srgbClr val="0C1408"/>
                          </a:solidFill>
                          <a:latin typeface="Arial"/>
                        </a:rPr>
                        <a:t>Identity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200 per member, amortised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in the per payment figure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10896">
                <a:tc>
                  <a:txBody>
                    <a:bodyPr wrap="square"/>
                    <a:lstStyle/>
                    <a:p>
                      <a:pPr algn="l"/>
                      <a:r>
                        <a:rPr sz="940" b="0">
                          <a:solidFill>
                            <a:srgbClr val="0C1408"/>
                          </a:solidFill>
                          <a:latin typeface="Arial"/>
                        </a:rPr>
                        <a:t>Support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1 contact per 20 payments at Rs 150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in the per payment figure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10896">
                <a:tc>
                  <a:txBody>
                    <a:bodyPr wrap="square"/>
                    <a:lstStyle/>
                    <a:p>
                      <a:pPr algn="l"/>
                      <a:r>
                        <a:rPr sz="940" b="0">
                          <a:solidFill>
                            <a:srgbClr val="0C1408"/>
                          </a:solidFill>
                          <a:latin typeface="Arial"/>
                        </a:rPr>
                        <a:t>Compute and storage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25 per member per year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in the per payment figure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10896">
                <a:tc>
                  <a:txBody>
                    <a:bodyPr wrap="square"/>
                    <a:lstStyle/>
                    <a:p>
                      <a:pPr algn="l"/>
                      <a:r>
                        <a:rPr sz="940" b="1">
                          <a:solidFill>
                            <a:srgbClr val="0C1408"/>
                          </a:solidFill>
                          <a:latin typeface="Arial"/>
                        </a:rPr>
                        <a:t>Cost per payment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1">
                          <a:solidFill>
                            <a:srgbClr val="0C1408"/>
                          </a:solidFill>
                          <a:latin typeface="Arial"/>
                        </a:rPr>
                        <a:t>All in, excluding the rail</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1">
                          <a:solidFill>
                            <a:srgbClr val="0C1408"/>
                          </a:solidFill>
                          <a:latin typeface="Arial"/>
                        </a:rPr>
                        <a:t>Rs 12.60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10896">
                <a:tc>
                  <a:txBody>
                    <a:bodyPr wrap="square"/>
                    <a:lstStyle/>
                    <a:p>
                      <a:pPr algn="l"/>
                      <a:r>
                        <a:rPr sz="940" b="1">
                          <a:solidFill>
                            <a:srgbClr val="0C1408"/>
                          </a:solidFill>
                          <a:latin typeface="Arial"/>
                        </a:rPr>
                        <a:t>Operating cost for the year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1">
                          <a:solidFill>
                            <a:srgbClr val="0C1408"/>
                          </a:solidFill>
                          <a:latin typeface="Arial"/>
                        </a:rPr>
                        <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1">
                          <a:solidFill>
                            <a:srgbClr val="0C1408"/>
                          </a:solidFill>
                          <a:latin typeface="Arial"/>
                        </a:rPr>
                        <a:t>Rs 1,815</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10896">
                <a:tc>
                  <a:txBody>
                    <a:bodyPr wrap="square"/>
                    <a:lstStyle/>
                    <a:p>
                      <a:pPr algn="l"/>
                      <a:r>
                        <a:rPr sz="940" b="1">
                          <a:solidFill>
                            <a:srgbClr val="0C1408"/>
                          </a:solidFill>
                          <a:latin typeface="Arial"/>
                        </a:rPr>
                        <a:t>Fee revenue for the year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1">
                          <a:solidFill>
                            <a:srgbClr val="0C1408"/>
                          </a:solidFill>
                          <a:latin typeface="Arial"/>
                        </a:rPr>
                        <a:t>At the Rs 100 band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1">
                          <a:solidFill>
                            <a:srgbClr val="0C1408"/>
                          </a:solidFill>
                          <a:latin typeface="Arial"/>
                        </a:rPr>
                        <a:t>Rs 14,400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10896">
                <a:tc>
                  <a:txBody>
                    <a:bodyPr wrap="square"/>
                    <a:lstStyle/>
                    <a:p>
                      <a:pPr algn="l"/>
                      <a:r>
                        <a:rPr sz="940" b="1">
                          <a:solidFill>
                            <a:srgbClr val="0C1408"/>
                          </a:solidFill>
                          <a:latin typeface="Arial"/>
                        </a:rPr>
                        <a:t>Contribution before the rail</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1">
                          <a:solidFill>
                            <a:srgbClr val="0C1408"/>
                          </a:solidFill>
                          <a:latin typeface="Arial"/>
                        </a:rPr>
                        <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1">
                          <a:solidFill>
                            <a:srgbClr val="0C1408"/>
                          </a:solidFill>
                          <a:latin typeface="Arial"/>
                        </a:rPr>
                        <a:t>Rs 12,585</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12" name="TextBox 11"/>
          <p:cNvSpPr txBox="1"/>
          <p:nvPr/>
        </p:nvSpPr>
        <p:spPr>
          <a:xfrm>
            <a:off x="566928" y="5074920"/>
            <a:ext cx="6309360" cy="640080"/>
          </a:xfrm>
          <a:prstGeom prst="rect">
            <a:avLst/>
          </a:prstGeom>
          <a:noFill/>
        </p:spPr>
        <p:txBody>
          <a:bodyPr wrap="square" lIns="0" rIns="0" tIns="0" bIns="0" anchor="t">
            <a:spAutoFit/>
          </a:bodyPr>
          <a:lstStyle/>
          <a:p>
            <a:pPr algn="l">
              <a:lnSpc>
                <a:spcPct val="112000"/>
              </a:lnSpc>
              <a:spcAft>
                <a:spcPts val="400"/>
              </a:spcAft>
            </a:pPr>
            <a:r>
              <a:rPr sz="1060" b="0" i="0">
                <a:solidFill>
                  <a:srgbClr val="22450C"/>
                </a:solidFill>
                <a:latin typeface="Georgia"/>
              </a:rPr>
              <a:t>Rs 100 an instalment is the point at which an open circle covers its own operating cost. Every band above it carries margin.</a:t>
            </a:r>
          </a:p>
        </p:txBody>
      </p:sp>
      <p:sp>
        <p:nvSpPr>
          <p:cNvPr id="13" name="TextBox 12"/>
          <p:cNvSpPr txBox="1"/>
          <p:nvPr/>
        </p:nvSpPr>
        <p:spPr>
          <a:xfrm>
            <a:off x="7242048" y="1572768"/>
            <a:ext cx="4379976" cy="182880"/>
          </a:xfrm>
          <a:prstGeom prst="rect">
            <a:avLst/>
          </a:prstGeom>
          <a:noFill/>
        </p:spPr>
        <p:txBody>
          <a:bodyPr wrap="square" lIns="0" rIns="0" tIns="0" bIns="0" anchor="t">
            <a:spAutoFit/>
          </a:bodyPr>
          <a:lstStyle/>
          <a:p>
            <a:pPr algn="l">
              <a:lnSpc>
                <a:spcPct val="100000"/>
              </a:lnSpc>
              <a:spcAft>
                <a:spcPts val="400"/>
              </a:spcAft>
            </a:pPr>
            <a:r>
              <a:rPr sz="840" b="0" i="1" spc="30">
                <a:solidFill>
                  <a:srgbClr val="6F7B68"/>
                </a:solidFill>
                <a:latin typeface="Arial"/>
              </a:rPr>
              <a:t>EXHIBIT 14   Monthly cost at four sizes</a:t>
            </a:r>
          </a:p>
        </p:txBody>
      </p:sp>
      <p:graphicFrame>
        <p:nvGraphicFramePr>
          <p:cNvPr id="14" name="Table 13"/>
          <p:cNvGraphicFramePr>
            <a:graphicFrameLocks noGrp="1"/>
          </p:cNvGraphicFramePr>
          <p:nvPr/>
        </p:nvGraphicFramePr>
        <p:xfrm>
          <a:off x="7242048" y="1828800"/>
          <a:ext cx="4379975" cy="1920240"/>
        </p:xfrm>
        <a:graphic>
          <a:graphicData uri="http://schemas.openxmlformats.org/drawingml/2006/table">
            <a:tbl>
              <a:tblPr>
                <a:tableStyleId>{5C22544A-7EE6-4342-B048-85BDC9FD1C3A}</a:tableStyleId>
              </a:tblPr>
              <a:tblGrid>
                <a:gridCol w="2189988"/>
                <a:gridCol w="1226393"/>
                <a:gridCol w="963594"/>
              </a:tblGrid>
              <a:tr h="384048">
                <a:tc>
                  <a:txBody>
                    <a:bodyPr wrap="square"/>
                    <a:lstStyle/>
                    <a:p>
                      <a:pPr algn="l"/>
                      <a:r>
                        <a:rPr sz="900" b="1">
                          <a:solidFill>
                            <a:srgbClr val="F3FCE7"/>
                          </a:solidFill>
                          <a:latin typeface="Arial"/>
                        </a:rPr>
                        <a:t>Stage</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Monthly cost</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Per member</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84048">
                <a:tc>
                  <a:txBody>
                    <a:bodyPr wrap="square"/>
                    <a:lstStyle/>
                    <a:p>
                      <a:pPr algn="l"/>
                      <a:r>
                        <a:rPr sz="919" b="0">
                          <a:solidFill>
                            <a:srgbClr val="0C1408"/>
                          </a:solidFill>
                          <a:latin typeface="Arial"/>
                        </a:rPr>
                        <a:t>Bare platform, before launch</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Rs 14,000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n/a</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84048">
                <a:tc>
                  <a:txBody>
                    <a:bodyPr wrap="square"/>
                    <a:lstStyle/>
                    <a:p>
                      <a:pPr algn="l"/>
                      <a:r>
                        <a:rPr sz="919" b="0">
                          <a:solidFill>
                            <a:srgbClr val="0C1408"/>
                          </a:solidFill>
                          <a:latin typeface="Arial"/>
                        </a:rPr>
                        <a:t>With recovery, monitoring and support tooling</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Rs 58,000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n/a</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84048">
                <a:tc>
                  <a:txBody>
                    <a:bodyPr wrap="square"/>
                    <a:lstStyle/>
                    <a:p>
                      <a:pPr algn="l"/>
                      <a:r>
                        <a:rPr sz="919" b="0">
                          <a:solidFill>
                            <a:srgbClr val="0C1408"/>
                          </a:solidFill>
                          <a:latin typeface="Arial"/>
                        </a:rPr>
                        <a:t>100,000 members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Rs 1,304,000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Rs 13</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84048">
                <a:tc>
                  <a:txBody>
                    <a:bodyPr wrap="square"/>
                    <a:lstStyle/>
                    <a:p>
                      <a:pPr algn="l"/>
                      <a:r>
                        <a:rPr sz="919" b="0">
                          <a:solidFill>
                            <a:srgbClr val="0C1408"/>
                          </a:solidFill>
                          <a:latin typeface="Arial"/>
                        </a:rPr>
                        <a:t>10,000,000 members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Rs 110,000,000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Rs 11</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15" name="TextBox 14"/>
          <p:cNvSpPr txBox="1"/>
          <p:nvPr/>
        </p:nvSpPr>
        <p:spPr>
          <a:xfrm>
            <a:off x="7242048" y="3977639"/>
            <a:ext cx="4379976" cy="1280160"/>
          </a:xfrm>
          <a:prstGeom prst="rect">
            <a:avLst/>
          </a:prstGeom>
          <a:noFill/>
        </p:spPr>
        <p:txBody>
          <a:bodyPr wrap="square" lIns="0" rIns="0" tIns="0" bIns="0" anchor="t">
            <a:spAutoFit/>
          </a:bodyPr>
          <a:lstStyle/>
          <a:p>
            <a:pPr algn="l">
              <a:lnSpc>
                <a:spcPct val="114000"/>
              </a:lnSpc>
              <a:spcAft>
                <a:spcPts val="400"/>
              </a:spcAft>
            </a:pPr>
            <a:r>
              <a:rPr sz="1000" b="0" i="0">
                <a:solidFill>
                  <a:srgbClr val="0C1408"/>
                </a:solidFill>
                <a:latin typeface="Arial"/>
              </a:rPr>
              <a:t>At 100,000 members, Rs 614,000 a month is platform and usage and Rs 690,000 is people. People are the larger half and do not fall with volume, so support contacts per payment is the figure to watch.</a:t>
            </a:r>
          </a:p>
        </p:txBody>
      </p:sp>
      <p:sp>
        <p:nvSpPr>
          <p:cNvPr id="16" name="TextBox 15"/>
          <p:cNvSpPr txBox="1"/>
          <p:nvPr/>
        </p:nvSpPr>
        <p:spPr>
          <a:xfrm>
            <a:off x="566928" y="6053328"/>
            <a:ext cx="11057839"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modelled. Assumptions: Rs 280 to the dollar; 2.3 messages per payment; one support contact per 20 payments at Rs 150. Source: Business Model, revision 3, sections 4 and 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03 · THE RAIL</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A percentage rail against a flat fee is the binding constraint</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The rail takes a rising share of the fee as the instalment grows, so the collection tier is chosen by cost.</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24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19</a:t>
            </a:r>
          </a:p>
        </p:txBody>
      </p:sp>
      <p:sp>
        <p:nvSpPr>
          <p:cNvPr id="10" name="TextBox 9"/>
          <p:cNvSpPr txBox="1"/>
          <p:nvPr/>
        </p:nvSpPr>
        <p:spPr>
          <a:xfrm>
            <a:off x="566928" y="1572768"/>
            <a:ext cx="6309360" cy="182880"/>
          </a:xfrm>
          <a:prstGeom prst="rect">
            <a:avLst/>
          </a:prstGeom>
          <a:noFill/>
        </p:spPr>
        <p:txBody>
          <a:bodyPr wrap="square" lIns="0" rIns="0" tIns="0" bIns="0" anchor="t">
            <a:spAutoFit/>
          </a:bodyPr>
          <a:lstStyle/>
          <a:p>
            <a:pPr algn="l">
              <a:lnSpc>
                <a:spcPct val="100000"/>
              </a:lnSpc>
              <a:spcAft>
                <a:spcPts val="400"/>
              </a:spcAft>
            </a:pPr>
            <a:r>
              <a:rPr sz="840" b="0" i="1" spc="30">
                <a:solidFill>
                  <a:srgbClr val="6F7B68"/>
                </a:solidFill>
                <a:latin typeface="Arial"/>
              </a:rPr>
              <a:t>EXHIBIT 15   A rail at 1.5 per cent against the fee, by product</a:t>
            </a:r>
          </a:p>
        </p:txBody>
      </p:sp>
      <p:graphicFrame>
        <p:nvGraphicFramePr>
          <p:cNvPr id="11" name="Table 10"/>
          <p:cNvGraphicFramePr>
            <a:graphicFrameLocks noGrp="1"/>
          </p:cNvGraphicFramePr>
          <p:nvPr/>
        </p:nvGraphicFramePr>
        <p:xfrm>
          <a:off x="566928" y="1828800"/>
          <a:ext cx="6309357" cy="2084832"/>
        </p:xfrm>
        <a:graphic>
          <a:graphicData uri="http://schemas.openxmlformats.org/drawingml/2006/table">
            <a:tbl>
              <a:tblPr>
                <a:tableStyleId>{5C22544A-7EE6-4342-B048-85BDC9FD1C3A}</a:tableStyleId>
              </a:tblPr>
              <a:tblGrid>
                <a:gridCol w="1766620"/>
                <a:gridCol w="1135684"/>
                <a:gridCol w="1135684"/>
                <a:gridCol w="1009497"/>
                <a:gridCol w="1261872"/>
              </a:tblGrid>
              <a:tr h="347472">
                <a:tc>
                  <a:txBody>
                    <a:bodyPr wrap="square"/>
                    <a:lstStyle/>
                    <a:p>
                      <a:pPr algn="l"/>
                      <a:r>
                        <a:rPr sz="900" b="1">
                          <a:solidFill>
                            <a:srgbClr val="F3FCE7"/>
                          </a:solidFill>
                          <a:latin typeface="Arial"/>
                        </a:rPr>
                        <a:t>Product</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Instalment</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Rail at 1.5%</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Fee</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Share of the fee</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47472">
                <a:tc>
                  <a:txBody>
                    <a:bodyPr wrap="square"/>
                    <a:lstStyle/>
                    <a:p>
                      <a:pPr algn="l"/>
                      <a:r>
                        <a:rPr sz="980" b="1">
                          <a:solidFill>
                            <a:srgbClr val="22450C"/>
                          </a:solidFill>
                          <a:latin typeface="Arial"/>
                        </a:rPr>
                        <a:t>Hyper, Option 1</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80" b="0">
                          <a:solidFill>
                            <a:srgbClr val="0C1408"/>
                          </a:solidFill>
                          <a:latin typeface="Arial"/>
                        </a:rPr>
                        <a:t>Rs 450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80" b="0">
                          <a:solidFill>
                            <a:srgbClr val="0C1408"/>
                          </a:solidFill>
                          <a:latin typeface="Arial"/>
                        </a:rPr>
                        <a:t>Rs 6.75</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80" b="0">
                          <a:solidFill>
                            <a:srgbClr val="0C1408"/>
                          </a:solidFill>
                          <a:latin typeface="Arial"/>
                        </a:rPr>
                        <a:t>Rs 75</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80" b="0">
                          <a:solidFill>
                            <a:srgbClr val="0C1408"/>
                          </a:solidFill>
                          <a:latin typeface="Arial"/>
                        </a:rPr>
                        <a:t>9%</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47472">
                <a:tc>
                  <a:txBody>
                    <a:bodyPr wrap="square"/>
                    <a:lstStyle/>
                    <a:p>
                      <a:pPr algn="l"/>
                      <a:r>
                        <a:rPr sz="980" b="1">
                          <a:solidFill>
                            <a:srgbClr val="22450C"/>
                          </a:solidFill>
                          <a:latin typeface="Arial"/>
                        </a:rPr>
                        <a:t>Hyper, Option 2</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80" b="0">
                          <a:solidFill>
                            <a:srgbClr val="0C1408"/>
                          </a:solidFill>
                          <a:latin typeface="Arial"/>
                        </a:rPr>
                        <a:t>Rs 500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80" b="0">
                          <a:solidFill>
                            <a:srgbClr val="0C1408"/>
                          </a:solidFill>
                          <a:latin typeface="Arial"/>
                        </a:rPr>
                        <a:t>Rs 7.50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80" b="0">
                          <a:solidFill>
                            <a:srgbClr val="0C1408"/>
                          </a:solidFill>
                          <a:latin typeface="Arial"/>
                        </a:rPr>
                        <a:t>Rs 83.33</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80" b="0">
                          <a:solidFill>
                            <a:srgbClr val="0C1408"/>
                          </a:solidFill>
                          <a:latin typeface="Arial"/>
                        </a:rPr>
                        <a:t>9%</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47472">
                <a:tc>
                  <a:txBody>
                    <a:bodyPr wrap="square"/>
                    <a:lstStyle/>
                    <a:p>
                      <a:pPr algn="l"/>
                      <a:r>
                        <a:rPr sz="980" b="1">
                          <a:solidFill>
                            <a:srgbClr val="22450C"/>
                          </a:solidFill>
                          <a:latin typeface="Arial"/>
                        </a:rPr>
                        <a:t>Monthly circle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80" b="0">
                          <a:solidFill>
                            <a:srgbClr val="0C1408"/>
                          </a:solidFill>
                          <a:latin typeface="Arial"/>
                        </a:rPr>
                        <a:t>Rs 2,500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80" b="0">
                          <a:solidFill>
                            <a:srgbClr val="0C1408"/>
                          </a:solidFill>
                          <a:latin typeface="Arial"/>
                        </a:rPr>
                        <a:t>Rs 37.50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80" b="0">
                          <a:solidFill>
                            <a:srgbClr val="0C1408"/>
                          </a:solidFill>
                          <a:latin typeface="Arial"/>
                        </a:rPr>
                        <a:t>Rs 100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80" b="0">
                          <a:solidFill>
                            <a:srgbClr val="0C1408"/>
                          </a:solidFill>
                          <a:latin typeface="Arial"/>
                        </a:rPr>
                        <a:t>38%</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47472">
                <a:tc>
                  <a:txBody>
                    <a:bodyPr wrap="square"/>
                    <a:lstStyle/>
                    <a:p>
                      <a:pPr algn="l"/>
                      <a:r>
                        <a:rPr sz="980" b="1">
                          <a:solidFill>
                            <a:srgbClr val="22450C"/>
                          </a:solidFill>
                          <a:latin typeface="Arial"/>
                        </a:rPr>
                        <a:t>Monthly circle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80" b="0">
                          <a:solidFill>
                            <a:srgbClr val="0C1408"/>
                          </a:solidFill>
                          <a:latin typeface="Arial"/>
                        </a:rPr>
                        <a:t>Rs 5,000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80" b="0">
                          <a:solidFill>
                            <a:srgbClr val="0C1408"/>
                          </a:solidFill>
                          <a:latin typeface="Arial"/>
                        </a:rPr>
                        <a:t>Rs 75</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80" b="0">
                          <a:solidFill>
                            <a:srgbClr val="0C1408"/>
                          </a:solidFill>
                          <a:latin typeface="Arial"/>
                        </a:rPr>
                        <a:t>Rs 150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80" b="0">
                          <a:solidFill>
                            <a:srgbClr val="0C1408"/>
                          </a:solidFill>
                          <a:latin typeface="Arial"/>
                        </a:rPr>
                        <a:t>50%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47472">
                <a:tc>
                  <a:txBody>
                    <a:bodyPr wrap="square"/>
                    <a:lstStyle/>
                    <a:p>
                      <a:pPr algn="l"/>
                      <a:r>
                        <a:rPr sz="980" b="1">
                          <a:solidFill>
                            <a:srgbClr val="22450C"/>
                          </a:solidFill>
                          <a:latin typeface="Arial"/>
                        </a:rPr>
                        <a:t>Monthly circle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80" b="0">
                          <a:solidFill>
                            <a:srgbClr val="0C1408"/>
                          </a:solidFill>
                          <a:latin typeface="Arial"/>
                        </a:rPr>
                        <a:t>Rs 20,000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80" b="0">
                          <a:solidFill>
                            <a:srgbClr val="0C1408"/>
                          </a:solidFill>
                          <a:latin typeface="Arial"/>
                        </a:rPr>
                        <a:t>Rs 300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80" b="0">
                          <a:solidFill>
                            <a:srgbClr val="0C1408"/>
                          </a:solidFill>
                          <a:latin typeface="Arial"/>
                        </a:rPr>
                        <a:t>Rs 500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80" b="0">
                          <a:solidFill>
                            <a:srgbClr val="0C1408"/>
                          </a:solidFill>
                          <a:latin typeface="Arial"/>
                        </a:rPr>
                        <a:t>60%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12" name="TextBox 11"/>
          <p:cNvSpPr txBox="1"/>
          <p:nvPr/>
        </p:nvSpPr>
        <p:spPr>
          <a:xfrm>
            <a:off x="566928" y="4069080"/>
            <a:ext cx="6309360" cy="822960"/>
          </a:xfrm>
          <a:prstGeom prst="rect">
            <a:avLst/>
          </a:prstGeom>
          <a:noFill/>
        </p:spPr>
        <p:txBody>
          <a:bodyPr wrap="square" lIns="0" rIns="0" tIns="0" bIns="0" anchor="t">
            <a:spAutoFit/>
          </a:bodyPr>
          <a:lstStyle/>
          <a:p>
            <a:pPr algn="l">
              <a:lnSpc>
                <a:spcPct val="112000"/>
              </a:lnSpc>
              <a:spcAft>
                <a:spcPts val="400"/>
              </a:spcAft>
            </a:pPr>
            <a:r>
              <a:rPr sz="1019" b="0" i="0">
                <a:solidFill>
                  <a:srgbClr val="0C1408"/>
                </a:solidFill>
                <a:latin typeface="Arial"/>
              </a:rPr>
              <a:t>Card collection at 3.3 per cent plus Rs 33 would take 64 per cent of Hyper fee revenue and is never offered on instalments.</a:t>
            </a:r>
          </a:p>
        </p:txBody>
      </p:sp>
      <p:sp>
        <p:nvSpPr>
          <p:cNvPr id="13" name="Rectangle 12"/>
          <p:cNvSpPr/>
          <p:nvPr/>
        </p:nvSpPr>
        <p:spPr>
          <a:xfrm>
            <a:off x="7242048" y="1828800"/>
            <a:ext cx="4379976" cy="205740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242048" y="1828800"/>
            <a:ext cx="45720" cy="205740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06640" y="1938528"/>
            <a:ext cx="4105656"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Two responses, not exclusive</a:t>
            </a:r>
          </a:p>
        </p:txBody>
      </p:sp>
      <p:sp>
        <p:nvSpPr>
          <p:cNvPr id="16" name="TextBox 15"/>
          <p:cNvSpPr txBox="1"/>
          <p:nvPr/>
        </p:nvSpPr>
        <p:spPr>
          <a:xfrm>
            <a:off x="7406640" y="2231136"/>
            <a:ext cx="4105656" cy="1600200"/>
          </a:xfrm>
          <a:prstGeom prst="rect">
            <a:avLst/>
          </a:prstGeom>
          <a:noFill/>
        </p:spPr>
        <p:txBody>
          <a:bodyPr wrap="square" lIns="0" rIns="0" tIns="0" bIns="0" anchor="t">
            <a:spAutoFit/>
          </a:bodyPr>
          <a:lstStyle/>
          <a:p>
            <a:pPr algn="l">
              <a:lnSpc>
                <a:spcPct val="112000"/>
              </a:lnSpc>
              <a:spcAft>
                <a:spcPts val="500"/>
              </a:spcAft>
            </a:pPr>
            <a:r>
              <a:rPr sz="1000" b="0" i="0">
                <a:solidFill>
                  <a:srgbClr val="0C1408"/>
                </a:solidFill>
                <a:latin typeface="Arial"/>
              </a:rPr>
              <a:t>Agree a price per transaction for the partner’s initiation on monthly circles, rather than a percentage.</a:t>
            </a:r>
          </a:p>
          <a:p>
            <a:pPr algn="l">
              <a:lnSpc>
                <a:spcPct val="112000"/>
              </a:lnSpc>
              <a:spcAft>
                <a:spcPts val="500"/>
              </a:spcAft>
            </a:pPr>
            <a:r>
              <a:rPr sz="1000" b="0" i="0">
                <a:solidFill>
                  <a:srgbClr val="0C1408"/>
                </a:solidFill>
                <a:latin typeface="Arial"/>
              </a:rPr>
              <a:t>Establish with the partner whether its charge can be passed to the payer.</a:t>
            </a:r>
          </a:p>
        </p:txBody>
      </p:sp>
      <p:sp>
        <p:nvSpPr>
          <p:cNvPr id="17" name="Rectangle 16"/>
          <p:cNvSpPr/>
          <p:nvPr/>
        </p:nvSpPr>
        <p:spPr>
          <a:xfrm>
            <a:off x="7242048" y="4069080"/>
            <a:ext cx="4379976" cy="160020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242048" y="4069080"/>
            <a:ext cx="45720" cy="160020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178808"/>
            <a:ext cx="4105656"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Where the mandate is used</a:t>
            </a:r>
          </a:p>
        </p:txBody>
      </p:sp>
      <p:sp>
        <p:nvSpPr>
          <p:cNvPr id="20" name="TextBox 19"/>
          <p:cNvSpPr txBox="1"/>
          <p:nvPr/>
        </p:nvSpPr>
        <p:spPr>
          <a:xfrm>
            <a:off x="7406640" y="4471416"/>
            <a:ext cx="4105656" cy="1143000"/>
          </a:xfrm>
          <a:prstGeom prst="rect">
            <a:avLst/>
          </a:prstGeom>
          <a:noFill/>
        </p:spPr>
        <p:txBody>
          <a:bodyPr wrap="square" lIns="0" rIns="0" tIns="0" bIns="0" anchor="t">
            <a:spAutoFit/>
          </a:bodyPr>
          <a:lstStyle/>
          <a:p>
            <a:pPr algn="l">
              <a:lnSpc>
                <a:spcPct val="112000"/>
              </a:lnSpc>
              <a:spcAft>
                <a:spcPts val="500"/>
              </a:spcAft>
            </a:pPr>
            <a:r>
              <a:rPr sz="1000" b="0" i="0">
                <a:solidFill>
                  <a:srgbClr val="0C1408"/>
                </a:solidFill>
                <a:latin typeface="Arial"/>
              </a:rPr>
              <a:t>Only on Hyper, where the instalment is small and a daily approval is impractical. At Rs 450 the rail takes 9 per cent of the fee.</a:t>
            </a:r>
          </a:p>
        </p:txBody>
      </p:sp>
      <p:sp>
        <p:nvSpPr>
          <p:cNvPr id="21" name="TextBox 20"/>
          <p:cNvSpPr txBox="1"/>
          <p:nvPr/>
        </p:nvSpPr>
        <p:spPr>
          <a:xfrm>
            <a:off x="566928" y="6053328"/>
            <a:ext cx="11057839"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modelled. The 1.5 per cent rate is indicative and is to be confirmed with the partner. Source: Business Model, revision 3, section 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03 · REVENUE</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Where the revenue comes from</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Every source is a charge for a service or a commission from a licensed counterparty. None is a share of money passing between members.</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24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20</a:t>
            </a:r>
          </a:p>
        </p:txBody>
      </p:sp>
      <p:sp>
        <p:nvSpPr>
          <p:cNvPr id="10" name="TextBox 9"/>
          <p:cNvSpPr txBox="1"/>
          <p:nvPr/>
        </p:nvSpPr>
        <p:spPr>
          <a:xfrm>
            <a:off x="566928" y="1572768"/>
            <a:ext cx="6675120" cy="182880"/>
          </a:xfrm>
          <a:prstGeom prst="rect">
            <a:avLst/>
          </a:prstGeom>
          <a:noFill/>
        </p:spPr>
        <p:txBody>
          <a:bodyPr wrap="square" lIns="0" rIns="0" tIns="0" bIns="0" anchor="t">
            <a:spAutoFit/>
          </a:bodyPr>
          <a:lstStyle/>
          <a:p>
            <a:pPr algn="l">
              <a:lnSpc>
                <a:spcPct val="100000"/>
              </a:lnSpc>
              <a:spcAft>
                <a:spcPts val="400"/>
              </a:spcAft>
            </a:pPr>
            <a:r>
              <a:rPr sz="840" b="0" i="1" spc="30">
                <a:solidFill>
                  <a:srgbClr val="6F7B68"/>
                </a:solidFill>
                <a:latin typeface="Arial"/>
              </a:rPr>
              <a:t>EXHIBIT 16   Revenue sources and the stage at which each opens</a:t>
            </a:r>
          </a:p>
        </p:txBody>
      </p:sp>
      <p:graphicFrame>
        <p:nvGraphicFramePr>
          <p:cNvPr id="11" name="Table 10"/>
          <p:cNvGraphicFramePr>
            <a:graphicFrameLocks noGrp="1"/>
          </p:cNvGraphicFramePr>
          <p:nvPr/>
        </p:nvGraphicFramePr>
        <p:xfrm>
          <a:off x="566928" y="1828800"/>
          <a:ext cx="6675119" cy="2962656"/>
        </p:xfrm>
        <a:graphic>
          <a:graphicData uri="http://schemas.openxmlformats.org/drawingml/2006/table">
            <a:tbl>
              <a:tblPr>
                <a:tableStyleId>{5C22544A-7EE6-4342-B048-85BDC9FD1C3A}</a:tableStyleId>
              </a:tblPr>
              <a:tblGrid>
                <a:gridCol w="1668780"/>
                <a:gridCol w="3804818"/>
                <a:gridCol w="1201521"/>
              </a:tblGrid>
              <a:tr h="329184">
                <a:tc>
                  <a:txBody>
                    <a:bodyPr wrap="square"/>
                    <a:lstStyle/>
                    <a:p>
                      <a:pPr algn="l"/>
                      <a:r>
                        <a:rPr sz="900" b="1">
                          <a:solidFill>
                            <a:srgbClr val="F3FCE7"/>
                          </a:solidFill>
                          <a:latin typeface="Arial"/>
                        </a:rPr>
                        <a:t>Source</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Basis</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Stage</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40" b="1">
                          <a:solidFill>
                            <a:srgbClr val="22450C"/>
                          </a:solidFill>
                          <a:latin typeface="Arial"/>
                        </a:rPr>
                        <a:t>Service fee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Flat per instalment, by instalment size and roster size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Partner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40" b="1">
                          <a:solidFill>
                            <a:srgbClr val="22450C"/>
                          </a:solidFill>
                          <a:latin typeface="Arial"/>
                        </a:rPr>
                        <a:t>Fill uplift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Where Halqa rather than the host completes a roster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Partner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40" b="1">
                          <a:solidFill>
                            <a:srgbClr val="22450C"/>
                          </a:solidFill>
                          <a:latin typeface="Arial"/>
                        </a:rPr>
                        <a:t>Rehabilitation fee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Where a defaulted position is restored at the member’s request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Partner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40" b="1">
                          <a:solidFill>
                            <a:srgbClr val="22450C"/>
                          </a:solidFill>
                          <a:latin typeface="Arial"/>
                        </a:rPr>
                        <a:t>Agency commission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From the takaful operator, about 15 per cent of contributions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Agent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40" b="1">
                          <a:solidFill>
                            <a:srgbClr val="22450C"/>
                          </a:solidFill>
                          <a:latin typeface="Arial"/>
                        </a:rPr>
                        <a:t>Distribution commission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From the asset manager on savings subscriptions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Stage 2</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40" b="1">
                          <a:solidFill>
                            <a:srgbClr val="22450C"/>
                          </a:solidFill>
                          <a:latin typeface="Arial"/>
                        </a:rPr>
                        <a:t>Leasing origination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On asset circles, once a leasing structure exists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Later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40" b="1">
                          <a:solidFill>
                            <a:srgbClr val="22450C"/>
                          </a:solidFill>
                          <a:latin typeface="Arial"/>
                        </a:rPr>
                        <a:t>Aggregate insight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Sold without identifying any member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Later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40" b="1">
                          <a:solidFill>
                            <a:srgbClr val="22450C"/>
                          </a:solidFill>
                          <a:latin typeface="Arial"/>
                        </a:rPr>
                        <a:t>White label</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The service licensed to a licensed institution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Later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12" name="Rectangle 11"/>
          <p:cNvSpPr/>
          <p:nvPr/>
        </p:nvSpPr>
        <p:spPr>
          <a:xfrm>
            <a:off x="7562088" y="1828800"/>
            <a:ext cx="4059936" cy="173736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62088" y="1828800"/>
            <a:ext cx="45720" cy="17373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26680" y="1938528"/>
            <a:ext cx="3785616"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Deliberately absent</a:t>
            </a:r>
          </a:p>
        </p:txBody>
      </p:sp>
      <p:sp>
        <p:nvSpPr>
          <p:cNvPr id="15" name="TextBox 14"/>
          <p:cNvSpPr txBox="1"/>
          <p:nvPr/>
        </p:nvSpPr>
        <p:spPr>
          <a:xfrm>
            <a:off x="7726680" y="2231136"/>
            <a:ext cx="3785616" cy="1280160"/>
          </a:xfrm>
          <a:prstGeom prst="rect">
            <a:avLst/>
          </a:prstGeom>
          <a:noFill/>
        </p:spPr>
        <p:txBody>
          <a:bodyPr wrap="square" lIns="0" rIns="0" tIns="0" bIns="0" anchor="t">
            <a:spAutoFit/>
          </a:bodyPr>
          <a:lstStyle/>
          <a:p>
            <a:pPr algn="l">
              <a:lnSpc>
                <a:spcPct val="112000"/>
              </a:lnSpc>
              <a:spcAft>
                <a:spcPts val="500"/>
              </a:spcAft>
            </a:pPr>
            <a:r>
              <a:rPr sz="980" b="0" i="0">
                <a:solidFill>
                  <a:srgbClr val="0C1408"/>
                </a:solidFill>
                <a:latin typeface="Arial"/>
              </a:rPr>
              <a:t>No share of any amount between members, no interest, no rate, no discount on a payout, no share of fund profit, and no float income, because nothing is held.</a:t>
            </a:r>
          </a:p>
        </p:txBody>
      </p:sp>
      <p:sp>
        <p:nvSpPr>
          <p:cNvPr id="16" name="Rectangle 15"/>
          <p:cNvSpPr/>
          <p:nvPr/>
        </p:nvSpPr>
        <p:spPr>
          <a:xfrm>
            <a:off x="7562088" y="3703320"/>
            <a:ext cx="4059936" cy="205740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562088" y="3703320"/>
            <a:ext cx="45720" cy="205740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26680" y="3813048"/>
            <a:ext cx="3785616"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Points and waivers</a:t>
            </a:r>
          </a:p>
        </p:txBody>
      </p:sp>
      <p:sp>
        <p:nvSpPr>
          <p:cNvPr id="19" name="TextBox 18"/>
          <p:cNvSpPr txBox="1"/>
          <p:nvPr/>
        </p:nvSpPr>
        <p:spPr>
          <a:xfrm>
            <a:off x="7726680" y="4105656"/>
            <a:ext cx="3785616" cy="1600200"/>
          </a:xfrm>
          <a:prstGeom prst="rect">
            <a:avLst/>
          </a:prstGeom>
          <a:noFill/>
        </p:spPr>
        <p:txBody>
          <a:bodyPr wrap="square" lIns="0" rIns="0" tIns="0" bIns="0" anchor="t">
            <a:spAutoFit/>
          </a:bodyPr>
          <a:lstStyle/>
          <a:p>
            <a:pPr algn="l">
              <a:lnSpc>
                <a:spcPct val="112000"/>
              </a:lnSpc>
              <a:spcAft>
                <a:spcPts val="500"/>
              </a:spcAft>
            </a:pPr>
            <a:r>
              <a:rPr sz="980" b="0" i="0">
                <a:solidFill>
                  <a:srgbClr val="0C1408"/>
                </a:solidFill>
                <a:latin typeface="Arial"/>
              </a:rPr>
              <a:t>Issued by Halqa to members in later seats, in place of any payment from other members. Funded from the service fee and booked as a liability when issued. Redeemed against later fees, or against goods with a commerce partner: Daraz, foodpanda or Careem, none contracted.</a:t>
            </a:r>
          </a:p>
        </p:txBody>
      </p:sp>
      <p:sp>
        <p:nvSpPr>
          <p:cNvPr id="20" name="TextBox 19"/>
          <p:cNvSpPr txBox="1"/>
          <p:nvPr/>
        </p:nvSpPr>
        <p:spPr>
          <a:xfrm>
            <a:off x="566928" y="6053328"/>
            <a:ext cx="11057839"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Source: Business Model, revision 3, sections 2 and 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03 · TIMELINE</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From a standing start to live money</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Engineering is not the constraint. The registration path is.</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24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21</a:t>
            </a:r>
          </a:p>
        </p:txBody>
      </p:sp>
      <p:sp>
        <p:nvSpPr>
          <p:cNvPr id="10" name="TextBox 9"/>
          <p:cNvSpPr txBox="1"/>
          <p:nvPr/>
        </p:nvSpPr>
        <p:spPr>
          <a:xfrm>
            <a:off x="566928" y="1572768"/>
            <a:ext cx="7498079" cy="182880"/>
          </a:xfrm>
          <a:prstGeom prst="rect">
            <a:avLst/>
          </a:prstGeom>
          <a:noFill/>
        </p:spPr>
        <p:txBody>
          <a:bodyPr wrap="square" lIns="0" rIns="0" tIns="0" bIns="0" anchor="t">
            <a:spAutoFit/>
          </a:bodyPr>
          <a:lstStyle/>
          <a:p>
            <a:pPr algn="l">
              <a:lnSpc>
                <a:spcPct val="100000"/>
              </a:lnSpc>
              <a:spcAft>
                <a:spcPts val="400"/>
              </a:spcAft>
            </a:pPr>
            <a:r>
              <a:rPr sz="840" b="0" i="1" spc="30">
                <a:solidFill>
                  <a:srgbClr val="6F7B68"/>
                </a:solidFill>
                <a:latin typeface="Arial"/>
              </a:rPr>
              <a:t>EXHIBIT 17   Launch timeline, in days</a:t>
            </a:r>
          </a:p>
        </p:txBody>
      </p:sp>
      <p:graphicFrame>
        <p:nvGraphicFramePr>
          <p:cNvPr id="11" name="Table 10"/>
          <p:cNvGraphicFramePr>
            <a:graphicFrameLocks noGrp="1"/>
          </p:cNvGraphicFramePr>
          <p:nvPr/>
        </p:nvGraphicFramePr>
        <p:xfrm>
          <a:off x="566928" y="1828800"/>
          <a:ext cx="7498077" cy="3950208"/>
        </p:xfrm>
        <a:graphic>
          <a:graphicData uri="http://schemas.openxmlformats.org/drawingml/2006/table">
            <a:tbl>
              <a:tblPr>
                <a:tableStyleId>{5C22544A-7EE6-4342-B048-85BDC9FD1C3A}</a:tableStyleId>
              </a:tblPr>
              <a:tblGrid>
                <a:gridCol w="2549346"/>
                <a:gridCol w="1199692"/>
                <a:gridCol w="3749039"/>
              </a:tblGrid>
              <a:tr h="329184">
                <a:tc>
                  <a:txBody>
                    <a:bodyPr wrap="square"/>
                    <a:lstStyle/>
                    <a:p>
                      <a:pPr algn="l"/>
                      <a:r>
                        <a:rPr sz="880" b="1">
                          <a:solidFill>
                            <a:srgbClr val="F3FCE7"/>
                          </a:solidFill>
                          <a:latin typeface="Arial"/>
                        </a:rPr>
                        <a:t>Step</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1">
                          <a:solidFill>
                            <a:srgbClr val="F3FCE7"/>
                          </a:solidFill>
                          <a:latin typeface="Arial"/>
                        </a:rPr>
                        <a:t>Days</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1">
                          <a:solidFill>
                            <a:srgbClr val="F3FCE7"/>
                          </a:solidFill>
                          <a:latin typeface="Arial"/>
                        </a:rPr>
                        <a:t>Notes</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00" b="1">
                          <a:solidFill>
                            <a:srgbClr val="22450C"/>
                          </a:solidFill>
                          <a:latin typeface="Arial"/>
                        </a:rPr>
                        <a:t>SECP incorporation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2 to 5</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Start immediately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00" b="1">
                          <a:solidFill>
                            <a:srgbClr val="22450C"/>
                          </a:solidFill>
                          <a:latin typeface="Arial"/>
                        </a:rPr>
                        <a:t>National Tax Number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1 to 2</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Automatic after incorporation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00" b="1">
                          <a:solidFill>
                            <a:srgbClr val="22450C"/>
                          </a:solidFill>
                          <a:latin typeface="Arial"/>
                        </a:rPr>
                        <a:t>Provincial sales tax</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3 to 5</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In parallel</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00" b="1">
                          <a:solidFill>
                            <a:srgbClr val="22450C"/>
                          </a:solidFill>
                          <a:latin typeface="Arial"/>
                        </a:rPr>
                        <a:t>Company bank account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7 to 14</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The longest step in registration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00" b="1">
                          <a:solidFill>
                            <a:srgbClr val="22450C"/>
                          </a:solidFill>
                          <a:latin typeface="Arial"/>
                        </a:rPr>
                        <a:t>Partner application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1</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Requires the certificate, the tax number and the bank account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00" b="1">
                          <a:solidFill>
                            <a:srgbClr val="22450C"/>
                          </a:solidFill>
                          <a:latin typeface="Arial"/>
                        </a:rPr>
                        <a:t>Partner approval</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14 to 21</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The largest unknown. The enquiry goes before incorporation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00" b="1">
                          <a:solidFill>
                            <a:srgbClr val="22450C"/>
                          </a:solidFill>
                          <a:latin typeface="Arial"/>
                        </a:rPr>
                        <a:t>Partner’s notice to the State Bank</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0 to 30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Para 7.I(h): 30 days before its interface services begin, unless already given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00" b="1">
                          <a:solidFill>
                            <a:srgbClr val="22450C"/>
                          </a:solidFill>
                          <a:latin typeface="Arial"/>
                        </a:rPr>
                        <a:t>Integration and live credentials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5 to 10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Overlaps approval</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00" b="1">
                          <a:solidFill>
                            <a:srgbClr val="22450C"/>
                          </a:solidFill>
                          <a:latin typeface="Arial"/>
                        </a:rPr>
                        <a:t>Standard circles live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30 to 45, up to 75</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75 if the partner’s notice starts only when Halqa signs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00" b="1">
                          <a:solidFill>
                            <a:srgbClr val="22450C"/>
                          </a:solidFill>
                          <a:latin typeface="Arial"/>
                        </a:rPr>
                        <a:t>Corporate insurance agent registration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28 to 56</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Cannot start before the company exists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00" b="1">
                          <a:solidFill>
                            <a:srgbClr val="22450C"/>
                          </a:solidFill>
                          <a:latin typeface="Arial"/>
                        </a:rPr>
                        <a:t>Hyper live, once cover is in place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75 to 90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Without cover, default risk would sit on Halqa’s balance sheet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12" name="Rectangle 11"/>
          <p:cNvSpPr/>
          <p:nvPr/>
        </p:nvSpPr>
        <p:spPr>
          <a:xfrm>
            <a:off x="8339328" y="1828800"/>
            <a:ext cx="3282696" cy="274320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39328" y="1828800"/>
            <a:ext cx="45720" cy="274320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0" y="1938528"/>
            <a:ext cx="3008376"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The engineering</a:t>
            </a:r>
          </a:p>
        </p:txBody>
      </p:sp>
      <p:sp>
        <p:nvSpPr>
          <p:cNvPr id="15" name="TextBox 14"/>
          <p:cNvSpPr txBox="1"/>
          <p:nvPr/>
        </p:nvSpPr>
        <p:spPr>
          <a:xfrm>
            <a:off x="8503920" y="2231136"/>
            <a:ext cx="3008376" cy="2286000"/>
          </a:xfrm>
          <a:prstGeom prst="rect">
            <a:avLst/>
          </a:prstGeom>
          <a:noFill/>
        </p:spPr>
        <p:txBody>
          <a:bodyPr wrap="square" lIns="0" rIns="0" tIns="0" bIns="0" anchor="t">
            <a:spAutoFit/>
          </a:bodyPr>
          <a:lstStyle/>
          <a:p>
            <a:pPr algn="l">
              <a:lnSpc>
                <a:spcPct val="112000"/>
              </a:lnSpc>
              <a:spcAft>
                <a:spcPts val="500"/>
              </a:spcAft>
            </a:pPr>
            <a:r>
              <a:rPr sz="1000" b="0" i="0">
                <a:solidFill>
                  <a:srgbClr val="0C1408"/>
                </a:solidFill>
                <a:latin typeface="Arial"/>
              </a:rPr>
              <a:t>The code changes set out in section 02, the partner adapter, the mandate lifecycle, reconciliation and the blocking platform gaps together run about three weeks, inside the registration path.</a:t>
            </a:r>
          </a:p>
        </p:txBody>
      </p:sp>
      <p:sp>
        <p:nvSpPr>
          <p:cNvPr id="16" name="TextBox 15"/>
          <p:cNvSpPr txBox="1"/>
          <p:nvPr/>
        </p:nvSpPr>
        <p:spPr>
          <a:xfrm>
            <a:off x="566928" y="6053328"/>
            <a:ext cx="11057839"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Source: Business Model, revision 3, section 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2194560"/>
            <a:ext cx="1828800" cy="822960"/>
          </a:xfrm>
          <a:prstGeom prst="rect">
            <a:avLst/>
          </a:prstGeom>
          <a:noFill/>
        </p:spPr>
        <p:txBody>
          <a:bodyPr wrap="square" lIns="0" rIns="0" tIns="0" bIns="0" anchor="t">
            <a:spAutoFit/>
          </a:bodyPr>
          <a:lstStyle/>
          <a:p>
            <a:pPr algn="l">
              <a:lnSpc>
                <a:spcPct val="100000"/>
              </a:lnSpc>
              <a:spcAft>
                <a:spcPts val="400"/>
              </a:spcAft>
            </a:pPr>
            <a:r>
              <a:rPr sz="6000" b="0" i="0">
                <a:solidFill>
                  <a:srgbClr val="6DC72A"/>
                </a:solidFill>
                <a:latin typeface="Georgia"/>
              </a:rPr>
              <a:t>04</a:t>
            </a:r>
          </a:p>
        </p:txBody>
      </p:sp>
      <p:sp>
        <p:nvSpPr>
          <p:cNvPr id="5" name="TextBox 4"/>
          <p:cNvSpPr txBox="1"/>
          <p:nvPr/>
        </p:nvSpPr>
        <p:spPr>
          <a:xfrm>
            <a:off x="2560320" y="2359152"/>
            <a:ext cx="7498079" cy="731520"/>
          </a:xfrm>
          <a:prstGeom prst="rect">
            <a:avLst/>
          </a:prstGeom>
          <a:noFill/>
        </p:spPr>
        <p:txBody>
          <a:bodyPr wrap="square" lIns="0" rIns="0" tIns="0" bIns="0" anchor="t">
            <a:spAutoFit/>
          </a:bodyPr>
          <a:lstStyle/>
          <a:p>
            <a:pPr algn="l">
              <a:lnSpc>
                <a:spcPct val="100000"/>
              </a:lnSpc>
              <a:spcAft>
                <a:spcPts val="400"/>
              </a:spcAft>
            </a:pPr>
            <a:r>
              <a:rPr sz="3100" b="0" i="0">
                <a:solidFill>
                  <a:srgbClr val="F3FCE7"/>
                </a:solidFill>
                <a:latin typeface="Georgia"/>
              </a:rPr>
              <a:t>Hyper</a:t>
            </a:r>
          </a:p>
        </p:txBody>
      </p:sp>
      <p:cxnSp>
        <p:nvCxnSpPr>
          <p:cNvPr id="6" name="Connector 5"/>
          <p:cNvCxnSpPr/>
          <p:nvPr/>
        </p:nvCxnSpPr>
        <p:spPr>
          <a:xfrm>
            <a:off x="2606040" y="3127248"/>
            <a:ext cx="3429000" cy="0"/>
          </a:xfrm>
          <a:prstGeom prst="line">
            <a:avLst/>
          </a:prstGeom>
          <a:ln w="17780">
            <a:solidFill>
              <a:srgbClr val="8ADC4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2606040" y="3310128"/>
            <a:ext cx="6949440" cy="1463040"/>
          </a:xfrm>
          <a:prstGeom prst="rect">
            <a:avLst/>
          </a:prstGeom>
          <a:noFill/>
        </p:spPr>
        <p:txBody>
          <a:bodyPr wrap="square" lIns="0" rIns="0" tIns="0" bIns="0" anchor="t">
            <a:spAutoFit/>
          </a:bodyPr>
          <a:lstStyle/>
          <a:p>
            <a:pPr algn="l">
              <a:lnSpc>
                <a:spcPct val="110000"/>
              </a:lnSpc>
              <a:spcAft>
                <a:spcPts val="700"/>
              </a:spcAft>
            </a:pPr>
            <a:r>
              <a:rPr sz="1220" b="0" i="0">
                <a:solidFill>
                  <a:srgbClr val="D2E2C6"/>
                </a:solidFill>
                <a:latin typeface="Arial"/>
              </a:rPr>
              <a:t>A daily product in two fixed configurations, for members with daily income.</a:t>
            </a:r>
          </a:p>
          <a:p>
            <a:pPr algn="l">
              <a:lnSpc>
                <a:spcPct val="110000"/>
              </a:lnSpc>
              <a:spcAft>
                <a:spcPts val="700"/>
              </a:spcAft>
            </a:pPr>
            <a:r>
              <a:rPr sz="1220" b="0" i="0">
                <a:solidFill>
                  <a:srgbClr val="D2E2C6"/>
                </a:solidFill>
                <a:latin typeface="Arial"/>
              </a:rPr>
              <a:t>Each day’s payers pay that day’s collectors directly, so no party holds a pool.</a:t>
            </a:r>
          </a:p>
          <a:p>
            <a:pPr algn="l">
              <a:lnSpc>
                <a:spcPct val="110000"/>
              </a:lnSpc>
              <a:spcAft>
                <a:spcPts val="700"/>
              </a:spcAft>
            </a:pPr>
            <a:r>
              <a:rPr sz="1220" b="0" i="0">
                <a:solidFill>
                  <a:srgbClr val="D2E2C6"/>
                </a:solidFill>
                <a:latin typeface="Arial"/>
              </a:rPr>
              <a:t>The only section of this deck that sets out calculations.</a:t>
            </a:r>
          </a:p>
        </p:txBody>
      </p:sp>
      <p:pic>
        <p:nvPicPr>
          <p:cNvPr id="8" name="Picture 7" descr="logo-mark.png"/>
          <p:cNvPicPr>
            <a:picLocks noChangeAspect="1"/>
          </p:cNvPicPr>
          <p:nvPr/>
        </p:nvPicPr>
        <p:blipFill>
          <a:blip r:embed="rId2"/>
          <a:stretch>
            <a:fillRect/>
          </a:stretch>
        </p:blipFill>
        <p:spPr>
          <a:xfrm>
            <a:off x="9357055" y="2468880"/>
            <a:ext cx="1920240" cy="192024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04 · HYPER</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Two configurations, each balanced at source</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Two identities govern every rotating committee. A configuration that breaks either is refused at creation.</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24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23</a:t>
            </a:r>
          </a:p>
        </p:txBody>
      </p:sp>
      <p:sp>
        <p:nvSpPr>
          <p:cNvPr id="10" name="TextBox 9"/>
          <p:cNvSpPr txBox="1"/>
          <p:nvPr/>
        </p:nvSpPr>
        <p:spPr>
          <a:xfrm>
            <a:off x="566928" y="1554480"/>
            <a:ext cx="11057839" cy="365760"/>
          </a:xfrm>
          <a:prstGeom prst="rect">
            <a:avLst/>
          </a:prstGeom>
          <a:noFill/>
        </p:spPr>
        <p:txBody>
          <a:bodyPr wrap="square" lIns="0" rIns="0" tIns="0" bIns="0" anchor="t">
            <a:spAutoFit/>
          </a:bodyPr>
          <a:lstStyle/>
          <a:p>
            <a:pPr algn="l">
              <a:lnSpc>
                <a:spcPct val="100000"/>
              </a:lnSpc>
              <a:spcAft>
                <a:spcPts val="400"/>
              </a:spcAft>
            </a:pPr>
            <a:r>
              <a:rPr sz="1500" b="0" i="0">
                <a:solidFill>
                  <a:srgbClr val="22450C"/>
                </a:solidFill>
                <a:latin typeface="Georgia"/>
              </a:rPr>
              <a:t>pot = contribution × days          roster = members collecting each day × days</a:t>
            </a:r>
          </a:p>
        </p:txBody>
      </p:sp>
      <p:sp>
        <p:nvSpPr>
          <p:cNvPr id="11" name="TextBox 10"/>
          <p:cNvSpPr txBox="1"/>
          <p:nvPr/>
        </p:nvSpPr>
        <p:spPr>
          <a:xfrm>
            <a:off x="566928" y="2011680"/>
            <a:ext cx="6949440" cy="182880"/>
          </a:xfrm>
          <a:prstGeom prst="rect">
            <a:avLst/>
          </a:prstGeom>
          <a:noFill/>
        </p:spPr>
        <p:txBody>
          <a:bodyPr wrap="square" lIns="0" rIns="0" tIns="0" bIns="0" anchor="t">
            <a:spAutoFit/>
          </a:bodyPr>
          <a:lstStyle/>
          <a:p>
            <a:pPr algn="l">
              <a:lnSpc>
                <a:spcPct val="100000"/>
              </a:lnSpc>
              <a:spcAft>
                <a:spcPts val="400"/>
              </a:spcAft>
            </a:pPr>
            <a:r>
              <a:rPr sz="840" b="0" i="1" spc="30">
                <a:solidFill>
                  <a:srgbClr val="6F7B68"/>
                </a:solidFill>
                <a:latin typeface="Arial"/>
              </a:rPr>
              <a:t>EXHIBIT 18   The two configurations</a:t>
            </a:r>
          </a:p>
        </p:txBody>
      </p:sp>
      <p:graphicFrame>
        <p:nvGraphicFramePr>
          <p:cNvPr id="12" name="Table 11"/>
          <p:cNvGraphicFramePr>
            <a:graphicFrameLocks noGrp="1"/>
          </p:cNvGraphicFramePr>
          <p:nvPr/>
        </p:nvGraphicFramePr>
        <p:xfrm>
          <a:off x="566928" y="2249424"/>
          <a:ext cx="6949439" cy="3456432"/>
        </p:xfrm>
        <a:graphic>
          <a:graphicData uri="http://schemas.openxmlformats.org/drawingml/2006/table">
            <a:tbl>
              <a:tblPr>
                <a:tableStyleId>{5C22544A-7EE6-4342-B048-85BDC9FD1C3A}</a:tableStyleId>
              </a:tblPr>
              <a:tblGrid>
                <a:gridCol w="2501798"/>
                <a:gridCol w="2084832"/>
                <a:gridCol w="2362809"/>
              </a:tblGrid>
              <a:tr h="288036">
                <a:tc>
                  <a:txBody>
                    <a:bodyPr wrap="square"/>
                    <a:lstStyle/>
                    <a:p>
                      <a:pPr algn="l"/>
                      <a:r>
                        <a:rPr sz="900" b="1">
                          <a:solidFill>
                            <a:srgbClr val="F3FCE7"/>
                          </a:solidFill>
                          <a:latin typeface="Arial"/>
                        </a:rPr>
                        <a:t>Parameter</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Option 1</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Option 2</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88036">
                <a:tc>
                  <a:txBody>
                    <a:bodyPr wrap="square"/>
                    <a:lstStyle/>
                    <a:p>
                      <a:pPr algn="l"/>
                      <a:r>
                        <a:rPr sz="940" b="1">
                          <a:solidFill>
                            <a:srgbClr val="22450C"/>
                          </a:solidFill>
                          <a:latin typeface="Arial"/>
                        </a:rPr>
                        <a:t>Cycle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50 days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26 active days, Sundays excluded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88036">
                <a:tc>
                  <a:txBody>
                    <a:bodyPr wrap="square"/>
                    <a:lstStyle/>
                    <a:p>
                      <a:pPr algn="l"/>
                      <a:r>
                        <a:rPr sz="940" b="1">
                          <a:solidFill>
                            <a:srgbClr val="22450C"/>
                          </a:solidFill>
                          <a:latin typeface="Arial"/>
                        </a:rPr>
                        <a:t>Roster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400 members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390 members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88036">
                <a:tc>
                  <a:txBody>
                    <a:bodyPr wrap="square"/>
                    <a:lstStyle/>
                    <a:p>
                      <a:pPr algn="l"/>
                      <a:r>
                        <a:rPr sz="940" b="1">
                          <a:solidFill>
                            <a:srgbClr val="22450C"/>
                          </a:solidFill>
                          <a:latin typeface="Arial"/>
                        </a:rPr>
                        <a:t>Collecting each day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8</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15</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88036">
                <a:tc>
                  <a:txBody>
                    <a:bodyPr wrap="square"/>
                    <a:lstStyle/>
                    <a:p>
                      <a:pPr algn="l"/>
                      <a:r>
                        <a:rPr sz="940" b="1">
                          <a:solidFill>
                            <a:srgbClr val="22450C"/>
                          </a:solidFill>
                          <a:latin typeface="Arial"/>
                        </a:rPr>
                        <a:t>Paid each day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450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500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88036">
                <a:tc>
                  <a:txBody>
                    <a:bodyPr wrap="square"/>
                    <a:lstStyle/>
                    <a:p>
                      <a:pPr algn="l"/>
                      <a:r>
                        <a:rPr sz="940" b="1">
                          <a:solidFill>
                            <a:srgbClr val="22450C"/>
                          </a:solidFill>
                          <a:latin typeface="Arial"/>
                        </a:rPr>
                        <a:t>Contribution, takaful, fee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300 / 75 / 75</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333.33 / 83.33 / 83.33</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88036">
                <a:tc>
                  <a:txBody>
                    <a:bodyPr wrap="square"/>
                    <a:lstStyle/>
                    <a:p>
                      <a:pPr algn="l"/>
                      <a:r>
                        <a:rPr sz="940" b="1">
                          <a:solidFill>
                            <a:srgbClr val="22450C"/>
                          </a:solidFill>
                          <a:latin typeface="Arial"/>
                        </a:rPr>
                        <a:t>Pot, collected once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15,000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8,666.67</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88036">
                <a:tc>
                  <a:txBody>
                    <a:bodyPr wrap="square"/>
                    <a:lstStyle/>
                    <a:p>
                      <a:pPr algn="l"/>
                      <a:r>
                        <a:rPr sz="940" b="1">
                          <a:solidFill>
                            <a:srgbClr val="22450C"/>
                          </a:solidFill>
                          <a:latin typeface="Arial"/>
                        </a:rPr>
                        <a:t>Identity 1</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300 × 50 = 15,000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333.33 × 26 = 8,666.67</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88036">
                <a:tc>
                  <a:txBody>
                    <a:bodyPr wrap="square"/>
                    <a:lstStyle/>
                    <a:p>
                      <a:pPr algn="l"/>
                      <a:r>
                        <a:rPr sz="940" b="1">
                          <a:solidFill>
                            <a:srgbClr val="22450C"/>
                          </a:solidFill>
                          <a:latin typeface="Arial"/>
                        </a:rPr>
                        <a:t>Identity 2</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8 × 50 = 400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15 × 26 = 390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88036">
                <a:tc>
                  <a:txBody>
                    <a:bodyPr wrap="square"/>
                    <a:lstStyle/>
                    <a:p>
                      <a:pPr algn="l"/>
                      <a:r>
                        <a:rPr sz="940" b="1">
                          <a:solidFill>
                            <a:srgbClr val="22450C"/>
                          </a:solidFill>
                          <a:latin typeface="Arial"/>
                        </a:rPr>
                        <a:t>Paid in over the cycle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22,500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13,000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88036">
                <a:tc>
                  <a:txBody>
                    <a:bodyPr wrap="square"/>
                    <a:lstStyle/>
                    <a:p>
                      <a:pPr algn="l"/>
                      <a:r>
                        <a:rPr sz="940" b="1">
                          <a:solidFill>
                            <a:srgbClr val="22450C"/>
                          </a:solidFill>
                          <a:latin typeface="Arial"/>
                        </a:rPr>
                        <a:t>Cycle value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6,000,000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3,380,000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88036">
                <a:tc>
                  <a:txBody>
                    <a:bodyPr wrap="square"/>
                    <a:lstStyle/>
                    <a:p>
                      <a:pPr algn="l"/>
                      <a:r>
                        <a:rPr sz="940" b="1">
                          <a:solidFill>
                            <a:srgbClr val="22450C"/>
                          </a:solidFill>
                          <a:latin typeface="Arial"/>
                        </a:rPr>
                        <a:t>Monthly commitment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13,500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13,000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13" name="Rectangle 12"/>
          <p:cNvSpPr/>
          <p:nvPr/>
        </p:nvSpPr>
        <p:spPr>
          <a:xfrm>
            <a:off x="7836408" y="2249424"/>
            <a:ext cx="3785615" cy="173736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836408" y="2249424"/>
            <a:ext cx="45720" cy="17373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01000" y="2359152"/>
            <a:ext cx="3511295"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Why 390 on Option 2</a:t>
            </a:r>
          </a:p>
        </p:txBody>
      </p:sp>
      <p:sp>
        <p:nvSpPr>
          <p:cNvPr id="16" name="TextBox 15"/>
          <p:cNvSpPr txBox="1"/>
          <p:nvPr/>
        </p:nvSpPr>
        <p:spPr>
          <a:xfrm>
            <a:off x="8001000" y="2651760"/>
            <a:ext cx="3511295" cy="1280160"/>
          </a:xfrm>
          <a:prstGeom prst="rect">
            <a:avLst/>
          </a:prstGeom>
          <a:noFill/>
        </p:spPr>
        <p:txBody>
          <a:bodyPr wrap="square" lIns="0" rIns="0" tIns="0" bIns="0" anchor="t">
            <a:spAutoFit/>
          </a:bodyPr>
          <a:lstStyle/>
          <a:p>
            <a:pPr algn="l">
              <a:lnSpc>
                <a:spcPct val="112000"/>
              </a:lnSpc>
              <a:spcAft>
                <a:spcPts val="500"/>
              </a:spcAft>
            </a:pPr>
            <a:r>
              <a:rPr sz="980" b="0" i="0">
                <a:solidFill>
                  <a:srgbClr val="0C1408"/>
                </a:solidFill>
                <a:latin typeface="Arial"/>
              </a:rPr>
              <a:t>400 does not divide into 26 days. At 390 the roster gives exactly 15 collecting each day and reproduces the Rs 8,666.67 pot precisely.</a:t>
            </a:r>
          </a:p>
        </p:txBody>
      </p:sp>
      <p:sp>
        <p:nvSpPr>
          <p:cNvPr id="17" name="Rectangle 16"/>
          <p:cNvSpPr/>
          <p:nvPr/>
        </p:nvSpPr>
        <p:spPr>
          <a:xfrm>
            <a:off x="7836408" y="4114800"/>
            <a:ext cx="3785615" cy="160020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836408" y="4114800"/>
            <a:ext cx="45720" cy="160020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01000" y="4224528"/>
            <a:ext cx="3511295"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What sits outside the pot</a:t>
            </a:r>
          </a:p>
        </p:txBody>
      </p:sp>
      <p:sp>
        <p:nvSpPr>
          <p:cNvPr id="20" name="TextBox 19"/>
          <p:cNvSpPr txBox="1"/>
          <p:nvPr/>
        </p:nvSpPr>
        <p:spPr>
          <a:xfrm>
            <a:off x="8001000" y="4517136"/>
            <a:ext cx="3511295" cy="1143000"/>
          </a:xfrm>
          <a:prstGeom prst="rect">
            <a:avLst/>
          </a:prstGeom>
          <a:noFill/>
        </p:spPr>
        <p:txBody>
          <a:bodyPr wrap="square" lIns="0" rIns="0" tIns="0" bIns="0" anchor="t">
            <a:spAutoFit/>
          </a:bodyPr>
          <a:lstStyle/>
          <a:p>
            <a:pPr algn="l">
              <a:lnSpc>
                <a:spcPct val="112000"/>
              </a:lnSpc>
              <a:spcAft>
                <a:spcPts val="500"/>
              </a:spcAft>
            </a:pPr>
            <a:r>
              <a:rPr sz="980" b="0" i="0">
                <a:solidFill>
                  <a:srgbClr val="0C1408"/>
                </a:solidFill>
                <a:latin typeface="Arial"/>
              </a:rPr>
              <a:t>The takaful contribution and the service fee never enter the pot. Identity 1 holds on the contribution alone.</a:t>
            </a:r>
          </a:p>
        </p:txBody>
      </p:sp>
      <p:cxnSp>
        <p:nvCxnSpPr>
          <p:cNvPr id="21" name="Connector 20"/>
          <p:cNvCxnSpPr/>
          <p:nvPr/>
        </p:nvCxnSpPr>
        <p:spPr>
          <a:xfrm>
            <a:off x="566928" y="6053328"/>
            <a:ext cx="0" cy="155448"/>
          </a:xfrm>
          <a:prstGeom prst="line">
            <a:avLst/>
          </a:prstGeom>
          <a:ln w="27940">
            <a:solidFill>
              <a:srgbClr val="6DC72A"/>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40080" y="6053328"/>
            <a:ext cx="7315200" cy="182880"/>
          </a:xfrm>
          <a:prstGeom prst="rect">
            <a:avLst/>
          </a:prstGeom>
          <a:noFill/>
        </p:spPr>
        <p:txBody>
          <a:bodyPr wrap="square" lIns="0" rIns="0" tIns="0" bIns="0" anchor="t">
            <a:spAutoFit/>
          </a:bodyPr>
          <a:lstStyle/>
          <a:p>
            <a:pPr algn="l">
              <a:lnSpc>
                <a:spcPct val="100000"/>
              </a:lnSpc>
              <a:spcAft>
                <a:spcPts val="400"/>
              </a:spcAft>
            </a:pPr>
            <a:r>
              <a:rPr sz="819" b="1" i="0" spc="80">
                <a:solidFill>
                  <a:srgbClr val="22450C"/>
                </a:solidFill>
                <a:latin typeface="Arial"/>
              </a:rPr>
              <a:t>TO BUILD  ·  AGENT  ·  SOURCE: HYPER COMMITTEE, REVISION 5, SECTIONS 1 AND 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04 · HYPER</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Daily settlement without a pool</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Each day the members who are not collecting are divided among that day’s collectors, and each pays one collector directly.</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24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24</a:t>
            </a:r>
          </a:p>
        </p:txBody>
      </p:sp>
      <p:sp>
        <p:nvSpPr>
          <p:cNvPr id="10" name="TextBox 9"/>
          <p:cNvSpPr txBox="1"/>
          <p:nvPr/>
        </p:nvSpPr>
        <p:spPr>
          <a:xfrm>
            <a:off x="566928" y="1572768"/>
            <a:ext cx="5852160" cy="182880"/>
          </a:xfrm>
          <a:prstGeom prst="rect">
            <a:avLst/>
          </a:prstGeom>
          <a:noFill/>
        </p:spPr>
        <p:txBody>
          <a:bodyPr wrap="square" lIns="0" rIns="0" tIns="0" bIns="0" anchor="t">
            <a:spAutoFit/>
          </a:bodyPr>
          <a:lstStyle/>
          <a:p>
            <a:pPr algn="l">
              <a:lnSpc>
                <a:spcPct val="100000"/>
              </a:lnSpc>
              <a:spcAft>
                <a:spcPts val="400"/>
              </a:spcAft>
            </a:pPr>
            <a:r>
              <a:rPr sz="840" b="0" i="1" spc="30">
                <a:solidFill>
                  <a:srgbClr val="6F7B68"/>
                </a:solidFill>
                <a:latin typeface="Arial"/>
              </a:rPr>
              <a:t>EXHIBIT 19   One day of settlement</a:t>
            </a:r>
          </a:p>
        </p:txBody>
      </p:sp>
      <p:graphicFrame>
        <p:nvGraphicFramePr>
          <p:cNvPr id="11" name="Table 10"/>
          <p:cNvGraphicFramePr>
            <a:graphicFrameLocks noGrp="1"/>
          </p:cNvGraphicFramePr>
          <p:nvPr/>
        </p:nvGraphicFramePr>
        <p:xfrm>
          <a:off x="566928" y="1828800"/>
          <a:ext cx="5852160" cy="2432304"/>
        </p:xfrm>
        <a:graphic>
          <a:graphicData uri="http://schemas.openxmlformats.org/drawingml/2006/table">
            <a:tbl>
              <a:tblPr>
                <a:tableStyleId>{5C22544A-7EE6-4342-B048-85BDC9FD1C3A}</a:tableStyleId>
              </a:tblPr>
              <a:tblGrid>
                <a:gridCol w="2340864"/>
                <a:gridCol w="1755648"/>
                <a:gridCol w="1755648"/>
              </a:tblGrid>
              <a:tr h="347472">
                <a:tc>
                  <a:txBody>
                    <a:bodyPr wrap="square"/>
                    <a:lstStyle/>
                    <a:p>
                      <a:pPr algn="l"/>
                      <a:r>
                        <a:rPr sz="900" b="1">
                          <a:solidFill>
                            <a:srgbClr val="F3FCE7"/>
                          </a:solidFill>
                          <a:latin typeface="Arial"/>
                        </a:rPr>
                        <a:t>Quantity</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Option 1</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Option 2</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47472">
                <a:tc>
                  <a:txBody>
                    <a:bodyPr wrap="square"/>
                    <a:lstStyle/>
                    <a:p>
                      <a:pPr algn="l"/>
                      <a:r>
                        <a:rPr sz="940" b="1">
                          <a:solidFill>
                            <a:srgbClr val="22450C"/>
                          </a:solidFill>
                          <a:latin typeface="Arial"/>
                        </a:rPr>
                        <a:t>Paying each day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392</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375</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47472">
                <a:tc>
                  <a:txBody>
                    <a:bodyPr wrap="square"/>
                    <a:lstStyle/>
                    <a:p>
                      <a:pPr algn="l"/>
                      <a:r>
                        <a:rPr sz="940" b="1">
                          <a:solidFill>
                            <a:srgbClr val="22450C"/>
                          </a:solidFill>
                          <a:latin typeface="Arial"/>
                        </a:rPr>
                        <a:t>Collectors each day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8</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15</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47472">
                <a:tc>
                  <a:txBody>
                    <a:bodyPr wrap="square"/>
                    <a:lstStyle/>
                    <a:p>
                      <a:pPr algn="l"/>
                      <a:r>
                        <a:rPr sz="940" b="1">
                          <a:solidFill>
                            <a:srgbClr val="22450C"/>
                          </a:solidFill>
                          <a:latin typeface="Arial"/>
                        </a:rPr>
                        <a:t>Payers assigned to each collector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392 ÷ 8 = 49</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375 ÷ 15 = 25</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47472">
                <a:tc>
                  <a:txBody>
                    <a:bodyPr wrap="square"/>
                    <a:lstStyle/>
                    <a:p>
                      <a:pPr algn="l"/>
                      <a:r>
                        <a:rPr sz="940" b="1">
                          <a:solidFill>
                            <a:srgbClr val="22450C"/>
                          </a:solidFill>
                          <a:latin typeface="Arial"/>
                        </a:rPr>
                        <a:t>Received from assigned payers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49 × Rs 300 = Rs 14,700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25 × Rs 333.33 = Rs 8,333.33</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47472">
                <a:tc>
                  <a:txBody>
                    <a:bodyPr wrap="square"/>
                    <a:lstStyle/>
                    <a:p>
                      <a:pPr algn="l"/>
                      <a:r>
                        <a:rPr sz="940" b="1">
                          <a:solidFill>
                            <a:srgbClr val="22450C"/>
                          </a:solidFill>
                          <a:latin typeface="Arial"/>
                        </a:rPr>
                        <a:t>Collector’s own contribution, set off</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300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333.33</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47472">
                <a:tc>
                  <a:txBody>
                    <a:bodyPr wrap="square"/>
                    <a:lstStyle/>
                    <a:p>
                      <a:pPr algn="l"/>
                      <a:r>
                        <a:rPr sz="940" b="1">
                          <a:solidFill>
                            <a:srgbClr val="22450C"/>
                          </a:solidFill>
                          <a:latin typeface="Arial"/>
                        </a:rPr>
                        <a:t>Pot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15,000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8,666.67</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12" name="TextBox 11"/>
          <p:cNvSpPr txBox="1"/>
          <p:nvPr/>
        </p:nvSpPr>
        <p:spPr>
          <a:xfrm>
            <a:off x="566928" y="4434840"/>
            <a:ext cx="5852160" cy="1280160"/>
          </a:xfrm>
          <a:prstGeom prst="rect">
            <a:avLst/>
          </a:prstGeom>
          <a:noFill/>
        </p:spPr>
        <p:txBody>
          <a:bodyPr wrap="square" lIns="0" rIns="0" tIns="0" bIns="0" anchor="t">
            <a:spAutoFit/>
          </a:bodyPr>
          <a:lstStyle/>
          <a:p>
            <a:pPr algn="l">
              <a:lnSpc>
                <a:spcPct val="114000"/>
              </a:lnSpc>
              <a:spcAft>
                <a:spcPts val="400"/>
              </a:spcAft>
            </a:pPr>
            <a:r>
              <a:rPr sz="980" b="0" i="0">
                <a:solidFill>
                  <a:srgbClr val="0C1408"/>
                </a:solidFill>
                <a:latin typeface="Arial"/>
              </a:rPr>
              <a:t>Both configurations divide exactly. Every collector receives the full pot from named members, and no day’s money is held by Halqa, by the partner or by anyone else. A payment company “will not act as custodian of consumer’s money” (PSO/PSP Rules 2014, rule 6.5); this design never asks one to.</a:t>
            </a:r>
          </a:p>
        </p:txBody>
      </p:sp>
      <p:sp>
        <p:nvSpPr>
          <p:cNvPr id="13" name="TextBox 12"/>
          <p:cNvSpPr txBox="1"/>
          <p:nvPr/>
        </p:nvSpPr>
        <p:spPr>
          <a:xfrm>
            <a:off x="6784848" y="1572768"/>
            <a:ext cx="4846320" cy="274320"/>
          </a:xfrm>
          <a:prstGeom prst="rect">
            <a:avLst/>
          </a:prstGeom>
          <a:noFill/>
        </p:spPr>
        <p:txBody>
          <a:bodyPr wrap="square" lIns="0" rIns="0" tIns="0" bIns="0" anchor="t">
            <a:spAutoFit/>
          </a:bodyPr>
          <a:lstStyle/>
          <a:p>
            <a:pPr algn="l">
              <a:lnSpc>
                <a:spcPct val="100000"/>
              </a:lnSpc>
              <a:spcAft>
                <a:spcPts val="400"/>
              </a:spcAft>
            </a:pPr>
            <a:r>
              <a:rPr sz="1240" b="0" i="0">
                <a:solidFill>
                  <a:srgbClr val="22450C"/>
                </a:solidFill>
                <a:latin typeface="Georgia"/>
              </a:rPr>
              <a:t>The fee on Hyper</a:t>
            </a:r>
          </a:p>
        </p:txBody>
      </p:sp>
      <p:sp>
        <p:nvSpPr>
          <p:cNvPr id="14" name="TextBox 13"/>
          <p:cNvSpPr txBox="1"/>
          <p:nvPr/>
        </p:nvSpPr>
        <p:spPr>
          <a:xfrm>
            <a:off x="6784848" y="1920240"/>
            <a:ext cx="4846320" cy="365760"/>
          </a:xfrm>
          <a:prstGeom prst="rect">
            <a:avLst/>
          </a:prstGeom>
          <a:noFill/>
        </p:spPr>
        <p:txBody>
          <a:bodyPr wrap="square" lIns="0" rIns="0" tIns="0" bIns="0">
            <a:spAutoFit/>
          </a:bodyPr>
          <a:lstStyle/>
          <a:p>
            <a:pPr>
              <a:lnSpc>
                <a:spcPct val="105000"/>
              </a:lnSpc>
              <a:spcAft>
                <a:spcPts val="700"/>
              </a:spcAft>
            </a:pPr>
            <a:r>
              <a:rPr sz="980" b="1">
                <a:solidFill>
                  <a:srgbClr val="6DC72A"/>
                </a:solidFill>
                <a:latin typeface="Georgia"/>
              </a:rPr>
              <a:t>|  </a:t>
            </a:r>
            <a:r>
              <a:rPr sz="980" b="1">
                <a:solidFill>
                  <a:srgbClr val="22450C"/>
                </a:solidFill>
                <a:latin typeface="Arial"/>
              </a:rPr>
              <a:t>Paid to Halqa and to no member.  </a:t>
            </a:r>
            <a:r>
              <a:rPr sz="980">
                <a:solidFill>
                  <a:srgbClr val="0C1408"/>
                </a:solidFill>
                <a:latin typeface="Arial"/>
              </a:rPr>
              <a:t>Company revenue for the committee service.</a:t>
            </a:r>
          </a:p>
          <a:p>
            <a:pPr>
              <a:lnSpc>
                <a:spcPct val="105000"/>
              </a:lnSpc>
              <a:spcAft>
                <a:spcPts val="700"/>
              </a:spcAft>
            </a:pPr>
            <a:r>
              <a:rPr sz="980" b="1">
                <a:solidFill>
                  <a:srgbClr val="6DC72A"/>
                </a:solidFill>
                <a:latin typeface="Georgia"/>
              </a:rPr>
              <a:t>|  </a:t>
            </a:r>
            <a:r>
              <a:rPr sz="980" b="1">
                <a:solidFill>
                  <a:srgbClr val="22450C"/>
                </a:solidFill>
                <a:latin typeface="Arial"/>
              </a:rPr>
              <a:t>Never for distributing cover.  </a:t>
            </a:r>
            <a:r>
              <a:rPr sz="980">
                <a:solidFill>
                  <a:srgbClr val="0C1408"/>
                </a:solidFill>
                <a:latin typeface="Arial"/>
              </a:rPr>
              <a:t>An agent “shall not charge, to the policyholder, any service fee” unless the insurer includes it in the premium (reg 8(3)).</a:t>
            </a:r>
          </a:p>
          <a:p>
            <a:pPr>
              <a:lnSpc>
                <a:spcPct val="105000"/>
              </a:lnSpc>
              <a:spcAft>
                <a:spcPts val="700"/>
              </a:spcAft>
            </a:pPr>
            <a:r>
              <a:rPr sz="980" b="1">
                <a:solidFill>
                  <a:srgbClr val="6DC72A"/>
                </a:solidFill>
                <a:latin typeface="Georgia"/>
              </a:rPr>
              <a:t>|  </a:t>
            </a:r>
            <a:r>
              <a:rPr sz="980" b="1">
                <a:solidFill>
                  <a:srgbClr val="22450C"/>
                </a:solidFill>
                <a:latin typeface="Arial"/>
              </a:rPr>
              <a:t>Flat across the roster.  </a:t>
            </a:r>
            <a:r>
              <a:rPr sz="980">
                <a:solidFill>
                  <a:srgbClr val="0C1408"/>
                </a:solidFill>
                <a:latin typeface="Arial"/>
              </a:rPr>
              <a:t>A fee graded by collection day would read as interest.</a:t>
            </a:r>
          </a:p>
          <a:p>
            <a:pPr>
              <a:lnSpc>
                <a:spcPct val="105000"/>
              </a:lnSpc>
              <a:spcAft>
                <a:spcPts val="700"/>
              </a:spcAft>
            </a:pPr>
            <a:r>
              <a:rPr sz="980" b="1">
                <a:solidFill>
                  <a:srgbClr val="6DC72A"/>
                </a:solidFill>
                <a:latin typeface="Georgia"/>
              </a:rPr>
              <a:t>|  </a:t>
            </a:r>
            <a:r>
              <a:rPr sz="980" b="1">
                <a:solidFill>
                  <a:srgbClr val="22450C"/>
                </a:solidFill>
                <a:latin typeface="Arial"/>
              </a:rPr>
              <a:t>Later seats compensated by Halqa.  </a:t>
            </a:r>
            <a:r>
              <a:rPr sz="980">
                <a:solidFill>
                  <a:srgbClr val="0C1408"/>
                </a:solidFill>
                <a:latin typeface="Arial"/>
              </a:rPr>
              <a:t>Points and fee waivers from Halqa’s own revenue.</a:t>
            </a:r>
          </a:p>
          <a:p>
            <a:pPr>
              <a:lnSpc>
                <a:spcPct val="105000"/>
              </a:lnSpc>
              <a:spcAft>
                <a:spcPts val="700"/>
              </a:spcAft>
            </a:pPr>
            <a:r>
              <a:rPr sz="980" b="1">
                <a:solidFill>
                  <a:srgbClr val="6DC72A"/>
                </a:solidFill>
                <a:latin typeface="Georgia"/>
              </a:rPr>
              <a:t>|  </a:t>
            </a:r>
            <a:r>
              <a:rPr sz="980" b="1">
                <a:solidFill>
                  <a:srgbClr val="22450C"/>
                </a:solidFill>
                <a:latin typeface="Arial"/>
              </a:rPr>
              <a:t>No auction, no bidding, no rate.  </a:t>
            </a:r>
            <a:r>
              <a:rPr sz="980">
                <a:solidFill>
                  <a:srgbClr val="0C1408"/>
                </a:solidFill>
                <a:latin typeface="Arial"/>
              </a:rPr>
              <a:t>A price discovered between members creates a lender and a borrower.</a:t>
            </a:r>
          </a:p>
          <a:p>
            <a:pPr>
              <a:lnSpc>
                <a:spcPct val="105000"/>
              </a:lnSpc>
              <a:spcAft>
                <a:spcPts val="700"/>
              </a:spcAft>
            </a:pPr>
            <a:r>
              <a:rPr sz="980" b="1">
                <a:solidFill>
                  <a:srgbClr val="6DC72A"/>
                </a:solidFill>
                <a:latin typeface="Georgia"/>
              </a:rPr>
              <a:t>|  </a:t>
            </a:r>
            <a:r>
              <a:rPr sz="980" b="1">
                <a:solidFill>
                  <a:srgbClr val="22450C"/>
                </a:solidFill>
                <a:latin typeface="Arial"/>
              </a:rPr>
              <a:t>Discounts.  </a:t>
            </a:r>
            <a:r>
              <a:rPr sz="980">
                <a:solidFill>
                  <a:srgbClr val="0C1408"/>
                </a:solidFill>
                <a:latin typeface="Arial"/>
              </a:rPr>
              <a:t>Guarantee cheque 80 per cent off; verified income 50 per cent off; the largest applies.</a:t>
            </a:r>
          </a:p>
        </p:txBody>
      </p:sp>
      <p:sp>
        <p:nvSpPr>
          <p:cNvPr id="15" name="TextBox 14"/>
          <p:cNvSpPr txBox="1"/>
          <p:nvPr/>
        </p:nvSpPr>
        <p:spPr>
          <a:xfrm>
            <a:off x="566928" y="6053328"/>
            <a:ext cx="11057839"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Source: Hyper Committee, revision 5, sections 4 and 5. Grace after the daily due time is 12 hours.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04 · HYPER</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Cover is written by a licensed takaful operator</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Section 5(1) of the Insurance Ordinance 2000 admits only a public company as insurer, so the cover is bought from an operator and never written by Halqa.</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24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25</a:t>
            </a:r>
          </a:p>
        </p:txBody>
      </p:sp>
      <p:sp>
        <p:nvSpPr>
          <p:cNvPr id="10" name="TextBox 9"/>
          <p:cNvSpPr txBox="1"/>
          <p:nvPr/>
        </p:nvSpPr>
        <p:spPr>
          <a:xfrm>
            <a:off x="566928" y="1572768"/>
            <a:ext cx="5486400" cy="182880"/>
          </a:xfrm>
          <a:prstGeom prst="rect">
            <a:avLst/>
          </a:prstGeom>
          <a:noFill/>
        </p:spPr>
        <p:txBody>
          <a:bodyPr wrap="square" lIns="0" rIns="0" tIns="0" bIns="0" anchor="t">
            <a:spAutoFit/>
          </a:bodyPr>
          <a:lstStyle/>
          <a:p>
            <a:pPr algn="l">
              <a:lnSpc>
                <a:spcPct val="100000"/>
              </a:lnSpc>
              <a:spcAft>
                <a:spcPts val="400"/>
              </a:spcAft>
            </a:pPr>
            <a:r>
              <a:rPr sz="840" b="0" i="1" spc="30">
                <a:solidFill>
                  <a:srgbClr val="6F7B68"/>
                </a:solidFill>
                <a:latin typeface="Arial"/>
              </a:rPr>
              <a:t>EXHIBIT 20   The risk fund over one cycle</a:t>
            </a:r>
          </a:p>
        </p:txBody>
      </p:sp>
      <p:graphicFrame>
        <p:nvGraphicFramePr>
          <p:cNvPr id="11" name="Table 10"/>
          <p:cNvGraphicFramePr>
            <a:graphicFrameLocks noGrp="1"/>
          </p:cNvGraphicFramePr>
          <p:nvPr/>
        </p:nvGraphicFramePr>
        <p:xfrm>
          <a:off x="566928" y="1828800"/>
          <a:ext cx="5486400" cy="1975104"/>
        </p:xfrm>
        <a:graphic>
          <a:graphicData uri="http://schemas.openxmlformats.org/drawingml/2006/table">
            <a:tbl>
              <a:tblPr>
                <a:tableStyleId>{5C22544A-7EE6-4342-B048-85BDC9FD1C3A}</a:tableStyleId>
              </a:tblPr>
              <a:tblGrid>
                <a:gridCol w="2523744"/>
                <a:gridCol w="1481328"/>
                <a:gridCol w="1481328"/>
              </a:tblGrid>
              <a:tr h="329184">
                <a:tc>
                  <a:txBody>
                    <a:bodyPr wrap="square"/>
                    <a:lstStyle/>
                    <a:p>
                      <a:pPr algn="l"/>
                      <a:r>
                        <a:rPr sz="900" b="1">
                          <a:solidFill>
                            <a:srgbClr val="F3FCE7"/>
                          </a:solidFill>
                          <a:latin typeface="Arial"/>
                        </a:rPr>
                        <a:t>Fund figure</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Option 1</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Option 2</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40" b="1">
                          <a:solidFill>
                            <a:srgbClr val="22450C"/>
                          </a:solidFill>
                          <a:latin typeface="Arial"/>
                        </a:rPr>
                        <a:t>Contribution per member per day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75</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83.33</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40" b="1">
                          <a:solidFill>
                            <a:srgbClr val="22450C"/>
                          </a:solidFill>
                          <a:latin typeface="Arial"/>
                        </a:rPr>
                        <a:t>Contribution per member per cycle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3,750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2,166.67</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40" b="1">
                          <a:solidFill>
                            <a:srgbClr val="22450C"/>
                          </a:solidFill>
                          <a:latin typeface="Arial"/>
                        </a:rPr>
                        <a:t>Fund built over the cycle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1,500,000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845,000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40" b="1">
                          <a:solidFill>
                            <a:srgbClr val="22450C"/>
                          </a:solidFill>
                          <a:latin typeface="Arial"/>
                        </a:rPr>
                        <a:t>Default rate the fund covers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50%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50%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40" b="1">
                          <a:solidFill>
                            <a:srgbClr val="22450C"/>
                          </a:solidFill>
                          <a:latin typeface="Arial"/>
                        </a:rPr>
                        <a:t>Operator’s commission to Halqa at 15%</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225,000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126,750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12" name="TextBox 11"/>
          <p:cNvSpPr txBox="1"/>
          <p:nvPr/>
        </p:nvSpPr>
        <p:spPr>
          <a:xfrm>
            <a:off x="566928" y="3977639"/>
            <a:ext cx="5486400" cy="182880"/>
          </a:xfrm>
          <a:prstGeom prst="rect">
            <a:avLst/>
          </a:prstGeom>
          <a:noFill/>
        </p:spPr>
        <p:txBody>
          <a:bodyPr wrap="square" lIns="0" rIns="0" tIns="0" bIns="0" anchor="t">
            <a:spAutoFit/>
          </a:bodyPr>
          <a:lstStyle/>
          <a:p>
            <a:pPr algn="l">
              <a:lnSpc>
                <a:spcPct val="100000"/>
              </a:lnSpc>
              <a:spcAft>
                <a:spcPts val="400"/>
              </a:spcAft>
            </a:pPr>
            <a:r>
              <a:rPr sz="840" b="0" i="1" spc="30">
                <a:solidFill>
                  <a:srgbClr val="6F7B68"/>
                </a:solidFill>
                <a:latin typeface="Arial"/>
              </a:rPr>
              <a:t>EXHIBIT 21   Expected loss and the cover it requires</a:t>
            </a:r>
          </a:p>
        </p:txBody>
      </p:sp>
      <p:graphicFrame>
        <p:nvGraphicFramePr>
          <p:cNvPr id="13" name="Table 12"/>
          <p:cNvGraphicFramePr>
            <a:graphicFrameLocks noGrp="1"/>
          </p:cNvGraphicFramePr>
          <p:nvPr/>
        </p:nvGraphicFramePr>
        <p:xfrm>
          <a:off x="566928" y="4206240"/>
          <a:ext cx="5486400" cy="1371600"/>
        </p:xfrm>
        <a:graphic>
          <a:graphicData uri="http://schemas.openxmlformats.org/drawingml/2006/table">
            <a:tbl>
              <a:tblPr>
                <a:tableStyleId>{5C22544A-7EE6-4342-B048-85BDC9FD1C3A}</a:tableStyleId>
              </a:tblPr>
              <a:tblGrid>
                <a:gridCol w="1097280"/>
                <a:gridCol w="1207008"/>
                <a:gridCol w="987552"/>
                <a:gridCol w="1207008"/>
                <a:gridCol w="987552"/>
              </a:tblGrid>
              <a:tr h="274320">
                <a:tc>
                  <a:txBody>
                    <a:bodyPr wrap="square"/>
                    <a:lstStyle/>
                    <a:p>
                      <a:pPr algn="l"/>
                      <a:r>
                        <a:rPr sz="900" b="1">
                          <a:solidFill>
                            <a:srgbClr val="F3FCE7"/>
                          </a:solidFill>
                          <a:latin typeface="Arial"/>
                        </a:rPr>
                        <a:t>Default rate p</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Option 1 loss</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Cover a day</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Option 2 loss</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Cover a day</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74320">
                <a:tc>
                  <a:txBody>
                    <a:bodyPr wrap="square"/>
                    <a:lstStyle/>
                    <a:p>
                      <a:pPr algn="l"/>
                      <a:r>
                        <a:rPr sz="900" b="0">
                          <a:solidFill>
                            <a:srgbClr val="0C1408"/>
                          </a:solidFill>
                          <a:latin typeface="Arial"/>
                        </a:rPr>
                        <a:t>10%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Rs 300,000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Rs 15.00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Rs 169,000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Rs 16.67</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74320">
                <a:tc>
                  <a:txBody>
                    <a:bodyPr wrap="square"/>
                    <a:lstStyle/>
                    <a:p>
                      <a:pPr algn="l"/>
                      <a:r>
                        <a:rPr sz="900" b="0">
                          <a:solidFill>
                            <a:srgbClr val="0C1408"/>
                          </a:solidFill>
                          <a:latin typeface="Arial"/>
                        </a:rPr>
                        <a:t>30%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Rs 900,000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Rs 45.00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Rs 507,000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Rs 50.00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74320">
                <a:tc>
                  <a:txBody>
                    <a:bodyPr wrap="square"/>
                    <a:lstStyle/>
                    <a:p>
                      <a:pPr algn="l"/>
                      <a:r>
                        <a:rPr sz="900" b="0">
                          <a:solidFill>
                            <a:srgbClr val="0C1408"/>
                          </a:solidFill>
                          <a:latin typeface="Arial"/>
                        </a:rPr>
                        <a:t>50%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Rs 1,500,000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Rs 75.00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Rs 845,000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Rs 83.33</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74320">
                <a:tc>
                  <a:txBody>
                    <a:bodyPr wrap="square"/>
                    <a:lstStyle/>
                    <a:p>
                      <a:pPr algn="l"/>
                      <a:r>
                        <a:rPr sz="900" b="0">
                          <a:solidFill>
                            <a:srgbClr val="0C1408"/>
                          </a:solidFill>
                          <a:latin typeface="Arial"/>
                        </a:rPr>
                        <a:t>100%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Rs 3,000,000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Rs 150.00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Rs 1,690,000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Rs 166.67</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14" name="TextBox 13"/>
          <p:cNvSpPr txBox="1"/>
          <p:nvPr/>
        </p:nvSpPr>
        <p:spPr>
          <a:xfrm>
            <a:off x="6419088" y="1572768"/>
            <a:ext cx="5212080" cy="274320"/>
          </a:xfrm>
          <a:prstGeom prst="rect">
            <a:avLst/>
          </a:prstGeom>
          <a:noFill/>
        </p:spPr>
        <p:txBody>
          <a:bodyPr wrap="square" lIns="0" rIns="0" tIns="0" bIns="0" anchor="t">
            <a:spAutoFit/>
          </a:bodyPr>
          <a:lstStyle/>
          <a:p>
            <a:pPr algn="l">
              <a:lnSpc>
                <a:spcPct val="100000"/>
              </a:lnSpc>
              <a:spcAft>
                <a:spcPts val="400"/>
              </a:spcAft>
            </a:pPr>
            <a:r>
              <a:rPr sz="1240" b="0" i="0">
                <a:solidFill>
                  <a:srgbClr val="22450C"/>
                </a:solidFill>
                <a:latin typeface="Georgia"/>
              </a:rPr>
              <a:t>The agent’s obligations</a:t>
            </a:r>
          </a:p>
        </p:txBody>
      </p:sp>
      <p:sp>
        <p:nvSpPr>
          <p:cNvPr id="15" name="TextBox 14"/>
          <p:cNvSpPr txBox="1"/>
          <p:nvPr/>
        </p:nvSpPr>
        <p:spPr>
          <a:xfrm>
            <a:off x="6419088" y="1920240"/>
            <a:ext cx="5212080" cy="365760"/>
          </a:xfrm>
          <a:prstGeom prst="rect">
            <a:avLst/>
          </a:prstGeom>
          <a:noFill/>
        </p:spPr>
        <p:txBody>
          <a:bodyPr wrap="square" lIns="0" rIns="0" tIns="0" bIns="0">
            <a:spAutoFit/>
          </a:bodyPr>
          <a:lstStyle/>
          <a:p>
            <a:pPr>
              <a:lnSpc>
                <a:spcPct val="105000"/>
              </a:lnSpc>
              <a:spcAft>
                <a:spcPts val="700"/>
              </a:spcAft>
            </a:pPr>
            <a:r>
              <a:rPr sz="960" b="1">
                <a:solidFill>
                  <a:srgbClr val="6DC72A"/>
                </a:solidFill>
                <a:latin typeface="Georgia"/>
              </a:rPr>
              <a:t>|  </a:t>
            </a:r>
            <a:r>
              <a:rPr sz="960" b="1">
                <a:solidFill>
                  <a:srgbClr val="22450C"/>
                </a:solidFill>
                <a:latin typeface="Arial"/>
              </a:rPr>
              <a:t>Gross premium.  </a:t>
            </a:r>
            <a:r>
              <a:rPr sz="960">
                <a:solidFill>
                  <a:srgbClr val="0C1408"/>
                </a:solidFill>
                <a:latin typeface="Arial"/>
              </a:rPr>
              <a:t>Passed to the operator in full; the agent “shall not retain any part of the insurance premium” (reg 5(4)).</a:t>
            </a:r>
          </a:p>
          <a:p>
            <a:pPr>
              <a:lnSpc>
                <a:spcPct val="105000"/>
              </a:lnSpc>
              <a:spcAft>
                <a:spcPts val="700"/>
              </a:spcAft>
            </a:pPr>
            <a:r>
              <a:rPr sz="960" b="1">
                <a:solidFill>
                  <a:srgbClr val="6DC72A"/>
                </a:solidFill>
                <a:latin typeface="Georgia"/>
              </a:rPr>
              <a:t>|  </a:t>
            </a:r>
            <a:r>
              <a:rPr sz="960" b="1">
                <a:solidFill>
                  <a:srgbClr val="22450C"/>
                </a:solidFill>
                <a:latin typeface="Arial"/>
              </a:rPr>
              <a:t>Commission.  </a:t>
            </a:r>
            <a:r>
              <a:rPr sz="960">
                <a:solidFill>
                  <a:srgbClr val="0C1408"/>
                </a:solidFill>
                <a:latin typeface="Arial"/>
              </a:rPr>
              <a:t>Computed on premiums the insurer has received (reg 8(2)).</a:t>
            </a:r>
          </a:p>
          <a:p>
            <a:pPr>
              <a:lnSpc>
                <a:spcPct val="105000"/>
              </a:lnSpc>
              <a:spcAft>
                <a:spcPts val="700"/>
              </a:spcAft>
            </a:pPr>
            <a:r>
              <a:rPr sz="960" b="1">
                <a:solidFill>
                  <a:srgbClr val="6DC72A"/>
                </a:solidFill>
                <a:latin typeface="Georgia"/>
              </a:rPr>
              <a:t>|  </a:t>
            </a:r>
            <a:r>
              <a:rPr sz="960" b="1">
                <a:solidFill>
                  <a:srgbClr val="22450C"/>
                </a:solidFill>
                <a:latin typeface="Arial"/>
              </a:rPr>
              <a:t>Claims.  </a:t>
            </a:r>
            <a:r>
              <a:rPr sz="960">
                <a:solidFill>
                  <a:srgbClr val="0C1408"/>
                </a:solidFill>
                <a:latin typeface="Arial"/>
              </a:rPr>
              <a:t>Paid by the operator to the member left short, in that member’s own name (reg 7(4)).</a:t>
            </a:r>
          </a:p>
          <a:p>
            <a:pPr>
              <a:lnSpc>
                <a:spcPct val="105000"/>
              </a:lnSpc>
              <a:spcAft>
                <a:spcPts val="700"/>
              </a:spcAft>
            </a:pPr>
            <a:r>
              <a:rPr sz="960" b="1">
                <a:solidFill>
                  <a:srgbClr val="6DC72A"/>
                </a:solidFill>
                <a:latin typeface="Georgia"/>
              </a:rPr>
              <a:t>|  </a:t>
            </a:r>
            <a:r>
              <a:rPr sz="960" b="1">
                <a:solidFill>
                  <a:srgbClr val="22450C"/>
                </a:solidFill>
                <a:latin typeface="Arial"/>
              </a:rPr>
              <a:t>Bundle.  </a:t>
            </a:r>
            <a:r>
              <a:rPr sz="960">
                <a:solidFill>
                  <a:srgbClr val="0C1408"/>
                </a:solidFill>
                <a:latin typeface="Arial"/>
              </a:rPr>
              <a:t>The cost of cover is shown apart from the committee (reg 11(1)(d)).</a:t>
            </a:r>
          </a:p>
          <a:p>
            <a:pPr>
              <a:lnSpc>
                <a:spcPct val="105000"/>
              </a:lnSpc>
              <a:spcAft>
                <a:spcPts val="700"/>
              </a:spcAft>
            </a:pPr>
            <a:r>
              <a:rPr sz="960" b="1">
                <a:solidFill>
                  <a:srgbClr val="6DC72A"/>
                </a:solidFill>
                <a:latin typeface="Georgia"/>
              </a:rPr>
              <a:t>|  </a:t>
            </a:r>
            <a:r>
              <a:rPr sz="960" b="1">
                <a:solidFill>
                  <a:srgbClr val="22450C"/>
                </a:solidFill>
                <a:latin typeface="Arial"/>
              </a:rPr>
              <a:t>Coercion.  </a:t>
            </a:r>
            <a:r>
              <a:rPr sz="960">
                <a:solidFill>
                  <a:srgbClr val="0C1408"/>
                </a:solidFill>
                <a:latin typeface="Arial"/>
              </a:rPr>
              <a:t>Whether compulsory cover sits within reg 10(c) is for counsel’s written opinion before Hyper opens.</a:t>
            </a:r>
          </a:p>
          <a:p>
            <a:pPr>
              <a:lnSpc>
                <a:spcPct val="105000"/>
              </a:lnSpc>
              <a:spcAft>
                <a:spcPts val="700"/>
              </a:spcAft>
            </a:pPr>
            <a:r>
              <a:rPr sz="960" b="1">
                <a:solidFill>
                  <a:srgbClr val="6DC72A"/>
                </a:solidFill>
                <a:latin typeface="Georgia"/>
              </a:rPr>
              <a:t>|  </a:t>
            </a:r>
            <a:r>
              <a:rPr sz="960" b="1">
                <a:solidFill>
                  <a:srgbClr val="22450C"/>
                </a:solidFill>
                <a:latin typeface="Arial"/>
              </a:rPr>
              <a:t>Deficit and surplus.  </a:t>
            </a:r>
            <a:r>
              <a:rPr sz="960">
                <a:solidFill>
                  <a:srgbClr val="0C1408"/>
                </a:solidFill>
                <a:latin typeface="Arial"/>
              </a:rPr>
              <a:t>A deficit is met by an interest-free advance from the operator’s shareholder fund; a surplus is distributable to participants.</a:t>
            </a:r>
          </a:p>
        </p:txBody>
      </p:sp>
      <p:sp>
        <p:nvSpPr>
          <p:cNvPr id="16" name="TextBox 15"/>
          <p:cNvSpPr txBox="1"/>
          <p:nvPr/>
        </p:nvSpPr>
        <p:spPr>
          <a:xfrm>
            <a:off x="566928" y="6053328"/>
            <a:ext cx="11057839"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Expected loss on a cycle = roster × default rate × half a pot. At a 100 per cent default rate the cover required equals the whole daily margin. Candidates: Pak-Qatar Family Takaful, Salaam Takaful; none contracted.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04 · HYPER</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The collapse threshold, and the bands before it</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The point at which a circle would owe more than it can collect, derived and then instrumented so the host sees it coming.</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24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26</a:t>
            </a:r>
          </a:p>
        </p:txBody>
      </p:sp>
      <p:sp>
        <p:nvSpPr>
          <p:cNvPr id="10" name="TextBox 9"/>
          <p:cNvSpPr txBox="1"/>
          <p:nvPr/>
        </p:nvSpPr>
        <p:spPr>
          <a:xfrm>
            <a:off x="566928" y="1572768"/>
            <a:ext cx="5120640" cy="182880"/>
          </a:xfrm>
          <a:prstGeom prst="rect">
            <a:avLst/>
          </a:prstGeom>
          <a:noFill/>
        </p:spPr>
        <p:txBody>
          <a:bodyPr wrap="square" lIns="0" rIns="0" tIns="0" bIns="0" anchor="t">
            <a:spAutoFit/>
          </a:bodyPr>
          <a:lstStyle/>
          <a:p>
            <a:pPr algn="l">
              <a:lnSpc>
                <a:spcPct val="100000"/>
              </a:lnSpc>
              <a:spcAft>
                <a:spcPts val="400"/>
              </a:spcAft>
            </a:pPr>
            <a:r>
              <a:rPr sz="840" b="0" i="1" spc="30">
                <a:solidFill>
                  <a:srgbClr val="6F7B68"/>
                </a:solidFill>
                <a:latin typeface="Arial"/>
              </a:rPr>
              <a:t>EXHIBIT 22   Five results</a:t>
            </a:r>
          </a:p>
        </p:txBody>
      </p:sp>
      <p:sp>
        <p:nvSpPr>
          <p:cNvPr id="11" name="TextBox 10"/>
          <p:cNvSpPr txBox="1"/>
          <p:nvPr/>
        </p:nvSpPr>
        <p:spPr>
          <a:xfrm>
            <a:off x="566928" y="1847088"/>
            <a:ext cx="5120640" cy="365760"/>
          </a:xfrm>
          <a:prstGeom prst="rect">
            <a:avLst/>
          </a:prstGeom>
          <a:noFill/>
        </p:spPr>
        <p:txBody>
          <a:bodyPr wrap="square" lIns="0" rIns="0" tIns="0" bIns="0">
            <a:spAutoFit/>
          </a:bodyPr>
          <a:lstStyle/>
          <a:p>
            <a:pPr>
              <a:lnSpc>
                <a:spcPct val="105000"/>
              </a:lnSpc>
              <a:spcAft>
                <a:spcPts val="700"/>
              </a:spcAft>
            </a:pPr>
            <a:r>
              <a:rPr sz="940" b="1">
                <a:solidFill>
                  <a:srgbClr val="6DC72A"/>
                </a:solidFill>
                <a:latin typeface="Georgia"/>
              </a:rPr>
              <a:t>|  </a:t>
            </a:r>
            <a:r>
              <a:rPr sz="940" b="1">
                <a:solidFill>
                  <a:srgbClr val="22450C"/>
                </a:solidFill>
                <a:latin typeface="Arial"/>
              </a:rPr>
              <a:t>Arrears before collection recover themselves.  </a:t>
            </a:r>
            <a:r>
              <a:rPr sz="940">
                <a:solidFill>
                  <a:srgbClr val="0C1408"/>
                </a:solidFill>
                <a:latin typeface="Arial"/>
              </a:rPr>
              <a:t>A member who missed j contributions receives the pot less j contributions, paid on that day to the members left short.</a:t>
            </a:r>
          </a:p>
          <a:p>
            <a:pPr>
              <a:lnSpc>
                <a:spcPct val="105000"/>
              </a:lnSpc>
              <a:spcAft>
                <a:spcPts val="700"/>
              </a:spcAft>
            </a:pPr>
            <a:r>
              <a:rPr sz="940" b="1">
                <a:solidFill>
                  <a:srgbClr val="6DC72A"/>
                </a:solidFill>
                <a:latin typeface="Georgia"/>
              </a:rPr>
              <a:t>|  </a:t>
            </a:r>
            <a:r>
              <a:rPr sz="940" b="1">
                <a:solidFill>
                  <a:srgbClr val="22450C"/>
                </a:solidFill>
                <a:latin typeface="Arial"/>
              </a:rPr>
              <a:t>The only true loss is default after collection.  </a:t>
            </a:r>
            <a:r>
              <a:rPr sz="940">
                <a:solidFill>
                  <a:srgbClr val="0C1408"/>
                </a:solidFill>
                <a:latin typeface="Arial"/>
              </a:rPr>
              <a:t>A member collecting on day t and stopping owes one contribution for each remaining day. Day 1: Rs 14,700; day 25: Rs 7,500; day 50: nil.</a:t>
            </a:r>
          </a:p>
          <a:p>
            <a:pPr>
              <a:lnSpc>
                <a:spcPct val="105000"/>
              </a:lnSpc>
              <a:spcAft>
                <a:spcPts val="700"/>
              </a:spcAft>
            </a:pPr>
            <a:r>
              <a:rPr sz="940" b="1">
                <a:solidFill>
                  <a:srgbClr val="6DC72A"/>
                </a:solidFill>
                <a:latin typeface="Georgia"/>
              </a:rPr>
              <a:t>|  </a:t>
            </a:r>
            <a:r>
              <a:rPr sz="940" b="1">
                <a:solidFill>
                  <a:srgbClr val="22450C"/>
                </a:solidFill>
                <a:latin typeface="Arial"/>
              </a:rPr>
              <a:t>Expected loss.  </a:t>
            </a:r>
            <a:r>
              <a:rPr sz="940">
                <a:solidFill>
                  <a:srgbClr val="0C1408"/>
                </a:solidFill>
                <a:latin typeface="Arial"/>
              </a:rPr>
              <a:t>Roster × default rate × half a pot; half the default rate as a share of cycle value.</a:t>
            </a:r>
          </a:p>
          <a:p>
            <a:pPr>
              <a:lnSpc>
                <a:spcPct val="105000"/>
              </a:lnSpc>
              <a:spcAft>
                <a:spcPts val="700"/>
              </a:spcAft>
            </a:pPr>
            <a:r>
              <a:rPr sz="940" b="1">
                <a:solidFill>
                  <a:srgbClr val="6DC72A"/>
                </a:solidFill>
                <a:latin typeface="Georgia"/>
              </a:rPr>
              <a:t>|  </a:t>
            </a:r>
            <a:r>
              <a:rPr sz="940" b="1">
                <a:solidFill>
                  <a:srgbClr val="22450C"/>
                </a:solidFill>
                <a:latin typeface="Arial"/>
              </a:rPr>
              <a:t>The hard stop.  </a:t>
            </a:r>
            <a:r>
              <a:rPr sz="940">
                <a:solidFill>
                  <a:srgbClr val="0C1408"/>
                </a:solidFill>
                <a:latin typeface="Arial"/>
              </a:rPr>
              <a:t>Once unrecovered exposure E exceeds the cover limit C, no further day opens until E is below C.</a:t>
            </a:r>
          </a:p>
          <a:p>
            <a:pPr>
              <a:lnSpc>
                <a:spcPct val="105000"/>
              </a:lnSpc>
              <a:spcAft>
                <a:spcPts val="700"/>
              </a:spcAft>
            </a:pPr>
            <a:r>
              <a:rPr sz="940" b="1">
                <a:solidFill>
                  <a:srgbClr val="6DC72A"/>
                </a:solidFill>
                <a:latin typeface="Georgia"/>
              </a:rPr>
              <a:t>|  </a:t>
            </a:r>
            <a:r>
              <a:rPr sz="940" b="1">
                <a:solidFill>
                  <a:srgbClr val="22450C"/>
                </a:solidFill>
                <a:latin typeface="Arial"/>
              </a:rPr>
              <a:t>Daily shortfall.  </a:t>
            </a:r>
            <a:r>
              <a:rPr sz="940">
                <a:solidFill>
                  <a:srgbClr val="0C1408"/>
                </a:solidFill>
                <a:latin typeface="Arial"/>
              </a:rPr>
              <a:t>On Option 1, 50 missed payments on one day equal exactly one pot.</a:t>
            </a:r>
          </a:p>
        </p:txBody>
      </p:sp>
      <p:sp>
        <p:nvSpPr>
          <p:cNvPr id="12" name="TextBox 11"/>
          <p:cNvSpPr txBox="1"/>
          <p:nvPr/>
        </p:nvSpPr>
        <p:spPr>
          <a:xfrm>
            <a:off x="6053328" y="1572768"/>
            <a:ext cx="5568696" cy="182880"/>
          </a:xfrm>
          <a:prstGeom prst="rect">
            <a:avLst/>
          </a:prstGeom>
          <a:noFill/>
        </p:spPr>
        <p:txBody>
          <a:bodyPr wrap="square" lIns="0" rIns="0" tIns="0" bIns="0" anchor="t">
            <a:spAutoFit/>
          </a:bodyPr>
          <a:lstStyle/>
          <a:p>
            <a:pPr algn="l">
              <a:lnSpc>
                <a:spcPct val="100000"/>
              </a:lnSpc>
              <a:spcAft>
                <a:spcPts val="400"/>
              </a:spcAft>
            </a:pPr>
            <a:r>
              <a:rPr sz="840" b="0" i="1" spc="30">
                <a:solidFill>
                  <a:srgbClr val="6F7B68"/>
                </a:solidFill>
                <a:latin typeface="Arial"/>
              </a:rPr>
              <a:t>EXHIBIT 23   The stress index, 0 to 100, recomputed each day</a:t>
            </a:r>
          </a:p>
        </p:txBody>
      </p:sp>
      <p:graphicFrame>
        <p:nvGraphicFramePr>
          <p:cNvPr id="13" name="Table 12"/>
          <p:cNvGraphicFramePr>
            <a:graphicFrameLocks noGrp="1"/>
          </p:cNvGraphicFramePr>
          <p:nvPr/>
        </p:nvGraphicFramePr>
        <p:xfrm>
          <a:off x="6053328" y="1828800"/>
          <a:ext cx="5568695" cy="1645920"/>
        </p:xfrm>
        <a:graphic>
          <a:graphicData uri="http://schemas.openxmlformats.org/drawingml/2006/table">
            <a:tbl>
              <a:tblPr>
                <a:tableStyleId>{5C22544A-7EE6-4342-B048-85BDC9FD1C3A}</a:tableStyleId>
              </a:tblPr>
              <a:tblGrid>
                <a:gridCol w="1113739"/>
                <a:gridCol w="3563965"/>
                <a:gridCol w="890991"/>
              </a:tblGrid>
              <a:tr h="274320">
                <a:tc>
                  <a:txBody>
                    <a:bodyPr wrap="square"/>
                    <a:lstStyle/>
                    <a:p>
                      <a:pPr algn="l"/>
                      <a:r>
                        <a:rPr sz="900" b="1">
                          <a:solidFill>
                            <a:srgbClr val="F3FCE7"/>
                          </a:solidFill>
                          <a:latin typeface="Arial"/>
                        </a:rPr>
                        <a:t>Axis</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Measure</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Weight</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74320">
                <a:tc>
                  <a:txBody>
                    <a:bodyPr wrap="square"/>
                    <a:lstStyle/>
                    <a:p>
                      <a:pPr algn="l"/>
                      <a:r>
                        <a:rPr sz="880" b="1">
                          <a:solidFill>
                            <a:srgbClr val="22450C"/>
                          </a:solidFill>
                          <a:latin typeface="Arial"/>
                        </a:rPr>
                        <a:t>Severity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Unrecovered exposure against cover plus one pot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45%</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74320">
                <a:tc>
                  <a:txBody>
                    <a:bodyPr wrap="square"/>
                    <a:lstStyle/>
                    <a:p>
                      <a:pPr algn="l"/>
                      <a:r>
                        <a:rPr sz="880" b="1">
                          <a:solidFill>
                            <a:srgbClr val="22450C"/>
                          </a:solidFill>
                          <a:latin typeface="Arial"/>
                        </a:rPr>
                        <a:t>Breadth</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Defaults after collection against pots covered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20%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74320">
                <a:tc>
                  <a:txBody>
                    <a:bodyPr wrap="square"/>
                    <a:lstStyle/>
                    <a:p>
                      <a:pPr algn="l"/>
                      <a:r>
                        <a:rPr sz="880" b="1">
                          <a:solidFill>
                            <a:srgbClr val="22450C"/>
                          </a:solidFill>
                          <a:latin typeface="Arial"/>
                        </a:rPr>
                        <a:t>Behaviour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Share of roster with a prior late payment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15%</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74320">
                <a:tc>
                  <a:txBody>
                    <a:bodyPr wrap="square"/>
                    <a:lstStyle/>
                    <a:p>
                      <a:pPr algn="l"/>
                      <a:r>
                        <a:rPr sz="880" b="1">
                          <a:solidFill>
                            <a:srgbClr val="22450C"/>
                          </a:solidFill>
                          <a:latin typeface="Arial"/>
                        </a:rPr>
                        <a:t>Persistence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Age of arrears in 12 hour periods, capped at 6</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10%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74320">
                <a:tc>
                  <a:txBody>
                    <a:bodyPr wrap="square"/>
                    <a:lstStyle/>
                    <a:p>
                      <a:pPr algn="l"/>
                      <a:r>
                        <a:rPr sz="880" b="1">
                          <a:solidFill>
                            <a:srgbClr val="22450C"/>
                          </a:solidFill>
                          <a:latin typeface="Arial"/>
                        </a:rPr>
                        <a:t>Timing</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Day reached out of the cycle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10%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14" name="TextBox 13"/>
          <p:cNvSpPr txBox="1"/>
          <p:nvPr/>
        </p:nvSpPr>
        <p:spPr>
          <a:xfrm>
            <a:off x="6053328" y="3657600"/>
            <a:ext cx="5568696" cy="182880"/>
          </a:xfrm>
          <a:prstGeom prst="rect">
            <a:avLst/>
          </a:prstGeom>
          <a:noFill/>
        </p:spPr>
        <p:txBody>
          <a:bodyPr wrap="square" lIns="0" rIns="0" tIns="0" bIns="0" anchor="t">
            <a:spAutoFit/>
          </a:bodyPr>
          <a:lstStyle/>
          <a:p>
            <a:pPr algn="l">
              <a:lnSpc>
                <a:spcPct val="100000"/>
              </a:lnSpc>
              <a:spcAft>
                <a:spcPts val="400"/>
              </a:spcAft>
            </a:pPr>
            <a:r>
              <a:rPr sz="840" b="0" i="1" spc="30">
                <a:solidFill>
                  <a:srgbClr val="6F7B68"/>
                </a:solidFill>
                <a:latin typeface="Arial"/>
              </a:rPr>
              <a:t>EXHIBIT 24   An Option 1 circle under stress, cover at 8 pots</a:t>
            </a:r>
          </a:p>
        </p:txBody>
      </p:sp>
      <p:graphicFrame>
        <p:nvGraphicFramePr>
          <p:cNvPr id="15" name="Table 14"/>
          <p:cNvGraphicFramePr>
            <a:graphicFrameLocks noGrp="1"/>
          </p:cNvGraphicFramePr>
          <p:nvPr/>
        </p:nvGraphicFramePr>
        <p:xfrm>
          <a:off x="6053328" y="3895344"/>
          <a:ext cx="5568693" cy="1792224"/>
        </p:xfrm>
        <a:graphic>
          <a:graphicData uri="http://schemas.openxmlformats.org/drawingml/2006/table">
            <a:tbl>
              <a:tblPr>
                <a:tableStyleId>{5C22544A-7EE6-4342-B048-85BDC9FD1C3A}</a:tableStyleId>
              </a:tblPr>
              <a:tblGrid>
                <a:gridCol w="445495"/>
                <a:gridCol w="668243"/>
                <a:gridCol w="946678"/>
                <a:gridCol w="556869"/>
                <a:gridCol w="668243"/>
                <a:gridCol w="2283165"/>
              </a:tblGrid>
              <a:tr h="256032">
                <a:tc>
                  <a:txBody>
                    <a:bodyPr wrap="square"/>
                    <a:lstStyle/>
                    <a:p>
                      <a:pPr algn="l"/>
                      <a:r>
                        <a:rPr sz="840" b="1">
                          <a:solidFill>
                            <a:srgbClr val="F3FCE7"/>
                          </a:solidFill>
                          <a:latin typeface="Arial"/>
                        </a:rPr>
                        <a:t>Day</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1">
                          <a:solidFill>
                            <a:srgbClr val="F3FCE7"/>
                          </a:solidFill>
                          <a:latin typeface="Arial"/>
                        </a:rPr>
                        <a:t>Defaults</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1">
                          <a:solidFill>
                            <a:srgbClr val="F3FCE7"/>
                          </a:solidFill>
                          <a:latin typeface="Arial"/>
                        </a:rPr>
                        <a:t>Exposure</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1">
                          <a:solidFill>
                            <a:srgbClr val="F3FCE7"/>
                          </a:solidFill>
                          <a:latin typeface="Arial"/>
                        </a:rPr>
                        <a:t>Index</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1">
                          <a:solidFill>
                            <a:srgbClr val="F3FCE7"/>
                          </a:solidFill>
                          <a:latin typeface="Arial"/>
                        </a:rPr>
                        <a:t>Band</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40" b="1">
                          <a:solidFill>
                            <a:srgbClr val="F3FCE7"/>
                          </a:solidFill>
                          <a:latin typeface="Arial"/>
                        </a:rPr>
                        <a:t>Action</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56032">
                <a:tc>
                  <a:txBody>
                    <a:bodyPr wrap="square"/>
                    <a:lstStyle/>
                    <a:p>
                      <a:pPr algn="l"/>
                      <a:r>
                        <a:rPr sz="860" b="0">
                          <a:solidFill>
                            <a:srgbClr val="0C1408"/>
                          </a:solidFill>
                          <a:latin typeface="Arial"/>
                        </a:rPr>
                        <a:t>5</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Rs 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1.2</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Green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Reminders only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56032">
                <a:tc>
                  <a:txBody>
                    <a:bodyPr wrap="square"/>
                    <a:lstStyle/>
                    <a:p>
                      <a:pPr algn="l"/>
                      <a:r>
                        <a:rPr sz="860" b="0">
                          <a:solidFill>
                            <a:srgbClr val="0C1408"/>
                          </a:solidFill>
                          <a:latin typeface="Arial"/>
                        </a:rPr>
                        <a:t>12</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1</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Rs 14,100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11.8</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Green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Case tracked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56032">
                <a:tc>
                  <a:txBody>
                    <a:bodyPr wrap="square"/>
                    <a:lstStyle/>
                    <a:p>
                      <a:pPr algn="l"/>
                      <a:r>
                        <a:rPr sz="860" b="0">
                          <a:solidFill>
                            <a:srgbClr val="0C1408"/>
                          </a:solidFill>
                          <a:latin typeface="Arial"/>
                        </a:rPr>
                        <a:t>20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3</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Rs 37,800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28.6</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Green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Host told, operator on notice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56032">
                <a:tc>
                  <a:txBody>
                    <a:bodyPr wrap="square"/>
                    <a:lstStyle/>
                    <a:p>
                      <a:pPr algn="l"/>
                      <a:r>
                        <a:rPr sz="860" b="0">
                          <a:solidFill>
                            <a:srgbClr val="0C1408"/>
                          </a:solidFill>
                          <a:latin typeface="Arial"/>
                        </a:rPr>
                        <a:t>30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6</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Rs 64,800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49.5</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Amber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New joins blocked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56032">
                <a:tc>
                  <a:txBody>
                    <a:bodyPr wrap="square"/>
                    <a:lstStyle/>
                    <a:p>
                      <a:pPr algn="l"/>
                      <a:r>
                        <a:rPr sz="860" b="0">
                          <a:solidFill>
                            <a:srgbClr val="0C1408"/>
                          </a:solidFill>
                          <a:latin typeface="Arial"/>
                        </a:rPr>
                        <a:t>38</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9</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Rs 81,000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64.0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Amber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Claim prepared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56032">
                <a:tc>
                  <a:txBody>
                    <a:bodyPr wrap="square"/>
                    <a:lstStyle/>
                    <a:p>
                      <a:pPr algn="l"/>
                      <a:r>
                        <a:rPr sz="860" b="0">
                          <a:solidFill>
                            <a:srgbClr val="0C1408"/>
                          </a:solidFill>
                          <a:latin typeface="Arial"/>
                        </a:rPr>
                        <a:t>45</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13</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Rs 93,600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72.1</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Red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Next day not opened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16" name="TextBox 15"/>
          <p:cNvSpPr txBox="1"/>
          <p:nvPr/>
        </p:nvSpPr>
        <p:spPr>
          <a:xfrm>
            <a:off x="566928" y="6053328"/>
            <a:ext cx="11057839"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modelled. Bands: green 0 to 33, amber 34 to 66, red 67 to 100. The hard stop applies whatever the index. Source: Hyper Committee, revision 5, sections 8 and 9.</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04 · HYPER</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Revenue on one cycle, and who may take a seat</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The default loss falls on the risk fund, not on Halqa, which is the purpose of the split.</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24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27</a:t>
            </a:r>
          </a:p>
        </p:txBody>
      </p:sp>
      <p:sp>
        <p:nvSpPr>
          <p:cNvPr id="10" name="TextBox 9"/>
          <p:cNvSpPr txBox="1"/>
          <p:nvPr/>
        </p:nvSpPr>
        <p:spPr>
          <a:xfrm>
            <a:off x="566928" y="1572768"/>
            <a:ext cx="5852160" cy="182880"/>
          </a:xfrm>
          <a:prstGeom prst="rect">
            <a:avLst/>
          </a:prstGeom>
          <a:noFill/>
        </p:spPr>
        <p:txBody>
          <a:bodyPr wrap="square" lIns="0" rIns="0" tIns="0" bIns="0" anchor="t">
            <a:spAutoFit/>
          </a:bodyPr>
          <a:lstStyle/>
          <a:p>
            <a:pPr algn="l">
              <a:lnSpc>
                <a:spcPct val="100000"/>
              </a:lnSpc>
              <a:spcAft>
                <a:spcPts val="400"/>
              </a:spcAft>
            </a:pPr>
            <a:r>
              <a:rPr sz="840" b="0" i="1" spc="30">
                <a:solidFill>
                  <a:srgbClr val="6F7B68"/>
                </a:solidFill>
                <a:latin typeface="Arial"/>
              </a:rPr>
              <a:t>EXHIBIT 25   Revenue and cost on one cycle</a:t>
            </a:r>
          </a:p>
        </p:txBody>
      </p:sp>
      <p:graphicFrame>
        <p:nvGraphicFramePr>
          <p:cNvPr id="11" name="Table 10"/>
          <p:cNvGraphicFramePr>
            <a:graphicFrameLocks noGrp="1"/>
          </p:cNvGraphicFramePr>
          <p:nvPr/>
        </p:nvGraphicFramePr>
        <p:xfrm>
          <a:off x="566928" y="1828800"/>
          <a:ext cx="5852160" cy="2798064"/>
        </p:xfrm>
        <a:graphic>
          <a:graphicData uri="http://schemas.openxmlformats.org/drawingml/2006/table">
            <a:tbl>
              <a:tblPr>
                <a:tableStyleId>{5C22544A-7EE6-4342-B048-85BDC9FD1C3A}</a:tableStyleId>
              </a:tblPr>
              <a:tblGrid>
                <a:gridCol w="2926080"/>
                <a:gridCol w="1463040"/>
                <a:gridCol w="1463040"/>
              </a:tblGrid>
              <a:tr h="310896">
                <a:tc>
                  <a:txBody>
                    <a:bodyPr wrap="square"/>
                    <a:lstStyle/>
                    <a:p>
                      <a:pPr algn="l"/>
                      <a:r>
                        <a:rPr sz="900" b="1">
                          <a:solidFill>
                            <a:srgbClr val="F3FCE7"/>
                          </a:solidFill>
                          <a:latin typeface="Arial"/>
                        </a:rPr>
                        <a:t>Line</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Option 1</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Option 2</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10896">
                <a:tc>
                  <a:txBody>
                    <a:bodyPr wrap="square"/>
                    <a:lstStyle/>
                    <a:p>
                      <a:pPr algn="l"/>
                      <a:r>
                        <a:rPr sz="940" b="1">
                          <a:solidFill>
                            <a:srgbClr val="22450C"/>
                          </a:solidFill>
                          <a:latin typeface="Arial"/>
                        </a:rPr>
                        <a:t>Fee revenue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1,500,000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845,000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10896">
                <a:tc>
                  <a:txBody>
                    <a:bodyPr wrap="square"/>
                    <a:lstStyle/>
                    <a:p>
                      <a:pPr algn="l"/>
                      <a:r>
                        <a:rPr sz="940" b="1">
                          <a:solidFill>
                            <a:srgbClr val="22450C"/>
                          </a:solidFill>
                          <a:latin typeface="Arial"/>
                        </a:rPr>
                        <a:t>Operator’s commission at 15%</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225,000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126,750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10896">
                <a:tc>
                  <a:txBody>
                    <a:bodyPr wrap="square"/>
                    <a:lstStyle/>
                    <a:p>
                      <a:pPr algn="l"/>
                      <a:r>
                        <a:rPr sz="940" b="1">
                          <a:solidFill>
                            <a:srgbClr val="22450C"/>
                          </a:solidFill>
                          <a:latin typeface="Arial"/>
                        </a:rPr>
                        <a:t>Gross revenue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1,725,000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971,750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10896">
                <a:tc>
                  <a:txBody>
                    <a:bodyPr wrap="square"/>
                    <a:lstStyle/>
                    <a:p>
                      <a:pPr algn="l"/>
                      <a:r>
                        <a:rPr sz="940" b="1">
                          <a:solidFill>
                            <a:srgbClr val="22450C"/>
                          </a:solidFill>
                          <a:latin typeface="Arial"/>
                        </a:rPr>
                        <a:t>Payment events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20,000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10,140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10896">
                <a:tc>
                  <a:txBody>
                    <a:bodyPr wrap="square"/>
                    <a:lstStyle/>
                    <a:p>
                      <a:pPr algn="l"/>
                      <a:r>
                        <a:rPr sz="940" b="1">
                          <a:solidFill>
                            <a:srgbClr val="22450C"/>
                          </a:solidFill>
                          <a:latin typeface="Arial"/>
                        </a:rPr>
                        <a:t>Rail at 1.5% on the mandate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135,000)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76,050)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10896">
                <a:tc>
                  <a:txBody>
                    <a:bodyPr wrap="square"/>
                    <a:lstStyle/>
                    <a:p>
                      <a:pPr algn="l"/>
                      <a:r>
                        <a:rPr sz="940" b="1">
                          <a:solidFill>
                            <a:srgbClr val="22450C"/>
                          </a:solidFill>
                          <a:latin typeface="Arial"/>
                        </a:rPr>
                        <a:t>Payment cost at Rs 12.60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252,000)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127,764)</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10896">
                <a:tc>
                  <a:txBody>
                    <a:bodyPr wrap="square"/>
                    <a:lstStyle/>
                    <a:p>
                      <a:pPr algn="l"/>
                      <a:r>
                        <a:rPr sz="940" b="1">
                          <a:solidFill>
                            <a:srgbClr val="22450C"/>
                          </a:solidFill>
                          <a:latin typeface="Arial"/>
                        </a:rPr>
                        <a:t>Net per cycle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1">
                          <a:solidFill>
                            <a:srgbClr val="0C1408"/>
                          </a:solidFill>
                          <a:latin typeface="Arial"/>
                        </a:rPr>
                        <a:t>Rs 1,338,000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1">
                          <a:solidFill>
                            <a:srgbClr val="0C1408"/>
                          </a:solidFill>
                          <a:latin typeface="Arial"/>
                        </a:rPr>
                        <a:t>Rs 767,936</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10896">
                <a:tc>
                  <a:txBody>
                    <a:bodyPr wrap="square"/>
                    <a:lstStyle/>
                    <a:p>
                      <a:pPr algn="l"/>
                      <a:r>
                        <a:rPr sz="940" b="1">
                          <a:solidFill>
                            <a:srgbClr val="22450C"/>
                          </a:solidFill>
                          <a:latin typeface="Arial"/>
                        </a:rPr>
                        <a:t>Expected default loss at 5%, borne by the fund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150,000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Rs 84,500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12" name="TextBox 11"/>
          <p:cNvSpPr txBox="1"/>
          <p:nvPr/>
        </p:nvSpPr>
        <p:spPr>
          <a:xfrm>
            <a:off x="566928" y="4754880"/>
            <a:ext cx="5852160" cy="36576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The rail line assumes Halqa bears the partner’s charge; it falls away if the charge is passed to the payer.</a:t>
            </a:r>
          </a:p>
        </p:txBody>
      </p:sp>
      <p:sp>
        <p:nvSpPr>
          <p:cNvPr id="13" name="TextBox 12"/>
          <p:cNvSpPr txBox="1"/>
          <p:nvPr/>
        </p:nvSpPr>
        <p:spPr>
          <a:xfrm>
            <a:off x="6784848" y="1572768"/>
            <a:ext cx="4837176" cy="182880"/>
          </a:xfrm>
          <a:prstGeom prst="rect">
            <a:avLst/>
          </a:prstGeom>
          <a:noFill/>
        </p:spPr>
        <p:txBody>
          <a:bodyPr wrap="square" lIns="0" rIns="0" tIns="0" bIns="0" anchor="t">
            <a:spAutoFit/>
          </a:bodyPr>
          <a:lstStyle/>
          <a:p>
            <a:pPr algn="l">
              <a:lnSpc>
                <a:spcPct val="100000"/>
              </a:lnSpc>
              <a:spcAft>
                <a:spcPts val="400"/>
              </a:spcAft>
            </a:pPr>
            <a:r>
              <a:rPr sz="840" b="0" i="1" spc="30">
                <a:solidFill>
                  <a:srgbClr val="6F7B68"/>
                </a:solidFill>
                <a:latin typeface="Arial"/>
              </a:rPr>
              <a:t>EXHIBIT 26   Entry gates</a:t>
            </a:r>
          </a:p>
        </p:txBody>
      </p:sp>
      <p:graphicFrame>
        <p:nvGraphicFramePr>
          <p:cNvPr id="14" name="Table 13"/>
          <p:cNvGraphicFramePr>
            <a:graphicFrameLocks noGrp="1"/>
          </p:cNvGraphicFramePr>
          <p:nvPr/>
        </p:nvGraphicFramePr>
        <p:xfrm>
          <a:off x="6784848" y="1828800"/>
          <a:ext cx="4837175" cy="2340864"/>
        </p:xfrm>
        <a:graphic>
          <a:graphicData uri="http://schemas.openxmlformats.org/drawingml/2006/table">
            <a:tbl>
              <a:tblPr>
                <a:tableStyleId>{5C22544A-7EE6-4342-B048-85BDC9FD1C3A}</a:tableStyleId>
              </a:tblPr>
              <a:tblGrid>
                <a:gridCol w="2031613"/>
                <a:gridCol w="2805562"/>
              </a:tblGrid>
              <a:tr h="292608">
                <a:tc>
                  <a:txBody>
                    <a:bodyPr wrap="square"/>
                    <a:lstStyle/>
                    <a:p>
                      <a:pPr algn="l"/>
                      <a:r>
                        <a:rPr sz="900" b="1">
                          <a:solidFill>
                            <a:srgbClr val="F3FCE7"/>
                          </a:solidFill>
                          <a:latin typeface="Arial"/>
                        </a:rPr>
                        <a:t>Gate</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Reason</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92608">
                <a:tc>
                  <a:txBody>
                    <a:bodyPr wrap="square"/>
                    <a:lstStyle/>
                    <a:p>
                      <a:pPr algn="l"/>
                      <a:r>
                        <a:rPr sz="880" b="1">
                          <a:solidFill>
                            <a:srgbClr val="22450C"/>
                          </a:solidFill>
                          <a:latin typeface="Arial"/>
                        </a:rPr>
                        <a:t>Salary account linked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Mandatory on a roster of strangers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92608">
                <a:tc>
                  <a:txBody>
                    <a:bodyPr wrap="square"/>
                    <a:lstStyle/>
                    <a:p>
                      <a:pPr algn="l"/>
                      <a:r>
                        <a:rPr sz="880" b="1">
                          <a:solidFill>
                            <a:srgbClr val="22450C"/>
                          </a:solidFill>
                          <a:latin typeface="Arial"/>
                        </a:rPr>
                        <a:t>Minimum standing</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A daily obligation leaves little room to recover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92608">
                <a:tc>
                  <a:txBody>
                    <a:bodyPr wrap="square"/>
                    <a:lstStyle/>
                    <a:p>
                      <a:pPr algn="l"/>
                      <a:r>
                        <a:rPr sz="880" b="1">
                          <a:solidFill>
                            <a:srgbClr val="22450C"/>
                          </a:solidFill>
                          <a:latin typeface="Arial"/>
                        </a:rPr>
                        <a:t>2 clean circles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Monthly behaviour is the only reliable predictor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92608">
                <a:tc>
                  <a:txBody>
                    <a:bodyPr wrap="square"/>
                    <a:lstStyle/>
                    <a:p>
                      <a:pPr algn="l"/>
                      <a:r>
                        <a:rPr sz="880" b="1">
                          <a:solidFill>
                            <a:srgbClr val="22450C"/>
                          </a:solidFill>
                          <a:latin typeface="Arial"/>
                        </a:rPr>
                        <a:t>Highest identity level</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The roster is drawn from strangers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92608">
                <a:tc>
                  <a:txBody>
                    <a:bodyPr wrap="square"/>
                    <a:lstStyle/>
                    <a:p>
                      <a:pPr algn="l"/>
                      <a:r>
                        <a:rPr sz="880" b="1">
                          <a:solidFill>
                            <a:srgbClr val="22450C"/>
                          </a:solidFill>
                          <a:latin typeface="Arial"/>
                        </a:rPr>
                        <a:t>Daily or near-daily income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A monthly salary does not support a daily instalment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92608">
                <a:tc>
                  <a:txBody>
                    <a:bodyPr wrap="square"/>
                    <a:lstStyle/>
                    <a:p>
                      <a:pPr algn="l"/>
                      <a:r>
                        <a:rPr sz="880" b="1">
                          <a:solidFill>
                            <a:srgbClr val="22450C"/>
                          </a:solidFill>
                          <a:latin typeface="Arial"/>
                        </a:rPr>
                        <a:t>Affordability on the monthly figure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Rs 13,500 on Option 1; Rs 13,000 on Option 2</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92608">
                <a:tc>
                  <a:txBody>
                    <a:bodyPr wrap="square"/>
                    <a:lstStyle/>
                    <a:p>
                      <a:pPr algn="l"/>
                      <a:r>
                        <a:rPr sz="880" b="1">
                          <a:solidFill>
                            <a:srgbClr val="22450C"/>
                          </a:solidFill>
                          <a:latin typeface="Arial"/>
                        </a:rPr>
                        <a:t>No open default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80" b="0">
                          <a:solidFill>
                            <a:srgbClr val="0C1408"/>
                          </a:solidFill>
                          <a:latin typeface="Arial"/>
                        </a:rPr>
                        <a:t>Closed to any member in difficulty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15" name="TextBox 14"/>
          <p:cNvSpPr txBox="1"/>
          <p:nvPr/>
        </p:nvSpPr>
        <p:spPr>
          <a:xfrm>
            <a:off x="6784848" y="4315968"/>
            <a:ext cx="4837176" cy="182880"/>
          </a:xfrm>
          <a:prstGeom prst="rect">
            <a:avLst/>
          </a:prstGeom>
          <a:noFill/>
        </p:spPr>
        <p:txBody>
          <a:bodyPr wrap="square" lIns="0" rIns="0" tIns="0" bIns="0" anchor="t">
            <a:spAutoFit/>
          </a:bodyPr>
          <a:lstStyle/>
          <a:p>
            <a:pPr algn="l">
              <a:lnSpc>
                <a:spcPct val="100000"/>
              </a:lnSpc>
              <a:spcAft>
                <a:spcPts val="400"/>
              </a:spcAft>
            </a:pPr>
            <a:r>
              <a:rPr sz="840" b="0" i="1" spc="30">
                <a:solidFill>
                  <a:srgbClr val="6F7B68"/>
                </a:solidFill>
                <a:latin typeface="Arial"/>
              </a:rPr>
              <a:t>EXHIBIT 27   Late ladder after the daily due time</a:t>
            </a:r>
          </a:p>
        </p:txBody>
      </p:sp>
      <p:graphicFrame>
        <p:nvGraphicFramePr>
          <p:cNvPr id="16" name="Table 15"/>
          <p:cNvGraphicFramePr>
            <a:graphicFrameLocks noGrp="1"/>
          </p:cNvGraphicFramePr>
          <p:nvPr/>
        </p:nvGraphicFramePr>
        <p:xfrm>
          <a:off x="6784848" y="4553712"/>
          <a:ext cx="4837174" cy="1426464"/>
        </p:xfrm>
        <a:graphic>
          <a:graphicData uri="http://schemas.openxmlformats.org/drawingml/2006/table">
            <a:tbl>
              <a:tblPr>
                <a:tableStyleId>{5C22544A-7EE6-4342-B048-85BDC9FD1C3A}</a:tableStyleId>
              </a:tblPr>
              <a:tblGrid>
                <a:gridCol w="1644639"/>
                <a:gridCol w="1160922"/>
                <a:gridCol w="870691"/>
                <a:gridCol w="1160922"/>
              </a:tblGrid>
              <a:tr h="237744">
                <a:tc>
                  <a:txBody>
                    <a:bodyPr wrap="square"/>
                    <a:lstStyle/>
                    <a:p>
                      <a:pPr algn="l"/>
                      <a:r>
                        <a:rPr sz="900" b="1">
                          <a:solidFill>
                            <a:srgbClr val="F3FCE7"/>
                          </a:solidFill>
                          <a:latin typeface="Arial"/>
                        </a:rPr>
                        <a:t>Step</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Elapsed</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Penalty</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Standing</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37744">
                <a:tc>
                  <a:txBody>
                    <a:bodyPr wrap="square"/>
                    <a:lstStyle/>
                    <a:p>
                      <a:pPr algn="l"/>
                      <a:r>
                        <a:rPr sz="860" b="0">
                          <a:solidFill>
                            <a:srgbClr val="0C1408"/>
                          </a:solidFill>
                          <a:latin typeface="Arial"/>
                        </a:rPr>
                        <a:t>Grace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0 to 12 hours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None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No change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37744">
                <a:tc>
                  <a:txBody>
                    <a:bodyPr wrap="square"/>
                    <a:lstStyle/>
                    <a:p>
                      <a:pPr algn="l"/>
                      <a:r>
                        <a:rPr sz="860" b="0">
                          <a:solidFill>
                            <a:srgbClr val="0C1408"/>
                          </a:solidFill>
                          <a:latin typeface="Arial"/>
                        </a:rPr>
                        <a:t>First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12 hours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5%</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Less 20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37744">
                <a:tc>
                  <a:txBody>
                    <a:bodyPr wrap="square"/>
                    <a:lstStyle/>
                    <a:p>
                      <a:pPr algn="l"/>
                      <a:r>
                        <a:rPr sz="860" b="0">
                          <a:solidFill>
                            <a:srgbClr val="0C1408"/>
                          </a:solidFill>
                          <a:latin typeface="Arial"/>
                        </a:rPr>
                        <a:t>Second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36 hours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10%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Less 40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37744">
                <a:tc>
                  <a:txBody>
                    <a:bodyPr wrap="square"/>
                    <a:lstStyle/>
                    <a:p>
                      <a:pPr algn="l"/>
                      <a:r>
                        <a:rPr sz="860" b="0">
                          <a:solidFill>
                            <a:srgbClr val="0C1408"/>
                          </a:solidFill>
                          <a:latin typeface="Arial"/>
                        </a:rPr>
                        <a:t>Third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60 hours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15%</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Less 60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237744">
                <a:tc>
                  <a:txBody>
                    <a:bodyPr wrap="square"/>
                    <a:lstStyle/>
                    <a:p>
                      <a:pPr algn="l"/>
                      <a:r>
                        <a:rPr sz="860" b="0">
                          <a:solidFill>
                            <a:srgbClr val="0C1408"/>
                          </a:solidFill>
                          <a:latin typeface="Arial"/>
                        </a:rPr>
                        <a:t>Default after collecting</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Any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As above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860" b="0">
                          <a:solidFill>
                            <a:srgbClr val="0C1408"/>
                          </a:solidFill>
                          <a:latin typeface="Arial"/>
                        </a:rPr>
                        <a:t>Less 200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17" name="TextBox 16"/>
          <p:cNvSpPr txBox="1"/>
          <p:nvPr/>
        </p:nvSpPr>
        <p:spPr>
          <a:xfrm>
            <a:off x="566928" y="6053328"/>
            <a:ext cx="11057839"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modelled. Penalties on Shariah labelled circles are given to charity at the end of the circle. Source: Hyper Committee, revision 5, sections 10 to 12.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2194560"/>
            <a:ext cx="1828800" cy="822960"/>
          </a:xfrm>
          <a:prstGeom prst="rect">
            <a:avLst/>
          </a:prstGeom>
          <a:noFill/>
        </p:spPr>
        <p:txBody>
          <a:bodyPr wrap="square" lIns="0" rIns="0" tIns="0" bIns="0" anchor="t">
            <a:spAutoFit/>
          </a:bodyPr>
          <a:lstStyle/>
          <a:p>
            <a:pPr algn="l">
              <a:lnSpc>
                <a:spcPct val="100000"/>
              </a:lnSpc>
              <a:spcAft>
                <a:spcPts val="400"/>
              </a:spcAft>
            </a:pPr>
            <a:r>
              <a:rPr sz="6000" b="0" i="0">
                <a:solidFill>
                  <a:srgbClr val="6DC72A"/>
                </a:solidFill>
                <a:latin typeface="Georgia"/>
              </a:rPr>
              <a:t>05</a:t>
            </a:r>
          </a:p>
        </p:txBody>
      </p:sp>
      <p:sp>
        <p:nvSpPr>
          <p:cNvPr id="5" name="TextBox 4"/>
          <p:cNvSpPr txBox="1"/>
          <p:nvPr/>
        </p:nvSpPr>
        <p:spPr>
          <a:xfrm>
            <a:off x="2560320" y="2359152"/>
            <a:ext cx="7498079" cy="731520"/>
          </a:xfrm>
          <a:prstGeom prst="rect">
            <a:avLst/>
          </a:prstGeom>
          <a:noFill/>
        </p:spPr>
        <p:txBody>
          <a:bodyPr wrap="square" lIns="0" rIns="0" tIns="0" bIns="0" anchor="t">
            <a:spAutoFit/>
          </a:bodyPr>
          <a:lstStyle/>
          <a:p>
            <a:pPr algn="l">
              <a:lnSpc>
                <a:spcPct val="100000"/>
              </a:lnSpc>
              <a:spcAft>
                <a:spcPts val="400"/>
              </a:spcAft>
            </a:pPr>
            <a:r>
              <a:rPr sz="3100" b="0" i="0">
                <a:solidFill>
                  <a:srgbClr val="F3FCE7"/>
                </a:solidFill>
                <a:latin typeface="Georgia"/>
              </a:rPr>
              <a:t>The product</a:t>
            </a:r>
          </a:p>
        </p:txBody>
      </p:sp>
      <p:cxnSp>
        <p:nvCxnSpPr>
          <p:cNvPr id="6" name="Connector 5"/>
          <p:cNvCxnSpPr/>
          <p:nvPr/>
        </p:nvCxnSpPr>
        <p:spPr>
          <a:xfrm>
            <a:off x="2606040" y="3127248"/>
            <a:ext cx="3429000" cy="0"/>
          </a:xfrm>
          <a:prstGeom prst="line">
            <a:avLst/>
          </a:prstGeom>
          <a:ln w="17780">
            <a:solidFill>
              <a:srgbClr val="8ADC4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2606040" y="3310128"/>
            <a:ext cx="6949440" cy="1463040"/>
          </a:xfrm>
          <a:prstGeom prst="rect">
            <a:avLst/>
          </a:prstGeom>
          <a:noFill/>
        </p:spPr>
        <p:txBody>
          <a:bodyPr wrap="square" lIns="0" rIns="0" tIns="0" bIns="0" anchor="t">
            <a:spAutoFit/>
          </a:bodyPr>
          <a:lstStyle/>
          <a:p>
            <a:pPr algn="l">
              <a:lnSpc>
                <a:spcPct val="110000"/>
              </a:lnSpc>
              <a:spcAft>
                <a:spcPts val="700"/>
              </a:spcAft>
            </a:pPr>
            <a:r>
              <a:rPr sz="1220" b="0" i="0">
                <a:solidFill>
                  <a:srgbClr val="D2E2C6"/>
                </a:solidFill>
                <a:latin typeface="Arial"/>
              </a:rPr>
              <a:t>The member journey from signup to a completed circle, with the control at each step.</a:t>
            </a:r>
          </a:p>
          <a:p>
            <a:pPr algn="l">
              <a:lnSpc>
                <a:spcPct val="110000"/>
              </a:lnSpc>
              <a:spcAft>
                <a:spcPts val="700"/>
              </a:spcAft>
            </a:pPr>
            <a:r>
              <a:rPr sz="1220" b="0" i="0">
                <a:solidFill>
                  <a:srgbClr val="D2E2C6"/>
                </a:solidFill>
                <a:latin typeface="Arial"/>
              </a:rPr>
              <a:t>Standing decides which seats a member may claim, never the order once a circle starts.</a:t>
            </a:r>
          </a:p>
          <a:p>
            <a:pPr algn="l">
              <a:lnSpc>
                <a:spcPct val="110000"/>
              </a:lnSpc>
              <a:spcAft>
                <a:spcPts val="700"/>
              </a:spcAft>
            </a:pPr>
            <a:r>
              <a:rPr sz="1220" b="0" i="0">
                <a:solidFill>
                  <a:srgbClr val="D2E2C6"/>
                </a:solidFill>
                <a:latin typeface="Arial"/>
              </a:rPr>
              <a:t>There is no cancel button. Exit is a ladder with published arithmetic.</a:t>
            </a:r>
          </a:p>
        </p:txBody>
      </p:sp>
      <p:pic>
        <p:nvPicPr>
          <p:cNvPr id="8" name="Picture 7" descr="logo-mark.png"/>
          <p:cNvPicPr>
            <a:picLocks noChangeAspect="1"/>
          </p:cNvPicPr>
          <p:nvPr/>
        </p:nvPicPr>
        <p:blipFill>
          <a:blip r:embed="rId2"/>
          <a:stretch>
            <a:fillRect/>
          </a:stretch>
        </p:blipFill>
        <p:spPr>
          <a:xfrm>
            <a:off x="9357055" y="2468880"/>
            <a:ext cx="1920240" cy="192024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05 · THE JOURNEY</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From signup to a completed circle</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Each step carries the control that applies to it.</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24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29</a:t>
            </a:r>
          </a:p>
        </p:txBody>
      </p:sp>
      <p:sp>
        <p:nvSpPr>
          <p:cNvPr id="10" name="Rectangle 9"/>
          <p:cNvSpPr/>
          <p:nvPr/>
        </p:nvSpPr>
        <p:spPr>
          <a:xfrm>
            <a:off x="566928" y="1645920"/>
            <a:ext cx="1652473" cy="457200"/>
          </a:xfrm>
          <a:prstGeom prst="rect">
            <a:avLst/>
          </a:prstGeom>
          <a:solidFill>
            <a:srgbClr val="22450C"/>
          </a:solidFill>
          <a:ln w="9525">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1755648"/>
            <a:ext cx="1652473" cy="274320"/>
          </a:xfrm>
          <a:prstGeom prst="rect">
            <a:avLst/>
          </a:prstGeom>
          <a:noFill/>
        </p:spPr>
        <p:txBody>
          <a:bodyPr wrap="square" lIns="0" rIns="0" tIns="0" bIns="0" anchor="t">
            <a:spAutoFit/>
          </a:bodyPr>
          <a:lstStyle/>
          <a:p>
            <a:pPr algn="ctr">
              <a:lnSpc>
                <a:spcPct val="100000"/>
              </a:lnSpc>
              <a:spcAft>
                <a:spcPts val="400"/>
              </a:spcAft>
            </a:pPr>
            <a:r>
              <a:rPr sz="1200" b="1" i="0">
                <a:solidFill>
                  <a:srgbClr val="F3FCE7"/>
                </a:solidFill>
                <a:latin typeface="Arial"/>
              </a:rPr>
              <a:t>Sign up</a:t>
            </a:r>
          </a:p>
        </p:txBody>
      </p:sp>
      <p:cxnSp>
        <p:nvCxnSpPr>
          <p:cNvPr id="12" name="Connector 11"/>
          <p:cNvCxnSpPr/>
          <p:nvPr/>
        </p:nvCxnSpPr>
        <p:spPr>
          <a:xfrm>
            <a:off x="2219401" y="1874519"/>
            <a:ext cx="228600" cy="0"/>
          </a:xfrm>
          <a:prstGeom prst="line">
            <a:avLst/>
          </a:prstGeom>
          <a:ln w="20320">
            <a:solidFill>
              <a:srgbClr val="6DC7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66928" y="2286000"/>
            <a:ext cx="1652473" cy="365760"/>
          </a:xfrm>
          <a:prstGeom prst="rect">
            <a:avLst/>
          </a:prstGeom>
          <a:noFill/>
        </p:spPr>
        <p:txBody>
          <a:bodyPr wrap="square" lIns="0" rIns="0" tIns="0" bIns="0">
            <a:spAutoFit/>
          </a:bodyPr>
          <a:lstStyle/>
          <a:p>
            <a:pPr>
              <a:lnSpc>
                <a:spcPct val="105000"/>
              </a:lnSpc>
              <a:spcAft>
                <a:spcPts val="600"/>
              </a:spcAft>
            </a:pPr>
            <a:r>
              <a:rPr sz="919" b="1">
                <a:solidFill>
                  <a:srgbClr val="6DC72A"/>
                </a:solidFill>
                <a:latin typeface="Georgia"/>
              </a:rPr>
              <a:t>|  </a:t>
            </a:r>
            <a:r>
              <a:rPr sz="919">
                <a:solidFill>
                  <a:srgbClr val="0C1408"/>
                </a:solidFill>
                <a:latin typeface="Arial"/>
              </a:rPr>
              <a:t>Phone number and one-time passcode</a:t>
            </a:r>
          </a:p>
          <a:p>
            <a:pPr>
              <a:lnSpc>
                <a:spcPct val="105000"/>
              </a:lnSpc>
              <a:spcAft>
                <a:spcPts val="600"/>
              </a:spcAft>
            </a:pPr>
            <a:r>
              <a:rPr sz="919" b="1">
                <a:solidFill>
                  <a:srgbClr val="6DC72A"/>
                </a:solidFill>
                <a:latin typeface="Georgia"/>
              </a:rPr>
              <a:t>|  </a:t>
            </a:r>
            <a:r>
              <a:rPr sz="919">
                <a:solidFill>
                  <a:srgbClr val="0C1408"/>
                </a:solidFill>
                <a:latin typeface="Arial"/>
              </a:rPr>
              <a:t>Application PIN on every open</a:t>
            </a:r>
          </a:p>
          <a:p>
            <a:pPr>
              <a:lnSpc>
                <a:spcPct val="105000"/>
              </a:lnSpc>
              <a:spcAft>
                <a:spcPts val="600"/>
              </a:spcAft>
            </a:pPr>
            <a:r>
              <a:rPr sz="919" b="1">
                <a:solidFill>
                  <a:srgbClr val="6DC72A"/>
                </a:solidFill>
                <a:latin typeface="Georgia"/>
              </a:rPr>
              <a:t>|  </a:t>
            </a:r>
            <a:r>
              <a:rPr sz="919">
                <a:solidFill>
                  <a:srgbClr val="0C1408"/>
                </a:solidFill>
                <a:latin typeface="Arial"/>
              </a:rPr>
              <a:t>Name, address, city and occupation before joining</a:t>
            </a:r>
          </a:p>
        </p:txBody>
      </p:sp>
      <p:sp>
        <p:nvSpPr>
          <p:cNvPr id="14" name="Rectangle 13"/>
          <p:cNvSpPr/>
          <p:nvPr/>
        </p:nvSpPr>
        <p:spPr>
          <a:xfrm>
            <a:off x="2448001" y="1645920"/>
            <a:ext cx="1652473" cy="457200"/>
          </a:xfrm>
          <a:prstGeom prst="rect">
            <a:avLst/>
          </a:prstGeom>
          <a:solidFill>
            <a:srgbClr val="E3F8CA"/>
          </a:solidFill>
          <a:ln w="9525">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448001" y="1755648"/>
            <a:ext cx="1652473" cy="274320"/>
          </a:xfrm>
          <a:prstGeom prst="rect">
            <a:avLst/>
          </a:prstGeom>
          <a:noFill/>
        </p:spPr>
        <p:txBody>
          <a:bodyPr wrap="square" lIns="0" rIns="0" tIns="0" bIns="0" anchor="t">
            <a:spAutoFit/>
          </a:bodyPr>
          <a:lstStyle/>
          <a:p>
            <a:pPr algn="ctr">
              <a:lnSpc>
                <a:spcPct val="100000"/>
              </a:lnSpc>
              <a:spcAft>
                <a:spcPts val="400"/>
              </a:spcAft>
            </a:pPr>
            <a:r>
              <a:rPr sz="1200" b="1" i="0">
                <a:solidFill>
                  <a:srgbClr val="22450C"/>
                </a:solidFill>
                <a:latin typeface="Arial"/>
              </a:rPr>
              <a:t>Verify</a:t>
            </a:r>
          </a:p>
        </p:txBody>
      </p:sp>
      <p:cxnSp>
        <p:nvCxnSpPr>
          <p:cNvPr id="16" name="Connector 15"/>
          <p:cNvCxnSpPr/>
          <p:nvPr/>
        </p:nvCxnSpPr>
        <p:spPr>
          <a:xfrm>
            <a:off x="4100474" y="1874519"/>
            <a:ext cx="228600" cy="0"/>
          </a:xfrm>
          <a:prstGeom prst="line">
            <a:avLst/>
          </a:prstGeom>
          <a:ln w="20320">
            <a:solidFill>
              <a:srgbClr val="6DC7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2448001" y="2286000"/>
            <a:ext cx="1652473" cy="365760"/>
          </a:xfrm>
          <a:prstGeom prst="rect">
            <a:avLst/>
          </a:prstGeom>
          <a:noFill/>
        </p:spPr>
        <p:txBody>
          <a:bodyPr wrap="square" lIns="0" rIns="0" tIns="0" bIns="0">
            <a:spAutoFit/>
          </a:bodyPr>
          <a:lstStyle/>
          <a:p>
            <a:pPr>
              <a:lnSpc>
                <a:spcPct val="105000"/>
              </a:lnSpc>
              <a:spcAft>
                <a:spcPts val="600"/>
              </a:spcAft>
            </a:pPr>
            <a:r>
              <a:rPr sz="919" b="1">
                <a:solidFill>
                  <a:srgbClr val="6DC72A"/>
                </a:solidFill>
                <a:latin typeface="Georgia"/>
              </a:rPr>
              <a:t>|  </a:t>
            </a:r>
            <a:r>
              <a:rPr sz="919">
                <a:solidFill>
                  <a:srgbClr val="0C1408"/>
                </a:solidFill>
                <a:latin typeface="Arial"/>
              </a:rPr>
              <a:t>CNIC scanned with the camera</a:t>
            </a:r>
          </a:p>
          <a:p>
            <a:pPr>
              <a:lnSpc>
                <a:spcPct val="105000"/>
              </a:lnSpc>
              <a:spcAft>
                <a:spcPts val="600"/>
              </a:spcAft>
            </a:pPr>
            <a:r>
              <a:rPr sz="919" b="1">
                <a:solidFill>
                  <a:srgbClr val="6DC72A"/>
                </a:solidFill>
                <a:latin typeface="Georgia"/>
              </a:rPr>
              <a:t>|  </a:t>
            </a:r>
            <a:r>
              <a:rPr sz="919">
                <a:solidFill>
                  <a:srgbClr val="0C1408"/>
                </a:solidFill>
                <a:latin typeface="Arial"/>
              </a:rPr>
              <a:t>NADRA Verisys check</a:t>
            </a:r>
          </a:p>
          <a:p>
            <a:pPr>
              <a:lnSpc>
                <a:spcPct val="105000"/>
              </a:lnSpc>
              <a:spcAft>
                <a:spcPts val="600"/>
              </a:spcAft>
            </a:pPr>
            <a:r>
              <a:rPr sz="919" b="1">
                <a:solidFill>
                  <a:srgbClr val="6DC72A"/>
                </a:solidFill>
                <a:latin typeface="Georgia"/>
              </a:rPr>
              <a:t>|  </a:t>
            </a:r>
            <a:r>
              <a:rPr sz="919">
                <a:solidFill>
                  <a:srgbClr val="0C1408"/>
                </a:solidFill>
                <a:latin typeface="Arial"/>
              </a:rPr>
              <a:t>Face match at exit and high value actions</a:t>
            </a:r>
          </a:p>
          <a:p>
            <a:pPr>
              <a:lnSpc>
                <a:spcPct val="105000"/>
              </a:lnSpc>
              <a:spcAft>
                <a:spcPts val="600"/>
              </a:spcAft>
            </a:pPr>
            <a:r>
              <a:rPr sz="919" b="1">
                <a:solidFill>
                  <a:srgbClr val="6DC72A"/>
                </a:solidFill>
                <a:latin typeface="Georgia"/>
              </a:rPr>
              <a:t>|  </a:t>
            </a:r>
            <a:r>
              <a:rPr sz="919">
                <a:solidFill>
                  <a:srgbClr val="0C1408"/>
                </a:solidFill>
                <a:latin typeface="Arial"/>
              </a:rPr>
              <a:t>Account title matched to the CNIC name</a:t>
            </a:r>
          </a:p>
        </p:txBody>
      </p:sp>
      <p:sp>
        <p:nvSpPr>
          <p:cNvPr id="18" name="Rectangle 17"/>
          <p:cNvSpPr/>
          <p:nvPr/>
        </p:nvSpPr>
        <p:spPr>
          <a:xfrm>
            <a:off x="4329074" y="1645920"/>
            <a:ext cx="1652473" cy="457200"/>
          </a:xfrm>
          <a:prstGeom prst="rect">
            <a:avLst/>
          </a:prstGeom>
          <a:solidFill>
            <a:srgbClr val="E3F8CA"/>
          </a:solidFill>
          <a:ln w="9525">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29074" y="1755648"/>
            <a:ext cx="1652473" cy="274320"/>
          </a:xfrm>
          <a:prstGeom prst="rect">
            <a:avLst/>
          </a:prstGeom>
          <a:noFill/>
        </p:spPr>
        <p:txBody>
          <a:bodyPr wrap="square" lIns="0" rIns="0" tIns="0" bIns="0" anchor="t">
            <a:spAutoFit/>
          </a:bodyPr>
          <a:lstStyle/>
          <a:p>
            <a:pPr algn="ctr">
              <a:lnSpc>
                <a:spcPct val="100000"/>
              </a:lnSpc>
              <a:spcAft>
                <a:spcPts val="400"/>
              </a:spcAft>
            </a:pPr>
            <a:r>
              <a:rPr sz="1200" b="1" i="0">
                <a:solidFill>
                  <a:srgbClr val="22450C"/>
                </a:solidFill>
                <a:latin typeface="Arial"/>
              </a:rPr>
              <a:t>Join</a:t>
            </a:r>
          </a:p>
        </p:txBody>
      </p:sp>
      <p:cxnSp>
        <p:nvCxnSpPr>
          <p:cNvPr id="20" name="Connector 19"/>
          <p:cNvCxnSpPr/>
          <p:nvPr/>
        </p:nvCxnSpPr>
        <p:spPr>
          <a:xfrm>
            <a:off x="5981547" y="1874519"/>
            <a:ext cx="228600" cy="0"/>
          </a:xfrm>
          <a:prstGeom prst="line">
            <a:avLst/>
          </a:prstGeom>
          <a:ln w="20320">
            <a:solidFill>
              <a:srgbClr val="6DC7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329074" y="2286000"/>
            <a:ext cx="1652473" cy="365760"/>
          </a:xfrm>
          <a:prstGeom prst="rect">
            <a:avLst/>
          </a:prstGeom>
          <a:noFill/>
        </p:spPr>
        <p:txBody>
          <a:bodyPr wrap="square" lIns="0" rIns="0" tIns="0" bIns="0">
            <a:spAutoFit/>
          </a:bodyPr>
          <a:lstStyle/>
          <a:p>
            <a:pPr>
              <a:lnSpc>
                <a:spcPct val="105000"/>
              </a:lnSpc>
              <a:spcAft>
                <a:spcPts val="600"/>
              </a:spcAft>
            </a:pPr>
            <a:r>
              <a:rPr sz="919" b="1">
                <a:solidFill>
                  <a:srgbClr val="6DC72A"/>
                </a:solidFill>
                <a:latin typeface="Georgia"/>
              </a:rPr>
              <a:t>|  </a:t>
            </a:r>
            <a:r>
              <a:rPr sz="919">
                <a:solidFill>
                  <a:srgbClr val="0C1408"/>
                </a:solidFill>
                <a:latin typeface="Arial"/>
              </a:rPr>
              <a:t>Join sheet states every amount before signature</a:t>
            </a:r>
          </a:p>
          <a:p>
            <a:pPr>
              <a:lnSpc>
                <a:spcPct val="105000"/>
              </a:lnSpc>
              <a:spcAft>
                <a:spcPts val="600"/>
              </a:spcAft>
            </a:pPr>
            <a:r>
              <a:rPr sz="919" b="1">
                <a:solidFill>
                  <a:srgbClr val="6DC72A"/>
                </a:solidFill>
                <a:latin typeface="Georgia"/>
              </a:rPr>
              <a:t>|  </a:t>
            </a:r>
            <a:r>
              <a:rPr sz="919">
                <a:solidFill>
                  <a:srgbClr val="0C1408"/>
                </a:solidFill>
                <a:latin typeface="Arial"/>
              </a:rPr>
              <a:t>Seat chosen from those the band allows</a:t>
            </a:r>
          </a:p>
          <a:p>
            <a:pPr>
              <a:lnSpc>
                <a:spcPct val="105000"/>
              </a:lnSpc>
              <a:spcAft>
                <a:spcPts val="600"/>
              </a:spcAft>
            </a:pPr>
            <a:r>
              <a:rPr sz="919" b="1">
                <a:solidFill>
                  <a:srgbClr val="6DC72A"/>
                </a:solidFill>
                <a:latin typeface="Georgia"/>
              </a:rPr>
              <a:t>|  </a:t>
            </a:r>
            <a:r>
              <a:rPr sz="919">
                <a:solidFill>
                  <a:srgbClr val="0C1408"/>
                </a:solidFill>
                <a:latin typeface="Arial"/>
              </a:rPr>
              <a:t>Affordability gate</a:t>
            </a:r>
          </a:p>
          <a:p>
            <a:pPr>
              <a:lnSpc>
                <a:spcPct val="105000"/>
              </a:lnSpc>
              <a:spcAft>
                <a:spcPts val="600"/>
              </a:spcAft>
            </a:pPr>
            <a:r>
              <a:rPr sz="919" b="1">
                <a:solidFill>
                  <a:srgbClr val="6DC72A"/>
                </a:solidFill>
                <a:latin typeface="Georgia"/>
              </a:rPr>
              <a:t>|  </a:t>
            </a:r>
            <a:r>
              <a:rPr sz="919">
                <a:solidFill>
                  <a:srgbClr val="0C1408"/>
                </a:solidFill>
                <a:latin typeface="Arial"/>
              </a:rPr>
              <a:t>Undertaking and mutual guarantee signed</a:t>
            </a:r>
          </a:p>
        </p:txBody>
      </p:sp>
      <p:sp>
        <p:nvSpPr>
          <p:cNvPr id="22" name="Rectangle 21"/>
          <p:cNvSpPr/>
          <p:nvPr/>
        </p:nvSpPr>
        <p:spPr>
          <a:xfrm>
            <a:off x="6210147" y="1645920"/>
            <a:ext cx="1652473" cy="457200"/>
          </a:xfrm>
          <a:prstGeom prst="rect">
            <a:avLst/>
          </a:prstGeom>
          <a:solidFill>
            <a:srgbClr val="E3F8CA"/>
          </a:solidFill>
          <a:ln w="9525">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0147" y="1755648"/>
            <a:ext cx="1652473" cy="274320"/>
          </a:xfrm>
          <a:prstGeom prst="rect">
            <a:avLst/>
          </a:prstGeom>
          <a:noFill/>
        </p:spPr>
        <p:txBody>
          <a:bodyPr wrap="square" lIns="0" rIns="0" tIns="0" bIns="0" anchor="t">
            <a:spAutoFit/>
          </a:bodyPr>
          <a:lstStyle/>
          <a:p>
            <a:pPr algn="ctr">
              <a:lnSpc>
                <a:spcPct val="100000"/>
              </a:lnSpc>
              <a:spcAft>
                <a:spcPts val="400"/>
              </a:spcAft>
            </a:pPr>
            <a:r>
              <a:rPr sz="1200" b="1" i="0">
                <a:solidFill>
                  <a:srgbClr val="22450C"/>
                </a:solidFill>
                <a:latin typeface="Arial"/>
              </a:rPr>
              <a:t>Pay</a:t>
            </a:r>
          </a:p>
        </p:txBody>
      </p:sp>
      <p:cxnSp>
        <p:nvCxnSpPr>
          <p:cNvPr id="24" name="Connector 23"/>
          <p:cNvCxnSpPr/>
          <p:nvPr/>
        </p:nvCxnSpPr>
        <p:spPr>
          <a:xfrm>
            <a:off x="7862620" y="1874519"/>
            <a:ext cx="228600" cy="0"/>
          </a:xfrm>
          <a:prstGeom prst="line">
            <a:avLst/>
          </a:prstGeom>
          <a:ln w="20320">
            <a:solidFill>
              <a:srgbClr val="6DC7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210147" y="2286000"/>
            <a:ext cx="1652473" cy="365760"/>
          </a:xfrm>
          <a:prstGeom prst="rect">
            <a:avLst/>
          </a:prstGeom>
          <a:noFill/>
        </p:spPr>
        <p:txBody>
          <a:bodyPr wrap="square" lIns="0" rIns="0" tIns="0" bIns="0">
            <a:spAutoFit/>
          </a:bodyPr>
          <a:lstStyle/>
          <a:p>
            <a:pPr>
              <a:lnSpc>
                <a:spcPct val="105000"/>
              </a:lnSpc>
              <a:spcAft>
                <a:spcPts val="600"/>
              </a:spcAft>
            </a:pPr>
            <a:r>
              <a:rPr sz="919" b="1">
                <a:solidFill>
                  <a:srgbClr val="6DC72A"/>
                </a:solidFill>
                <a:latin typeface="Georgia"/>
              </a:rPr>
              <a:t>|  </a:t>
            </a:r>
            <a:r>
              <a:rPr sz="919">
                <a:solidFill>
                  <a:srgbClr val="0C1408"/>
                </a:solidFill>
                <a:latin typeface="Arial"/>
              </a:rPr>
              <a:t>Approval in the application, tier 1</a:t>
            </a:r>
          </a:p>
          <a:p>
            <a:pPr>
              <a:lnSpc>
                <a:spcPct val="105000"/>
              </a:lnSpc>
              <a:spcAft>
                <a:spcPts val="600"/>
              </a:spcAft>
            </a:pPr>
            <a:r>
              <a:rPr sz="919" b="1">
                <a:solidFill>
                  <a:srgbClr val="6DC72A"/>
                </a:solidFill>
                <a:latin typeface="Georgia"/>
              </a:rPr>
              <a:t>|  </a:t>
            </a:r>
            <a:r>
              <a:rPr sz="919">
                <a:solidFill>
                  <a:srgbClr val="0C1408"/>
                </a:solidFill>
                <a:latin typeface="Arial"/>
              </a:rPr>
              <a:t>Mandate on Hyper, tier 2</a:t>
            </a:r>
          </a:p>
          <a:p>
            <a:pPr>
              <a:lnSpc>
                <a:spcPct val="105000"/>
              </a:lnSpc>
              <a:spcAft>
                <a:spcPts val="600"/>
              </a:spcAft>
            </a:pPr>
            <a:r>
              <a:rPr sz="919" b="1">
                <a:solidFill>
                  <a:srgbClr val="6DC72A"/>
                </a:solidFill>
                <a:latin typeface="Georgia"/>
              </a:rPr>
              <a:t>|  </a:t>
            </a:r>
            <a:r>
              <a:rPr sz="919">
                <a:solidFill>
                  <a:srgbClr val="0C1408"/>
                </a:solidFill>
                <a:latin typeface="Arial"/>
              </a:rPr>
              <a:t>Send over Raast, tier 3</a:t>
            </a:r>
          </a:p>
          <a:p>
            <a:pPr>
              <a:lnSpc>
                <a:spcPct val="105000"/>
              </a:lnSpc>
              <a:spcAft>
                <a:spcPts val="600"/>
              </a:spcAft>
            </a:pPr>
            <a:r>
              <a:rPr sz="919" b="1">
                <a:solidFill>
                  <a:srgbClr val="6DC72A"/>
                </a:solidFill>
                <a:latin typeface="Georgia"/>
              </a:rPr>
              <a:t>|  </a:t>
            </a:r>
            <a:r>
              <a:rPr sz="919">
                <a:solidFill>
                  <a:srgbClr val="0C1408"/>
                </a:solidFill>
                <a:latin typeface="Arial"/>
              </a:rPr>
              <a:t>Receipt naming the rail and each part</a:t>
            </a:r>
          </a:p>
        </p:txBody>
      </p:sp>
      <p:sp>
        <p:nvSpPr>
          <p:cNvPr id="26" name="Rectangle 25"/>
          <p:cNvSpPr/>
          <p:nvPr/>
        </p:nvSpPr>
        <p:spPr>
          <a:xfrm>
            <a:off x="8091220" y="1645920"/>
            <a:ext cx="1652473" cy="457200"/>
          </a:xfrm>
          <a:prstGeom prst="rect">
            <a:avLst/>
          </a:prstGeom>
          <a:solidFill>
            <a:srgbClr val="E3F8CA"/>
          </a:solidFill>
          <a:ln w="9525">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91220" y="1755648"/>
            <a:ext cx="1652473" cy="274320"/>
          </a:xfrm>
          <a:prstGeom prst="rect">
            <a:avLst/>
          </a:prstGeom>
          <a:noFill/>
        </p:spPr>
        <p:txBody>
          <a:bodyPr wrap="square" lIns="0" rIns="0" tIns="0" bIns="0" anchor="t">
            <a:spAutoFit/>
          </a:bodyPr>
          <a:lstStyle/>
          <a:p>
            <a:pPr algn="ctr">
              <a:lnSpc>
                <a:spcPct val="100000"/>
              </a:lnSpc>
              <a:spcAft>
                <a:spcPts val="400"/>
              </a:spcAft>
            </a:pPr>
            <a:r>
              <a:rPr sz="1200" b="1" i="0">
                <a:solidFill>
                  <a:srgbClr val="22450C"/>
                </a:solidFill>
                <a:latin typeface="Arial"/>
              </a:rPr>
              <a:t>Collect</a:t>
            </a:r>
          </a:p>
        </p:txBody>
      </p:sp>
      <p:cxnSp>
        <p:nvCxnSpPr>
          <p:cNvPr id="28" name="Connector 27"/>
          <p:cNvCxnSpPr/>
          <p:nvPr/>
        </p:nvCxnSpPr>
        <p:spPr>
          <a:xfrm>
            <a:off x="9743693" y="1874519"/>
            <a:ext cx="228600" cy="0"/>
          </a:xfrm>
          <a:prstGeom prst="line">
            <a:avLst/>
          </a:prstGeom>
          <a:ln w="20320">
            <a:solidFill>
              <a:srgbClr val="6DC7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8091220" y="2286000"/>
            <a:ext cx="1652473" cy="365760"/>
          </a:xfrm>
          <a:prstGeom prst="rect">
            <a:avLst/>
          </a:prstGeom>
          <a:noFill/>
        </p:spPr>
        <p:txBody>
          <a:bodyPr wrap="square" lIns="0" rIns="0" tIns="0" bIns="0">
            <a:spAutoFit/>
          </a:bodyPr>
          <a:lstStyle/>
          <a:p>
            <a:pPr>
              <a:lnSpc>
                <a:spcPct val="105000"/>
              </a:lnSpc>
              <a:spcAft>
                <a:spcPts val="600"/>
              </a:spcAft>
            </a:pPr>
            <a:r>
              <a:rPr sz="919" b="1">
                <a:solidFill>
                  <a:srgbClr val="6DC72A"/>
                </a:solidFill>
                <a:latin typeface="Georgia"/>
              </a:rPr>
              <a:t>|  </a:t>
            </a:r>
            <a:r>
              <a:rPr sz="919">
                <a:solidFill>
                  <a:srgbClr val="0C1408"/>
                </a:solidFill>
                <a:latin typeface="Arial"/>
              </a:rPr>
              <a:t>Payout to the verified account when the round closes</a:t>
            </a:r>
          </a:p>
          <a:p>
            <a:pPr>
              <a:lnSpc>
                <a:spcPct val="105000"/>
              </a:lnSpc>
              <a:spcAft>
                <a:spcPts val="600"/>
              </a:spcAft>
            </a:pPr>
            <a:r>
              <a:rPr sz="919" b="1">
                <a:solidFill>
                  <a:srgbClr val="6DC72A"/>
                </a:solidFill>
                <a:latin typeface="Georgia"/>
              </a:rPr>
              <a:t>|  </a:t>
            </a:r>
            <a:r>
              <a:rPr sz="919">
                <a:solidFill>
                  <a:srgbClr val="0C1408"/>
                </a:solidFill>
                <a:latin typeface="Arial"/>
              </a:rPr>
              <a:t>Paid once and only once</a:t>
            </a:r>
          </a:p>
          <a:p>
            <a:pPr>
              <a:lnSpc>
                <a:spcPct val="105000"/>
              </a:lnSpc>
              <a:spcAft>
                <a:spcPts val="600"/>
              </a:spcAft>
            </a:pPr>
            <a:r>
              <a:rPr sz="919" b="1">
                <a:solidFill>
                  <a:srgbClr val="6DC72A"/>
                </a:solidFill>
                <a:latin typeface="Georgia"/>
              </a:rPr>
              <a:t>|  </a:t>
            </a:r>
            <a:r>
              <a:rPr sz="919">
                <a:solidFill>
                  <a:srgbClr val="0C1408"/>
                </a:solidFill>
                <a:latin typeface="Arial"/>
              </a:rPr>
              <a:t>Remaining instalments restated</a:t>
            </a:r>
          </a:p>
        </p:txBody>
      </p:sp>
      <p:sp>
        <p:nvSpPr>
          <p:cNvPr id="30" name="Rectangle 29"/>
          <p:cNvSpPr/>
          <p:nvPr/>
        </p:nvSpPr>
        <p:spPr>
          <a:xfrm>
            <a:off x="9972293" y="1645920"/>
            <a:ext cx="1652473" cy="457200"/>
          </a:xfrm>
          <a:prstGeom prst="rect">
            <a:avLst/>
          </a:prstGeom>
          <a:solidFill>
            <a:srgbClr val="22450C"/>
          </a:solidFill>
          <a:ln w="9525">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72293" y="1755648"/>
            <a:ext cx="1652473" cy="274320"/>
          </a:xfrm>
          <a:prstGeom prst="rect">
            <a:avLst/>
          </a:prstGeom>
          <a:noFill/>
        </p:spPr>
        <p:txBody>
          <a:bodyPr wrap="square" lIns="0" rIns="0" tIns="0" bIns="0" anchor="t">
            <a:spAutoFit/>
          </a:bodyPr>
          <a:lstStyle/>
          <a:p>
            <a:pPr algn="ctr">
              <a:lnSpc>
                <a:spcPct val="100000"/>
              </a:lnSpc>
              <a:spcAft>
                <a:spcPts val="400"/>
              </a:spcAft>
            </a:pPr>
            <a:r>
              <a:rPr sz="1200" b="1" i="0">
                <a:solidFill>
                  <a:srgbClr val="F3FCE7"/>
                </a:solidFill>
                <a:latin typeface="Arial"/>
              </a:rPr>
              <a:t>Complete</a:t>
            </a:r>
          </a:p>
        </p:txBody>
      </p:sp>
      <p:sp>
        <p:nvSpPr>
          <p:cNvPr id="32" name="TextBox 31"/>
          <p:cNvSpPr txBox="1"/>
          <p:nvPr/>
        </p:nvSpPr>
        <p:spPr>
          <a:xfrm>
            <a:off x="9972293" y="2286000"/>
            <a:ext cx="1652473" cy="365760"/>
          </a:xfrm>
          <a:prstGeom prst="rect">
            <a:avLst/>
          </a:prstGeom>
          <a:noFill/>
        </p:spPr>
        <p:txBody>
          <a:bodyPr wrap="square" lIns="0" rIns="0" tIns="0" bIns="0">
            <a:spAutoFit/>
          </a:bodyPr>
          <a:lstStyle/>
          <a:p>
            <a:pPr>
              <a:lnSpc>
                <a:spcPct val="105000"/>
              </a:lnSpc>
              <a:spcAft>
                <a:spcPts val="600"/>
              </a:spcAft>
            </a:pPr>
            <a:r>
              <a:rPr sz="919" b="1">
                <a:solidFill>
                  <a:srgbClr val="6DC72A"/>
                </a:solidFill>
                <a:latin typeface="Georgia"/>
              </a:rPr>
              <a:t>|  </a:t>
            </a:r>
            <a:r>
              <a:rPr sz="919">
                <a:solidFill>
                  <a:srgbClr val="0C1408"/>
                </a:solidFill>
                <a:latin typeface="Arial"/>
              </a:rPr>
              <a:t>Every record written</a:t>
            </a:r>
          </a:p>
          <a:p>
            <a:pPr>
              <a:lnSpc>
                <a:spcPct val="105000"/>
              </a:lnSpc>
              <a:spcAft>
                <a:spcPts val="600"/>
              </a:spcAft>
            </a:pPr>
            <a:r>
              <a:rPr sz="919" b="1">
                <a:solidFill>
                  <a:srgbClr val="6DC72A"/>
                </a:solidFill>
                <a:latin typeface="Georgia"/>
              </a:rPr>
              <a:t>|  </a:t>
            </a:r>
            <a:r>
              <a:rPr sz="919">
                <a:solidFill>
                  <a:srgbClr val="0C1408"/>
                </a:solidFill>
                <a:latin typeface="Arial"/>
              </a:rPr>
              <a:t>Clean completion raises standing</a:t>
            </a:r>
          </a:p>
          <a:p>
            <a:pPr>
              <a:lnSpc>
                <a:spcPct val="105000"/>
              </a:lnSpc>
              <a:spcAft>
                <a:spcPts val="600"/>
              </a:spcAft>
            </a:pPr>
            <a:r>
              <a:rPr sz="919" b="1">
                <a:solidFill>
                  <a:srgbClr val="6DC72A"/>
                </a:solidFill>
                <a:latin typeface="Georgia"/>
              </a:rPr>
              <a:t>|  </a:t>
            </a:r>
            <a:r>
              <a:rPr sz="919">
                <a:solidFill>
                  <a:srgbClr val="0C1408"/>
                </a:solidFill>
                <a:latin typeface="Arial"/>
              </a:rPr>
              <a:t>Host points on clean circles</a:t>
            </a:r>
          </a:p>
        </p:txBody>
      </p:sp>
      <p:sp>
        <p:nvSpPr>
          <p:cNvPr id="33" name="Rectangle 32"/>
          <p:cNvSpPr/>
          <p:nvPr/>
        </p:nvSpPr>
        <p:spPr>
          <a:xfrm>
            <a:off x="566928" y="4343400"/>
            <a:ext cx="5394960" cy="146304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4343400"/>
            <a:ext cx="45720" cy="146304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1520" y="4453128"/>
            <a:ext cx="5120640"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Messaging and records</a:t>
            </a:r>
          </a:p>
        </p:txBody>
      </p:sp>
      <p:sp>
        <p:nvSpPr>
          <p:cNvPr id="36" name="TextBox 35"/>
          <p:cNvSpPr txBox="1"/>
          <p:nvPr/>
        </p:nvSpPr>
        <p:spPr>
          <a:xfrm>
            <a:off x="731520" y="4745736"/>
            <a:ext cx="5120640" cy="1005840"/>
          </a:xfrm>
          <a:prstGeom prst="rect">
            <a:avLst/>
          </a:prstGeom>
          <a:noFill/>
        </p:spPr>
        <p:txBody>
          <a:bodyPr wrap="square" lIns="0" rIns="0" tIns="0" bIns="0" anchor="t">
            <a:spAutoFit/>
          </a:bodyPr>
          <a:lstStyle/>
          <a:p>
            <a:pPr algn="l">
              <a:lnSpc>
                <a:spcPct val="112000"/>
              </a:lnSpc>
              <a:spcAft>
                <a:spcPts val="500"/>
              </a:spcAft>
            </a:pPr>
            <a:r>
              <a:rPr sz="980" b="0" i="0">
                <a:solidFill>
                  <a:srgbClr val="0C1408"/>
                </a:solidFill>
                <a:latin typeface="Arial"/>
              </a:rPr>
              <a:t>Notices over the WhatsApp Business Platform on approved templates, one consolidated daily notice on Hyper, and statements, receipts, the schedule and a full data export for every member.</a:t>
            </a:r>
          </a:p>
        </p:txBody>
      </p:sp>
      <p:sp>
        <p:nvSpPr>
          <p:cNvPr id="37" name="Rectangle 36"/>
          <p:cNvSpPr/>
          <p:nvPr/>
        </p:nvSpPr>
        <p:spPr>
          <a:xfrm>
            <a:off x="6236208" y="4343400"/>
            <a:ext cx="5394960" cy="146304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236208" y="4343400"/>
            <a:ext cx="45720" cy="146304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0" y="4453128"/>
            <a:ext cx="5120640"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Status</a:t>
            </a:r>
          </a:p>
        </p:txBody>
      </p:sp>
      <p:sp>
        <p:nvSpPr>
          <p:cNvPr id="40" name="TextBox 39"/>
          <p:cNvSpPr txBox="1"/>
          <p:nvPr/>
        </p:nvSpPr>
        <p:spPr>
          <a:xfrm>
            <a:off x="6400800" y="4745736"/>
            <a:ext cx="5120640" cy="1005840"/>
          </a:xfrm>
          <a:prstGeom prst="rect">
            <a:avLst/>
          </a:prstGeom>
          <a:noFill/>
        </p:spPr>
        <p:txBody>
          <a:bodyPr wrap="square" lIns="0" rIns="0" tIns="0" bIns="0" anchor="t">
            <a:spAutoFit/>
          </a:bodyPr>
          <a:lstStyle/>
          <a:p>
            <a:pPr algn="l">
              <a:lnSpc>
                <a:spcPct val="112000"/>
              </a:lnSpc>
              <a:spcAft>
                <a:spcPts val="500"/>
              </a:spcAft>
            </a:pPr>
            <a:r>
              <a:rPr sz="980" b="0" i="0">
                <a:solidFill>
                  <a:srgbClr val="0C1408"/>
                </a:solidFill>
                <a:latin typeface="Arial"/>
              </a:rPr>
              <a:t>The status of each feature is tracked item by item in the Work Register. Identity capture and the home location pin are blocked in production by the permission policy, and NADRA Verisys awaits the corporate agreement.</a:t>
            </a:r>
          </a:p>
        </p:txBody>
      </p:sp>
      <p:sp>
        <p:nvSpPr>
          <p:cNvPr id="41" name="TextBox 40"/>
          <p:cNvSpPr txBox="1"/>
          <p:nvPr/>
        </p:nvSpPr>
        <p:spPr>
          <a:xfrm>
            <a:off x="566928" y="6053328"/>
            <a:ext cx="11057839"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Source: Complete Feature and Process List, revision 3, sections 1, 5, 7, 9, 16 and 17.</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05 · STANDING</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Standing decides which seats a member may claim</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The score never reorders a circle once it starts. It limits which free seats are offered at join.</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24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30</a:t>
            </a:r>
          </a:p>
        </p:txBody>
      </p:sp>
      <p:sp>
        <p:nvSpPr>
          <p:cNvPr id="10" name="TextBox 9"/>
          <p:cNvSpPr txBox="1"/>
          <p:nvPr/>
        </p:nvSpPr>
        <p:spPr>
          <a:xfrm>
            <a:off x="566928" y="1572768"/>
            <a:ext cx="6583680" cy="182880"/>
          </a:xfrm>
          <a:prstGeom prst="rect">
            <a:avLst/>
          </a:prstGeom>
          <a:noFill/>
        </p:spPr>
        <p:txBody>
          <a:bodyPr wrap="square" lIns="0" rIns="0" tIns="0" bIns="0" anchor="t">
            <a:spAutoFit/>
          </a:bodyPr>
          <a:lstStyle/>
          <a:p>
            <a:pPr algn="l">
              <a:lnSpc>
                <a:spcPct val="100000"/>
              </a:lnSpc>
              <a:spcAft>
                <a:spcPts val="400"/>
              </a:spcAft>
            </a:pPr>
            <a:r>
              <a:rPr sz="840" b="0" i="1" spc="30">
                <a:solidFill>
                  <a:srgbClr val="6F7B68"/>
                </a:solidFill>
                <a:latin typeface="Arial"/>
              </a:rPr>
              <a:t>EXHIBIT 28   The internal score, 300 to 850, in four bands</a:t>
            </a:r>
          </a:p>
        </p:txBody>
      </p:sp>
      <p:sp>
        <p:nvSpPr>
          <p:cNvPr id="11" name="Rectangle 10"/>
          <p:cNvSpPr/>
          <p:nvPr/>
        </p:nvSpPr>
        <p:spPr>
          <a:xfrm>
            <a:off x="566928" y="1828800"/>
            <a:ext cx="1600200" cy="128016"/>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2011680"/>
            <a:ext cx="1645920" cy="274320"/>
          </a:xfrm>
          <a:prstGeom prst="rect">
            <a:avLst/>
          </a:prstGeom>
          <a:noFill/>
        </p:spPr>
        <p:txBody>
          <a:bodyPr wrap="square" lIns="0" rIns="0" tIns="0" bIns="0" anchor="t">
            <a:spAutoFit/>
          </a:bodyPr>
          <a:lstStyle/>
          <a:p>
            <a:pPr algn="l">
              <a:lnSpc>
                <a:spcPct val="100000"/>
              </a:lnSpc>
              <a:spcAft>
                <a:spcPts val="400"/>
              </a:spcAft>
            </a:pPr>
            <a:r>
              <a:rPr sz="1140" b="1" i="0">
                <a:solidFill>
                  <a:srgbClr val="22450C"/>
                </a:solidFill>
                <a:latin typeface="Arial"/>
              </a:rPr>
              <a:t>Rebuilding</a:t>
            </a:r>
          </a:p>
        </p:txBody>
      </p:sp>
      <p:sp>
        <p:nvSpPr>
          <p:cNvPr id="13" name="TextBox 12"/>
          <p:cNvSpPr txBox="1"/>
          <p:nvPr/>
        </p:nvSpPr>
        <p:spPr>
          <a:xfrm>
            <a:off x="566928" y="2249424"/>
            <a:ext cx="1645920" cy="274320"/>
          </a:xfrm>
          <a:prstGeom prst="rect">
            <a:avLst/>
          </a:prstGeom>
          <a:noFill/>
        </p:spPr>
        <p:txBody>
          <a:bodyPr wrap="square" lIns="0" rIns="0" tIns="0" bIns="0" anchor="t">
            <a:spAutoFit/>
          </a:bodyPr>
          <a:lstStyle/>
          <a:p>
            <a:pPr algn="l">
              <a:lnSpc>
                <a:spcPct val="100000"/>
              </a:lnSpc>
              <a:spcAft>
                <a:spcPts val="400"/>
              </a:spcAft>
            </a:pPr>
            <a:r>
              <a:rPr sz="940" b="0" i="0">
                <a:solidFill>
                  <a:srgbClr val="6F7B68"/>
                </a:solidFill>
                <a:latin typeface="Arial"/>
              </a:rPr>
              <a:t>below 550</a:t>
            </a:r>
          </a:p>
        </p:txBody>
      </p:sp>
      <p:sp>
        <p:nvSpPr>
          <p:cNvPr id="14" name="Rectangle 13"/>
          <p:cNvSpPr/>
          <p:nvPr/>
        </p:nvSpPr>
        <p:spPr>
          <a:xfrm>
            <a:off x="2212848" y="1828800"/>
            <a:ext cx="1600200" cy="128016"/>
          </a:xfrm>
          <a:prstGeom prst="rect">
            <a:avLst/>
          </a:prstGeom>
          <a:solidFill>
            <a:srgbClr val="B77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212848" y="2011680"/>
            <a:ext cx="1645920" cy="274320"/>
          </a:xfrm>
          <a:prstGeom prst="rect">
            <a:avLst/>
          </a:prstGeom>
          <a:noFill/>
        </p:spPr>
        <p:txBody>
          <a:bodyPr wrap="square" lIns="0" rIns="0" tIns="0" bIns="0" anchor="t">
            <a:spAutoFit/>
          </a:bodyPr>
          <a:lstStyle/>
          <a:p>
            <a:pPr algn="l">
              <a:lnSpc>
                <a:spcPct val="100000"/>
              </a:lnSpc>
              <a:spcAft>
                <a:spcPts val="400"/>
              </a:spcAft>
            </a:pPr>
            <a:r>
              <a:rPr sz="1140" b="1" i="0">
                <a:solidFill>
                  <a:srgbClr val="22450C"/>
                </a:solidFill>
                <a:latin typeface="Arial"/>
              </a:rPr>
              <a:t>Fair</a:t>
            </a:r>
          </a:p>
        </p:txBody>
      </p:sp>
      <p:sp>
        <p:nvSpPr>
          <p:cNvPr id="16" name="TextBox 15"/>
          <p:cNvSpPr txBox="1"/>
          <p:nvPr/>
        </p:nvSpPr>
        <p:spPr>
          <a:xfrm>
            <a:off x="2212848" y="2249424"/>
            <a:ext cx="1645920" cy="274320"/>
          </a:xfrm>
          <a:prstGeom prst="rect">
            <a:avLst/>
          </a:prstGeom>
          <a:noFill/>
        </p:spPr>
        <p:txBody>
          <a:bodyPr wrap="square" lIns="0" rIns="0" tIns="0" bIns="0" anchor="t">
            <a:spAutoFit/>
          </a:bodyPr>
          <a:lstStyle/>
          <a:p>
            <a:pPr algn="l">
              <a:lnSpc>
                <a:spcPct val="100000"/>
              </a:lnSpc>
              <a:spcAft>
                <a:spcPts val="400"/>
              </a:spcAft>
            </a:pPr>
            <a:r>
              <a:rPr sz="940" b="0" i="0">
                <a:solidFill>
                  <a:srgbClr val="6F7B68"/>
                </a:solidFill>
                <a:latin typeface="Arial"/>
              </a:rPr>
              <a:t>550 to 649</a:t>
            </a:r>
          </a:p>
        </p:txBody>
      </p:sp>
      <p:sp>
        <p:nvSpPr>
          <p:cNvPr id="17" name="Rectangle 16"/>
          <p:cNvSpPr/>
          <p:nvPr/>
        </p:nvSpPr>
        <p:spPr>
          <a:xfrm>
            <a:off x="3858768" y="1828800"/>
            <a:ext cx="1600200" cy="128016"/>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58768" y="2011680"/>
            <a:ext cx="1645920" cy="274320"/>
          </a:xfrm>
          <a:prstGeom prst="rect">
            <a:avLst/>
          </a:prstGeom>
          <a:noFill/>
        </p:spPr>
        <p:txBody>
          <a:bodyPr wrap="square" lIns="0" rIns="0" tIns="0" bIns="0" anchor="t">
            <a:spAutoFit/>
          </a:bodyPr>
          <a:lstStyle/>
          <a:p>
            <a:pPr algn="l">
              <a:lnSpc>
                <a:spcPct val="100000"/>
              </a:lnSpc>
              <a:spcAft>
                <a:spcPts val="400"/>
              </a:spcAft>
            </a:pPr>
            <a:r>
              <a:rPr sz="1140" b="1" i="0">
                <a:solidFill>
                  <a:srgbClr val="22450C"/>
                </a:solidFill>
                <a:latin typeface="Arial"/>
              </a:rPr>
              <a:t>Good</a:t>
            </a:r>
          </a:p>
        </p:txBody>
      </p:sp>
      <p:sp>
        <p:nvSpPr>
          <p:cNvPr id="19" name="TextBox 18"/>
          <p:cNvSpPr txBox="1"/>
          <p:nvPr/>
        </p:nvSpPr>
        <p:spPr>
          <a:xfrm>
            <a:off x="3858768" y="2249424"/>
            <a:ext cx="1645920" cy="274320"/>
          </a:xfrm>
          <a:prstGeom prst="rect">
            <a:avLst/>
          </a:prstGeom>
          <a:noFill/>
        </p:spPr>
        <p:txBody>
          <a:bodyPr wrap="square" lIns="0" rIns="0" tIns="0" bIns="0" anchor="t">
            <a:spAutoFit/>
          </a:bodyPr>
          <a:lstStyle/>
          <a:p>
            <a:pPr algn="l">
              <a:lnSpc>
                <a:spcPct val="100000"/>
              </a:lnSpc>
              <a:spcAft>
                <a:spcPts val="400"/>
              </a:spcAft>
            </a:pPr>
            <a:r>
              <a:rPr sz="940" b="0" i="0">
                <a:solidFill>
                  <a:srgbClr val="6F7B68"/>
                </a:solidFill>
                <a:latin typeface="Arial"/>
              </a:rPr>
              <a:t>650 to 749</a:t>
            </a:r>
          </a:p>
        </p:txBody>
      </p:sp>
      <p:sp>
        <p:nvSpPr>
          <p:cNvPr id="20" name="Rectangle 19"/>
          <p:cNvSpPr/>
          <p:nvPr/>
        </p:nvSpPr>
        <p:spPr>
          <a:xfrm>
            <a:off x="5504688" y="1828800"/>
            <a:ext cx="1600200" cy="128016"/>
          </a:xfrm>
          <a:prstGeom prst="rect">
            <a:avLst/>
          </a:prstGeom>
          <a:solidFill>
            <a:srgbClr val="356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504688" y="2011680"/>
            <a:ext cx="1645920" cy="274320"/>
          </a:xfrm>
          <a:prstGeom prst="rect">
            <a:avLst/>
          </a:prstGeom>
          <a:noFill/>
        </p:spPr>
        <p:txBody>
          <a:bodyPr wrap="square" lIns="0" rIns="0" tIns="0" bIns="0" anchor="t">
            <a:spAutoFit/>
          </a:bodyPr>
          <a:lstStyle/>
          <a:p>
            <a:pPr algn="l">
              <a:lnSpc>
                <a:spcPct val="100000"/>
              </a:lnSpc>
              <a:spcAft>
                <a:spcPts val="400"/>
              </a:spcAft>
            </a:pPr>
            <a:r>
              <a:rPr sz="1140" b="1" i="0">
                <a:solidFill>
                  <a:srgbClr val="22450C"/>
                </a:solidFill>
                <a:latin typeface="Arial"/>
              </a:rPr>
              <a:t>Excellent</a:t>
            </a:r>
          </a:p>
        </p:txBody>
      </p:sp>
      <p:sp>
        <p:nvSpPr>
          <p:cNvPr id="22" name="TextBox 21"/>
          <p:cNvSpPr txBox="1"/>
          <p:nvPr/>
        </p:nvSpPr>
        <p:spPr>
          <a:xfrm>
            <a:off x="5504688" y="2249424"/>
            <a:ext cx="1645920" cy="274320"/>
          </a:xfrm>
          <a:prstGeom prst="rect">
            <a:avLst/>
          </a:prstGeom>
          <a:noFill/>
        </p:spPr>
        <p:txBody>
          <a:bodyPr wrap="square" lIns="0" rIns="0" tIns="0" bIns="0" anchor="t">
            <a:spAutoFit/>
          </a:bodyPr>
          <a:lstStyle/>
          <a:p>
            <a:pPr algn="l">
              <a:lnSpc>
                <a:spcPct val="100000"/>
              </a:lnSpc>
              <a:spcAft>
                <a:spcPts val="400"/>
              </a:spcAft>
            </a:pPr>
            <a:r>
              <a:rPr sz="940" b="0" i="0">
                <a:solidFill>
                  <a:srgbClr val="6F7B68"/>
                </a:solidFill>
                <a:latin typeface="Arial"/>
              </a:rPr>
              <a:t>750 and above</a:t>
            </a:r>
          </a:p>
        </p:txBody>
      </p:sp>
      <p:graphicFrame>
        <p:nvGraphicFramePr>
          <p:cNvPr id="23" name="Table 22"/>
          <p:cNvGraphicFramePr>
            <a:graphicFrameLocks noGrp="1"/>
          </p:cNvGraphicFramePr>
          <p:nvPr/>
        </p:nvGraphicFramePr>
        <p:xfrm>
          <a:off x="566928" y="2697480"/>
          <a:ext cx="6583680" cy="1554480"/>
        </p:xfrm>
        <a:graphic>
          <a:graphicData uri="http://schemas.openxmlformats.org/drawingml/2006/table">
            <a:tbl>
              <a:tblPr>
                <a:tableStyleId>{5C22544A-7EE6-4342-B048-85BDC9FD1C3A}</a:tableStyleId>
              </a:tblPr>
              <a:tblGrid>
                <a:gridCol w="1645920"/>
                <a:gridCol w="4937760"/>
              </a:tblGrid>
              <a:tr h="310896">
                <a:tc>
                  <a:txBody>
                    <a:bodyPr wrap="square"/>
                    <a:lstStyle/>
                    <a:p>
                      <a:pPr algn="l"/>
                      <a:r>
                        <a:rPr sz="900" b="1">
                          <a:solidFill>
                            <a:srgbClr val="F3FCE7"/>
                          </a:solidFill>
                          <a:latin typeface="Arial"/>
                        </a:rPr>
                        <a:t>Band</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Seats a member may claim at join</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10896">
                <a:tc>
                  <a:txBody>
                    <a:bodyPr wrap="square"/>
                    <a:lstStyle/>
                    <a:p>
                      <a:pPr algn="l"/>
                      <a:r>
                        <a:rPr sz="960" b="1">
                          <a:solidFill>
                            <a:srgbClr val="22450C"/>
                          </a:solidFill>
                          <a:latin typeface="Arial"/>
                        </a:rPr>
                        <a:t>Rebuilding</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The last three seats, never earlier than the second half of the order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10896">
                <a:tc>
                  <a:txBody>
                    <a:bodyPr wrap="square"/>
                    <a:lstStyle/>
                    <a:p>
                      <a:pPr algn="l"/>
                      <a:r>
                        <a:rPr sz="960" b="1">
                          <a:solidFill>
                            <a:srgbClr val="22450C"/>
                          </a:solidFill>
                          <a:latin typeface="Arial"/>
                        </a:rPr>
                        <a:t>Fair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Any free seat in the second half of the order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10896">
                <a:tc>
                  <a:txBody>
                    <a:bodyPr wrap="square"/>
                    <a:lstStyle/>
                    <a:p>
                      <a:pPr algn="l"/>
                      <a:r>
                        <a:rPr sz="960" b="1">
                          <a:solidFill>
                            <a:srgbClr val="22450C"/>
                          </a:solidFill>
                          <a:latin typeface="Arial"/>
                        </a:rPr>
                        <a:t>Good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Any free seat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10896">
                <a:tc>
                  <a:txBody>
                    <a:bodyPr wrap="square"/>
                    <a:lstStyle/>
                    <a:p>
                      <a:pPr algn="l"/>
                      <a:r>
                        <a:rPr sz="960" b="1">
                          <a:solidFill>
                            <a:srgbClr val="22450C"/>
                          </a:solidFill>
                          <a:latin typeface="Arial"/>
                        </a:rPr>
                        <a:t>Excellent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Any free seat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24" name="TextBox 23"/>
          <p:cNvSpPr txBox="1"/>
          <p:nvPr/>
        </p:nvSpPr>
        <p:spPr>
          <a:xfrm>
            <a:off x="566928" y="4434840"/>
            <a:ext cx="6583680" cy="365760"/>
          </a:xfrm>
          <a:prstGeom prst="rect">
            <a:avLst/>
          </a:prstGeom>
          <a:noFill/>
        </p:spPr>
        <p:txBody>
          <a:bodyPr wrap="square" lIns="0" rIns="0" tIns="0" bIns="0">
            <a:spAutoFit/>
          </a:bodyPr>
          <a:lstStyle/>
          <a:p>
            <a:pPr>
              <a:lnSpc>
                <a:spcPct val="105000"/>
              </a:lnSpc>
              <a:spcAft>
                <a:spcPts val="600"/>
              </a:spcAft>
            </a:pPr>
            <a:r>
              <a:rPr sz="980" b="1">
                <a:solidFill>
                  <a:srgbClr val="6DC72A"/>
                </a:solidFill>
                <a:latin typeface="Georgia"/>
              </a:rPr>
              <a:t>|  </a:t>
            </a:r>
            <a:r>
              <a:rPr sz="980" b="1">
                <a:solidFill>
                  <a:srgbClr val="22450C"/>
                </a:solidFill>
                <a:latin typeface="Arial"/>
              </a:rPr>
              <a:t>New accounts.  </a:t>
            </a:r>
            <a:r>
              <a:rPr sz="980">
                <a:solidFill>
                  <a:srgbClr val="0C1408"/>
                </a:solidFill>
                <a:latin typeface="Arial"/>
              </a:rPr>
              <a:t>Open at 700, in the Good band.</a:t>
            </a:r>
          </a:p>
          <a:p>
            <a:pPr>
              <a:lnSpc>
                <a:spcPct val="105000"/>
              </a:lnSpc>
              <a:spcAft>
                <a:spcPts val="600"/>
              </a:spcAft>
            </a:pPr>
            <a:r>
              <a:rPr sz="980" b="1">
                <a:solidFill>
                  <a:srgbClr val="6DC72A"/>
                </a:solidFill>
                <a:latin typeface="Georgia"/>
              </a:rPr>
              <a:t>|  </a:t>
            </a:r>
            <a:r>
              <a:rPr sz="980" b="1">
                <a:solidFill>
                  <a:srgbClr val="22450C"/>
                </a:solidFill>
                <a:latin typeface="Arial"/>
              </a:rPr>
              <a:t>New member rule.  </a:t>
            </a:r>
            <a:r>
              <a:rPr sz="980">
                <a:solidFill>
                  <a:srgbClr val="0C1408"/>
                </a:solidFill>
                <a:latin typeface="Arial"/>
              </a:rPr>
              <a:t>Whatever the score, a member with no history takes only the final seats until two clean circles are complete and verification is done.</a:t>
            </a:r>
          </a:p>
          <a:p>
            <a:pPr>
              <a:lnSpc>
                <a:spcPct val="105000"/>
              </a:lnSpc>
              <a:spcAft>
                <a:spcPts val="600"/>
              </a:spcAft>
            </a:pPr>
            <a:r>
              <a:rPr sz="980" b="1">
                <a:solidFill>
                  <a:srgbClr val="6DC72A"/>
                </a:solidFill>
                <a:latin typeface="Georgia"/>
              </a:rPr>
              <a:t>|  </a:t>
            </a:r>
            <a:r>
              <a:rPr sz="980" b="1">
                <a:solidFill>
                  <a:srgbClr val="22450C"/>
                </a:solidFill>
                <a:latin typeface="Arial"/>
              </a:rPr>
              <a:t>Turn swap.  </a:t>
            </a:r>
            <a:r>
              <a:rPr sz="980">
                <a:solidFill>
                  <a:srgbClr val="0C1408"/>
                </a:solidFill>
                <a:latin typeface="Arial"/>
              </a:rPr>
              <a:t>Two members exchange positions at no price, with host approval, and both bands must permit the new positions.</a:t>
            </a:r>
          </a:p>
        </p:txBody>
      </p:sp>
      <p:sp>
        <p:nvSpPr>
          <p:cNvPr id="25" name="TextBox 24"/>
          <p:cNvSpPr txBox="1"/>
          <p:nvPr/>
        </p:nvSpPr>
        <p:spPr>
          <a:xfrm>
            <a:off x="7516368" y="1572768"/>
            <a:ext cx="4114800" cy="274320"/>
          </a:xfrm>
          <a:prstGeom prst="rect">
            <a:avLst/>
          </a:prstGeom>
          <a:noFill/>
        </p:spPr>
        <p:txBody>
          <a:bodyPr wrap="square" lIns="0" rIns="0" tIns="0" bIns="0" anchor="t">
            <a:spAutoFit/>
          </a:bodyPr>
          <a:lstStyle/>
          <a:p>
            <a:pPr algn="l">
              <a:lnSpc>
                <a:spcPct val="100000"/>
              </a:lnSpc>
              <a:spcAft>
                <a:spcPts val="400"/>
              </a:spcAft>
            </a:pPr>
            <a:r>
              <a:rPr sz="1240" b="0" i="0">
                <a:solidFill>
                  <a:srgbClr val="22450C"/>
                </a:solidFill>
                <a:latin typeface="Georgia"/>
              </a:rPr>
              <a:t>Why the signal is strong</a:t>
            </a:r>
          </a:p>
        </p:txBody>
      </p:sp>
      <p:sp>
        <p:nvSpPr>
          <p:cNvPr id="26" name="TextBox 25"/>
          <p:cNvSpPr txBox="1"/>
          <p:nvPr/>
        </p:nvSpPr>
        <p:spPr>
          <a:xfrm>
            <a:off x="7516368" y="1938528"/>
            <a:ext cx="4114800" cy="2011680"/>
          </a:xfrm>
          <a:prstGeom prst="rect">
            <a:avLst/>
          </a:prstGeom>
          <a:noFill/>
        </p:spPr>
        <p:txBody>
          <a:bodyPr wrap="square" lIns="0" rIns="0" tIns="0" bIns="0" anchor="t">
            <a:spAutoFit/>
          </a:bodyPr>
          <a:lstStyle/>
          <a:p>
            <a:pPr algn="l">
              <a:lnSpc>
                <a:spcPct val="114000"/>
              </a:lnSpc>
              <a:spcAft>
                <a:spcPts val="800"/>
              </a:spcAft>
            </a:pPr>
            <a:r>
              <a:rPr sz="1000" b="0" i="0">
                <a:solidFill>
                  <a:srgbClr val="0C1408"/>
                </a:solidFill>
                <a:latin typeface="Arial"/>
              </a:rPr>
              <a:t>Households rank the committee instalment above rent and utility bills. An informant in Kamran (2017), a housemaid earning Rs 15,000 a month, described the instalment as the one payment that is not missed.</a:t>
            </a:r>
          </a:p>
          <a:p>
            <a:pPr algn="l">
              <a:lnSpc>
                <a:spcPct val="114000"/>
              </a:lnSpc>
              <a:spcAft>
                <a:spcPts val="800"/>
              </a:spcAft>
            </a:pPr>
            <a:r>
              <a:rPr sz="1000" b="0" i="0">
                <a:solidFill>
                  <a:srgbClr val="0C1408"/>
                </a:solidFill>
                <a:latin typeface="Arial"/>
              </a:rPr>
              <a:t>A score built from committee payments therefore carries the strongest repayment signal the household has.</a:t>
            </a:r>
          </a:p>
        </p:txBody>
      </p:sp>
      <p:sp>
        <p:nvSpPr>
          <p:cNvPr id="27" name="Rectangle 26"/>
          <p:cNvSpPr/>
          <p:nvPr/>
        </p:nvSpPr>
        <p:spPr>
          <a:xfrm>
            <a:off x="7516368" y="4114800"/>
            <a:ext cx="4105656" cy="164592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516368" y="4114800"/>
            <a:ext cx="45720" cy="164592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680960" y="4224528"/>
            <a:ext cx="3831336"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Affordability and exposure</a:t>
            </a:r>
          </a:p>
        </p:txBody>
      </p:sp>
      <p:sp>
        <p:nvSpPr>
          <p:cNvPr id="30" name="TextBox 29"/>
          <p:cNvSpPr txBox="1"/>
          <p:nvPr/>
        </p:nvSpPr>
        <p:spPr>
          <a:xfrm>
            <a:off x="7680960" y="4517136"/>
            <a:ext cx="3831336" cy="1188720"/>
          </a:xfrm>
          <a:prstGeom prst="rect">
            <a:avLst/>
          </a:prstGeom>
          <a:noFill/>
        </p:spPr>
        <p:txBody>
          <a:bodyPr wrap="square" lIns="0" rIns="0" tIns="0" bIns="0" anchor="t">
            <a:spAutoFit/>
          </a:bodyPr>
          <a:lstStyle/>
          <a:p>
            <a:pPr algn="l">
              <a:lnSpc>
                <a:spcPct val="112000"/>
              </a:lnSpc>
              <a:spcAft>
                <a:spcPts val="500"/>
              </a:spcAft>
            </a:pPr>
            <a:r>
              <a:rPr sz="980" b="0" i="0">
                <a:solidFill>
                  <a:srgbClr val="0C1408"/>
                </a:solidFill>
                <a:latin typeface="Arial"/>
              </a:rPr>
              <a:t>Committed instalments are held to one third of income, against a regulatory norm of two fifths. Obligations across every circle held are summed before a seat is granted.</a:t>
            </a:r>
          </a:p>
        </p:txBody>
      </p:sp>
      <p:sp>
        <p:nvSpPr>
          <p:cNvPr id="31" name="TextBox 30"/>
          <p:cNvSpPr txBox="1"/>
          <p:nvPr/>
        </p:nvSpPr>
        <p:spPr>
          <a:xfrm>
            <a:off x="566928" y="6053328"/>
            <a:ext cx="11057839"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verified against score-bands.ts; Complete Feature and Process List, revision 3, sections 2 and 14.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05 · DEFAULT AND EXIT</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Prevention, recovery and exit</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Most members never reach recovery. Exit runs on a ladder, and nothing is held by Halqa at any step.</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24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31</a:t>
            </a:r>
          </a:p>
        </p:txBody>
      </p:sp>
      <p:sp>
        <p:nvSpPr>
          <p:cNvPr id="10" name="Rectangle 9"/>
          <p:cNvSpPr/>
          <p:nvPr/>
        </p:nvSpPr>
        <p:spPr>
          <a:xfrm>
            <a:off x="566928" y="1600200"/>
            <a:ext cx="3566160" cy="434340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1600200"/>
            <a:ext cx="45720" cy="434340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709928"/>
            <a:ext cx="3291840"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Prevention</a:t>
            </a:r>
          </a:p>
        </p:txBody>
      </p:sp>
      <p:sp>
        <p:nvSpPr>
          <p:cNvPr id="13" name="TextBox 12"/>
          <p:cNvSpPr txBox="1"/>
          <p:nvPr/>
        </p:nvSpPr>
        <p:spPr>
          <a:xfrm>
            <a:off x="731520" y="2002536"/>
            <a:ext cx="3291840" cy="3886200"/>
          </a:xfrm>
          <a:prstGeom prst="rect">
            <a:avLst/>
          </a:prstGeom>
          <a:noFill/>
        </p:spPr>
        <p:txBody>
          <a:bodyPr wrap="square" lIns="0" rIns="0" tIns="0" bIns="0" anchor="t">
            <a:spAutoFit/>
          </a:bodyPr>
          <a:lstStyle/>
          <a:p>
            <a:pPr algn="l">
              <a:lnSpc>
                <a:spcPct val="112000"/>
              </a:lnSpc>
              <a:spcAft>
                <a:spcPts val="500"/>
              </a:spcAft>
            </a:pPr>
            <a:r>
              <a:rPr sz="940" b="0" i="0">
                <a:solidFill>
                  <a:srgbClr val="0C1408"/>
                </a:solidFill>
                <a:latin typeface="Arial"/>
              </a:rPr>
              <a:t>Affordability gate at one third of income.</a:t>
            </a:r>
          </a:p>
          <a:p>
            <a:pPr algn="l">
              <a:lnSpc>
                <a:spcPct val="112000"/>
              </a:lnSpc>
              <a:spcAft>
                <a:spcPts val="500"/>
              </a:spcAft>
            </a:pPr>
            <a:r>
              <a:rPr sz="940" b="0" i="0">
                <a:solidFill>
                  <a:srgbClr val="0C1408"/>
                </a:solidFill>
                <a:latin typeface="Arial"/>
              </a:rPr>
              <a:t>Forward liability gate on early seats.</a:t>
            </a:r>
          </a:p>
          <a:p>
            <a:pPr algn="l">
              <a:lnSpc>
                <a:spcPct val="112000"/>
              </a:lnSpc>
              <a:spcAft>
                <a:spcPts val="500"/>
              </a:spcAft>
            </a:pPr>
            <a:r>
              <a:rPr sz="940" b="0" i="0">
                <a:solidFill>
                  <a:srgbClr val="0C1408"/>
                </a:solidFill>
                <a:latin typeface="Arial"/>
              </a:rPr>
              <a:t>Band confinement and the new member rule.</a:t>
            </a:r>
          </a:p>
          <a:p>
            <a:pPr algn="l">
              <a:lnSpc>
                <a:spcPct val="112000"/>
              </a:lnSpc>
              <a:spcAft>
                <a:spcPts val="500"/>
              </a:spcAft>
            </a:pPr>
            <a:r>
              <a:rPr sz="940" b="0" i="0">
                <a:solidFill>
                  <a:srgbClr val="0C1408"/>
                </a:solidFill>
                <a:latin typeface="Arial"/>
              </a:rPr>
              <a:t>Host vetting of every member.</a:t>
            </a:r>
          </a:p>
          <a:p>
            <a:pPr algn="l">
              <a:lnSpc>
                <a:spcPct val="112000"/>
              </a:lnSpc>
              <a:spcAft>
                <a:spcPts val="500"/>
              </a:spcAft>
            </a:pPr>
            <a:r>
              <a:rPr sz="940" b="0" i="0">
                <a:solidFill>
                  <a:srgbClr val="0C1408"/>
                </a:solidFill>
                <a:latin typeface="Arial"/>
              </a:rPr>
              <a:t>Mutual guarantee and a ten clause undertaking.</a:t>
            </a:r>
          </a:p>
          <a:p>
            <a:pPr algn="l">
              <a:lnSpc>
                <a:spcPct val="112000"/>
              </a:lnSpc>
              <a:spcAft>
                <a:spcPts val="500"/>
              </a:spcAft>
            </a:pPr>
            <a:r>
              <a:rPr sz="940" b="0" i="0">
                <a:solidFill>
                  <a:srgbClr val="0C1408"/>
                </a:solidFill>
                <a:latin typeface="Arial"/>
              </a:rPr>
              <a:t>Guarantee cheque, 80 per cent off the fee.</a:t>
            </a:r>
          </a:p>
          <a:p>
            <a:pPr algn="l">
              <a:lnSpc>
                <a:spcPct val="112000"/>
              </a:lnSpc>
              <a:spcAft>
                <a:spcPts val="500"/>
              </a:spcAft>
            </a:pPr>
            <a:r>
              <a:rPr sz="940" b="0" i="0">
                <a:solidFill>
                  <a:srgbClr val="0C1408"/>
                </a:solidFill>
                <a:latin typeface="Arial"/>
              </a:rPr>
              <a:t>Salary account on stranger rosters.</a:t>
            </a:r>
          </a:p>
          <a:p>
            <a:pPr algn="l">
              <a:lnSpc>
                <a:spcPct val="112000"/>
              </a:lnSpc>
              <a:spcAft>
                <a:spcPts val="500"/>
              </a:spcAft>
            </a:pPr>
            <a:r>
              <a:rPr sz="940" b="0" i="0">
                <a:solidFill>
                  <a:srgbClr val="0C1408"/>
                </a:solidFill>
                <a:latin typeface="Arial"/>
              </a:rPr>
              <a:t>Collection aligned to the inferred pay day.</a:t>
            </a:r>
          </a:p>
          <a:p>
            <a:pPr algn="l">
              <a:lnSpc>
                <a:spcPct val="112000"/>
              </a:lnSpc>
              <a:spcAft>
                <a:spcPts val="500"/>
              </a:spcAft>
            </a:pPr>
            <a:r>
              <a:rPr sz="940" b="0" i="0">
                <a:solidFill>
                  <a:srgbClr val="0C1408"/>
                </a:solidFill>
                <a:latin typeface="Arial"/>
              </a:rPr>
              <a:t>Reminders that escalate before the due date.</a:t>
            </a:r>
          </a:p>
          <a:p>
            <a:pPr algn="l">
              <a:lnSpc>
                <a:spcPct val="112000"/>
              </a:lnSpc>
              <a:spcAft>
                <a:spcPts val="500"/>
              </a:spcAft>
            </a:pPr>
            <a:r>
              <a:rPr sz="940" b="0" i="0">
                <a:solidFill>
                  <a:srgbClr val="0C1408"/>
                </a:solidFill>
                <a:latin typeface="Arial"/>
              </a:rPr>
              <a:t>Feature lock while a default is open.</a:t>
            </a:r>
          </a:p>
        </p:txBody>
      </p:sp>
      <p:sp>
        <p:nvSpPr>
          <p:cNvPr id="14" name="Rectangle 13"/>
          <p:cNvSpPr/>
          <p:nvPr/>
        </p:nvSpPr>
        <p:spPr>
          <a:xfrm>
            <a:off x="4315967" y="1600200"/>
            <a:ext cx="3566160" cy="434340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15967" y="1600200"/>
            <a:ext cx="45720" cy="434340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0559" y="1709928"/>
            <a:ext cx="3291840"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Recovery</a:t>
            </a:r>
          </a:p>
        </p:txBody>
      </p:sp>
      <p:sp>
        <p:nvSpPr>
          <p:cNvPr id="17" name="TextBox 16"/>
          <p:cNvSpPr txBox="1"/>
          <p:nvPr/>
        </p:nvSpPr>
        <p:spPr>
          <a:xfrm>
            <a:off x="4480559" y="2002536"/>
            <a:ext cx="3291840" cy="3886200"/>
          </a:xfrm>
          <a:prstGeom prst="rect">
            <a:avLst/>
          </a:prstGeom>
          <a:noFill/>
        </p:spPr>
        <p:txBody>
          <a:bodyPr wrap="square" lIns="0" rIns="0" tIns="0" bIns="0" anchor="t">
            <a:spAutoFit/>
          </a:bodyPr>
          <a:lstStyle/>
          <a:p>
            <a:pPr algn="l">
              <a:lnSpc>
                <a:spcPct val="112000"/>
              </a:lnSpc>
              <a:spcAft>
                <a:spcPts val="500"/>
              </a:spcAft>
            </a:pPr>
            <a:r>
              <a:rPr sz="940" b="0" i="0">
                <a:solidFill>
                  <a:srgbClr val="0C1408"/>
                </a:solidFill>
                <a:latin typeface="Arial"/>
              </a:rPr>
              <a:t>Grace window, then a late ladder of three steps, each with a stated penalty.</a:t>
            </a:r>
          </a:p>
          <a:p>
            <a:pPr algn="l">
              <a:lnSpc>
                <a:spcPct val="112000"/>
              </a:lnSpc>
              <a:spcAft>
                <a:spcPts val="500"/>
              </a:spcAft>
            </a:pPr>
            <a:r>
              <a:rPr sz="940" b="0" i="0">
                <a:solidFill>
                  <a:srgbClr val="0C1408"/>
                </a:solidFill>
                <a:latin typeface="Arial"/>
              </a:rPr>
              <a:t>On Shariah labelled circles the penalty is given to charity at the end of the circle.</a:t>
            </a:r>
          </a:p>
          <a:p>
            <a:pPr algn="l">
              <a:lnSpc>
                <a:spcPct val="112000"/>
              </a:lnSpc>
              <a:spcAft>
                <a:spcPts val="500"/>
              </a:spcAft>
            </a:pPr>
            <a:r>
              <a:rPr sz="940" b="0" i="0">
                <a:solidFill>
                  <a:srgbClr val="0C1408"/>
                </a:solidFill>
                <a:latin typeface="Arial"/>
              </a:rPr>
              <a:t>A recovery case at the third step.</a:t>
            </a:r>
          </a:p>
          <a:p>
            <a:pPr algn="l">
              <a:lnSpc>
                <a:spcPct val="112000"/>
              </a:lnSpc>
              <a:spcAft>
                <a:spcPts val="500"/>
              </a:spcAft>
            </a:pPr>
            <a:r>
              <a:rPr sz="940" b="0" i="0">
                <a:solidFill>
                  <a:srgbClr val="0C1408"/>
                </a:solidFill>
                <a:latin typeface="Arial"/>
              </a:rPr>
              <a:t>Contact routes to a hardship statement, a waived fine and a revised date.</a:t>
            </a:r>
          </a:p>
          <a:p>
            <a:pPr algn="l">
              <a:lnSpc>
                <a:spcPct val="112000"/>
              </a:lnSpc>
              <a:spcAft>
                <a:spcPts val="500"/>
              </a:spcAft>
            </a:pPr>
            <a:r>
              <a:rPr sz="940" b="0" i="0">
                <a:solidFill>
                  <a:srgbClr val="0C1408"/>
                </a:solidFill>
                <a:latin typeface="Arial"/>
              </a:rPr>
              <a:t>Silence routes to restitution, then the guarantee and any takaful claim.</a:t>
            </a:r>
          </a:p>
          <a:p>
            <a:pPr algn="l">
              <a:lnSpc>
                <a:spcPct val="112000"/>
              </a:lnSpc>
              <a:spcAft>
                <a:spcPts val="500"/>
              </a:spcAft>
            </a:pPr>
            <a:r>
              <a:rPr sz="940" b="0" i="0">
                <a:solidFill>
                  <a:srgbClr val="0C1408"/>
                </a:solidFill>
                <a:latin typeface="Arial"/>
              </a:rPr>
              <a:t>A summary suit on the undertaking is the last step.</a:t>
            </a:r>
          </a:p>
          <a:p>
            <a:pPr algn="l">
              <a:lnSpc>
                <a:spcPct val="112000"/>
              </a:lnSpc>
              <a:spcAft>
                <a:spcPts val="500"/>
              </a:spcAft>
            </a:pPr>
            <a:r>
              <a:rPr sz="940" b="0" i="0">
                <a:solidFill>
                  <a:srgbClr val="0C1408"/>
                </a:solidFill>
                <a:latin typeface="Arial"/>
              </a:rPr>
              <a:t>No collection calls and no contact lists, at any stage.</a:t>
            </a:r>
          </a:p>
        </p:txBody>
      </p:sp>
      <p:sp>
        <p:nvSpPr>
          <p:cNvPr id="18" name="Rectangle 17"/>
          <p:cNvSpPr/>
          <p:nvPr/>
        </p:nvSpPr>
        <p:spPr>
          <a:xfrm>
            <a:off x="8065007" y="1600200"/>
            <a:ext cx="3557016" cy="434340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65007" y="1600200"/>
            <a:ext cx="45720" cy="434340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599" y="1709928"/>
            <a:ext cx="3282696"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Exit ladder</a:t>
            </a:r>
          </a:p>
        </p:txBody>
      </p:sp>
      <p:sp>
        <p:nvSpPr>
          <p:cNvPr id="21" name="TextBox 20"/>
          <p:cNvSpPr txBox="1"/>
          <p:nvPr/>
        </p:nvSpPr>
        <p:spPr>
          <a:xfrm>
            <a:off x="8229599" y="2002536"/>
            <a:ext cx="3282696" cy="3886200"/>
          </a:xfrm>
          <a:prstGeom prst="rect">
            <a:avLst/>
          </a:prstGeom>
          <a:noFill/>
        </p:spPr>
        <p:txBody>
          <a:bodyPr wrap="square" lIns="0" rIns="0" tIns="0" bIns="0" anchor="t">
            <a:spAutoFit/>
          </a:bodyPr>
          <a:lstStyle/>
          <a:p>
            <a:pPr algn="l">
              <a:lnSpc>
                <a:spcPct val="112000"/>
              </a:lnSpc>
              <a:spcAft>
                <a:spcPts val="500"/>
              </a:spcAft>
            </a:pPr>
            <a:r>
              <a:rPr sz="919" b="0" i="0">
                <a:solidFill>
                  <a:srgbClr val="0C1408"/>
                </a:solidFill>
                <a:latin typeface="Arial"/>
              </a:rPr>
              <a:t>1. Window withdrawal: inside the 24 hour confirming window, free and unrecorded.</a:t>
            </a:r>
          </a:p>
          <a:p>
            <a:pPr algn="l">
              <a:lnSpc>
                <a:spcPct val="112000"/>
              </a:lnSpc>
              <a:spcAft>
                <a:spcPts val="500"/>
              </a:spcAft>
            </a:pPr>
            <a:r>
              <a:rPr sz="919" b="0" i="0">
                <a:solidFill>
                  <a:srgbClr val="0C1408"/>
                </a:solidFill>
                <a:latin typeface="Arial"/>
              </a:rPr>
              <a:t>2. Substitution: a replacement takes the seat at no premium.</a:t>
            </a:r>
          </a:p>
          <a:p>
            <a:pPr algn="l">
              <a:lnSpc>
                <a:spcPct val="112000"/>
              </a:lnSpc>
              <a:spcAft>
                <a:spcPts val="500"/>
              </a:spcAft>
            </a:pPr>
            <a:r>
              <a:rPr sz="919" b="0" i="0">
                <a:solidFill>
                  <a:srgbClr val="0C1408"/>
                </a:solidFill>
                <a:latin typeface="Arial"/>
              </a:rPr>
              <a:t>3. Group approved exit: a 72 hour vote, majority of votes cast, 50 per cent quorum.</a:t>
            </a:r>
          </a:p>
          <a:p>
            <a:pPr algn="l">
              <a:lnSpc>
                <a:spcPct val="112000"/>
              </a:lnSpc>
              <a:spcAft>
                <a:spcPts val="500"/>
              </a:spcAft>
            </a:pPr>
            <a:r>
              <a:rPr sz="919" b="0" i="0">
                <a:solidFill>
                  <a:srgbClr val="0C1408"/>
                </a:solidFill>
                <a:latin typeface="Arial"/>
              </a:rPr>
              <a:t>4. Hardship exit: a recorded statement, the fine waived, annotated as hardship and not default.</a:t>
            </a:r>
          </a:p>
          <a:p>
            <a:pPr algn="l">
              <a:lnSpc>
                <a:spcPct val="112000"/>
              </a:lnSpc>
              <a:spcAft>
                <a:spcPts val="500"/>
              </a:spcAft>
            </a:pPr>
            <a:r>
              <a:rPr sz="919" b="0" i="0">
                <a:solidFill>
                  <a:srgbClr val="0C1408"/>
                </a:solidFill>
                <a:latin typeface="Arial"/>
              </a:rPr>
              <a:t>5. Abandonment: not an exit; the recovery path applies.</a:t>
            </a:r>
          </a:p>
          <a:p>
            <a:pPr algn="l">
              <a:lnSpc>
                <a:spcPct val="112000"/>
              </a:lnSpc>
              <a:spcAft>
                <a:spcPts val="500"/>
              </a:spcAft>
            </a:pPr>
            <a:r>
              <a:rPr sz="919" b="0" i="0">
                <a:solidFill>
                  <a:srgbClr val="0C1408"/>
                </a:solidFill>
                <a:latin typeface="Arial"/>
              </a:rPr>
              <a:t>Where no replacement is found, each member who has already collected owes the leaver one contribution, settled at completion.</a:t>
            </a:r>
          </a:p>
        </p:txBody>
      </p:sp>
      <p:sp>
        <p:nvSpPr>
          <p:cNvPr id="22" name="TextBox 21"/>
          <p:cNvSpPr txBox="1"/>
          <p:nvPr/>
        </p:nvSpPr>
        <p:spPr>
          <a:xfrm>
            <a:off x="566928" y="6053328"/>
            <a:ext cx="11057839"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verified against exit-ladder.ts. Defaulting on a signed guarantee is a civil matter: recovery is by summary suit under Order XXXVII of the Code of Civil Procedure and needs a decree first.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05 · CREDIT</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The bureau link</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Committee repayment history exists in no bureau today. Halqa can supply it through a private bureau without a financial licence.</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24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32</a:t>
            </a:r>
          </a:p>
        </p:txBody>
      </p:sp>
      <p:sp>
        <p:nvSpPr>
          <p:cNvPr id="10" name="TextBox 9"/>
          <p:cNvSpPr txBox="1"/>
          <p:nvPr/>
        </p:nvSpPr>
        <p:spPr>
          <a:xfrm>
            <a:off x="566928" y="1645920"/>
            <a:ext cx="6400800" cy="365760"/>
          </a:xfrm>
          <a:prstGeom prst="rect">
            <a:avLst/>
          </a:prstGeom>
          <a:noFill/>
        </p:spPr>
        <p:txBody>
          <a:bodyPr wrap="square" lIns="0" rIns="0" tIns="0" bIns="0">
            <a:spAutoFit/>
          </a:bodyPr>
          <a:lstStyle/>
          <a:p>
            <a:pPr>
              <a:lnSpc>
                <a:spcPct val="105000"/>
              </a:lnSpc>
              <a:spcAft>
                <a:spcPts val="800"/>
              </a:spcAft>
            </a:pPr>
            <a:r>
              <a:rPr sz="1000" b="1">
                <a:solidFill>
                  <a:srgbClr val="6DC72A"/>
                </a:solidFill>
                <a:latin typeface="Georgia"/>
              </a:rPr>
              <a:t>|  </a:t>
            </a:r>
            <a:r>
              <a:rPr sz="1000" b="1">
                <a:solidFill>
                  <a:srgbClr val="22450C"/>
                </a:solidFill>
                <a:latin typeface="Arial"/>
              </a:rPr>
              <a:t>Route to a report.  </a:t>
            </a:r>
            <a:r>
              <a:rPr sz="1000">
                <a:solidFill>
                  <a:srgbClr val="0C1408"/>
                </a:solidFill>
                <a:latin typeface="Arial"/>
              </a:rPr>
              <a:t>On the member’s written or electronic instruction under section 19(1)(b) of the Credit Bureaus Act 2015. Section 19(1)(a) is confined to credit institutions.</a:t>
            </a:r>
          </a:p>
          <a:p>
            <a:pPr>
              <a:lnSpc>
                <a:spcPct val="105000"/>
              </a:lnSpc>
              <a:spcAft>
                <a:spcPts val="800"/>
              </a:spcAft>
            </a:pPr>
            <a:r>
              <a:rPr sz="1000" b="1">
                <a:solidFill>
                  <a:srgbClr val="6DC72A"/>
                </a:solidFill>
                <a:latin typeface="Georgia"/>
              </a:rPr>
              <a:t>|  </a:t>
            </a:r>
            <a:r>
              <a:rPr sz="1000" b="1">
                <a:solidFill>
                  <a:srgbClr val="22450C"/>
                </a:solidFill>
                <a:latin typeface="Arial"/>
              </a:rPr>
              <a:t>Bureau.  </a:t>
            </a:r>
            <a:r>
              <a:rPr sz="1000">
                <a:solidFill>
                  <a:srgbClr val="0C1408"/>
                </a:solidFill>
                <a:latin typeface="Arial"/>
              </a:rPr>
              <a:t>A subscriber agreement with TASDEEQ, with DataCheck as the alternate. Neither is contracted.</a:t>
            </a:r>
          </a:p>
          <a:p>
            <a:pPr>
              <a:lnSpc>
                <a:spcPct val="105000"/>
              </a:lnSpc>
              <a:spcAft>
                <a:spcPts val="800"/>
              </a:spcAft>
            </a:pPr>
            <a:r>
              <a:rPr sz="1000" b="1">
                <a:solidFill>
                  <a:srgbClr val="6DC72A"/>
                </a:solidFill>
                <a:latin typeface="Georgia"/>
              </a:rPr>
              <a:t>|  </a:t>
            </a:r>
            <a:r>
              <a:rPr sz="1000" b="1">
                <a:solidFill>
                  <a:srgbClr val="22450C"/>
                </a:solidFill>
                <a:latin typeface="Arial"/>
              </a:rPr>
              <a:t>State register.  </a:t>
            </a:r>
            <a:r>
              <a:rPr sz="1000">
                <a:solidFill>
                  <a:srgbClr val="0C1408"/>
                </a:solidFill>
                <a:latin typeface="Arial"/>
              </a:rPr>
              <a:t>The State Bank’s eCIB is closed to non-banks and is not a source.</a:t>
            </a:r>
          </a:p>
          <a:p>
            <a:pPr>
              <a:lnSpc>
                <a:spcPct val="105000"/>
              </a:lnSpc>
              <a:spcAft>
                <a:spcPts val="800"/>
              </a:spcAft>
            </a:pPr>
            <a:r>
              <a:rPr sz="1000" b="1">
                <a:solidFill>
                  <a:srgbClr val="6DC72A"/>
                </a:solidFill>
                <a:latin typeface="Georgia"/>
              </a:rPr>
              <a:t>|  </a:t>
            </a:r>
            <a:r>
              <a:rPr sz="1000" b="1">
                <a:solidFill>
                  <a:srgbClr val="22450C"/>
                </a:solidFill>
                <a:latin typeface="Arial"/>
              </a:rPr>
              <a:t>Writing back.  </a:t>
            </a:r>
            <a:r>
              <a:rPr sz="1000">
                <a:solidFill>
                  <a:srgbClr val="0C1408"/>
                </a:solidFill>
                <a:latin typeface="Arial"/>
              </a:rPr>
              <a:t>Repayment history is furnished once the Federal Government notifies furnishers that are not credit institutions, under section 11(1).</a:t>
            </a:r>
          </a:p>
          <a:p>
            <a:pPr>
              <a:lnSpc>
                <a:spcPct val="105000"/>
              </a:lnSpc>
              <a:spcAft>
                <a:spcPts val="800"/>
              </a:spcAft>
            </a:pPr>
            <a:r>
              <a:rPr sz="1000" b="1">
                <a:solidFill>
                  <a:srgbClr val="6DC72A"/>
                </a:solidFill>
                <a:latin typeface="Georgia"/>
              </a:rPr>
              <a:t>|  </a:t>
            </a:r>
            <a:r>
              <a:rPr sz="1000" b="1">
                <a:solidFill>
                  <a:srgbClr val="22450C"/>
                </a:solidFill>
                <a:latin typeface="Arial"/>
              </a:rPr>
              <a:t>Adverse action.  </a:t>
            </a:r>
            <a:r>
              <a:rPr sz="1000">
                <a:solidFill>
                  <a:srgbClr val="0C1408"/>
                </a:solidFill>
                <a:latin typeface="Arial"/>
              </a:rPr>
              <a:t>Where a report restricts a seat, the member receives the pack that section 31 requires.</a:t>
            </a:r>
          </a:p>
          <a:p>
            <a:pPr>
              <a:lnSpc>
                <a:spcPct val="105000"/>
              </a:lnSpc>
              <a:spcAft>
                <a:spcPts val="800"/>
              </a:spcAft>
            </a:pPr>
            <a:r>
              <a:rPr sz="1000" b="1">
                <a:solidFill>
                  <a:srgbClr val="6DC72A"/>
                </a:solidFill>
                <a:latin typeface="Georgia"/>
              </a:rPr>
              <a:t>|  </a:t>
            </a:r>
            <a:r>
              <a:rPr sz="1000" b="1">
                <a:solidFill>
                  <a:srgbClr val="22450C"/>
                </a:solidFill>
                <a:latin typeface="Arial"/>
              </a:rPr>
              <a:t>Scale.  </a:t>
            </a:r>
            <a:r>
              <a:rPr sz="1000">
                <a:solidFill>
                  <a:srgbClr val="0C1408"/>
                </a:solidFill>
                <a:latin typeface="Arial"/>
              </a:rPr>
              <a:t>Reports arrive on the TASDEEQ scale of 200 to 600 and are held apart from the internal score of 300 to 850.</a:t>
            </a:r>
          </a:p>
        </p:txBody>
      </p:sp>
      <p:sp>
        <p:nvSpPr>
          <p:cNvPr id="11" name="Rectangle 10"/>
          <p:cNvSpPr/>
          <p:nvPr/>
        </p:nvSpPr>
        <p:spPr>
          <a:xfrm>
            <a:off x="7333488" y="1645920"/>
            <a:ext cx="4288536" cy="237744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33488" y="1645920"/>
            <a:ext cx="45720" cy="237744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0" y="1755648"/>
            <a:ext cx="4014216"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Measured elsewhere</a:t>
            </a:r>
          </a:p>
        </p:txBody>
      </p:sp>
      <p:sp>
        <p:nvSpPr>
          <p:cNvPr id="14" name="TextBox 13"/>
          <p:cNvSpPr txBox="1"/>
          <p:nvPr/>
        </p:nvSpPr>
        <p:spPr>
          <a:xfrm>
            <a:off x="7498080" y="2048256"/>
            <a:ext cx="4014216" cy="1920240"/>
          </a:xfrm>
          <a:prstGeom prst="rect">
            <a:avLst/>
          </a:prstGeom>
          <a:noFill/>
        </p:spPr>
        <p:txBody>
          <a:bodyPr wrap="square" lIns="0" rIns="0" tIns="0" bIns="0" anchor="t">
            <a:spAutoFit/>
          </a:bodyPr>
          <a:lstStyle/>
          <a:p>
            <a:pPr algn="l">
              <a:lnSpc>
                <a:spcPct val="112000"/>
              </a:lnSpc>
              <a:spcAft>
                <a:spcPts val="500"/>
              </a:spcAft>
            </a:pPr>
            <a:r>
              <a:rPr sz="980" b="0" i="0">
                <a:solidFill>
                  <a:srgbClr val="0C1408"/>
                </a:solidFill>
                <a:latin typeface="Arial"/>
              </a:rPr>
              <a:t>Mission Asset Fund, a San Francisco non-profit, runs lending circles on the Mexican tanda and reports each payment to the three US bureaus. It reports an average score increase of 168 points for participants.</a:t>
            </a:r>
          </a:p>
        </p:txBody>
      </p:sp>
      <p:sp>
        <p:nvSpPr>
          <p:cNvPr id="15" name="Rectangle 14"/>
          <p:cNvSpPr/>
          <p:nvPr/>
        </p:nvSpPr>
        <p:spPr>
          <a:xfrm>
            <a:off x="7333488" y="4160520"/>
            <a:ext cx="4288536" cy="160020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33488" y="4160520"/>
            <a:ext cx="45720" cy="160020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0" y="4270248"/>
            <a:ext cx="4014216"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Precedent at home</a:t>
            </a:r>
          </a:p>
        </p:txBody>
      </p:sp>
      <p:sp>
        <p:nvSpPr>
          <p:cNvPr id="18" name="TextBox 17"/>
          <p:cNvSpPr txBox="1"/>
          <p:nvPr/>
        </p:nvSpPr>
        <p:spPr>
          <a:xfrm>
            <a:off x="7498080" y="4562856"/>
            <a:ext cx="4014216" cy="1143000"/>
          </a:xfrm>
          <a:prstGeom prst="rect">
            <a:avLst/>
          </a:prstGeom>
          <a:noFill/>
        </p:spPr>
        <p:txBody>
          <a:bodyPr wrap="square" lIns="0" rIns="0" tIns="0" bIns="0" anchor="t">
            <a:spAutoFit/>
          </a:bodyPr>
          <a:lstStyle/>
          <a:p>
            <a:pPr algn="l">
              <a:lnSpc>
                <a:spcPct val="112000"/>
              </a:lnSpc>
              <a:spcAft>
                <a:spcPts val="500"/>
              </a:spcAft>
            </a:pPr>
            <a:r>
              <a:rPr sz="980" b="0" i="0">
                <a:solidFill>
                  <a:srgbClr val="0C1408"/>
                </a:solidFill>
                <a:latin typeface="Arial"/>
              </a:rPr>
              <a:t>Karandaaz, a non-bank, has signed a data agreement with TASDEEQ.</a:t>
            </a:r>
          </a:p>
        </p:txBody>
      </p:sp>
      <p:sp>
        <p:nvSpPr>
          <p:cNvPr id="19" name="TextBox 18"/>
          <p:cNvSpPr txBox="1"/>
          <p:nvPr/>
        </p:nvSpPr>
        <p:spPr>
          <a:xfrm>
            <a:off x="566928" y="5943600"/>
            <a:ext cx="11057839"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verified for the statute; reported for Mission Asset Fund and Karandaaz.</a:t>
            </a:r>
          </a:p>
        </p:txBody>
      </p:sp>
      <p:cxnSp>
        <p:nvCxnSpPr>
          <p:cNvPr id="20" name="Connector 19"/>
          <p:cNvCxnSpPr/>
          <p:nvPr/>
        </p:nvCxnSpPr>
        <p:spPr>
          <a:xfrm>
            <a:off x="566928" y="6217920"/>
            <a:ext cx="0" cy="155448"/>
          </a:xfrm>
          <a:prstGeom prst="line">
            <a:avLst/>
          </a:prstGeom>
          <a:ln w="27940">
            <a:solidFill>
              <a:srgbClr val="6DC72A"/>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40080" y="6217920"/>
            <a:ext cx="7315200" cy="182880"/>
          </a:xfrm>
          <a:prstGeom prst="rect">
            <a:avLst/>
          </a:prstGeom>
          <a:noFill/>
        </p:spPr>
        <p:txBody>
          <a:bodyPr wrap="square" lIns="0" rIns="0" tIns="0" bIns="0" anchor="t">
            <a:spAutoFit/>
          </a:bodyPr>
          <a:lstStyle/>
          <a:p>
            <a:pPr algn="l">
              <a:lnSpc>
                <a:spcPct val="100000"/>
              </a:lnSpc>
              <a:spcAft>
                <a:spcPts val="400"/>
              </a:spcAft>
            </a:pPr>
            <a:r>
              <a:rPr sz="819" b="1" i="0" spc="80">
                <a:solidFill>
                  <a:srgbClr val="22450C"/>
                </a:solidFill>
                <a:latin typeface="Arial"/>
              </a:rPr>
              <a:t>TO BUILD  ·  BUREAU SUBSCRIBER AGREEMENT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05 · LATER STAGES</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Cover and savings sit with licensed institutions</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Each opens only when its registration is in hand, and neither places member money with Halqa.</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24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33</a:t>
            </a:r>
          </a:p>
        </p:txBody>
      </p:sp>
      <p:sp>
        <p:nvSpPr>
          <p:cNvPr id="10" name="Rectangle 9"/>
          <p:cNvSpPr/>
          <p:nvPr/>
        </p:nvSpPr>
        <p:spPr>
          <a:xfrm>
            <a:off x="566928" y="1600200"/>
            <a:ext cx="5394960" cy="420624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1600200"/>
            <a:ext cx="45720" cy="420624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709928"/>
            <a:ext cx="5120640"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Cover</a:t>
            </a:r>
          </a:p>
        </p:txBody>
      </p:sp>
      <p:sp>
        <p:nvSpPr>
          <p:cNvPr id="13" name="TextBox 12"/>
          <p:cNvSpPr txBox="1"/>
          <p:nvPr/>
        </p:nvSpPr>
        <p:spPr>
          <a:xfrm>
            <a:off x="731520" y="2002536"/>
            <a:ext cx="5120640" cy="3749040"/>
          </a:xfrm>
          <a:prstGeom prst="rect">
            <a:avLst/>
          </a:prstGeom>
          <a:noFill/>
        </p:spPr>
        <p:txBody>
          <a:bodyPr wrap="square" lIns="0" rIns="0" tIns="0" bIns="0" anchor="t">
            <a:spAutoFit/>
          </a:bodyPr>
          <a:lstStyle/>
          <a:p>
            <a:pPr algn="l">
              <a:lnSpc>
                <a:spcPct val="112000"/>
              </a:lnSpc>
              <a:spcAft>
                <a:spcPts val="500"/>
              </a:spcAft>
            </a:pPr>
            <a:r>
              <a:rPr sz="980" b="0" i="0">
                <a:solidFill>
                  <a:srgbClr val="0C1408"/>
                </a:solidFill>
                <a:latin typeface="Arial"/>
              </a:rPr>
              <a:t>Written and priced by a licensed takaful operator: Pak-Qatar Family Takaful or Salaam Takaful, none contracted.</a:t>
            </a:r>
          </a:p>
          <a:p>
            <a:pPr algn="l">
              <a:lnSpc>
                <a:spcPct val="112000"/>
              </a:lnSpc>
              <a:spcAft>
                <a:spcPts val="500"/>
              </a:spcAft>
            </a:pPr>
            <a:r>
              <a:rPr sz="980" b="0" i="0">
                <a:solidFill>
                  <a:srgbClr val="0C1408"/>
                </a:solidFill>
                <a:latin typeface="Arial"/>
              </a:rPr>
              <a:t>Contributions sit in the participants risk fund, which the participants own and the operator manages.</a:t>
            </a:r>
          </a:p>
          <a:p>
            <a:pPr algn="l">
              <a:lnSpc>
                <a:spcPct val="112000"/>
              </a:lnSpc>
              <a:spcAft>
                <a:spcPts val="500"/>
              </a:spcAft>
            </a:pPr>
            <a:r>
              <a:rPr sz="980" b="0" i="0">
                <a:solidFill>
                  <a:srgbClr val="0C1408"/>
                </a:solidFill>
                <a:latin typeface="Arial"/>
              </a:rPr>
              <a:t>Offered at creation and at join on standard circles; a fixed part of every payment on Hyper.</a:t>
            </a:r>
          </a:p>
          <a:p>
            <a:pPr algn="l">
              <a:lnSpc>
                <a:spcPct val="112000"/>
              </a:lnSpc>
              <a:spcAft>
                <a:spcPts val="500"/>
              </a:spcAft>
            </a:pPr>
            <a:r>
              <a:rPr sz="980" b="0" i="0">
                <a:solidFill>
                  <a:srgbClr val="0C1408"/>
                </a:solidFill>
                <a:latin typeface="Arial"/>
              </a:rPr>
              <a:t>Claims paid by the operator to the member left short, in that member’s own name.</a:t>
            </a:r>
          </a:p>
          <a:p>
            <a:pPr algn="l">
              <a:lnSpc>
                <a:spcPct val="112000"/>
              </a:lnSpc>
              <a:spcAft>
                <a:spcPts val="500"/>
              </a:spcAft>
            </a:pPr>
            <a:r>
              <a:rPr sz="980" b="0" i="0">
                <a:solidFill>
                  <a:srgbClr val="0C1408"/>
                </a:solidFill>
                <a:latin typeface="Arial"/>
              </a:rPr>
              <a:t>Halqa registers as a corporate insurance agent and earns a disclosed commission.</a:t>
            </a:r>
          </a:p>
        </p:txBody>
      </p:sp>
      <p:sp>
        <p:nvSpPr>
          <p:cNvPr id="14" name="Rectangle 13"/>
          <p:cNvSpPr/>
          <p:nvPr/>
        </p:nvSpPr>
        <p:spPr>
          <a:xfrm>
            <a:off x="6236208" y="1600200"/>
            <a:ext cx="5394960" cy="4206240"/>
          </a:xfrm>
          <a:prstGeom prst="rect">
            <a:avLst/>
          </a:prstGeom>
          <a:solidFill>
            <a:srgbClr val="E3F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6208" y="1600200"/>
            <a:ext cx="45720" cy="420624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1709928"/>
            <a:ext cx="5120640"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Savings</a:t>
            </a:r>
          </a:p>
        </p:txBody>
      </p:sp>
      <p:sp>
        <p:nvSpPr>
          <p:cNvPr id="17" name="TextBox 16"/>
          <p:cNvSpPr txBox="1"/>
          <p:nvPr/>
        </p:nvSpPr>
        <p:spPr>
          <a:xfrm>
            <a:off x="6400800" y="2002536"/>
            <a:ext cx="5120640" cy="3749040"/>
          </a:xfrm>
          <a:prstGeom prst="rect">
            <a:avLst/>
          </a:prstGeom>
          <a:noFill/>
        </p:spPr>
        <p:txBody>
          <a:bodyPr wrap="square" lIns="0" rIns="0" tIns="0" bIns="0" anchor="t">
            <a:spAutoFit/>
          </a:bodyPr>
          <a:lstStyle/>
          <a:p>
            <a:pPr algn="l">
              <a:lnSpc>
                <a:spcPct val="112000"/>
              </a:lnSpc>
              <a:spcAft>
                <a:spcPts val="500"/>
              </a:spcAft>
            </a:pPr>
            <a:r>
              <a:rPr sz="980" b="0" i="0">
                <a:solidFill>
                  <a:srgbClr val="0C1408"/>
                </a:solidFill>
                <a:latin typeface="Arial"/>
              </a:rPr>
              <a:t>A fund managed by a licensed asset manager, Mahaana Wealth as candidate, with the Central Depository Company of Pakistan as trustee. None contracted.</a:t>
            </a:r>
          </a:p>
          <a:p>
            <a:pPr algn="l">
              <a:lnSpc>
                <a:spcPct val="112000"/>
              </a:lnSpc>
              <a:spcAft>
                <a:spcPts val="500"/>
              </a:spcAft>
            </a:pPr>
            <a:r>
              <a:rPr sz="980" b="0" i="0">
                <a:solidFill>
                  <a:srgbClr val="0C1408"/>
                </a:solidFill>
                <a:latin typeface="Arial"/>
              </a:rPr>
              <a:t>The trust deed is executed on paper, because the Electronic Transactions Ordinance does not reach a trust (section 31(1)(c)).</a:t>
            </a:r>
          </a:p>
          <a:p>
            <a:pPr algn="l">
              <a:lnSpc>
                <a:spcPct val="112000"/>
              </a:lnSpc>
              <a:spcAft>
                <a:spcPts val="500"/>
              </a:spcAft>
            </a:pPr>
            <a:r>
              <a:rPr sz="980" b="0" i="0">
                <a:solidFill>
                  <a:srgbClr val="0C1408"/>
                </a:solidFill>
                <a:latin typeface="Arial"/>
              </a:rPr>
              <a:t>Money passes from the member to the trustee collection account directly, and units are issued in the member’s own name.</a:t>
            </a:r>
          </a:p>
          <a:p>
            <a:pPr algn="l">
              <a:lnSpc>
                <a:spcPct val="112000"/>
              </a:lnSpc>
              <a:spcAft>
                <a:spcPts val="500"/>
              </a:spcAft>
            </a:pPr>
            <a:r>
              <a:rPr sz="980" b="0" i="0">
                <a:solidFill>
                  <a:srgbClr val="0C1408"/>
                </a:solidFill>
                <a:latin typeface="Arial"/>
              </a:rPr>
              <a:t>Halqa is an execution-only distributor: nothing is recommended, and it takes no share of fund profit.</a:t>
            </a:r>
          </a:p>
        </p:txBody>
      </p:sp>
      <p:cxnSp>
        <p:nvCxnSpPr>
          <p:cNvPr id="18" name="Connector 17"/>
          <p:cNvCxnSpPr/>
          <p:nvPr/>
        </p:nvCxnSpPr>
        <p:spPr>
          <a:xfrm>
            <a:off x="566928" y="6053328"/>
            <a:ext cx="0" cy="155448"/>
          </a:xfrm>
          <a:prstGeom prst="line">
            <a:avLst/>
          </a:prstGeom>
          <a:ln w="27940">
            <a:solidFill>
              <a:srgbClr val="6DC72A"/>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40080" y="6053328"/>
            <a:ext cx="7315200" cy="182880"/>
          </a:xfrm>
          <a:prstGeom prst="rect">
            <a:avLst/>
          </a:prstGeom>
          <a:noFill/>
        </p:spPr>
        <p:txBody>
          <a:bodyPr wrap="square" lIns="0" rIns="0" tIns="0" bIns="0" anchor="t">
            <a:spAutoFit/>
          </a:bodyPr>
          <a:lstStyle/>
          <a:p>
            <a:pPr algn="l">
              <a:lnSpc>
                <a:spcPct val="100000"/>
              </a:lnSpc>
              <a:spcAft>
                <a:spcPts val="400"/>
              </a:spcAft>
            </a:pPr>
            <a:r>
              <a:rPr sz="819" b="1" i="0" spc="80">
                <a:solidFill>
                  <a:srgbClr val="22450C"/>
                </a:solidFill>
                <a:latin typeface="Arial"/>
              </a:rPr>
              <a:t>AGENT FOR COVER  ·  STAGE 2 FOR SAVINGS  ·  SOURCE: FEATURE LIST, REVISION 3, SECTIONS 20 AND 21</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2194560"/>
            <a:ext cx="1828800" cy="822960"/>
          </a:xfrm>
          <a:prstGeom prst="rect">
            <a:avLst/>
          </a:prstGeom>
          <a:noFill/>
        </p:spPr>
        <p:txBody>
          <a:bodyPr wrap="square" lIns="0" rIns="0" tIns="0" bIns="0" anchor="t">
            <a:spAutoFit/>
          </a:bodyPr>
          <a:lstStyle/>
          <a:p>
            <a:pPr algn="l">
              <a:lnSpc>
                <a:spcPct val="100000"/>
              </a:lnSpc>
              <a:spcAft>
                <a:spcPts val="400"/>
              </a:spcAft>
            </a:pPr>
            <a:r>
              <a:rPr sz="6000" b="0" i="0">
                <a:solidFill>
                  <a:srgbClr val="6DC72A"/>
                </a:solidFill>
                <a:latin typeface="Georgia"/>
              </a:rPr>
              <a:t>06</a:t>
            </a:r>
          </a:p>
        </p:txBody>
      </p:sp>
      <p:sp>
        <p:nvSpPr>
          <p:cNvPr id="5" name="TextBox 4"/>
          <p:cNvSpPr txBox="1"/>
          <p:nvPr/>
        </p:nvSpPr>
        <p:spPr>
          <a:xfrm>
            <a:off x="2560320" y="2359152"/>
            <a:ext cx="7498079" cy="731520"/>
          </a:xfrm>
          <a:prstGeom prst="rect">
            <a:avLst/>
          </a:prstGeom>
          <a:noFill/>
        </p:spPr>
        <p:txBody>
          <a:bodyPr wrap="square" lIns="0" rIns="0" tIns="0" bIns="0" anchor="t">
            <a:spAutoFit/>
          </a:bodyPr>
          <a:lstStyle/>
          <a:p>
            <a:pPr algn="l">
              <a:lnSpc>
                <a:spcPct val="100000"/>
              </a:lnSpc>
              <a:spcAft>
                <a:spcPts val="400"/>
              </a:spcAft>
            </a:pPr>
            <a:r>
              <a:rPr sz="3100" b="0" i="0">
                <a:solidFill>
                  <a:srgbClr val="F3FCE7"/>
                </a:solidFill>
                <a:latin typeface="Georgia"/>
              </a:rPr>
              <a:t>The evidence</a:t>
            </a:r>
          </a:p>
        </p:txBody>
      </p:sp>
      <p:cxnSp>
        <p:nvCxnSpPr>
          <p:cNvPr id="6" name="Connector 5"/>
          <p:cNvCxnSpPr/>
          <p:nvPr/>
        </p:nvCxnSpPr>
        <p:spPr>
          <a:xfrm>
            <a:off x="2606040" y="3127248"/>
            <a:ext cx="3429000" cy="0"/>
          </a:xfrm>
          <a:prstGeom prst="line">
            <a:avLst/>
          </a:prstGeom>
          <a:ln w="17780">
            <a:solidFill>
              <a:srgbClr val="8ADC4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2606040" y="3310128"/>
            <a:ext cx="6949440" cy="1463040"/>
          </a:xfrm>
          <a:prstGeom prst="rect">
            <a:avLst/>
          </a:prstGeom>
          <a:noFill/>
        </p:spPr>
        <p:txBody>
          <a:bodyPr wrap="square" lIns="0" rIns="0" tIns="0" bIns="0" anchor="t">
            <a:spAutoFit/>
          </a:bodyPr>
          <a:lstStyle/>
          <a:p>
            <a:pPr algn="l">
              <a:lnSpc>
                <a:spcPct val="110000"/>
              </a:lnSpc>
              <a:spcAft>
                <a:spcPts val="700"/>
              </a:spcAft>
            </a:pPr>
            <a:r>
              <a:rPr sz="1220" b="0" i="0">
                <a:solidFill>
                  <a:srgbClr val="D2E2C6"/>
                </a:solidFill>
                <a:latin typeface="Arial"/>
              </a:rPr>
              <a:t>Twenty-five attempts across nine markets, reduced to the same questions.</a:t>
            </a:r>
          </a:p>
          <a:p>
            <a:pPr algn="l">
              <a:lnSpc>
                <a:spcPct val="110000"/>
              </a:lnSpc>
              <a:spcAft>
                <a:spcPts val="700"/>
              </a:spcAft>
            </a:pPr>
            <a:r>
              <a:rPr sz="1220" b="0" i="0">
                <a:solidFill>
                  <a:srgbClr val="D2E2C6"/>
                </a:solidFill>
                <a:latin typeface="Arial"/>
              </a:rPr>
              <a:t>Every failure held member money, guaranteed it, or removed the rotation.</a:t>
            </a:r>
          </a:p>
          <a:p>
            <a:pPr algn="l">
              <a:lnSpc>
                <a:spcPct val="110000"/>
              </a:lnSpc>
              <a:spcAft>
                <a:spcPts val="700"/>
              </a:spcAft>
            </a:pPr>
            <a:r>
              <a:rPr sz="1220" b="0" i="0">
                <a:solidFill>
                  <a:srgbClr val="D2E2C6"/>
                </a:solidFill>
                <a:latin typeface="Arial"/>
              </a:rPr>
              <a:t>A national wallet launched a committee product in August 2026.</a:t>
            </a:r>
          </a:p>
        </p:txBody>
      </p:sp>
      <p:pic>
        <p:nvPicPr>
          <p:cNvPr id="8" name="Picture 7" descr="logo-mark.png"/>
          <p:cNvPicPr>
            <a:picLocks noChangeAspect="1"/>
          </p:cNvPicPr>
          <p:nvPr/>
        </p:nvPicPr>
        <p:blipFill>
          <a:blip r:embed="rId2"/>
          <a:stretch>
            <a:fillRect/>
          </a:stretch>
        </p:blipFill>
        <p:spPr>
          <a:xfrm>
            <a:off x="9357055" y="2468880"/>
            <a:ext cx="1920240" cy="192024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06 · THE ARCHIVE</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The finding, before the evidence</a:t>
            </a:r>
          </a:p>
        </p:txBody>
      </p:sp>
      <p:pic>
        <p:nvPicPr>
          <p:cNvPr id="5" name="Picture 4"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6" name="Connector 5"/>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24 SEPTEMBER 2026</a:t>
            </a:r>
          </a:p>
        </p:txBody>
      </p:sp>
      <p:sp>
        <p:nvSpPr>
          <p:cNvPr id="8" name="TextBox 7"/>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35</a:t>
            </a:r>
          </a:p>
        </p:txBody>
      </p:sp>
      <p:sp>
        <p:nvSpPr>
          <p:cNvPr id="9" name="TextBox 8"/>
          <p:cNvSpPr txBox="1"/>
          <p:nvPr/>
        </p:nvSpPr>
        <p:spPr>
          <a:xfrm>
            <a:off x="566928" y="1234440"/>
            <a:ext cx="11057839" cy="914400"/>
          </a:xfrm>
          <a:prstGeom prst="rect">
            <a:avLst/>
          </a:prstGeom>
          <a:noFill/>
        </p:spPr>
        <p:txBody>
          <a:bodyPr wrap="square" lIns="0" rIns="0" tIns="0" bIns="0" anchor="t">
            <a:spAutoFit/>
          </a:bodyPr>
          <a:lstStyle/>
          <a:p>
            <a:pPr algn="l">
              <a:lnSpc>
                <a:spcPct val="114000"/>
              </a:lnSpc>
              <a:spcAft>
                <a:spcPts val="400"/>
              </a:spcAft>
            </a:pPr>
            <a:r>
              <a:rPr sz="1340" b="0" i="0">
                <a:solidFill>
                  <a:srgbClr val="22450C"/>
                </a:solidFill>
                <a:latin typeface="Georgia"/>
              </a:rPr>
              <a:t>Of twenty-five attempts, every failure held member money, guaranteed member money, or removed the rotation that makes a committee a committee. Every durable success kept the money outside itself, or paid the full regulatory cost of holding it.</a:t>
            </a:r>
          </a:p>
        </p:txBody>
      </p:sp>
      <p:sp>
        <p:nvSpPr>
          <p:cNvPr id="10" name="TextBox 9"/>
          <p:cNvSpPr txBox="1"/>
          <p:nvPr/>
        </p:nvSpPr>
        <p:spPr>
          <a:xfrm>
            <a:off x="566928" y="2331720"/>
            <a:ext cx="11057839" cy="182880"/>
          </a:xfrm>
          <a:prstGeom prst="rect">
            <a:avLst/>
          </a:prstGeom>
          <a:noFill/>
        </p:spPr>
        <p:txBody>
          <a:bodyPr wrap="square" lIns="0" rIns="0" tIns="0" bIns="0" anchor="t">
            <a:spAutoFit/>
          </a:bodyPr>
          <a:lstStyle/>
          <a:p>
            <a:pPr algn="l">
              <a:lnSpc>
                <a:spcPct val="100000"/>
              </a:lnSpc>
              <a:spcAft>
                <a:spcPts val="400"/>
              </a:spcAft>
            </a:pPr>
            <a:r>
              <a:rPr sz="840" b="0" i="1" spc="30">
                <a:solidFill>
                  <a:srgbClr val="6F7B68"/>
                </a:solidFill>
                <a:latin typeface="Arial"/>
              </a:rPr>
              <a:t>EXHIBIT 29   The eight causes of failure</a:t>
            </a:r>
          </a:p>
        </p:txBody>
      </p:sp>
      <p:graphicFrame>
        <p:nvGraphicFramePr>
          <p:cNvPr id="11" name="Table 10"/>
          <p:cNvGraphicFramePr>
            <a:graphicFrameLocks noGrp="1"/>
          </p:cNvGraphicFramePr>
          <p:nvPr/>
        </p:nvGraphicFramePr>
        <p:xfrm>
          <a:off x="566928" y="2578608"/>
          <a:ext cx="11057837" cy="2962656"/>
        </p:xfrm>
        <a:graphic>
          <a:graphicData uri="http://schemas.openxmlformats.org/drawingml/2006/table">
            <a:tbl>
              <a:tblPr>
                <a:tableStyleId>{5C22544A-7EE6-4342-B048-85BDC9FD1C3A}</a:tableStyleId>
              </a:tblPr>
              <a:tblGrid>
                <a:gridCol w="552891"/>
                <a:gridCol w="4754870"/>
                <a:gridCol w="5750076"/>
              </a:tblGrid>
              <a:tr h="329184">
                <a:tc>
                  <a:txBody>
                    <a:bodyPr wrap="square"/>
                    <a:lstStyle/>
                    <a:p>
                      <a:pPr algn="l"/>
                      <a:r>
                        <a:rPr sz="900" b="1">
                          <a:solidFill>
                            <a:srgbClr val="F3FCE7"/>
                          </a:solidFill>
                          <a:latin typeface="Arial"/>
                        </a:rPr>
                        <a:t>#</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Cause</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Cases</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40" b="0">
                          <a:solidFill>
                            <a:srgbClr val="0C1408"/>
                          </a:solidFill>
                          <a:latin typeface="Arial"/>
                        </a:rPr>
                        <a:t>1</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Custody: holding the pool</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Punjab cooperatives, TAG, Sidra Humaid, Saradha, and the ceiling Oraan met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40" b="0">
                          <a:solidFill>
                            <a:srgbClr val="0C1408"/>
                          </a:solidFill>
                          <a:latin typeface="Arial"/>
                        </a:rPr>
                        <a:t>2</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Guarantee burden: the platform as payer of last resort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eMoneyPool</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40" b="0">
                          <a:solidFill>
                            <a:srgbClr val="0C1408"/>
                          </a:solidFill>
                          <a:latin typeface="Arial"/>
                        </a:rPr>
                        <a:t>3</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Stranger pooling: trust without a social graph</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Yahoo Tanda, Puddle, Oraan’s first model</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40" b="0">
                          <a:solidFill>
                            <a:srgbClr val="0C1408"/>
                          </a:solidFill>
                          <a:latin typeface="Arial"/>
                        </a:rPr>
                        <a:t>4</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Removing the credit half: no early pot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UBL Kommittee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40" b="0">
                          <a:solidFill>
                            <a:srgbClr val="0C1408"/>
                          </a:solidFill>
                          <a:latin typeface="Arial"/>
                        </a:rPr>
                        <a:t>5</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Adding interest to an instrument defined against it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UBL Kommittee, and every auction model in Pakistan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40" b="0">
                          <a:solidFill>
                            <a:srgbClr val="0C1408"/>
                          </a:solidFill>
                          <a:latin typeface="Arial"/>
                        </a:rPr>
                        <a:t>6</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A ledger without settlement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Udhaar Book, DigiKhata</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40" b="0">
                          <a:solidFill>
                            <a:srgbClr val="0C1408"/>
                          </a:solidFill>
                          <a:latin typeface="Arial"/>
                        </a:rPr>
                        <a:t>7</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Charging the member for access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Oraan’s first model, subscription committee applications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29184">
                <a:tc>
                  <a:txBody>
                    <a:bodyPr wrap="square"/>
                    <a:lstStyle/>
                    <a:p>
                      <a:pPr algn="l"/>
                      <a:r>
                        <a:rPr sz="940" b="0">
                          <a:solidFill>
                            <a:srgbClr val="0C1408"/>
                          </a:solidFill>
                          <a:latin typeface="Arial"/>
                        </a:rPr>
                        <a:t>8</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Rules written after a scandal, around another firm’s model</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India after Saradha; Pakistan after nano-lending</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12" name="TextBox 11"/>
          <p:cNvSpPr txBox="1"/>
          <p:nvPr/>
        </p:nvSpPr>
        <p:spPr>
          <a:xfrm>
            <a:off x="566928" y="5989320"/>
            <a:ext cx="11057839"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reported, from company disclosures, regulator actions and the press across nine markets.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06 · THE ARCHIVE</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The four models that work, and what each shows</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None competes for Halqa’s position. Each confirms one part of it.</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24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36</a:t>
            </a:r>
          </a:p>
        </p:txBody>
      </p:sp>
      <p:graphicFrame>
        <p:nvGraphicFramePr>
          <p:cNvPr id="10" name="Table 9"/>
          <p:cNvGraphicFramePr>
            <a:graphicFrameLocks noGrp="1"/>
          </p:cNvGraphicFramePr>
          <p:nvPr/>
        </p:nvGraphicFramePr>
        <p:xfrm>
          <a:off x="566928" y="1572768"/>
          <a:ext cx="11057836" cy="4114800"/>
        </p:xfrm>
        <a:graphic>
          <a:graphicData uri="http://schemas.openxmlformats.org/drawingml/2006/table">
            <a:tbl>
              <a:tblPr>
                <a:tableStyleId>{5C22544A-7EE6-4342-B048-85BDC9FD1C3A}</a:tableStyleId>
              </a:tblPr>
              <a:tblGrid>
                <a:gridCol w="1879832"/>
                <a:gridCol w="2764459"/>
                <a:gridCol w="3317351"/>
                <a:gridCol w="3096194"/>
              </a:tblGrid>
              <a:tr h="822960">
                <a:tc>
                  <a:txBody>
                    <a:bodyPr wrap="square"/>
                    <a:lstStyle/>
                    <a:p>
                      <a:pPr algn="l"/>
                      <a:r>
                        <a:rPr sz="900" b="1">
                          <a:solidFill>
                            <a:srgbClr val="F3FCE7"/>
                          </a:solidFill>
                          <a:latin typeface="Arial"/>
                        </a:rPr>
                        <a:t>Case</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Reported scale</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Mechanism</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What it shows</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822960">
                <a:tc>
                  <a:txBody>
                    <a:bodyPr wrap="square"/>
                    <a:lstStyle/>
                    <a:p>
                      <a:pPr algn="l"/>
                      <a:r>
                        <a:rPr sz="900" b="1">
                          <a:solidFill>
                            <a:srgbClr val="22450C"/>
                          </a:solidFill>
                          <a:latin typeface="Arial"/>
                        </a:rPr>
                        <a:t>Money Fellows, Egypt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8 million downloads; about $1.5 billion processed across 2 million circles; profitable in 2025</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Custody under a licence. The seat is priced, and the platform covers defaults from its own capital</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Digital committees reach millions and profit. A priced seat and a platform guarantee need a licence; Halqa carries neither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822960">
                <a:tc>
                  <a:txBody>
                    <a:bodyPr wrap="square"/>
                    <a:lstStyle/>
                    <a:p>
                      <a:pPr algn="l"/>
                      <a:r>
                        <a:rPr sz="900" b="1">
                          <a:solidFill>
                            <a:srgbClr val="22450C"/>
                          </a:solidFill>
                          <a:latin typeface="Arial"/>
                        </a:rPr>
                        <a:t>Hakbah, Saudi Arabia</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1.3 million registered users; a SAMA sandbox permit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Treated the jam’iyya as an institution to respect, with the central bank as first partner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Central banks regulate the activity in comparable markets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822960">
                <a:tc>
                  <a:txBody>
                    <a:bodyPr wrap="square"/>
                    <a:lstStyle/>
                    <a:p>
                      <a:pPr algn="l"/>
                      <a:r>
                        <a:rPr sz="900" b="1">
                          <a:solidFill>
                            <a:srgbClr val="22450C"/>
                          </a:solidFill>
                          <a:latin typeface="Arial"/>
                        </a:rPr>
                        <a:t>Mapan, Indonesia</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Acquired by GO-JEK in 2017</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Village organisers form and run circles; the pot is often delivered as goods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The unit of growth is the organiser, paid for organising</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822960">
                <a:tc>
                  <a:txBody>
                    <a:bodyPr wrap="square"/>
                    <a:lstStyle/>
                    <a:p>
                      <a:pPr algn="l"/>
                      <a:r>
                        <a:rPr sz="900" b="1">
                          <a:solidFill>
                            <a:srgbClr val="22450C"/>
                          </a:solidFill>
                          <a:latin typeface="Arial"/>
                        </a:rPr>
                        <a:t>The Money Club, India</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About 200,000 users and 17,000 clubs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Members start small; clean history unlocks larger clubs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Seats, and in time amounts, should scale with demonstrated history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11" name="TextBox 10"/>
          <p:cNvSpPr txBox="1"/>
          <p:nvPr/>
        </p:nvSpPr>
        <p:spPr>
          <a:xfrm>
            <a:off x="566928" y="5989320"/>
            <a:ext cx="11057839"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reported, from company disclosures and the press.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06 · THE ARCHIVE</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The value is in the credit history, not in holding money</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The cases that created the most value converted an obligation people already honour into a formal credit history.</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24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37</a:t>
            </a:r>
          </a:p>
        </p:txBody>
      </p:sp>
      <p:sp>
        <p:nvSpPr>
          <p:cNvPr id="10" name="Rectangle 9"/>
          <p:cNvSpPr/>
          <p:nvPr/>
        </p:nvSpPr>
        <p:spPr>
          <a:xfrm>
            <a:off x="566928" y="1600200"/>
            <a:ext cx="5394960" cy="219456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1600200"/>
            <a:ext cx="45720" cy="21945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709928"/>
            <a:ext cx="5120640"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Esusu, United States</a:t>
            </a:r>
          </a:p>
        </p:txBody>
      </p:sp>
      <p:sp>
        <p:nvSpPr>
          <p:cNvPr id="13" name="TextBox 12"/>
          <p:cNvSpPr txBox="1"/>
          <p:nvPr/>
        </p:nvSpPr>
        <p:spPr>
          <a:xfrm>
            <a:off x="731520" y="2002536"/>
            <a:ext cx="5120640" cy="1737360"/>
          </a:xfrm>
          <a:prstGeom prst="rect">
            <a:avLst/>
          </a:prstGeom>
          <a:noFill/>
        </p:spPr>
        <p:txBody>
          <a:bodyPr wrap="square" lIns="0" rIns="0" tIns="0" bIns="0" anchor="t">
            <a:spAutoFit/>
          </a:bodyPr>
          <a:lstStyle/>
          <a:p>
            <a:pPr algn="l">
              <a:lnSpc>
                <a:spcPct val="112000"/>
              </a:lnSpc>
              <a:spcAft>
                <a:spcPts val="500"/>
              </a:spcAft>
            </a:pPr>
            <a:r>
              <a:rPr sz="980" b="0" i="0">
                <a:solidFill>
                  <a:srgbClr val="0C1408"/>
                </a:solidFill>
                <a:latin typeface="Arial"/>
              </a:rPr>
              <a:t>Began as a communal savings application, then turned to reporting on-time rent to Equifax, Experian and TransUnion. In January 2022 it raised a $130 million Series B led by SoftBank Vision Fund 2 at a $1 billion valuation.</a:t>
            </a:r>
          </a:p>
        </p:txBody>
      </p:sp>
      <p:sp>
        <p:nvSpPr>
          <p:cNvPr id="14" name="Rectangle 13"/>
          <p:cNvSpPr/>
          <p:nvPr/>
        </p:nvSpPr>
        <p:spPr>
          <a:xfrm>
            <a:off x="6236208" y="1600200"/>
            <a:ext cx="5394960" cy="219456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6208" y="1600200"/>
            <a:ext cx="45720" cy="21945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1709928"/>
            <a:ext cx="5120640"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eMoneyPool and Chamasoft</a:t>
            </a:r>
          </a:p>
        </p:txBody>
      </p:sp>
      <p:sp>
        <p:nvSpPr>
          <p:cNvPr id="17" name="TextBox 16"/>
          <p:cNvSpPr txBox="1"/>
          <p:nvPr/>
        </p:nvSpPr>
        <p:spPr>
          <a:xfrm>
            <a:off x="6400800" y="2002536"/>
            <a:ext cx="5120640" cy="1737360"/>
          </a:xfrm>
          <a:prstGeom prst="rect">
            <a:avLst/>
          </a:prstGeom>
          <a:noFill/>
        </p:spPr>
        <p:txBody>
          <a:bodyPr wrap="square" lIns="0" rIns="0" tIns="0" bIns="0" anchor="t">
            <a:spAutoFit/>
          </a:bodyPr>
          <a:lstStyle/>
          <a:p>
            <a:pPr algn="l">
              <a:lnSpc>
                <a:spcPct val="112000"/>
              </a:lnSpc>
              <a:spcAft>
                <a:spcPts val="500"/>
              </a:spcAft>
            </a:pPr>
            <a:r>
              <a:rPr sz="980" b="0" i="0">
                <a:solidFill>
                  <a:srgbClr val="0C1408"/>
                </a:solidFill>
                <a:latin typeface="Arial"/>
              </a:rPr>
              <a:t>eMoneyPool reported members’ payment histories for nine years and failed carrying the guarantee on its own balance sheet. Chamasoft in Kenya shows that where an excellent payment rail exists, the platform layer that survives is the data.</a:t>
            </a:r>
          </a:p>
        </p:txBody>
      </p:sp>
      <p:sp>
        <p:nvSpPr>
          <p:cNvPr id="18" name="TextBox 17"/>
          <p:cNvSpPr txBox="1"/>
          <p:nvPr/>
        </p:nvSpPr>
        <p:spPr>
          <a:xfrm>
            <a:off x="566928" y="4069080"/>
            <a:ext cx="11057839" cy="1280160"/>
          </a:xfrm>
          <a:prstGeom prst="rect">
            <a:avLst/>
          </a:prstGeom>
          <a:noFill/>
        </p:spPr>
        <p:txBody>
          <a:bodyPr wrap="square" lIns="0" rIns="0" tIns="0" bIns="0" anchor="t">
            <a:spAutoFit/>
          </a:bodyPr>
          <a:lstStyle/>
          <a:p>
            <a:pPr algn="l">
              <a:lnSpc>
                <a:spcPct val="116000"/>
              </a:lnSpc>
              <a:spcAft>
                <a:spcPts val="400"/>
              </a:spcAft>
            </a:pPr>
            <a:r>
              <a:rPr sz="1220" b="0" i="0">
                <a:solidFill>
                  <a:srgbClr val="22450C"/>
                </a:solidFill>
                <a:latin typeface="Georgia"/>
              </a:rPr>
              <a:t>In the United States the obligation households already honour is rent. In Pakistan it is the committee instalment, which households rank above rent. Halqa applies the same approach to it: the credit score built from committee payments is the asset that compounds, while the fee pays for the service.</a:t>
            </a:r>
          </a:p>
        </p:txBody>
      </p:sp>
      <p:sp>
        <p:nvSpPr>
          <p:cNvPr id="19" name="TextBox 18"/>
          <p:cNvSpPr txBox="1"/>
          <p:nvPr/>
        </p:nvSpPr>
        <p:spPr>
          <a:xfrm>
            <a:off x="566928" y="5989320"/>
            <a:ext cx="11057839"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reported, from company disclosures and the press.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06 · COMPETITION</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The competitive position</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The category is proven and contested at the same time.</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24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38</a:t>
            </a:r>
          </a:p>
        </p:txBody>
      </p:sp>
      <p:graphicFrame>
        <p:nvGraphicFramePr>
          <p:cNvPr id="10" name="Table 9"/>
          <p:cNvGraphicFramePr>
            <a:graphicFrameLocks noGrp="1"/>
          </p:cNvGraphicFramePr>
          <p:nvPr/>
        </p:nvGraphicFramePr>
        <p:xfrm>
          <a:off x="566928" y="1572768"/>
          <a:ext cx="11057837" cy="3401568"/>
        </p:xfrm>
        <a:graphic>
          <a:graphicData uri="http://schemas.openxmlformats.org/drawingml/2006/table">
            <a:tbl>
              <a:tblPr>
                <a:tableStyleId>{5C22544A-7EE6-4342-B048-85BDC9FD1C3A}</a:tableStyleId>
              </a:tblPr>
              <a:tblGrid>
                <a:gridCol w="1769254"/>
                <a:gridCol w="4865449"/>
                <a:gridCol w="1326940"/>
                <a:gridCol w="3096194"/>
              </a:tblGrid>
              <a:tr h="566928">
                <a:tc>
                  <a:txBody>
                    <a:bodyPr wrap="square"/>
                    <a:lstStyle/>
                    <a:p>
                      <a:pPr algn="l"/>
                      <a:r>
                        <a:rPr sz="900" b="1">
                          <a:solidFill>
                            <a:srgbClr val="F3FCE7"/>
                          </a:solidFill>
                          <a:latin typeface="Arial"/>
                        </a:rPr>
                        <a:t>Player</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What it offers</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Threat</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The difference</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566928">
                <a:tc>
                  <a:txBody>
                    <a:bodyPr wrap="square"/>
                    <a:lstStyle/>
                    <a:p>
                      <a:pPr algn="l"/>
                      <a:r>
                        <a:rPr sz="900" b="1">
                          <a:solidFill>
                            <a:srgbClr val="22450C"/>
                          </a:solidFill>
                          <a:latin typeface="Arial"/>
                        </a:rPr>
                        <a:t>JazzCash Committee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Launched 13 August 2026. Rotates among contacts; the pot is collected into an administrator’s wallet; the administrator sets the order; no exit before the cycle ends; fees not published</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High</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Halqa holds no pot, sets the order by rule and publishes an exit path</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566928">
                <a:tc>
                  <a:txBody>
                    <a:bodyPr wrap="square"/>
                    <a:lstStyle/>
                    <a:p>
                      <a:pPr algn="l"/>
                      <a:r>
                        <a:rPr sz="900" b="1">
                          <a:solidFill>
                            <a:srgbClr val="22450C"/>
                          </a:solidFill>
                          <a:latin typeface="Arial"/>
                        </a:rPr>
                        <a:t>Oraan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Custody, a licence, member fees and pooling of strangers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Low</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Each structural choice is the opposite of Halqa’s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566928">
                <a:tc>
                  <a:txBody>
                    <a:bodyPr wrap="square"/>
                    <a:lstStyle/>
                    <a:p>
                      <a:pPr algn="l"/>
                      <a:r>
                        <a:rPr sz="900" b="1">
                          <a:solidFill>
                            <a:srgbClr val="22450C"/>
                          </a:solidFill>
                          <a:latin typeface="Arial"/>
                        </a:rPr>
                        <a:t>Money Fellows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Custody under an Egyptian licence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Low in the near term</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Entry would need a Pakistani licensing programme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566928">
                <a:tc>
                  <a:txBody>
                    <a:bodyPr wrap="square"/>
                    <a:lstStyle/>
                    <a:p>
                      <a:pPr algn="l"/>
                      <a:r>
                        <a:rPr sz="900" b="1">
                          <a:solidFill>
                            <a:srgbClr val="22450C"/>
                          </a:solidFill>
                          <a:latin typeface="Arial"/>
                        </a:rPr>
                        <a:t>Ledger applications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Udhaar Book and DigiKhata record debts but produce no credit history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Low on substance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DigiKhata completed the State Bank sandbox’s first cohort, on open banking</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566928">
                <a:tc>
                  <a:txBody>
                    <a:bodyPr wrap="square"/>
                    <a:lstStyle/>
                    <a:p>
                      <a:pPr algn="l"/>
                      <a:r>
                        <a:rPr sz="900" b="1">
                          <a:solidFill>
                            <a:srgbClr val="22450C"/>
                          </a:solidFill>
                          <a:latin typeface="Arial"/>
                        </a:rPr>
                        <a:t>UBL Kommittee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A deposit product under the committee name, with no rotation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Low</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0">
                          <a:solidFill>
                            <a:srgbClr val="0C1408"/>
                          </a:solidFill>
                          <a:latin typeface="Arial"/>
                        </a:rPr>
                        <a:t>It removes the credit half</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11" name="Rectangle 10"/>
          <p:cNvSpPr/>
          <p:nvPr/>
        </p:nvSpPr>
        <p:spPr>
          <a:xfrm>
            <a:off x="566928" y="4892040"/>
            <a:ext cx="11057839" cy="91440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4892040"/>
            <a:ext cx="45720" cy="91440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5001768"/>
            <a:ext cx="10783519"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The defence</a:t>
            </a:r>
          </a:p>
        </p:txBody>
      </p:sp>
      <p:sp>
        <p:nvSpPr>
          <p:cNvPr id="14" name="TextBox 13"/>
          <p:cNvSpPr txBox="1"/>
          <p:nvPr/>
        </p:nvSpPr>
        <p:spPr>
          <a:xfrm>
            <a:off x="731520" y="5294376"/>
            <a:ext cx="10783519" cy="457200"/>
          </a:xfrm>
          <a:prstGeom prst="rect">
            <a:avLst/>
          </a:prstGeom>
          <a:noFill/>
        </p:spPr>
        <p:txBody>
          <a:bodyPr wrap="square" lIns="0" rIns="0" tIns="0" bIns="0" anchor="t">
            <a:spAutoFit/>
          </a:bodyPr>
          <a:lstStyle/>
          <a:p>
            <a:pPr algn="l">
              <a:lnSpc>
                <a:spcPct val="112000"/>
              </a:lnSpc>
              <a:spcAft>
                <a:spcPts val="500"/>
              </a:spcAft>
            </a:pPr>
            <a:r>
              <a:rPr sz="980" b="0" i="0">
                <a:solidFill>
                  <a:srgbClr val="0C1408"/>
                </a:solidFill>
                <a:latin typeface="Arial"/>
              </a:rPr>
              <a:t>Become the layer a wallet would rather integrate than rebuild: the committee service offered by interface to licensed institutions, which the Business Model lists as later revenue.</a:t>
            </a:r>
          </a:p>
        </p:txBody>
      </p:sp>
      <p:sp>
        <p:nvSpPr>
          <p:cNvPr id="15" name="TextBox 14"/>
          <p:cNvSpPr txBox="1"/>
          <p:nvPr/>
        </p:nvSpPr>
        <p:spPr>
          <a:xfrm>
            <a:off x="566928" y="5989320"/>
            <a:ext cx="11057839"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reported. JazzCash Committee observed in the JazzCash application release of August 2026 and summarised in the Business Model, revision 3, section 10.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06 · THE ARCHIVE</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What a balance sheet removes from a committee</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UBL Kommittee Account: a deposit product from one of Pakistan’s largest banks, sold under the committee name.</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24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39</a:t>
            </a:r>
          </a:p>
        </p:txBody>
      </p:sp>
      <p:graphicFrame>
        <p:nvGraphicFramePr>
          <p:cNvPr id="10" name="Table 9"/>
          <p:cNvGraphicFramePr>
            <a:graphicFrameLocks noGrp="1"/>
          </p:cNvGraphicFramePr>
          <p:nvPr/>
        </p:nvGraphicFramePr>
        <p:xfrm>
          <a:off x="566928" y="1572768"/>
          <a:ext cx="6400800" cy="2267712"/>
        </p:xfrm>
        <a:graphic>
          <a:graphicData uri="http://schemas.openxmlformats.org/drawingml/2006/table">
            <a:tbl>
              <a:tblPr>
                <a:tableStyleId>{5C22544A-7EE6-4342-B048-85BDC9FD1C3A}</a:tableStyleId>
              </a:tblPr>
              <a:tblGrid>
                <a:gridCol w="1920240"/>
                <a:gridCol w="4480560"/>
              </a:tblGrid>
              <a:tr h="566928">
                <a:tc>
                  <a:txBody>
                    <a:bodyPr wrap="square"/>
                    <a:lstStyle/>
                    <a:p>
                      <a:pPr algn="l"/>
                      <a:r>
                        <a:rPr sz="900" b="1">
                          <a:solidFill>
                            <a:srgbClr val="F3FCE7"/>
                          </a:solidFill>
                          <a:latin typeface="Arial"/>
                        </a:rPr>
                        <a:t>What was removed</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Consequence</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566928">
                <a:tc>
                  <a:txBody>
                    <a:bodyPr wrap="square"/>
                    <a:lstStyle/>
                    <a:p>
                      <a:pPr algn="l"/>
                      <a:r>
                        <a:rPr sz="960" b="1">
                          <a:solidFill>
                            <a:srgbClr val="22450C"/>
                          </a:solidFill>
                          <a:latin typeface="Arial"/>
                        </a:rPr>
                        <a:t>The rotation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No member receives a pot early. The credit half disappears, and with it the reason early members join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566928">
                <a:tc>
                  <a:txBody>
                    <a:bodyPr wrap="square"/>
                    <a:lstStyle/>
                    <a:p>
                      <a:pPr algn="l"/>
                      <a:r>
                        <a:rPr sz="960" b="1">
                          <a:solidFill>
                            <a:srgbClr val="22450C"/>
                          </a:solidFill>
                          <a:latin typeface="Arial"/>
                        </a:rPr>
                        <a:t>The peers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No group and no social enforcement, hence an instalment holiday no real committee could offer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566928">
                <a:tc>
                  <a:txBody>
                    <a:bodyPr wrap="square"/>
                    <a:lstStyle/>
                    <a:p>
                      <a:pPr algn="l"/>
                      <a:r>
                        <a:rPr sz="960" b="1">
                          <a:solidFill>
                            <a:srgbClr val="22450C"/>
                          </a:solidFill>
                          <a:latin typeface="Arial"/>
                        </a:rPr>
                        <a:t>The structure without interest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60" b="0">
                          <a:solidFill>
                            <a:srgbClr val="0C1408"/>
                          </a:solidFill>
                          <a:latin typeface="Arial"/>
                        </a:rPr>
                        <a:t>A fixed return on deposits came in: interest, in the form committee culture defines itself against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11" name="TextBox 10"/>
          <p:cNvSpPr txBox="1"/>
          <p:nvPr/>
        </p:nvSpPr>
        <p:spPr>
          <a:xfrm>
            <a:off x="566928" y="3977639"/>
            <a:ext cx="6400800" cy="1097280"/>
          </a:xfrm>
          <a:prstGeom prst="rect">
            <a:avLst/>
          </a:prstGeom>
          <a:noFill/>
        </p:spPr>
        <p:txBody>
          <a:bodyPr wrap="square" lIns="0" rIns="0" tIns="0" bIns="0" anchor="t">
            <a:spAutoFit/>
          </a:bodyPr>
          <a:lstStyle/>
          <a:p>
            <a:pPr algn="l">
              <a:lnSpc>
                <a:spcPct val="114000"/>
              </a:lnSpc>
              <a:spcAft>
                <a:spcPts val="400"/>
              </a:spcAft>
            </a:pPr>
            <a:r>
              <a:rPr sz="1040" b="0" i="0">
                <a:solidFill>
                  <a:srgbClr val="0C1408"/>
                </a:solidFill>
                <a:latin typeface="Arial"/>
              </a:rPr>
              <a:t>A 24 month plan at Rs 100,000 a month pays Rs 2,500,000 for Rs 2,400,000 paid in: less than an ordinary savings account paid over the same period.</a:t>
            </a:r>
          </a:p>
        </p:txBody>
      </p:sp>
      <p:sp>
        <p:nvSpPr>
          <p:cNvPr id="12" name="Rectangle 11"/>
          <p:cNvSpPr/>
          <p:nvPr/>
        </p:nvSpPr>
        <p:spPr>
          <a:xfrm>
            <a:off x="7333488" y="1572768"/>
            <a:ext cx="4288536" cy="420624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33488" y="1572768"/>
            <a:ext cx="45720" cy="420624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0" y="1682496"/>
            <a:ext cx="4014216"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The lesson</a:t>
            </a:r>
          </a:p>
        </p:txBody>
      </p:sp>
      <p:sp>
        <p:nvSpPr>
          <p:cNvPr id="15" name="TextBox 14"/>
          <p:cNvSpPr txBox="1"/>
          <p:nvPr/>
        </p:nvSpPr>
        <p:spPr>
          <a:xfrm>
            <a:off x="7498080" y="1975104"/>
            <a:ext cx="4014216" cy="3749040"/>
          </a:xfrm>
          <a:prstGeom prst="rect">
            <a:avLst/>
          </a:prstGeom>
          <a:noFill/>
        </p:spPr>
        <p:txBody>
          <a:bodyPr wrap="square" lIns="0" rIns="0" tIns="0" bIns="0" anchor="t">
            <a:spAutoFit/>
          </a:bodyPr>
          <a:lstStyle/>
          <a:p>
            <a:pPr algn="l">
              <a:lnSpc>
                <a:spcPct val="112000"/>
              </a:lnSpc>
              <a:spcAft>
                <a:spcPts val="500"/>
              </a:spcAft>
            </a:pPr>
            <a:r>
              <a:rPr sz="980" b="0" i="0">
                <a:solidFill>
                  <a:srgbClr val="0C1408"/>
                </a:solidFill>
                <a:latin typeface="Arial"/>
              </a:rPr>
              <a:t>A balance-sheet institution cannot run the committee, because its value lies in what a balance sheet must remove: credit between peers without interest, enforcement without collateral, and money that never becomes the institution’s liability.</a:t>
            </a:r>
          </a:p>
          <a:p>
            <a:pPr algn="l">
              <a:lnSpc>
                <a:spcPct val="112000"/>
              </a:lnSpc>
              <a:spcAft>
                <a:spcPts val="500"/>
              </a:spcAft>
            </a:pPr>
            <a:r>
              <a:rPr sz="980" b="0" i="0">
                <a:solidFill>
                  <a:srgbClr val="0C1408"/>
                </a:solidFill>
                <a:latin typeface="Arial"/>
              </a:rPr>
              <a:t>Banks can hold group savings. They cannot rotate group credit.</a:t>
            </a:r>
          </a:p>
          <a:p>
            <a:pPr algn="l">
              <a:lnSpc>
                <a:spcPct val="112000"/>
              </a:lnSpc>
              <a:spcAft>
                <a:spcPts val="500"/>
              </a:spcAft>
            </a:pPr>
            <a:r>
              <a:rPr sz="980" b="0" i="0">
                <a:solidFill>
                  <a:srgbClr val="0C1408"/>
                </a:solidFill>
                <a:latin typeface="Arial"/>
              </a:rPr>
              <a:t>FNB’s stokvel accounts in South Africa work because most stokvels accumulate rather than rotate, so a bank account serves that instrument.</a:t>
            </a:r>
          </a:p>
        </p:txBody>
      </p:sp>
      <p:sp>
        <p:nvSpPr>
          <p:cNvPr id="16" name="TextBox 15"/>
          <p:cNvSpPr txBox="1"/>
          <p:nvPr/>
        </p:nvSpPr>
        <p:spPr>
          <a:xfrm>
            <a:off x="566928" y="5989320"/>
            <a:ext cx="11057839"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reported, from the published product terms.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06 · THE PRECEDENT</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Any credit-adjacent product is judged against the loan apps</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Four hundred predatory loan applications were blocked in 2023 and 2024. Every permission Halqa requests is read against them.</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24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40</a:t>
            </a:r>
          </a:p>
        </p:txBody>
      </p:sp>
      <p:sp>
        <p:nvSpPr>
          <p:cNvPr id="10" name="Rectangle 9"/>
          <p:cNvSpPr/>
          <p:nvPr/>
        </p:nvSpPr>
        <p:spPr>
          <a:xfrm>
            <a:off x="566928" y="1600200"/>
            <a:ext cx="5394960" cy="201168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1600200"/>
            <a:ext cx="45720" cy="201168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709928"/>
            <a:ext cx="5120640"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How they worked</a:t>
            </a:r>
          </a:p>
        </p:txBody>
      </p:sp>
      <p:sp>
        <p:nvSpPr>
          <p:cNvPr id="13" name="TextBox 12"/>
          <p:cNvSpPr txBox="1"/>
          <p:nvPr/>
        </p:nvSpPr>
        <p:spPr>
          <a:xfrm>
            <a:off x="731520" y="2002536"/>
            <a:ext cx="5120640" cy="1554480"/>
          </a:xfrm>
          <a:prstGeom prst="rect">
            <a:avLst/>
          </a:prstGeom>
          <a:noFill/>
        </p:spPr>
        <p:txBody>
          <a:bodyPr wrap="square" lIns="0" rIns="0" tIns="0" bIns="0" anchor="t">
            <a:spAutoFit/>
          </a:bodyPr>
          <a:lstStyle/>
          <a:p>
            <a:pPr algn="l">
              <a:lnSpc>
                <a:spcPct val="112000"/>
              </a:lnSpc>
              <a:spcAft>
                <a:spcPts val="500"/>
              </a:spcAft>
            </a:pPr>
            <a:r>
              <a:rPr sz="960" b="0" i="0">
                <a:solidFill>
                  <a:srgbClr val="0C1408"/>
                </a:solidFill>
                <a:latin typeface="Arial"/>
              </a:rPr>
              <a:t>Loans of Rs 1,000 to 25,000 over 7 to 90 days, priced for mass default and recovered through social coercion: contact harvesting, calls to relatives, altered photographs and rollover debt. A case in Rawalpindi ended in a suicide, an FIA crackdown and more than twenty arrests.</a:t>
            </a:r>
          </a:p>
        </p:txBody>
      </p:sp>
      <p:sp>
        <p:nvSpPr>
          <p:cNvPr id="14" name="Rectangle 13"/>
          <p:cNvSpPr/>
          <p:nvPr/>
        </p:nvSpPr>
        <p:spPr>
          <a:xfrm>
            <a:off x="566928" y="3749039"/>
            <a:ext cx="5394960" cy="205740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3749039"/>
            <a:ext cx="45720" cy="205740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858767"/>
            <a:ext cx="5120640"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What was banned, most of it even with consent</a:t>
            </a:r>
          </a:p>
        </p:txBody>
      </p:sp>
      <p:sp>
        <p:nvSpPr>
          <p:cNvPr id="17" name="TextBox 16"/>
          <p:cNvSpPr txBox="1"/>
          <p:nvPr/>
        </p:nvSpPr>
        <p:spPr>
          <a:xfrm>
            <a:off x="731520" y="4151375"/>
            <a:ext cx="5120640" cy="1600200"/>
          </a:xfrm>
          <a:prstGeom prst="rect">
            <a:avLst/>
          </a:prstGeom>
          <a:noFill/>
        </p:spPr>
        <p:txBody>
          <a:bodyPr wrap="square" lIns="0" rIns="0" tIns="0" bIns="0" anchor="t">
            <a:spAutoFit/>
          </a:bodyPr>
          <a:lstStyle/>
          <a:p>
            <a:pPr algn="l">
              <a:lnSpc>
                <a:spcPct val="112000"/>
              </a:lnSpc>
              <a:spcAft>
                <a:spcPts val="500"/>
              </a:spcAft>
            </a:pPr>
            <a:r>
              <a:rPr sz="960" b="0" i="0">
                <a:solidFill>
                  <a:srgbClr val="0C1408"/>
                </a:solidFill>
                <a:latin typeface="Arial"/>
              </a:rPr>
              <a:t>SECP Circulars 3, 10, 14 and 15 of 2023 and 8 of 2024: no contact list or gallery access; contact only a separately consented guarantor; an exposure cap of Rs 25,000 per application; a Key Fact Statement; borrower data kept in Pakistan. Google Play, 31 May 2023: personal loan applications may not read contacts, photos, precise location or storage.</a:t>
            </a:r>
          </a:p>
        </p:txBody>
      </p:sp>
      <p:sp>
        <p:nvSpPr>
          <p:cNvPr id="18" name="TextBox 17"/>
          <p:cNvSpPr txBox="1"/>
          <p:nvPr/>
        </p:nvSpPr>
        <p:spPr>
          <a:xfrm>
            <a:off x="6236208" y="1600200"/>
            <a:ext cx="5394960" cy="274320"/>
          </a:xfrm>
          <a:prstGeom prst="rect">
            <a:avLst/>
          </a:prstGeom>
          <a:noFill/>
        </p:spPr>
        <p:txBody>
          <a:bodyPr wrap="square" lIns="0" rIns="0" tIns="0" bIns="0" anchor="t">
            <a:spAutoFit/>
          </a:bodyPr>
          <a:lstStyle/>
          <a:p>
            <a:pPr algn="l">
              <a:lnSpc>
                <a:spcPct val="100000"/>
              </a:lnSpc>
              <a:spcAft>
                <a:spcPts val="400"/>
              </a:spcAft>
            </a:pPr>
            <a:r>
              <a:rPr sz="1240" b="0" i="0">
                <a:solidFill>
                  <a:srgbClr val="22450C"/>
                </a:solidFill>
                <a:latin typeface="Georgia"/>
              </a:rPr>
              <a:t>What Halqa refuses, on the record</a:t>
            </a:r>
          </a:p>
        </p:txBody>
      </p:sp>
      <p:sp>
        <p:nvSpPr>
          <p:cNvPr id="19" name="TextBox 18"/>
          <p:cNvSpPr txBox="1"/>
          <p:nvPr/>
        </p:nvSpPr>
        <p:spPr>
          <a:xfrm>
            <a:off x="6236208" y="1965960"/>
            <a:ext cx="5394960" cy="365760"/>
          </a:xfrm>
          <a:prstGeom prst="rect">
            <a:avLst/>
          </a:prstGeom>
          <a:noFill/>
        </p:spPr>
        <p:txBody>
          <a:bodyPr wrap="square" lIns="0" rIns="0" tIns="0" bIns="0">
            <a:spAutoFit/>
          </a:bodyPr>
          <a:lstStyle/>
          <a:p>
            <a:pPr>
              <a:lnSpc>
                <a:spcPct val="105000"/>
              </a:lnSpc>
              <a:spcAft>
                <a:spcPts val="800"/>
              </a:spcAft>
            </a:pPr>
            <a:r>
              <a:rPr sz="980" b="1">
                <a:solidFill>
                  <a:srgbClr val="6DC72A"/>
                </a:solidFill>
                <a:latin typeface="Georgia"/>
              </a:rPr>
              <a:t>|  </a:t>
            </a:r>
            <a:r>
              <a:rPr sz="980" b="1">
                <a:solidFill>
                  <a:srgbClr val="22450C"/>
                </a:solidFill>
                <a:latin typeface="Arial"/>
              </a:rPr>
              <a:t>Contact lists.  </a:t>
            </a:r>
            <a:r>
              <a:rPr sz="980">
                <a:solidFill>
                  <a:srgbClr val="0C1408"/>
                </a:solidFill>
                <a:latin typeface="Arial"/>
              </a:rPr>
              <a:t>Only on-device hashed matching is acceptable.</a:t>
            </a:r>
          </a:p>
          <a:p>
            <a:pPr>
              <a:lnSpc>
                <a:spcPct val="105000"/>
              </a:lnSpc>
              <a:spcAft>
                <a:spcPts val="800"/>
              </a:spcAft>
            </a:pPr>
            <a:r>
              <a:rPr sz="980" b="1">
                <a:solidFill>
                  <a:srgbClr val="6DC72A"/>
                </a:solidFill>
                <a:latin typeface="Georgia"/>
              </a:rPr>
              <a:t>|  </a:t>
            </a:r>
            <a:r>
              <a:rPr sz="980" b="1">
                <a:solidFill>
                  <a:srgbClr val="22450C"/>
                </a:solidFill>
                <a:latin typeface="Arial"/>
              </a:rPr>
              <a:t>Gallery, text messages, call log and the list of installed applications.  </a:t>
            </a:r>
            <a:r>
              <a:rPr sz="980">
                <a:solidFill>
                  <a:srgbClr val="0C1408"/>
                </a:solidFill>
                <a:latin typeface="Arial"/>
              </a:rPr>
              <a:t>Never requested.</a:t>
            </a:r>
          </a:p>
          <a:p>
            <a:pPr>
              <a:lnSpc>
                <a:spcPct val="105000"/>
              </a:lnSpc>
              <a:spcAft>
                <a:spcPts val="800"/>
              </a:spcAft>
            </a:pPr>
            <a:r>
              <a:rPr sz="980" b="1">
                <a:solidFill>
                  <a:srgbClr val="6DC72A"/>
                </a:solidFill>
                <a:latin typeface="Georgia"/>
              </a:rPr>
              <a:t>|  </a:t>
            </a:r>
            <a:r>
              <a:rPr sz="980" b="1">
                <a:solidFill>
                  <a:srgbClr val="22450C"/>
                </a:solidFill>
                <a:latin typeface="Arial"/>
              </a:rPr>
              <a:t>Background location.  </a:t>
            </a:r>
            <a:r>
              <a:rPr sz="980">
                <a:solidFill>
                  <a:srgbClr val="0C1408"/>
                </a:solidFill>
                <a:latin typeface="Arial"/>
              </a:rPr>
              <a:t>A single home pin at signup only.</a:t>
            </a:r>
          </a:p>
          <a:p>
            <a:pPr>
              <a:lnSpc>
                <a:spcPct val="105000"/>
              </a:lnSpc>
              <a:spcAft>
                <a:spcPts val="800"/>
              </a:spcAft>
            </a:pPr>
            <a:r>
              <a:rPr sz="980" b="1">
                <a:solidFill>
                  <a:srgbClr val="6DC72A"/>
                </a:solidFill>
                <a:latin typeface="Georgia"/>
              </a:rPr>
              <a:t>|  </a:t>
            </a:r>
            <a:r>
              <a:rPr sz="980" b="1">
                <a:solidFill>
                  <a:srgbClr val="22450C"/>
                </a:solidFill>
                <a:latin typeface="Arial"/>
              </a:rPr>
              <a:t>Screen reading of bank applications.  </a:t>
            </a:r>
            <a:r>
              <a:rPr sz="980">
                <a:solidFill>
                  <a:srgbClr val="0C1408"/>
                </a:solidFill>
                <a:latin typeface="Arial"/>
              </a:rPr>
              <a:t>Declined, because it is the loan-app signature and reads the whole screen.</a:t>
            </a:r>
          </a:p>
          <a:p>
            <a:pPr>
              <a:lnSpc>
                <a:spcPct val="105000"/>
              </a:lnSpc>
              <a:spcAft>
                <a:spcPts val="800"/>
              </a:spcAft>
            </a:pPr>
            <a:r>
              <a:rPr sz="980" b="1">
                <a:solidFill>
                  <a:srgbClr val="6DC72A"/>
                </a:solidFill>
                <a:latin typeface="Georgia"/>
              </a:rPr>
              <a:t>|  </a:t>
            </a:r>
            <a:r>
              <a:rPr sz="980" b="1">
                <a:solidFill>
                  <a:srgbClr val="22450C"/>
                </a:solidFill>
                <a:latin typeface="Arial"/>
              </a:rPr>
              <a:t>A public default list.  </a:t>
            </a:r>
            <a:r>
              <a:rPr sz="980">
                <a:solidFill>
                  <a:srgbClr val="0C1408"/>
                </a:solidFill>
                <a:latin typeface="Arial"/>
              </a:rPr>
              <a:t>The flag stays internal.</a:t>
            </a:r>
          </a:p>
        </p:txBody>
      </p:sp>
      <p:sp>
        <p:nvSpPr>
          <p:cNvPr id="20" name="TextBox 19"/>
          <p:cNvSpPr txBox="1"/>
          <p:nvPr/>
        </p:nvSpPr>
        <p:spPr>
          <a:xfrm>
            <a:off x="6236208" y="4526280"/>
            <a:ext cx="5394960" cy="1097280"/>
          </a:xfrm>
          <a:prstGeom prst="rect">
            <a:avLst/>
          </a:prstGeom>
          <a:noFill/>
        </p:spPr>
        <p:txBody>
          <a:bodyPr wrap="square" lIns="0" rIns="0" tIns="0" bIns="0" anchor="t">
            <a:spAutoFit/>
          </a:bodyPr>
          <a:lstStyle/>
          <a:p>
            <a:pPr algn="l">
              <a:lnSpc>
                <a:spcPct val="114000"/>
              </a:lnSpc>
              <a:spcAft>
                <a:spcPts val="400"/>
              </a:spcAft>
            </a:pPr>
            <a:r>
              <a:rPr sz="1040" b="0" i="0">
                <a:solidFill>
                  <a:srgbClr val="22450C"/>
                </a:solidFill>
                <a:latin typeface="Georgia"/>
              </a:rPr>
              <a:t>The loan apps coerced because they lent to strangers without collateral. In a committee the seat is the collateral, an unproven member is confined to the final seats, and the circle already exists.</a:t>
            </a:r>
          </a:p>
        </p:txBody>
      </p:sp>
      <p:sp>
        <p:nvSpPr>
          <p:cNvPr id="21" name="TextBox 20"/>
          <p:cNvSpPr txBox="1"/>
          <p:nvPr/>
        </p:nvSpPr>
        <p:spPr>
          <a:xfrm>
            <a:off x="566928" y="5989320"/>
            <a:ext cx="11057839"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reported, from SECP circulars, the Google Play policy and the press.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2194560"/>
            <a:ext cx="1828800" cy="822960"/>
          </a:xfrm>
          <a:prstGeom prst="rect">
            <a:avLst/>
          </a:prstGeom>
          <a:noFill/>
        </p:spPr>
        <p:txBody>
          <a:bodyPr wrap="square" lIns="0" rIns="0" tIns="0" bIns="0" anchor="t">
            <a:spAutoFit/>
          </a:bodyPr>
          <a:lstStyle/>
          <a:p>
            <a:pPr algn="l">
              <a:lnSpc>
                <a:spcPct val="100000"/>
              </a:lnSpc>
              <a:spcAft>
                <a:spcPts val="400"/>
              </a:spcAft>
            </a:pPr>
            <a:r>
              <a:rPr sz="6000" b="0" i="0">
                <a:solidFill>
                  <a:srgbClr val="6DC72A"/>
                </a:solidFill>
                <a:latin typeface="Georgia"/>
              </a:rPr>
              <a:t>07</a:t>
            </a:r>
          </a:p>
        </p:txBody>
      </p:sp>
      <p:sp>
        <p:nvSpPr>
          <p:cNvPr id="5" name="TextBox 4"/>
          <p:cNvSpPr txBox="1"/>
          <p:nvPr/>
        </p:nvSpPr>
        <p:spPr>
          <a:xfrm>
            <a:off x="2560320" y="2359152"/>
            <a:ext cx="7498079" cy="731520"/>
          </a:xfrm>
          <a:prstGeom prst="rect">
            <a:avLst/>
          </a:prstGeom>
          <a:noFill/>
        </p:spPr>
        <p:txBody>
          <a:bodyPr wrap="square" lIns="0" rIns="0" tIns="0" bIns="0" anchor="t">
            <a:spAutoFit/>
          </a:bodyPr>
          <a:lstStyle/>
          <a:p>
            <a:pPr algn="l">
              <a:lnSpc>
                <a:spcPct val="100000"/>
              </a:lnSpc>
              <a:spcAft>
                <a:spcPts val="400"/>
              </a:spcAft>
            </a:pPr>
            <a:r>
              <a:rPr sz="3100" b="0" i="0">
                <a:solidFill>
                  <a:srgbClr val="F3FCE7"/>
                </a:solidFill>
                <a:latin typeface="Georgia"/>
              </a:rPr>
              <a:t>State and plan</a:t>
            </a:r>
          </a:p>
        </p:txBody>
      </p:sp>
      <p:cxnSp>
        <p:nvCxnSpPr>
          <p:cNvPr id="6" name="Connector 5"/>
          <p:cNvCxnSpPr/>
          <p:nvPr/>
        </p:nvCxnSpPr>
        <p:spPr>
          <a:xfrm>
            <a:off x="2606040" y="3127248"/>
            <a:ext cx="3429000" cy="0"/>
          </a:xfrm>
          <a:prstGeom prst="line">
            <a:avLst/>
          </a:prstGeom>
          <a:ln w="17780">
            <a:solidFill>
              <a:srgbClr val="8ADC4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2606040" y="3310128"/>
            <a:ext cx="6949440" cy="1463040"/>
          </a:xfrm>
          <a:prstGeom prst="rect">
            <a:avLst/>
          </a:prstGeom>
          <a:noFill/>
        </p:spPr>
        <p:txBody>
          <a:bodyPr wrap="square" lIns="0" rIns="0" tIns="0" bIns="0" anchor="t">
            <a:spAutoFit/>
          </a:bodyPr>
          <a:lstStyle/>
          <a:p>
            <a:pPr algn="l">
              <a:lnSpc>
                <a:spcPct val="110000"/>
              </a:lnSpc>
              <a:spcAft>
                <a:spcPts val="700"/>
              </a:spcAft>
            </a:pPr>
            <a:r>
              <a:rPr sz="1220" b="0" i="0">
                <a:solidFill>
                  <a:srgbClr val="D2E2C6"/>
                </a:solidFill>
                <a:latin typeface="Arial"/>
              </a:rPr>
              <a:t>Where the company stands on 24 September 2026.</a:t>
            </a:r>
          </a:p>
          <a:p>
            <a:pPr algn="l">
              <a:lnSpc>
                <a:spcPct val="110000"/>
              </a:lnSpc>
              <a:spcAft>
                <a:spcPts val="700"/>
              </a:spcAft>
            </a:pPr>
            <a:r>
              <a:rPr sz="1220" b="0" i="0">
                <a:solidFill>
                  <a:srgbClr val="D2E2C6"/>
                </a:solidFill>
                <a:latin typeface="Arial"/>
              </a:rPr>
              <a:t>What must happen, in order, before live money.</a:t>
            </a:r>
          </a:p>
          <a:p>
            <a:pPr algn="l">
              <a:lnSpc>
                <a:spcPct val="110000"/>
              </a:lnSpc>
              <a:spcAft>
                <a:spcPts val="700"/>
              </a:spcAft>
            </a:pPr>
            <a:r>
              <a:rPr sz="1220" b="0" i="0">
                <a:solidFill>
                  <a:srgbClr val="D2E2C6"/>
                </a:solidFill>
                <a:latin typeface="Arial"/>
              </a:rPr>
              <a:t>What remains open.</a:t>
            </a:r>
          </a:p>
        </p:txBody>
      </p:sp>
      <p:pic>
        <p:nvPicPr>
          <p:cNvPr id="8" name="Picture 7" descr="logo-mark.png"/>
          <p:cNvPicPr>
            <a:picLocks noChangeAspect="1"/>
          </p:cNvPicPr>
          <p:nvPr/>
        </p:nvPicPr>
        <p:blipFill>
          <a:blip r:embed="rId2"/>
          <a:stretch>
            <a:fillRect/>
          </a:stretch>
        </p:blipFill>
        <p:spPr>
          <a:xfrm>
            <a:off x="9357055" y="2468880"/>
            <a:ext cx="1920240" cy="192024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07 · STATE</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Where the company stands</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As of 24 September 2026.</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24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42</a:t>
            </a:r>
          </a:p>
        </p:txBody>
      </p:sp>
      <p:graphicFrame>
        <p:nvGraphicFramePr>
          <p:cNvPr id="10" name="Table 9"/>
          <p:cNvGraphicFramePr>
            <a:graphicFrameLocks noGrp="1"/>
          </p:cNvGraphicFramePr>
          <p:nvPr/>
        </p:nvGraphicFramePr>
        <p:xfrm>
          <a:off x="566928" y="1517904"/>
          <a:ext cx="6949440" cy="3803904"/>
        </p:xfrm>
        <a:graphic>
          <a:graphicData uri="http://schemas.openxmlformats.org/drawingml/2006/table">
            <a:tbl>
              <a:tblPr>
                <a:tableStyleId>{5C22544A-7EE6-4342-B048-85BDC9FD1C3A}</a:tableStyleId>
              </a:tblPr>
              <a:tblGrid>
                <a:gridCol w="1389888"/>
                <a:gridCol w="5559552"/>
              </a:tblGrid>
              <a:tr h="475488">
                <a:tc>
                  <a:txBody>
                    <a:bodyPr wrap="square"/>
                    <a:lstStyle/>
                    <a:p>
                      <a:pPr algn="l"/>
                      <a:r>
                        <a:rPr sz="900" b="1">
                          <a:solidFill>
                            <a:srgbClr val="F3FCE7"/>
                          </a:solidFill>
                          <a:latin typeface="Arial"/>
                        </a:rPr>
                        <a:t>Dimension</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State</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475488">
                <a:tc>
                  <a:txBody>
                    <a:bodyPr wrap="square"/>
                    <a:lstStyle/>
                    <a:p>
                      <a:pPr algn="l"/>
                      <a:r>
                        <a:rPr sz="940" b="1">
                          <a:solidFill>
                            <a:srgbClr val="22450C"/>
                          </a:solidFill>
                          <a:latin typeface="Arial"/>
                        </a:rPr>
                        <a:t>Company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Not yet incorporated. Incorporation is the first step of the launch timeline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475488">
                <a:tc>
                  <a:txBody>
                    <a:bodyPr wrap="square"/>
                    <a:lstStyle/>
                    <a:p>
                      <a:pPr algn="l"/>
                      <a:r>
                        <a:rPr sz="940" b="1">
                          <a:solidFill>
                            <a:srgbClr val="22450C"/>
                          </a:solidFill>
                          <a:latin typeface="Arial"/>
                        </a:rPr>
                        <a:t>Product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Web application live since 20 July 2026 and not opened to the public. The interface is being rebuilt to the standard of the national wallets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475488">
                <a:tc>
                  <a:txBody>
                    <a:bodyPr wrap="square"/>
                    <a:lstStyle/>
                    <a:p>
                      <a:pPr algn="l"/>
                      <a:r>
                        <a:rPr sz="940" b="1">
                          <a:solidFill>
                            <a:srgbClr val="22450C"/>
                          </a:solidFill>
                          <a:latin typeface="Arial"/>
                        </a:rPr>
                        <a:t>Money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No rail is connected and no real money has moved. Payments settle in a sandbox</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475488">
                <a:tc>
                  <a:txBody>
                    <a:bodyPr wrap="square"/>
                    <a:lstStyle/>
                    <a:p>
                      <a:pPr algn="l"/>
                      <a:r>
                        <a:rPr sz="940" b="1">
                          <a:solidFill>
                            <a:srgbClr val="22450C"/>
                          </a:solidFill>
                          <a:latin typeface="Arial"/>
                        </a:rPr>
                        <a:t>Code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Constructs of the August design remain and are to be removed before the partner agreement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475488">
                <a:tc>
                  <a:txBody>
                    <a:bodyPr wrap="square"/>
                    <a:lstStyle/>
                    <a:p>
                      <a:pPr algn="l"/>
                      <a:r>
                        <a:rPr sz="940" b="1">
                          <a:solidFill>
                            <a:srgbClr val="22450C"/>
                          </a:solidFill>
                          <a:latin typeface="Arial"/>
                        </a:rPr>
                        <a:t>Partner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None contracted. The enquiry to NayaPay and SadaPay is drafted and not sent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475488">
                <a:tc>
                  <a:txBody>
                    <a:bodyPr wrap="square"/>
                    <a:lstStyle/>
                    <a:p>
                      <a:pPr algn="l"/>
                      <a:r>
                        <a:rPr sz="940" b="1">
                          <a:solidFill>
                            <a:srgbClr val="22450C"/>
                          </a:solidFill>
                          <a:latin typeface="Arial"/>
                        </a:rPr>
                        <a:t>Regulator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Mentored informally by the Chairman of the Commission. No formal engagement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475488">
                <a:tc>
                  <a:txBody>
                    <a:bodyPr wrap="square"/>
                    <a:lstStyle/>
                    <a:p>
                      <a:pPr algn="l"/>
                      <a:r>
                        <a:rPr sz="940" b="1">
                          <a:solidFill>
                            <a:srgbClr val="22450C"/>
                          </a:solidFill>
                          <a:latin typeface="Arial"/>
                        </a:rPr>
                        <a:t>Documents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40" b="0">
                          <a:solidFill>
                            <a:srgbClr val="0C1408"/>
                          </a:solidFill>
                          <a:latin typeface="Arial"/>
                        </a:rPr>
                        <a:t>Six documents re-issued on 24 September 2026, each quotation checked against the primary text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11" name="Rectangle 10"/>
          <p:cNvSpPr/>
          <p:nvPr/>
        </p:nvSpPr>
        <p:spPr>
          <a:xfrm>
            <a:off x="7882128" y="1517904"/>
            <a:ext cx="3739896" cy="4297680"/>
          </a:xfrm>
          <a:prstGeom prst="rect">
            <a:avLst/>
          </a:prstGeom>
          <a:solidFill>
            <a:srgbClr val="F5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882128" y="1517904"/>
            <a:ext cx="45720" cy="429768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1627632"/>
            <a:ext cx="3465576" cy="256032"/>
          </a:xfrm>
          <a:prstGeom prst="rect">
            <a:avLst/>
          </a:prstGeom>
          <a:noFill/>
        </p:spPr>
        <p:txBody>
          <a:bodyPr wrap="square" lIns="0" rIns="0" tIns="0" bIns="0" anchor="t">
            <a:spAutoFit/>
          </a:bodyPr>
          <a:lstStyle/>
          <a:p>
            <a:pPr algn="l">
              <a:lnSpc>
                <a:spcPct val="100000"/>
              </a:lnSpc>
              <a:spcAft>
                <a:spcPts val="400"/>
              </a:spcAft>
            </a:pPr>
            <a:r>
              <a:rPr sz="1120" b="0" i="0">
                <a:solidFill>
                  <a:srgbClr val="22450C"/>
                </a:solidFill>
                <a:latin typeface="Georgia"/>
              </a:rPr>
              <a:t>Blocking in production</a:t>
            </a:r>
          </a:p>
        </p:txBody>
      </p:sp>
      <p:sp>
        <p:nvSpPr>
          <p:cNvPr id="14" name="TextBox 13"/>
          <p:cNvSpPr txBox="1"/>
          <p:nvPr/>
        </p:nvSpPr>
        <p:spPr>
          <a:xfrm>
            <a:off x="8046720" y="1920240"/>
            <a:ext cx="3465576" cy="3840480"/>
          </a:xfrm>
          <a:prstGeom prst="rect">
            <a:avLst/>
          </a:prstGeom>
          <a:noFill/>
        </p:spPr>
        <p:txBody>
          <a:bodyPr wrap="square" lIns="0" rIns="0" tIns="0" bIns="0" anchor="t">
            <a:spAutoFit/>
          </a:bodyPr>
          <a:lstStyle/>
          <a:p>
            <a:pPr algn="l">
              <a:lnSpc>
                <a:spcPct val="112000"/>
              </a:lnSpc>
              <a:spcAft>
                <a:spcPts val="500"/>
              </a:spcAft>
            </a:pPr>
            <a:r>
              <a:rPr sz="960" b="0" i="0">
                <a:solidFill>
                  <a:srgbClr val="0C1408"/>
                </a:solidFill>
                <a:latin typeface="Arial"/>
              </a:rPr>
              <a:t>Identity capture and the home location pin are blocked by the permission policy, which sets camera and geolocation to none.</a:t>
            </a:r>
          </a:p>
          <a:p>
            <a:pPr algn="l">
              <a:lnSpc>
                <a:spcPct val="112000"/>
              </a:lnSpc>
              <a:spcAft>
                <a:spcPts val="500"/>
              </a:spcAft>
            </a:pPr>
            <a:r>
              <a:rPr sz="960" b="0" i="0">
                <a:solidFill>
                  <a:srgbClr val="0C1408"/>
                </a:solidFill>
                <a:latin typeface="Arial"/>
              </a:rPr>
              <a:t>Demonstration data is to be wiped before the first real member.</a:t>
            </a:r>
          </a:p>
          <a:p>
            <a:pPr algn="l">
              <a:lnSpc>
                <a:spcPct val="112000"/>
              </a:lnSpc>
              <a:spcAft>
                <a:spcPts val="500"/>
              </a:spcAft>
            </a:pPr>
            <a:r>
              <a:rPr sz="960" b="0" i="0">
                <a:solidFill>
                  <a:srgbClr val="0C1408"/>
                </a:solidFill>
                <a:latin typeface="Arial"/>
              </a:rPr>
              <a:t>No error monitoring and no versioned migrations.</a:t>
            </a:r>
          </a:p>
          <a:p>
            <a:pPr algn="l">
              <a:lnSpc>
                <a:spcPct val="112000"/>
              </a:lnSpc>
              <a:spcAft>
                <a:spcPts val="500"/>
              </a:spcAft>
            </a:pPr>
            <a:r>
              <a:rPr sz="960" b="0" i="0">
                <a:solidFill>
                  <a:srgbClr val="0C1408"/>
                </a:solidFill>
                <a:latin typeface="Arial"/>
              </a:rPr>
              <a:t>Chat polls every six seconds.</a:t>
            </a:r>
          </a:p>
        </p:txBody>
      </p:sp>
      <p:sp>
        <p:nvSpPr>
          <p:cNvPr id="15" name="TextBox 14"/>
          <p:cNvSpPr txBox="1"/>
          <p:nvPr/>
        </p:nvSpPr>
        <p:spPr>
          <a:xfrm>
            <a:off x="566928" y="5989320"/>
            <a:ext cx="11057839"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verified against the repository and the production configuration on 24 September 2026.</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07 · COUNTERPARTIES</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Named counterparties, none contracted</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Each is the intended or candidate counterparty for its function.</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24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43</a:t>
            </a:r>
          </a:p>
        </p:txBody>
      </p:sp>
      <p:graphicFrame>
        <p:nvGraphicFramePr>
          <p:cNvPr id="10" name="Table 9"/>
          <p:cNvGraphicFramePr>
            <a:graphicFrameLocks noGrp="1"/>
          </p:cNvGraphicFramePr>
          <p:nvPr/>
        </p:nvGraphicFramePr>
        <p:xfrm>
          <a:off x="566928" y="1572768"/>
          <a:ext cx="11057838" cy="4224528"/>
        </p:xfrm>
        <a:graphic>
          <a:graphicData uri="http://schemas.openxmlformats.org/drawingml/2006/table">
            <a:tbl>
              <a:tblPr>
                <a:tableStyleId>{5C22544A-7EE6-4342-B048-85BDC9FD1C3A}</a:tableStyleId>
              </a:tblPr>
              <a:tblGrid>
                <a:gridCol w="2653881"/>
                <a:gridCol w="5528919"/>
                <a:gridCol w="2875038"/>
              </a:tblGrid>
              <a:tr h="301752">
                <a:tc>
                  <a:txBody>
                    <a:bodyPr wrap="square"/>
                    <a:lstStyle/>
                    <a:p>
                      <a:pPr algn="l"/>
                      <a:r>
                        <a:rPr sz="900" b="1">
                          <a:solidFill>
                            <a:srgbClr val="F3FCE7"/>
                          </a:solidFill>
                          <a:latin typeface="Arial"/>
                        </a:rPr>
                        <a:t>Function</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Counterparty</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Needed for</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01752">
                <a:tc>
                  <a:txBody>
                    <a:bodyPr wrap="square"/>
                    <a:lstStyle/>
                    <a:p>
                      <a:pPr algn="l"/>
                      <a:r>
                        <a:rPr sz="919" b="1">
                          <a:solidFill>
                            <a:srgbClr val="22450C"/>
                          </a:solidFill>
                          <a:latin typeface="Arial"/>
                        </a:rPr>
                        <a:t>Electronic money institution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NayaPay or SadaPay, to be confirmed against the State Bank register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Collection, tiers 1 and 2</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01752">
                <a:tc>
                  <a:txBody>
                    <a:bodyPr wrap="square"/>
                    <a:lstStyle/>
                    <a:p>
                      <a:pPr algn="l"/>
                      <a:r>
                        <a:rPr sz="919" b="1">
                          <a:solidFill>
                            <a:srgbClr val="22450C"/>
                          </a:solidFill>
                          <a:latin typeface="Arial"/>
                        </a:rPr>
                        <a:t>Payment aggregator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PayFast or Safepay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Halqa’s own fee only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01752">
                <a:tc>
                  <a:txBody>
                    <a:bodyPr wrap="square"/>
                    <a:lstStyle/>
                    <a:p>
                      <a:pPr algn="l"/>
                      <a:r>
                        <a:rPr sz="919" b="1">
                          <a:solidFill>
                            <a:srgbClr val="22450C"/>
                          </a:solidFill>
                          <a:latin typeface="Arial"/>
                        </a:rPr>
                        <a:t>Instant payment rail</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Raast, operated by the State Bank of Pakistan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Tier 3 and the fee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01752">
                <a:tc>
                  <a:txBody>
                    <a:bodyPr wrap="square"/>
                    <a:lstStyle/>
                    <a:p>
                      <a:pPr algn="l"/>
                      <a:r>
                        <a:rPr sz="919" b="1">
                          <a:solidFill>
                            <a:srgbClr val="22450C"/>
                          </a:solidFill>
                          <a:latin typeface="Arial"/>
                        </a:rPr>
                        <a:t>Wallet rails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JazzCash and Easypaisa</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Members paying from a wallet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01752">
                <a:tc>
                  <a:txBody>
                    <a:bodyPr wrap="square"/>
                    <a:lstStyle/>
                    <a:p>
                      <a:pPr algn="l"/>
                      <a:r>
                        <a:rPr sz="919" b="1">
                          <a:solidFill>
                            <a:srgbClr val="22450C"/>
                          </a:solidFill>
                          <a:latin typeface="Arial"/>
                        </a:rPr>
                        <a:t>Interbank switch</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1LINK</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Interbank transfers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01752">
                <a:tc>
                  <a:txBody>
                    <a:bodyPr wrap="square"/>
                    <a:lstStyle/>
                    <a:p>
                      <a:pPr algn="l"/>
                      <a:r>
                        <a:rPr sz="919" b="1">
                          <a:solidFill>
                            <a:srgbClr val="22450C"/>
                          </a:solidFill>
                          <a:latin typeface="Arial"/>
                        </a:rPr>
                        <a:t>Identity verification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NADRA, through a corporate Verisys agreement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Verification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01752">
                <a:tc>
                  <a:txBody>
                    <a:bodyPr wrap="square"/>
                    <a:lstStyle/>
                    <a:p>
                      <a:pPr algn="l"/>
                      <a:r>
                        <a:rPr sz="919" b="1">
                          <a:solidFill>
                            <a:srgbClr val="22450C"/>
                          </a:solidFill>
                          <a:latin typeface="Arial"/>
                        </a:rPr>
                        <a:t>Credit bureau</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TASDEEQ, with DataCheck as the alternate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Reports on instruction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01752">
                <a:tc>
                  <a:txBody>
                    <a:bodyPr wrap="square"/>
                    <a:lstStyle/>
                    <a:p>
                      <a:pPr algn="l"/>
                      <a:r>
                        <a:rPr sz="919" b="1">
                          <a:solidFill>
                            <a:srgbClr val="22450C"/>
                          </a:solidFill>
                          <a:latin typeface="Arial"/>
                        </a:rPr>
                        <a:t>Takaful operator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Pak-Qatar Family Takaful or Salaam Takaful</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Cover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01752">
                <a:tc>
                  <a:txBody>
                    <a:bodyPr wrap="square"/>
                    <a:lstStyle/>
                    <a:p>
                      <a:pPr algn="l"/>
                      <a:r>
                        <a:rPr sz="919" b="1">
                          <a:solidFill>
                            <a:srgbClr val="22450C"/>
                          </a:solidFill>
                          <a:latin typeface="Arial"/>
                        </a:rPr>
                        <a:t>Trustee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Central Depository Company of Pakistan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Savings, stage 2</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01752">
                <a:tc>
                  <a:txBody>
                    <a:bodyPr wrap="square"/>
                    <a:lstStyle/>
                    <a:p>
                      <a:pPr algn="l"/>
                      <a:r>
                        <a:rPr sz="919" b="1">
                          <a:solidFill>
                            <a:srgbClr val="22450C"/>
                          </a:solidFill>
                          <a:latin typeface="Arial"/>
                        </a:rPr>
                        <a:t>Asset manager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Mahaana Wealth</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Savings, stage 2</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01752">
                <a:tc>
                  <a:txBody>
                    <a:bodyPr wrap="square"/>
                    <a:lstStyle/>
                    <a:p>
                      <a:pPr algn="l"/>
                      <a:r>
                        <a:rPr sz="919" b="1">
                          <a:solidFill>
                            <a:srgbClr val="22450C"/>
                          </a:solidFill>
                          <a:latin typeface="Arial"/>
                        </a:rPr>
                        <a:t>Messaging</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WhatsApp Business Platform</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Notices and passcodes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01752">
                <a:tc>
                  <a:txBody>
                    <a:bodyPr wrap="square"/>
                    <a:lstStyle/>
                    <a:p>
                      <a:pPr algn="l"/>
                      <a:r>
                        <a:rPr sz="919" b="1">
                          <a:solidFill>
                            <a:srgbClr val="22450C"/>
                          </a:solidFill>
                          <a:latin typeface="Arial"/>
                        </a:rPr>
                        <a:t>Points redemption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Daraz, foodpanda or Careem</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Points and waivers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301752">
                <a:tc>
                  <a:txBody>
                    <a:bodyPr wrap="square"/>
                    <a:lstStyle/>
                    <a:p>
                      <a:pPr algn="l"/>
                      <a:r>
                        <a:rPr sz="919" b="1">
                          <a:solidFill>
                            <a:srgbClr val="22450C"/>
                          </a:solidFill>
                          <a:latin typeface="Arial"/>
                        </a:rPr>
                        <a:t>Infrastructure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Vercel, Supabase, Cloudflare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Hosting, database, edge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11" name="TextBox 10"/>
          <p:cNvSpPr txBox="1"/>
          <p:nvPr/>
        </p:nvSpPr>
        <p:spPr>
          <a:xfrm>
            <a:off x="566928" y="5989320"/>
            <a:ext cx="11057839"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Source: Business Model, revision 3, section 11.</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07 · PLAN</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What happens next, in order</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The first three steps run together. Nothing after them can be reached until they are done.</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24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44</a:t>
            </a:r>
          </a:p>
        </p:txBody>
      </p:sp>
      <p:sp>
        <p:nvSpPr>
          <p:cNvPr id="10" name="Rectangle 9"/>
          <p:cNvSpPr/>
          <p:nvPr/>
        </p:nvSpPr>
        <p:spPr>
          <a:xfrm>
            <a:off x="566928" y="1600200"/>
            <a:ext cx="1554480" cy="603504"/>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1783080"/>
            <a:ext cx="1554480" cy="274320"/>
          </a:xfrm>
          <a:prstGeom prst="rect">
            <a:avLst/>
          </a:prstGeom>
          <a:noFill/>
        </p:spPr>
        <p:txBody>
          <a:bodyPr wrap="square" lIns="0" rIns="0" tIns="0" bIns="0" anchor="t">
            <a:spAutoFit/>
          </a:bodyPr>
          <a:lstStyle/>
          <a:p>
            <a:pPr algn="ctr">
              <a:lnSpc>
                <a:spcPct val="100000"/>
              </a:lnSpc>
              <a:spcAft>
                <a:spcPts val="400"/>
              </a:spcAft>
            </a:pPr>
            <a:r>
              <a:rPr sz="1040" b="1" i="0">
                <a:solidFill>
                  <a:srgbClr val="F3FCE7"/>
                </a:solidFill>
                <a:latin typeface="Arial"/>
              </a:rPr>
              <a:t>Now</a:t>
            </a:r>
          </a:p>
        </p:txBody>
      </p:sp>
      <p:sp>
        <p:nvSpPr>
          <p:cNvPr id="12" name="TextBox 11"/>
          <p:cNvSpPr txBox="1"/>
          <p:nvPr/>
        </p:nvSpPr>
        <p:spPr>
          <a:xfrm>
            <a:off x="2350008" y="1655064"/>
            <a:ext cx="3108960" cy="274320"/>
          </a:xfrm>
          <a:prstGeom prst="rect">
            <a:avLst/>
          </a:prstGeom>
          <a:noFill/>
        </p:spPr>
        <p:txBody>
          <a:bodyPr wrap="square" lIns="0" rIns="0" tIns="0" bIns="0" anchor="t">
            <a:spAutoFit/>
          </a:bodyPr>
          <a:lstStyle/>
          <a:p>
            <a:pPr algn="l">
              <a:lnSpc>
                <a:spcPct val="100000"/>
              </a:lnSpc>
              <a:spcAft>
                <a:spcPts val="400"/>
              </a:spcAft>
            </a:pPr>
            <a:r>
              <a:rPr sz="1200" b="0" i="0">
                <a:solidFill>
                  <a:srgbClr val="22450C"/>
                </a:solidFill>
                <a:latin typeface="Georgia"/>
              </a:rPr>
              <a:t>Send the partner enquiry</a:t>
            </a:r>
          </a:p>
        </p:txBody>
      </p:sp>
      <p:sp>
        <p:nvSpPr>
          <p:cNvPr id="13" name="TextBox 12"/>
          <p:cNvSpPr txBox="1"/>
          <p:nvPr/>
        </p:nvSpPr>
        <p:spPr>
          <a:xfrm>
            <a:off x="5504688" y="1673352"/>
            <a:ext cx="6126480" cy="548640"/>
          </a:xfrm>
          <a:prstGeom prst="rect">
            <a:avLst/>
          </a:prstGeom>
          <a:noFill/>
        </p:spPr>
        <p:txBody>
          <a:bodyPr wrap="square" lIns="0" rIns="0" tIns="0" bIns="0" anchor="t">
            <a:spAutoFit/>
          </a:bodyPr>
          <a:lstStyle/>
          <a:p>
            <a:pPr algn="l">
              <a:lnSpc>
                <a:spcPct val="110000"/>
              </a:lnSpc>
              <a:spcAft>
                <a:spcPts val="400"/>
              </a:spcAft>
            </a:pPr>
            <a:r>
              <a:rPr sz="980" b="0" i="0">
                <a:solidFill>
                  <a:srgbClr val="0C1408"/>
                </a:solidFill>
                <a:latin typeface="Arial"/>
              </a:rPr>
              <a:t>To NayaPay and SadaPay first, before incorporating, since partner approval is the largest unknown.</a:t>
            </a:r>
          </a:p>
        </p:txBody>
      </p:sp>
      <p:cxnSp>
        <p:nvCxnSpPr>
          <p:cNvPr id="14" name="Connector 13"/>
          <p:cNvCxnSpPr/>
          <p:nvPr/>
        </p:nvCxnSpPr>
        <p:spPr>
          <a:xfrm>
            <a:off x="2350008" y="2276856"/>
            <a:ext cx="9274759" cy="0"/>
          </a:xfrm>
          <a:prstGeom prst="line">
            <a:avLst/>
          </a:prstGeom>
          <a:ln w="9525">
            <a:solidFill>
              <a:srgbClr val="E3F8CA"/>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566928" y="2331720"/>
            <a:ext cx="1554480" cy="603504"/>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2514600"/>
            <a:ext cx="1554480" cy="274320"/>
          </a:xfrm>
          <a:prstGeom prst="rect">
            <a:avLst/>
          </a:prstGeom>
          <a:noFill/>
        </p:spPr>
        <p:txBody>
          <a:bodyPr wrap="square" lIns="0" rIns="0" tIns="0" bIns="0" anchor="t">
            <a:spAutoFit/>
          </a:bodyPr>
          <a:lstStyle/>
          <a:p>
            <a:pPr algn="ctr">
              <a:lnSpc>
                <a:spcPct val="100000"/>
              </a:lnSpc>
              <a:spcAft>
                <a:spcPts val="400"/>
              </a:spcAft>
            </a:pPr>
            <a:r>
              <a:rPr sz="1040" b="1" i="0">
                <a:solidFill>
                  <a:srgbClr val="F3FCE7"/>
                </a:solidFill>
                <a:latin typeface="Arial"/>
              </a:rPr>
              <a:t>Days 1 to 14</a:t>
            </a:r>
          </a:p>
        </p:txBody>
      </p:sp>
      <p:sp>
        <p:nvSpPr>
          <p:cNvPr id="17" name="TextBox 16"/>
          <p:cNvSpPr txBox="1"/>
          <p:nvPr/>
        </p:nvSpPr>
        <p:spPr>
          <a:xfrm>
            <a:off x="2350008" y="2386584"/>
            <a:ext cx="3108960" cy="274320"/>
          </a:xfrm>
          <a:prstGeom prst="rect">
            <a:avLst/>
          </a:prstGeom>
          <a:noFill/>
        </p:spPr>
        <p:txBody>
          <a:bodyPr wrap="square" lIns="0" rIns="0" tIns="0" bIns="0" anchor="t">
            <a:spAutoFit/>
          </a:bodyPr>
          <a:lstStyle/>
          <a:p>
            <a:pPr algn="l">
              <a:lnSpc>
                <a:spcPct val="100000"/>
              </a:lnSpc>
              <a:spcAft>
                <a:spcPts val="400"/>
              </a:spcAft>
            </a:pPr>
            <a:r>
              <a:rPr sz="1200" b="0" i="0">
                <a:solidFill>
                  <a:srgbClr val="22450C"/>
                </a:solidFill>
                <a:latin typeface="Georgia"/>
              </a:rPr>
              <a:t>Make Halqa a company</a:t>
            </a:r>
          </a:p>
        </p:txBody>
      </p:sp>
      <p:sp>
        <p:nvSpPr>
          <p:cNvPr id="18" name="TextBox 17"/>
          <p:cNvSpPr txBox="1"/>
          <p:nvPr/>
        </p:nvSpPr>
        <p:spPr>
          <a:xfrm>
            <a:off x="5504688" y="2404872"/>
            <a:ext cx="6126480" cy="548640"/>
          </a:xfrm>
          <a:prstGeom prst="rect">
            <a:avLst/>
          </a:prstGeom>
          <a:noFill/>
        </p:spPr>
        <p:txBody>
          <a:bodyPr wrap="square" lIns="0" rIns="0" tIns="0" bIns="0" anchor="t">
            <a:spAutoFit/>
          </a:bodyPr>
          <a:lstStyle/>
          <a:p>
            <a:pPr algn="l">
              <a:lnSpc>
                <a:spcPct val="110000"/>
              </a:lnSpc>
              <a:spcAft>
                <a:spcPts val="400"/>
              </a:spcAft>
            </a:pPr>
            <a:r>
              <a:rPr sz="980" b="0" i="0">
                <a:solidFill>
                  <a:srgbClr val="0C1408"/>
                </a:solidFill>
                <a:latin typeface="Arial"/>
              </a:rPr>
              <a:t>SECP incorporation, National Tax Number, provincial sales tax and a company bank account.</a:t>
            </a:r>
          </a:p>
        </p:txBody>
      </p:sp>
      <p:cxnSp>
        <p:nvCxnSpPr>
          <p:cNvPr id="19" name="Connector 18"/>
          <p:cNvCxnSpPr/>
          <p:nvPr/>
        </p:nvCxnSpPr>
        <p:spPr>
          <a:xfrm>
            <a:off x="2350008" y="3008376"/>
            <a:ext cx="9274759" cy="0"/>
          </a:xfrm>
          <a:prstGeom prst="line">
            <a:avLst/>
          </a:prstGeom>
          <a:ln w="9525">
            <a:solidFill>
              <a:srgbClr val="E3F8CA"/>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566928" y="3063240"/>
            <a:ext cx="1554480" cy="603504"/>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3246120"/>
            <a:ext cx="1554480" cy="274320"/>
          </a:xfrm>
          <a:prstGeom prst="rect">
            <a:avLst/>
          </a:prstGeom>
          <a:noFill/>
        </p:spPr>
        <p:txBody>
          <a:bodyPr wrap="square" lIns="0" rIns="0" tIns="0" bIns="0" anchor="t">
            <a:spAutoFit/>
          </a:bodyPr>
          <a:lstStyle/>
          <a:p>
            <a:pPr algn="ctr">
              <a:lnSpc>
                <a:spcPct val="100000"/>
              </a:lnSpc>
              <a:spcAft>
                <a:spcPts val="400"/>
              </a:spcAft>
            </a:pPr>
            <a:r>
              <a:rPr sz="1040" b="1" i="0">
                <a:solidFill>
                  <a:srgbClr val="F3FCE7"/>
                </a:solidFill>
                <a:latin typeface="Arial"/>
              </a:rPr>
              <a:t>In parallel</a:t>
            </a:r>
          </a:p>
        </p:txBody>
      </p:sp>
      <p:sp>
        <p:nvSpPr>
          <p:cNvPr id="22" name="TextBox 21"/>
          <p:cNvSpPr txBox="1"/>
          <p:nvPr/>
        </p:nvSpPr>
        <p:spPr>
          <a:xfrm>
            <a:off x="2350008" y="3118104"/>
            <a:ext cx="3108960" cy="274320"/>
          </a:xfrm>
          <a:prstGeom prst="rect">
            <a:avLst/>
          </a:prstGeom>
          <a:noFill/>
        </p:spPr>
        <p:txBody>
          <a:bodyPr wrap="square" lIns="0" rIns="0" tIns="0" bIns="0" anchor="t">
            <a:spAutoFit/>
          </a:bodyPr>
          <a:lstStyle/>
          <a:p>
            <a:pPr algn="l">
              <a:lnSpc>
                <a:spcPct val="100000"/>
              </a:lnSpc>
              <a:spcAft>
                <a:spcPts val="400"/>
              </a:spcAft>
            </a:pPr>
            <a:r>
              <a:rPr sz="1200" b="0" i="0">
                <a:solidFill>
                  <a:srgbClr val="22450C"/>
                </a:solidFill>
                <a:latin typeface="Georgia"/>
              </a:rPr>
              <a:t>Change the code</a:t>
            </a:r>
          </a:p>
        </p:txBody>
      </p:sp>
      <p:sp>
        <p:nvSpPr>
          <p:cNvPr id="23" name="TextBox 22"/>
          <p:cNvSpPr txBox="1"/>
          <p:nvPr/>
        </p:nvSpPr>
        <p:spPr>
          <a:xfrm>
            <a:off x="5504688" y="3136392"/>
            <a:ext cx="6126480" cy="548640"/>
          </a:xfrm>
          <a:prstGeom prst="rect">
            <a:avLst/>
          </a:prstGeom>
          <a:noFill/>
        </p:spPr>
        <p:txBody>
          <a:bodyPr wrap="square" lIns="0" rIns="0" tIns="0" bIns="0" anchor="t">
            <a:spAutoFit/>
          </a:bodyPr>
          <a:lstStyle/>
          <a:p>
            <a:pPr algn="l">
              <a:lnSpc>
                <a:spcPct val="110000"/>
              </a:lnSpc>
              <a:spcAft>
                <a:spcPts val="400"/>
              </a:spcAft>
            </a:pPr>
            <a:r>
              <a:rPr sz="980" b="0" i="0">
                <a:solidFill>
                  <a:srgbClr val="0C1408"/>
                </a:solidFill>
                <a:latin typeface="Arial"/>
              </a:rPr>
              <a:t>Remove the constructs of the August design and build the components listed in section 02, about three weeks.</a:t>
            </a:r>
          </a:p>
        </p:txBody>
      </p:sp>
      <p:cxnSp>
        <p:nvCxnSpPr>
          <p:cNvPr id="24" name="Connector 23"/>
          <p:cNvCxnSpPr/>
          <p:nvPr/>
        </p:nvCxnSpPr>
        <p:spPr>
          <a:xfrm>
            <a:off x="2350008" y="3739896"/>
            <a:ext cx="9274759" cy="0"/>
          </a:xfrm>
          <a:prstGeom prst="line">
            <a:avLst/>
          </a:prstGeom>
          <a:ln w="9525">
            <a:solidFill>
              <a:srgbClr val="E3F8CA"/>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566928" y="3794760"/>
            <a:ext cx="1554480" cy="603504"/>
          </a:xfrm>
          <a:prstGeom prst="rect">
            <a:avLst/>
          </a:prstGeom>
          <a:solidFill>
            <a:srgbClr val="E3F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3977640"/>
            <a:ext cx="1554480" cy="274320"/>
          </a:xfrm>
          <a:prstGeom prst="rect">
            <a:avLst/>
          </a:prstGeom>
          <a:noFill/>
        </p:spPr>
        <p:txBody>
          <a:bodyPr wrap="square" lIns="0" rIns="0" tIns="0" bIns="0" anchor="t">
            <a:spAutoFit/>
          </a:bodyPr>
          <a:lstStyle/>
          <a:p>
            <a:pPr algn="ctr">
              <a:lnSpc>
                <a:spcPct val="100000"/>
              </a:lnSpc>
              <a:spcAft>
                <a:spcPts val="400"/>
              </a:spcAft>
            </a:pPr>
            <a:r>
              <a:rPr sz="1040" b="1" i="0">
                <a:solidFill>
                  <a:srgbClr val="22450C"/>
                </a:solidFill>
                <a:latin typeface="Arial"/>
              </a:rPr>
              <a:t>Days 14 to 45</a:t>
            </a:r>
          </a:p>
        </p:txBody>
      </p:sp>
      <p:sp>
        <p:nvSpPr>
          <p:cNvPr id="27" name="TextBox 26"/>
          <p:cNvSpPr txBox="1"/>
          <p:nvPr/>
        </p:nvSpPr>
        <p:spPr>
          <a:xfrm>
            <a:off x="2350008" y="3849624"/>
            <a:ext cx="3108960" cy="274320"/>
          </a:xfrm>
          <a:prstGeom prst="rect">
            <a:avLst/>
          </a:prstGeom>
          <a:noFill/>
        </p:spPr>
        <p:txBody>
          <a:bodyPr wrap="square" lIns="0" rIns="0" tIns="0" bIns="0" anchor="t">
            <a:spAutoFit/>
          </a:bodyPr>
          <a:lstStyle/>
          <a:p>
            <a:pPr algn="l">
              <a:lnSpc>
                <a:spcPct val="100000"/>
              </a:lnSpc>
              <a:spcAft>
                <a:spcPts val="400"/>
              </a:spcAft>
            </a:pPr>
            <a:r>
              <a:rPr sz="1200" b="0" i="0">
                <a:solidFill>
                  <a:srgbClr val="22450C"/>
                </a:solidFill>
                <a:latin typeface="Georgia"/>
              </a:rPr>
              <a:t>Partner approval and integration</a:t>
            </a:r>
          </a:p>
        </p:txBody>
      </p:sp>
      <p:sp>
        <p:nvSpPr>
          <p:cNvPr id="28" name="TextBox 27"/>
          <p:cNvSpPr txBox="1"/>
          <p:nvPr/>
        </p:nvSpPr>
        <p:spPr>
          <a:xfrm>
            <a:off x="5504688" y="3867912"/>
            <a:ext cx="6126480" cy="548640"/>
          </a:xfrm>
          <a:prstGeom prst="rect">
            <a:avLst/>
          </a:prstGeom>
          <a:noFill/>
        </p:spPr>
        <p:txBody>
          <a:bodyPr wrap="square" lIns="0" rIns="0" tIns="0" bIns="0" anchor="t">
            <a:spAutoFit/>
          </a:bodyPr>
          <a:lstStyle/>
          <a:p>
            <a:pPr algn="l">
              <a:lnSpc>
                <a:spcPct val="110000"/>
              </a:lnSpc>
              <a:spcAft>
                <a:spcPts val="400"/>
              </a:spcAft>
            </a:pPr>
            <a:r>
              <a:rPr sz="980" b="0" i="0">
                <a:solidFill>
                  <a:srgbClr val="0C1408"/>
                </a:solidFill>
                <a:latin typeface="Arial"/>
              </a:rPr>
              <a:t>Approval, the partner’s notice under para 7.I(h), and live credentials. Standard circles live at 30 to 45 days, up to 75.</a:t>
            </a:r>
          </a:p>
        </p:txBody>
      </p:sp>
      <p:cxnSp>
        <p:nvCxnSpPr>
          <p:cNvPr id="29" name="Connector 28"/>
          <p:cNvCxnSpPr/>
          <p:nvPr/>
        </p:nvCxnSpPr>
        <p:spPr>
          <a:xfrm>
            <a:off x="2350008" y="4471416"/>
            <a:ext cx="9274759" cy="0"/>
          </a:xfrm>
          <a:prstGeom prst="line">
            <a:avLst/>
          </a:prstGeom>
          <a:ln w="9525">
            <a:solidFill>
              <a:srgbClr val="E3F8CA"/>
            </a:solidFill>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566928" y="4526280"/>
            <a:ext cx="1554480" cy="603504"/>
          </a:xfrm>
          <a:prstGeom prst="rect">
            <a:avLst/>
          </a:prstGeom>
          <a:solidFill>
            <a:srgbClr val="E3F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4709160"/>
            <a:ext cx="1554480" cy="274320"/>
          </a:xfrm>
          <a:prstGeom prst="rect">
            <a:avLst/>
          </a:prstGeom>
          <a:noFill/>
        </p:spPr>
        <p:txBody>
          <a:bodyPr wrap="square" lIns="0" rIns="0" tIns="0" bIns="0" anchor="t">
            <a:spAutoFit/>
          </a:bodyPr>
          <a:lstStyle/>
          <a:p>
            <a:pPr algn="ctr">
              <a:lnSpc>
                <a:spcPct val="100000"/>
              </a:lnSpc>
              <a:spcAft>
                <a:spcPts val="400"/>
              </a:spcAft>
            </a:pPr>
            <a:r>
              <a:rPr sz="1040" b="1" i="0">
                <a:solidFill>
                  <a:srgbClr val="22450C"/>
                </a:solidFill>
                <a:latin typeface="Arial"/>
              </a:rPr>
              <a:t>Days 28 to 90</a:t>
            </a:r>
          </a:p>
        </p:txBody>
      </p:sp>
      <p:sp>
        <p:nvSpPr>
          <p:cNvPr id="32" name="TextBox 31"/>
          <p:cNvSpPr txBox="1"/>
          <p:nvPr/>
        </p:nvSpPr>
        <p:spPr>
          <a:xfrm>
            <a:off x="2350008" y="4581144"/>
            <a:ext cx="3108960" cy="274320"/>
          </a:xfrm>
          <a:prstGeom prst="rect">
            <a:avLst/>
          </a:prstGeom>
          <a:noFill/>
        </p:spPr>
        <p:txBody>
          <a:bodyPr wrap="square" lIns="0" rIns="0" tIns="0" bIns="0" anchor="t">
            <a:spAutoFit/>
          </a:bodyPr>
          <a:lstStyle/>
          <a:p>
            <a:pPr algn="l">
              <a:lnSpc>
                <a:spcPct val="100000"/>
              </a:lnSpc>
              <a:spcAft>
                <a:spcPts val="400"/>
              </a:spcAft>
            </a:pPr>
            <a:r>
              <a:rPr sz="1200" b="0" i="0">
                <a:solidFill>
                  <a:srgbClr val="22450C"/>
                </a:solidFill>
                <a:latin typeface="Georgia"/>
              </a:rPr>
              <a:t>Cover, then Hyper</a:t>
            </a:r>
          </a:p>
        </p:txBody>
      </p:sp>
      <p:sp>
        <p:nvSpPr>
          <p:cNvPr id="33" name="TextBox 32"/>
          <p:cNvSpPr txBox="1"/>
          <p:nvPr/>
        </p:nvSpPr>
        <p:spPr>
          <a:xfrm>
            <a:off x="5504688" y="4599432"/>
            <a:ext cx="6126480" cy="548640"/>
          </a:xfrm>
          <a:prstGeom prst="rect">
            <a:avLst/>
          </a:prstGeom>
          <a:noFill/>
        </p:spPr>
        <p:txBody>
          <a:bodyPr wrap="square" lIns="0" rIns="0" tIns="0" bIns="0" anchor="t">
            <a:spAutoFit/>
          </a:bodyPr>
          <a:lstStyle/>
          <a:p>
            <a:pPr algn="l">
              <a:lnSpc>
                <a:spcPct val="110000"/>
              </a:lnSpc>
              <a:spcAft>
                <a:spcPts val="400"/>
              </a:spcAft>
            </a:pPr>
            <a:r>
              <a:rPr sz="980" b="0" i="0">
                <a:solidFill>
                  <a:srgbClr val="0C1408"/>
                </a:solidFill>
                <a:latin typeface="Arial"/>
              </a:rPr>
              <a:t>Agent registration and an operator agreement, and counsel’s opinion on compulsory cover. Hyper live at 75 to 90 days.</a:t>
            </a:r>
          </a:p>
        </p:txBody>
      </p:sp>
      <p:cxnSp>
        <p:nvCxnSpPr>
          <p:cNvPr id="34" name="Connector 33"/>
          <p:cNvCxnSpPr/>
          <p:nvPr/>
        </p:nvCxnSpPr>
        <p:spPr>
          <a:xfrm>
            <a:off x="2350008" y="5202936"/>
            <a:ext cx="9274759" cy="0"/>
          </a:xfrm>
          <a:prstGeom prst="line">
            <a:avLst/>
          </a:prstGeom>
          <a:ln w="9525">
            <a:solidFill>
              <a:srgbClr val="E3F8CA"/>
            </a:solidFill>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566928" y="5257800"/>
            <a:ext cx="1554480" cy="603504"/>
          </a:xfrm>
          <a:prstGeom prst="rect">
            <a:avLst/>
          </a:prstGeom>
          <a:solidFill>
            <a:srgbClr val="E3F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66928" y="5440680"/>
            <a:ext cx="1554480" cy="274320"/>
          </a:xfrm>
          <a:prstGeom prst="rect">
            <a:avLst/>
          </a:prstGeom>
          <a:noFill/>
        </p:spPr>
        <p:txBody>
          <a:bodyPr wrap="square" lIns="0" rIns="0" tIns="0" bIns="0" anchor="t">
            <a:spAutoFit/>
          </a:bodyPr>
          <a:lstStyle/>
          <a:p>
            <a:pPr algn="ctr">
              <a:lnSpc>
                <a:spcPct val="100000"/>
              </a:lnSpc>
              <a:spcAft>
                <a:spcPts val="400"/>
              </a:spcAft>
            </a:pPr>
            <a:r>
              <a:rPr sz="1040" b="1" i="0">
                <a:solidFill>
                  <a:srgbClr val="22450C"/>
                </a:solidFill>
                <a:latin typeface="Arial"/>
              </a:rPr>
              <a:t>Then</a:t>
            </a:r>
          </a:p>
        </p:txBody>
      </p:sp>
      <p:sp>
        <p:nvSpPr>
          <p:cNvPr id="37" name="TextBox 36"/>
          <p:cNvSpPr txBox="1"/>
          <p:nvPr/>
        </p:nvSpPr>
        <p:spPr>
          <a:xfrm>
            <a:off x="2350008" y="5312664"/>
            <a:ext cx="3108960" cy="274320"/>
          </a:xfrm>
          <a:prstGeom prst="rect">
            <a:avLst/>
          </a:prstGeom>
          <a:noFill/>
        </p:spPr>
        <p:txBody>
          <a:bodyPr wrap="square" lIns="0" rIns="0" tIns="0" bIns="0" anchor="t">
            <a:spAutoFit/>
          </a:bodyPr>
          <a:lstStyle/>
          <a:p>
            <a:pPr algn="l">
              <a:lnSpc>
                <a:spcPct val="100000"/>
              </a:lnSpc>
              <a:spcAft>
                <a:spcPts val="400"/>
              </a:spcAft>
            </a:pPr>
            <a:r>
              <a:rPr sz="1200" b="0" i="0">
                <a:solidFill>
                  <a:srgbClr val="22450C"/>
                </a:solidFill>
                <a:latin typeface="Georgia"/>
              </a:rPr>
              <a:t>Bureau and savings</a:t>
            </a:r>
          </a:p>
        </p:txBody>
      </p:sp>
      <p:sp>
        <p:nvSpPr>
          <p:cNvPr id="38" name="TextBox 37"/>
          <p:cNvSpPr txBox="1"/>
          <p:nvPr/>
        </p:nvSpPr>
        <p:spPr>
          <a:xfrm>
            <a:off x="5504688" y="5330952"/>
            <a:ext cx="6126480" cy="548640"/>
          </a:xfrm>
          <a:prstGeom prst="rect">
            <a:avLst/>
          </a:prstGeom>
          <a:noFill/>
        </p:spPr>
        <p:txBody>
          <a:bodyPr wrap="square" lIns="0" rIns="0" tIns="0" bIns="0" anchor="t">
            <a:spAutoFit/>
          </a:bodyPr>
          <a:lstStyle/>
          <a:p>
            <a:pPr algn="l">
              <a:lnSpc>
                <a:spcPct val="110000"/>
              </a:lnSpc>
              <a:spcAft>
                <a:spcPts val="400"/>
              </a:spcAft>
            </a:pPr>
            <a:r>
              <a:rPr sz="980" b="0" i="0">
                <a:solidFill>
                  <a:srgbClr val="0C1408"/>
                </a:solidFill>
                <a:latin typeface="Arial"/>
              </a:rPr>
              <a:t>The TASDEEQ subscriber agreement, and the distributor registration with a trustee and an asset manager.</a:t>
            </a:r>
          </a:p>
        </p:txBody>
      </p:sp>
      <p:cxnSp>
        <p:nvCxnSpPr>
          <p:cNvPr id="39" name="Connector 38"/>
          <p:cNvCxnSpPr/>
          <p:nvPr/>
        </p:nvCxnSpPr>
        <p:spPr>
          <a:xfrm>
            <a:off x="2350008" y="5934456"/>
            <a:ext cx="9274759" cy="0"/>
          </a:xfrm>
          <a:prstGeom prst="line">
            <a:avLst/>
          </a:prstGeom>
          <a:ln w="9525">
            <a:solidFill>
              <a:srgbClr val="E3F8CA"/>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66928" y="6053328"/>
            <a:ext cx="11057839"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Source: Business Model, revision 3, section 9; Statutory Position, revision 3, section 7.</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07 · RISK</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The pre-mortem: it is 2029 and Halqa has failed</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Each row names the mechanism and the signal that would show it starting.</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24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45</a:t>
            </a:r>
          </a:p>
        </p:txBody>
      </p:sp>
      <p:graphicFrame>
        <p:nvGraphicFramePr>
          <p:cNvPr id="10" name="Table 9"/>
          <p:cNvGraphicFramePr>
            <a:graphicFrameLocks noGrp="1"/>
          </p:cNvGraphicFramePr>
          <p:nvPr/>
        </p:nvGraphicFramePr>
        <p:xfrm>
          <a:off x="566928" y="1572768"/>
          <a:ext cx="11057837" cy="3712464"/>
        </p:xfrm>
        <a:graphic>
          <a:graphicData uri="http://schemas.openxmlformats.org/drawingml/2006/table">
            <a:tbl>
              <a:tblPr>
                <a:tableStyleId>{5C22544A-7EE6-4342-B048-85BDC9FD1C3A}</a:tableStyleId>
              </a:tblPr>
              <a:tblGrid>
                <a:gridCol w="2764459"/>
                <a:gridCol w="4644292"/>
                <a:gridCol w="3649086"/>
              </a:tblGrid>
              <a:tr h="530352">
                <a:tc>
                  <a:txBody>
                    <a:bodyPr wrap="square"/>
                    <a:lstStyle/>
                    <a:p>
                      <a:pPr algn="l"/>
                      <a:r>
                        <a:rPr sz="900" b="1">
                          <a:solidFill>
                            <a:srgbClr val="F3FCE7"/>
                          </a:solidFill>
                          <a:latin typeface="Arial"/>
                        </a:rPr>
                        <a:t>Cause</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Mechanism</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Early signal</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530352">
                <a:tc>
                  <a:txBody>
                    <a:bodyPr wrap="square"/>
                    <a:lstStyle/>
                    <a:p>
                      <a:pPr algn="l"/>
                      <a:r>
                        <a:rPr sz="919" b="1">
                          <a:solidFill>
                            <a:srgbClr val="22450C"/>
                          </a:solidFill>
                          <a:latin typeface="Arial"/>
                        </a:rPr>
                        <a:t>Collection never became real</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The partner declined direct settlement or priced initiation above the fee; members returned to cash</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Share of instalments settled through the partner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530352">
                <a:tc>
                  <a:txBody>
                    <a:bodyPr wrap="square"/>
                    <a:lstStyle/>
                    <a:p>
                      <a:pPr algn="l"/>
                      <a:r>
                        <a:rPr sz="919" b="1">
                          <a:solidFill>
                            <a:srgbClr val="22450C"/>
                          </a:solidFill>
                          <a:latin typeface="Arial"/>
                        </a:rPr>
                        <a:t>An organiser used Halqa’s standing for an offline scheme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A clean record on Halqa shown as proof for a large scheme elsewhere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Organisers running many circles at once, member concentration, implausible growth</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530352">
                <a:tc>
                  <a:txBody>
                    <a:bodyPr wrap="square"/>
                    <a:lstStyle/>
                    <a:p>
                      <a:pPr algn="l"/>
                      <a:r>
                        <a:rPr sz="919" b="1">
                          <a:solidFill>
                            <a:srgbClr val="22450C"/>
                          </a:solidFill>
                          <a:latin typeface="Arial"/>
                        </a:rPr>
                        <a:t>The wallets took the category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JazzCash Committee reached its users first; distribution beat design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JazzCash Committee changes and any Easypaisa release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530352">
                <a:tc>
                  <a:txBody>
                    <a:bodyPr wrap="square"/>
                    <a:lstStyle/>
                    <a:p>
                      <a:pPr algn="l"/>
                      <a:r>
                        <a:rPr sz="919" b="1">
                          <a:solidFill>
                            <a:srgbClr val="22450C"/>
                          </a:solidFill>
                          <a:latin typeface="Arial"/>
                        </a:rPr>
                        <a:t>Regulatory reclassification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A committee fraud elsewhere produced rules shaped around custody, with no carve-out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Consultation papers from the State Bank or the Commission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530352">
                <a:tc>
                  <a:txBody>
                    <a:bodyPr wrap="square"/>
                    <a:lstStyle/>
                    <a:p>
                      <a:pPr algn="l"/>
                      <a:r>
                        <a:rPr sz="919" b="1">
                          <a:solidFill>
                            <a:srgbClr val="22450C"/>
                          </a:solidFill>
                          <a:latin typeface="Arial"/>
                        </a:rPr>
                        <a:t>Losses beyond the model</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The default band stayed modelled and real losses landed outside it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Measured default after collection in the first hundred completed circles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530352">
                <a:tc>
                  <a:txBody>
                    <a:bodyPr wrap="square"/>
                    <a:lstStyle/>
                    <a:p>
                      <a:pPr algn="l"/>
                      <a:r>
                        <a:rPr sz="919" b="1">
                          <a:solidFill>
                            <a:srgbClr val="22450C"/>
                          </a:solidFill>
                          <a:latin typeface="Arial"/>
                        </a:rPr>
                        <a:t>The founder ran out of time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Product, regulation, partners and research all ran through one person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Time between shipped milestones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
        <p:nvSpPr>
          <p:cNvPr id="11" name="TextBox 10"/>
          <p:cNvSpPr txBox="1"/>
          <p:nvPr/>
        </p:nvSpPr>
        <p:spPr>
          <a:xfrm>
            <a:off x="566928" y="5989320"/>
            <a:ext cx="11057839"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The organiser risk is addressed before public launch: a cap on concurrent circles per organiser, a flag on implausible growth, and a credit passport confined to on-platform history.</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07 · MEASURES</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The five numbers that show whether this is working</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A committee arrives as a formed network of ten to fifteen people with a leader. The measures follow from that.</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24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46</a:t>
            </a:r>
          </a:p>
        </p:txBody>
      </p:sp>
      <p:sp>
        <p:nvSpPr>
          <p:cNvPr id="10" name="TextBox 9"/>
          <p:cNvSpPr txBox="1"/>
          <p:nvPr/>
        </p:nvSpPr>
        <p:spPr>
          <a:xfrm>
            <a:off x="566928" y="1645920"/>
            <a:ext cx="548640" cy="457200"/>
          </a:xfrm>
          <a:prstGeom prst="rect">
            <a:avLst/>
          </a:prstGeom>
          <a:noFill/>
        </p:spPr>
        <p:txBody>
          <a:bodyPr wrap="square" lIns="0" rIns="0" tIns="0" bIns="0" anchor="t">
            <a:spAutoFit/>
          </a:bodyPr>
          <a:lstStyle/>
          <a:p>
            <a:pPr algn="l">
              <a:lnSpc>
                <a:spcPct val="100000"/>
              </a:lnSpc>
              <a:spcAft>
                <a:spcPts val="400"/>
              </a:spcAft>
            </a:pPr>
            <a:r>
              <a:rPr sz="2400" b="0" i="0">
                <a:solidFill>
                  <a:srgbClr val="6DC72A"/>
                </a:solidFill>
                <a:latin typeface="Georgia"/>
              </a:rPr>
              <a:t>1</a:t>
            </a:r>
          </a:p>
        </p:txBody>
      </p:sp>
      <p:sp>
        <p:nvSpPr>
          <p:cNvPr id="11" name="TextBox 10"/>
          <p:cNvSpPr txBox="1"/>
          <p:nvPr/>
        </p:nvSpPr>
        <p:spPr>
          <a:xfrm>
            <a:off x="1298448" y="1682496"/>
            <a:ext cx="5120640" cy="365760"/>
          </a:xfrm>
          <a:prstGeom prst="rect">
            <a:avLst/>
          </a:prstGeom>
          <a:noFill/>
        </p:spPr>
        <p:txBody>
          <a:bodyPr wrap="square" lIns="0" rIns="0" tIns="0" bIns="0" anchor="t">
            <a:spAutoFit/>
          </a:bodyPr>
          <a:lstStyle/>
          <a:p>
            <a:pPr algn="l">
              <a:lnSpc>
                <a:spcPct val="100000"/>
              </a:lnSpc>
              <a:spcAft>
                <a:spcPts val="400"/>
              </a:spcAft>
            </a:pPr>
            <a:r>
              <a:rPr sz="1240" b="0" i="0">
                <a:solidFill>
                  <a:srgbClr val="22450C"/>
                </a:solidFill>
                <a:latin typeface="Georgia"/>
              </a:rPr>
              <a:t>Share of instalments settled through the partner</a:t>
            </a:r>
          </a:p>
        </p:txBody>
      </p:sp>
      <p:sp>
        <p:nvSpPr>
          <p:cNvPr id="12" name="TextBox 11"/>
          <p:cNvSpPr txBox="1"/>
          <p:nvPr/>
        </p:nvSpPr>
        <p:spPr>
          <a:xfrm>
            <a:off x="6601968" y="1719072"/>
            <a:ext cx="5029200" cy="457200"/>
          </a:xfrm>
          <a:prstGeom prst="rect">
            <a:avLst/>
          </a:prstGeom>
          <a:noFill/>
        </p:spPr>
        <p:txBody>
          <a:bodyPr wrap="square" lIns="0" rIns="0" tIns="0" bIns="0" anchor="t">
            <a:spAutoFit/>
          </a:bodyPr>
          <a:lstStyle/>
          <a:p>
            <a:pPr algn="l">
              <a:lnSpc>
                <a:spcPct val="110000"/>
              </a:lnSpc>
              <a:spcAft>
                <a:spcPts val="400"/>
              </a:spcAft>
            </a:pPr>
            <a:r>
              <a:rPr sz="1000" b="0" i="0">
                <a:solidFill>
                  <a:srgbClr val="0C1408"/>
                </a:solidFill>
                <a:latin typeface="Arial"/>
              </a:rPr>
              <a:t>The health of collection, and the most important number in the company.</a:t>
            </a:r>
          </a:p>
        </p:txBody>
      </p:sp>
      <p:cxnSp>
        <p:nvCxnSpPr>
          <p:cNvPr id="13" name="Connector 12"/>
          <p:cNvCxnSpPr/>
          <p:nvPr/>
        </p:nvCxnSpPr>
        <p:spPr>
          <a:xfrm>
            <a:off x="566928" y="2304288"/>
            <a:ext cx="11057839" cy="0"/>
          </a:xfrm>
          <a:prstGeom prst="line">
            <a:avLst/>
          </a:prstGeom>
          <a:ln w="9525">
            <a:solidFill>
              <a:srgbClr val="E3F8C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66928" y="2414016"/>
            <a:ext cx="548640" cy="457200"/>
          </a:xfrm>
          <a:prstGeom prst="rect">
            <a:avLst/>
          </a:prstGeom>
          <a:noFill/>
        </p:spPr>
        <p:txBody>
          <a:bodyPr wrap="square" lIns="0" rIns="0" tIns="0" bIns="0" anchor="t">
            <a:spAutoFit/>
          </a:bodyPr>
          <a:lstStyle/>
          <a:p>
            <a:pPr algn="l">
              <a:lnSpc>
                <a:spcPct val="100000"/>
              </a:lnSpc>
              <a:spcAft>
                <a:spcPts val="400"/>
              </a:spcAft>
            </a:pPr>
            <a:r>
              <a:rPr sz="2400" b="0" i="0">
                <a:solidFill>
                  <a:srgbClr val="6DC72A"/>
                </a:solidFill>
                <a:latin typeface="Georgia"/>
              </a:rPr>
              <a:t>2</a:t>
            </a:r>
          </a:p>
        </p:txBody>
      </p:sp>
      <p:sp>
        <p:nvSpPr>
          <p:cNvPr id="15" name="TextBox 14"/>
          <p:cNvSpPr txBox="1"/>
          <p:nvPr/>
        </p:nvSpPr>
        <p:spPr>
          <a:xfrm>
            <a:off x="1298448" y="2450592"/>
            <a:ext cx="5120640" cy="365760"/>
          </a:xfrm>
          <a:prstGeom prst="rect">
            <a:avLst/>
          </a:prstGeom>
          <a:noFill/>
        </p:spPr>
        <p:txBody>
          <a:bodyPr wrap="square" lIns="0" rIns="0" tIns="0" bIns="0" anchor="t">
            <a:spAutoFit/>
          </a:bodyPr>
          <a:lstStyle/>
          <a:p>
            <a:pPr algn="l">
              <a:lnSpc>
                <a:spcPct val="100000"/>
              </a:lnSpc>
              <a:spcAft>
                <a:spcPts val="400"/>
              </a:spcAft>
            </a:pPr>
            <a:r>
              <a:rPr sz="1240" b="0" i="0">
                <a:solidFill>
                  <a:srgbClr val="22450C"/>
                </a:solidFill>
                <a:latin typeface="Georgia"/>
              </a:rPr>
              <a:t>Circles completed clean</a:t>
            </a:r>
          </a:p>
        </p:txBody>
      </p:sp>
      <p:sp>
        <p:nvSpPr>
          <p:cNvPr id="16" name="TextBox 15"/>
          <p:cNvSpPr txBox="1"/>
          <p:nvPr/>
        </p:nvSpPr>
        <p:spPr>
          <a:xfrm>
            <a:off x="6601968" y="2487168"/>
            <a:ext cx="5029200" cy="457200"/>
          </a:xfrm>
          <a:prstGeom prst="rect">
            <a:avLst/>
          </a:prstGeom>
          <a:noFill/>
        </p:spPr>
        <p:txBody>
          <a:bodyPr wrap="square" lIns="0" rIns="0" tIns="0" bIns="0" anchor="t">
            <a:spAutoFit/>
          </a:bodyPr>
          <a:lstStyle/>
          <a:p>
            <a:pPr algn="l">
              <a:lnSpc>
                <a:spcPct val="110000"/>
              </a:lnSpc>
              <a:spcAft>
                <a:spcPts val="400"/>
              </a:spcAft>
            </a:pPr>
            <a:r>
              <a:rPr sz="1000" b="0" i="0">
                <a:solidFill>
                  <a:srgbClr val="0C1408"/>
                </a:solidFill>
                <a:latin typeface="Arial"/>
              </a:rPr>
              <a:t>The unit of value. A circle that never finishes proves nothing about its members.</a:t>
            </a:r>
          </a:p>
        </p:txBody>
      </p:sp>
      <p:cxnSp>
        <p:nvCxnSpPr>
          <p:cNvPr id="17" name="Connector 16"/>
          <p:cNvCxnSpPr/>
          <p:nvPr/>
        </p:nvCxnSpPr>
        <p:spPr>
          <a:xfrm>
            <a:off x="566928" y="3072384"/>
            <a:ext cx="11057839" cy="0"/>
          </a:xfrm>
          <a:prstGeom prst="line">
            <a:avLst/>
          </a:prstGeom>
          <a:ln w="9525">
            <a:solidFill>
              <a:srgbClr val="E3F8C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66928" y="3182112"/>
            <a:ext cx="548640" cy="457200"/>
          </a:xfrm>
          <a:prstGeom prst="rect">
            <a:avLst/>
          </a:prstGeom>
          <a:noFill/>
        </p:spPr>
        <p:txBody>
          <a:bodyPr wrap="square" lIns="0" rIns="0" tIns="0" bIns="0" anchor="t">
            <a:spAutoFit/>
          </a:bodyPr>
          <a:lstStyle/>
          <a:p>
            <a:pPr algn="l">
              <a:lnSpc>
                <a:spcPct val="100000"/>
              </a:lnSpc>
              <a:spcAft>
                <a:spcPts val="400"/>
              </a:spcAft>
            </a:pPr>
            <a:r>
              <a:rPr sz="2400" b="0" i="0">
                <a:solidFill>
                  <a:srgbClr val="6DC72A"/>
                </a:solidFill>
                <a:latin typeface="Georgia"/>
              </a:rPr>
              <a:t>3</a:t>
            </a:r>
          </a:p>
        </p:txBody>
      </p:sp>
      <p:sp>
        <p:nvSpPr>
          <p:cNvPr id="19" name="TextBox 18"/>
          <p:cNvSpPr txBox="1"/>
          <p:nvPr/>
        </p:nvSpPr>
        <p:spPr>
          <a:xfrm>
            <a:off x="1298448" y="3218688"/>
            <a:ext cx="5120640" cy="365760"/>
          </a:xfrm>
          <a:prstGeom prst="rect">
            <a:avLst/>
          </a:prstGeom>
          <a:noFill/>
        </p:spPr>
        <p:txBody>
          <a:bodyPr wrap="square" lIns="0" rIns="0" tIns="0" bIns="0" anchor="t">
            <a:spAutoFit/>
          </a:bodyPr>
          <a:lstStyle/>
          <a:p>
            <a:pPr algn="l">
              <a:lnSpc>
                <a:spcPct val="100000"/>
              </a:lnSpc>
              <a:spcAft>
                <a:spcPts val="400"/>
              </a:spcAft>
            </a:pPr>
            <a:r>
              <a:rPr sz="1240" b="0" i="0">
                <a:solidFill>
                  <a:srgbClr val="22450C"/>
                </a:solidFill>
                <a:latin typeface="Georgia"/>
              </a:rPr>
              <a:t>Circles per organiser</a:t>
            </a:r>
          </a:p>
        </p:txBody>
      </p:sp>
      <p:sp>
        <p:nvSpPr>
          <p:cNvPr id="20" name="TextBox 19"/>
          <p:cNvSpPr txBox="1"/>
          <p:nvPr/>
        </p:nvSpPr>
        <p:spPr>
          <a:xfrm>
            <a:off x="6601968" y="3255264"/>
            <a:ext cx="5029200" cy="457200"/>
          </a:xfrm>
          <a:prstGeom prst="rect">
            <a:avLst/>
          </a:prstGeom>
          <a:noFill/>
        </p:spPr>
        <p:txBody>
          <a:bodyPr wrap="square" lIns="0" rIns="0" tIns="0" bIns="0" anchor="t">
            <a:spAutoFit/>
          </a:bodyPr>
          <a:lstStyle/>
          <a:p>
            <a:pPr algn="l">
              <a:lnSpc>
                <a:spcPct val="110000"/>
              </a:lnSpc>
              <a:spcAft>
                <a:spcPts val="400"/>
              </a:spcAft>
            </a:pPr>
            <a:r>
              <a:rPr sz="1000" b="0" i="0">
                <a:solidFill>
                  <a:srgbClr val="0C1408"/>
                </a:solidFill>
                <a:latin typeface="Arial"/>
              </a:rPr>
              <a:t>Whether growth compounds. A host’s second circle brings the whole group back.</a:t>
            </a:r>
          </a:p>
        </p:txBody>
      </p:sp>
      <p:cxnSp>
        <p:nvCxnSpPr>
          <p:cNvPr id="21" name="Connector 20"/>
          <p:cNvCxnSpPr/>
          <p:nvPr/>
        </p:nvCxnSpPr>
        <p:spPr>
          <a:xfrm>
            <a:off x="566928" y="3840480"/>
            <a:ext cx="11057839" cy="0"/>
          </a:xfrm>
          <a:prstGeom prst="line">
            <a:avLst/>
          </a:prstGeom>
          <a:ln w="9525">
            <a:solidFill>
              <a:srgbClr val="E3F8CA"/>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66928" y="3950208"/>
            <a:ext cx="548640" cy="457200"/>
          </a:xfrm>
          <a:prstGeom prst="rect">
            <a:avLst/>
          </a:prstGeom>
          <a:noFill/>
        </p:spPr>
        <p:txBody>
          <a:bodyPr wrap="square" lIns="0" rIns="0" tIns="0" bIns="0" anchor="t">
            <a:spAutoFit/>
          </a:bodyPr>
          <a:lstStyle/>
          <a:p>
            <a:pPr algn="l">
              <a:lnSpc>
                <a:spcPct val="100000"/>
              </a:lnSpc>
              <a:spcAft>
                <a:spcPts val="400"/>
              </a:spcAft>
            </a:pPr>
            <a:r>
              <a:rPr sz="2400" b="0" i="0">
                <a:solidFill>
                  <a:srgbClr val="6DC72A"/>
                </a:solidFill>
                <a:latin typeface="Georgia"/>
              </a:rPr>
              <a:t>4</a:t>
            </a:r>
          </a:p>
        </p:txBody>
      </p:sp>
      <p:sp>
        <p:nvSpPr>
          <p:cNvPr id="23" name="TextBox 22"/>
          <p:cNvSpPr txBox="1"/>
          <p:nvPr/>
        </p:nvSpPr>
        <p:spPr>
          <a:xfrm>
            <a:off x="1298448" y="3986784"/>
            <a:ext cx="5120640" cy="365760"/>
          </a:xfrm>
          <a:prstGeom prst="rect">
            <a:avLst/>
          </a:prstGeom>
          <a:noFill/>
        </p:spPr>
        <p:txBody>
          <a:bodyPr wrap="square" lIns="0" rIns="0" tIns="0" bIns="0" anchor="t">
            <a:spAutoFit/>
          </a:bodyPr>
          <a:lstStyle/>
          <a:p>
            <a:pPr algn="l">
              <a:lnSpc>
                <a:spcPct val="100000"/>
              </a:lnSpc>
              <a:spcAft>
                <a:spcPts val="400"/>
              </a:spcAft>
            </a:pPr>
            <a:r>
              <a:rPr sz="1240" b="0" i="0">
                <a:solidFill>
                  <a:srgbClr val="22450C"/>
                </a:solidFill>
                <a:latin typeface="Georgia"/>
              </a:rPr>
              <a:t>Measured default after collection in the first 100 circles</a:t>
            </a:r>
          </a:p>
        </p:txBody>
      </p:sp>
      <p:sp>
        <p:nvSpPr>
          <p:cNvPr id="24" name="TextBox 23"/>
          <p:cNvSpPr txBox="1"/>
          <p:nvPr/>
        </p:nvSpPr>
        <p:spPr>
          <a:xfrm>
            <a:off x="6601968" y="4023360"/>
            <a:ext cx="5029200" cy="457200"/>
          </a:xfrm>
          <a:prstGeom prst="rect">
            <a:avLst/>
          </a:prstGeom>
          <a:noFill/>
        </p:spPr>
        <p:txBody>
          <a:bodyPr wrap="square" lIns="0" rIns="0" tIns="0" bIns="0" anchor="t">
            <a:spAutoFit/>
          </a:bodyPr>
          <a:lstStyle/>
          <a:p>
            <a:pPr algn="l">
              <a:lnSpc>
                <a:spcPct val="110000"/>
              </a:lnSpc>
              <a:spcAft>
                <a:spcPts val="400"/>
              </a:spcAft>
            </a:pPr>
            <a:r>
              <a:rPr sz="1000" b="0" i="0">
                <a:solidFill>
                  <a:srgbClr val="0C1408"/>
                </a:solidFill>
                <a:latin typeface="Arial"/>
              </a:rPr>
              <a:t>The point at which the modelled band becomes a fact.</a:t>
            </a:r>
          </a:p>
        </p:txBody>
      </p:sp>
      <p:cxnSp>
        <p:nvCxnSpPr>
          <p:cNvPr id="25" name="Connector 24"/>
          <p:cNvCxnSpPr/>
          <p:nvPr/>
        </p:nvCxnSpPr>
        <p:spPr>
          <a:xfrm>
            <a:off x="566928" y="4608576"/>
            <a:ext cx="11057839" cy="0"/>
          </a:xfrm>
          <a:prstGeom prst="line">
            <a:avLst/>
          </a:prstGeom>
          <a:ln w="9525">
            <a:solidFill>
              <a:srgbClr val="E3F8CA"/>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66928" y="4718304"/>
            <a:ext cx="548640" cy="457200"/>
          </a:xfrm>
          <a:prstGeom prst="rect">
            <a:avLst/>
          </a:prstGeom>
          <a:noFill/>
        </p:spPr>
        <p:txBody>
          <a:bodyPr wrap="square" lIns="0" rIns="0" tIns="0" bIns="0" anchor="t">
            <a:spAutoFit/>
          </a:bodyPr>
          <a:lstStyle/>
          <a:p>
            <a:pPr algn="l">
              <a:lnSpc>
                <a:spcPct val="100000"/>
              </a:lnSpc>
              <a:spcAft>
                <a:spcPts val="400"/>
              </a:spcAft>
            </a:pPr>
            <a:r>
              <a:rPr sz="2400" b="0" i="0">
                <a:solidFill>
                  <a:srgbClr val="6DC72A"/>
                </a:solidFill>
                <a:latin typeface="Georgia"/>
              </a:rPr>
              <a:t>5</a:t>
            </a:r>
          </a:p>
        </p:txBody>
      </p:sp>
      <p:sp>
        <p:nvSpPr>
          <p:cNvPr id="27" name="TextBox 26"/>
          <p:cNvSpPr txBox="1"/>
          <p:nvPr/>
        </p:nvSpPr>
        <p:spPr>
          <a:xfrm>
            <a:off x="1298448" y="4754880"/>
            <a:ext cx="5120640" cy="365760"/>
          </a:xfrm>
          <a:prstGeom prst="rect">
            <a:avLst/>
          </a:prstGeom>
          <a:noFill/>
        </p:spPr>
        <p:txBody>
          <a:bodyPr wrap="square" lIns="0" rIns="0" tIns="0" bIns="0" anchor="t">
            <a:spAutoFit/>
          </a:bodyPr>
          <a:lstStyle/>
          <a:p>
            <a:pPr algn="l">
              <a:lnSpc>
                <a:spcPct val="100000"/>
              </a:lnSpc>
              <a:spcAft>
                <a:spcPts val="400"/>
              </a:spcAft>
            </a:pPr>
            <a:r>
              <a:rPr sz="1240" b="0" i="0">
                <a:solidFill>
                  <a:srgbClr val="22450C"/>
                </a:solidFill>
                <a:latin typeface="Georgia"/>
              </a:rPr>
              <a:t>Members who become organisers</a:t>
            </a:r>
          </a:p>
        </p:txBody>
      </p:sp>
      <p:sp>
        <p:nvSpPr>
          <p:cNvPr id="28" name="TextBox 27"/>
          <p:cNvSpPr txBox="1"/>
          <p:nvPr/>
        </p:nvSpPr>
        <p:spPr>
          <a:xfrm>
            <a:off x="6601968" y="4791456"/>
            <a:ext cx="5029200" cy="457200"/>
          </a:xfrm>
          <a:prstGeom prst="rect">
            <a:avLst/>
          </a:prstGeom>
          <a:noFill/>
        </p:spPr>
        <p:txBody>
          <a:bodyPr wrap="square" lIns="0" rIns="0" tIns="0" bIns="0" anchor="t">
            <a:spAutoFit/>
          </a:bodyPr>
          <a:lstStyle/>
          <a:p>
            <a:pPr algn="l">
              <a:lnSpc>
                <a:spcPct val="110000"/>
              </a:lnSpc>
              <a:spcAft>
                <a:spcPts val="400"/>
              </a:spcAft>
            </a:pPr>
            <a:r>
              <a:rPr sz="1000" b="0" i="0">
                <a:solidFill>
                  <a:srgbClr val="0C1408"/>
                </a:solidFill>
                <a:latin typeface="Arial"/>
              </a:rPr>
              <a:t>The growth loop inside the product.</a:t>
            </a:r>
          </a:p>
        </p:txBody>
      </p:sp>
      <p:cxnSp>
        <p:nvCxnSpPr>
          <p:cNvPr id="29" name="Connector 28"/>
          <p:cNvCxnSpPr/>
          <p:nvPr/>
        </p:nvCxnSpPr>
        <p:spPr>
          <a:xfrm>
            <a:off x="566928" y="5376672"/>
            <a:ext cx="11057839" cy="0"/>
          </a:xfrm>
          <a:prstGeom prst="line">
            <a:avLst/>
          </a:prstGeom>
          <a:ln w="9525">
            <a:solidFill>
              <a:srgbClr val="E3F8CA"/>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66928" y="5760720"/>
            <a:ext cx="11057839" cy="274320"/>
          </a:xfrm>
          <a:prstGeom prst="rect">
            <a:avLst/>
          </a:prstGeom>
          <a:noFill/>
        </p:spPr>
        <p:txBody>
          <a:bodyPr wrap="square" lIns="0" rIns="0" tIns="0" bIns="0" anchor="t">
            <a:spAutoFit/>
          </a:bodyPr>
          <a:lstStyle/>
          <a:p>
            <a:pPr algn="l">
              <a:lnSpc>
                <a:spcPct val="110000"/>
              </a:lnSpc>
              <a:spcAft>
                <a:spcPts val="400"/>
              </a:spcAft>
            </a:pPr>
            <a:r>
              <a:rPr sz="860" b="0" i="1">
                <a:solidFill>
                  <a:srgbClr val="6F7B68"/>
                </a:solidFill>
                <a:latin typeface="Arial"/>
              </a:rPr>
              <a:t>Cost per organiser replaces cost per user: one organiser brings ten to fifteen members who already trust one another.</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65760"/>
            <a:ext cx="8229600" cy="182880"/>
          </a:xfrm>
          <a:prstGeom prst="rect">
            <a:avLst/>
          </a:prstGeom>
          <a:noFill/>
        </p:spPr>
        <p:txBody>
          <a:bodyPr wrap="square" lIns="0" rIns="0" tIns="0" bIns="0" anchor="t">
            <a:spAutoFit/>
          </a:bodyPr>
          <a:lstStyle/>
          <a:p>
            <a:pPr algn="l">
              <a:lnSpc>
                <a:spcPct val="100000"/>
              </a:lnSpc>
              <a:spcAft>
                <a:spcPts val="400"/>
              </a:spcAft>
            </a:pPr>
            <a:r>
              <a:rPr sz="840" b="1" i="0" spc="130">
                <a:solidFill>
                  <a:srgbClr val="6F7B68"/>
                </a:solidFill>
                <a:latin typeface="Arial"/>
              </a:rPr>
              <a:t>07 · OPEN</a:t>
            </a:r>
          </a:p>
        </p:txBody>
      </p:sp>
      <p:sp>
        <p:nvSpPr>
          <p:cNvPr id="4" name="TextBox 3"/>
          <p:cNvSpPr txBox="1"/>
          <p:nvPr/>
        </p:nvSpPr>
        <p:spPr>
          <a:xfrm>
            <a:off x="566928" y="585216"/>
            <a:ext cx="9229039" cy="45720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What is unresolved</a:t>
            </a:r>
          </a:p>
        </p:txBody>
      </p:sp>
      <p:sp>
        <p:nvSpPr>
          <p:cNvPr id="5" name="TextBox 4"/>
          <p:cNvSpPr txBox="1"/>
          <p:nvPr/>
        </p:nvSpPr>
        <p:spPr>
          <a:xfrm>
            <a:off x="566928" y="1060704"/>
            <a:ext cx="9960559" cy="310896"/>
          </a:xfrm>
          <a:prstGeom prst="rect">
            <a:avLst/>
          </a:prstGeom>
          <a:noFill/>
        </p:spPr>
        <p:txBody>
          <a:bodyPr wrap="square" lIns="0" rIns="0" tIns="0" bIns="0" anchor="t">
            <a:spAutoFit/>
          </a:bodyPr>
          <a:lstStyle/>
          <a:p>
            <a:pPr algn="l">
              <a:lnSpc>
                <a:spcPct val="108000"/>
              </a:lnSpc>
              <a:spcAft>
                <a:spcPts val="400"/>
              </a:spcAft>
            </a:pPr>
            <a:r>
              <a:rPr sz="1100" b="0" i="0">
                <a:solidFill>
                  <a:srgbClr val="6F7B68"/>
                </a:solidFill>
                <a:latin typeface="Arial"/>
              </a:rPr>
              <a:t>Each item has an owner and a route to an answer.</a:t>
            </a:r>
          </a:p>
        </p:txBody>
      </p:sp>
      <p:pic>
        <p:nvPicPr>
          <p:cNvPr id="6" name="Picture 5" descr="logo-lockup.png"/>
          <p:cNvPicPr>
            <a:picLocks noChangeAspect="1"/>
          </p:cNvPicPr>
          <p:nvPr/>
        </p:nvPicPr>
        <p:blipFill>
          <a:blip r:embed="rId2"/>
          <a:stretch>
            <a:fillRect/>
          </a:stretch>
        </p:blipFill>
        <p:spPr>
          <a:xfrm>
            <a:off x="10539956" y="310896"/>
            <a:ext cx="1084811" cy="329184"/>
          </a:xfrm>
          <a:prstGeom prst="rect">
            <a:avLst/>
          </a:prstGeom>
        </p:spPr>
      </p:pic>
      <p:cxnSp>
        <p:nvCxnSpPr>
          <p:cNvPr id="7" name="Connector 6"/>
          <p:cNvCxnSpPr/>
          <p:nvPr/>
        </p:nvCxnSpPr>
        <p:spPr>
          <a:xfrm>
            <a:off x="566928" y="6547104"/>
            <a:ext cx="11057839" cy="0"/>
          </a:xfrm>
          <a:prstGeom prst="line">
            <a:avLst/>
          </a:prstGeom>
          <a:ln w="9525">
            <a:solidFill>
              <a:srgbClr val="22450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66928" y="6601968"/>
            <a:ext cx="5486400" cy="182880"/>
          </a:xfrm>
          <a:prstGeom prst="rect">
            <a:avLst/>
          </a:prstGeom>
          <a:noFill/>
        </p:spPr>
        <p:txBody>
          <a:bodyPr wrap="square" lIns="0" rIns="0" tIns="0" bIns="0" anchor="t">
            <a:spAutoFit/>
          </a:bodyPr>
          <a:lstStyle/>
          <a:p>
            <a:pPr algn="l">
              <a:lnSpc>
                <a:spcPct val="100000"/>
              </a:lnSpc>
              <a:spcAft>
                <a:spcPts val="400"/>
              </a:spcAft>
            </a:pPr>
            <a:r>
              <a:rPr sz="740" b="0" i="0" spc="80">
                <a:solidFill>
                  <a:srgbClr val="6F7B68"/>
                </a:solidFill>
                <a:latin typeface="Arial"/>
              </a:rPr>
              <a:t>HALQA   ·   COMPLETE POSITION   ·   24 SEPTEMBER 2026</a:t>
            </a:r>
          </a:p>
        </p:txBody>
      </p:sp>
      <p:sp>
        <p:nvSpPr>
          <p:cNvPr id="9" name="TextBox 8"/>
          <p:cNvSpPr txBox="1"/>
          <p:nvPr/>
        </p:nvSpPr>
        <p:spPr>
          <a:xfrm>
            <a:off x="10710367" y="6601968"/>
            <a:ext cx="914400" cy="182880"/>
          </a:xfrm>
          <a:prstGeom prst="rect">
            <a:avLst/>
          </a:prstGeom>
          <a:noFill/>
        </p:spPr>
        <p:txBody>
          <a:bodyPr wrap="square" lIns="0" rIns="0" tIns="0" bIns="0" anchor="t">
            <a:spAutoFit/>
          </a:bodyPr>
          <a:lstStyle/>
          <a:p>
            <a:pPr algn="r">
              <a:lnSpc>
                <a:spcPct val="100000"/>
              </a:lnSpc>
              <a:spcAft>
                <a:spcPts val="400"/>
              </a:spcAft>
            </a:pPr>
            <a:r>
              <a:rPr sz="740" b="0" i="0">
                <a:solidFill>
                  <a:srgbClr val="6F7B68"/>
                </a:solidFill>
                <a:latin typeface="Arial"/>
              </a:rPr>
              <a:t>47</a:t>
            </a:r>
          </a:p>
        </p:txBody>
      </p:sp>
      <p:graphicFrame>
        <p:nvGraphicFramePr>
          <p:cNvPr id="10" name="Table 9"/>
          <p:cNvGraphicFramePr>
            <a:graphicFrameLocks noGrp="1"/>
          </p:cNvGraphicFramePr>
          <p:nvPr/>
        </p:nvGraphicFramePr>
        <p:xfrm>
          <a:off x="566928" y="1572768"/>
          <a:ext cx="11057837" cy="3712464"/>
        </p:xfrm>
        <a:graphic>
          <a:graphicData uri="http://schemas.openxmlformats.org/drawingml/2006/table">
            <a:tbl>
              <a:tblPr>
                <a:tableStyleId>{5C22544A-7EE6-4342-B048-85BDC9FD1C3A}</a:tableStyleId>
              </a:tblPr>
              <a:tblGrid>
                <a:gridCol w="552891"/>
                <a:gridCol w="6966438"/>
                <a:gridCol w="3538508"/>
              </a:tblGrid>
              <a:tr h="530352">
                <a:tc>
                  <a:txBody>
                    <a:bodyPr wrap="square"/>
                    <a:lstStyle/>
                    <a:p>
                      <a:pPr algn="l"/>
                      <a:r>
                        <a:rPr sz="900" b="1">
                          <a:solidFill>
                            <a:srgbClr val="F3FCE7"/>
                          </a:solidFill>
                          <a:latin typeface="Arial"/>
                        </a:rPr>
                        <a:t>#</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Question</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00" b="1">
                          <a:solidFill>
                            <a:srgbClr val="F3FCE7"/>
                          </a:solidFill>
                          <a:latin typeface="Arial"/>
                        </a:rPr>
                        <a:t>Route to an answer</a:t>
                      </a:r>
                    </a:p>
                  </a:txBody>
                  <a:tcPr marL="64008" marR="45720" marT="27432" marB="27432" anchor="ctr">
                    <a:solidFill>
                      <a:srgbClr val="22450C"/>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530352">
                <a:tc>
                  <a:txBody>
                    <a:bodyPr wrap="square"/>
                    <a:lstStyle/>
                    <a:p>
                      <a:pPr algn="l"/>
                      <a:r>
                        <a:rPr sz="919" b="0">
                          <a:solidFill>
                            <a:srgbClr val="0C1408"/>
                          </a:solidFill>
                          <a:latin typeface="Arial"/>
                        </a:rPr>
                        <a:t>1</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Whether compulsory cover on Hyper sits within regulation 10(c) of the Corporate Insurance Agents Regulations 2020</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Counsel’s written opinion before Hyper opens</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530352">
                <a:tc>
                  <a:txBody>
                    <a:bodyPr wrap="square"/>
                    <a:lstStyle/>
                    <a:p>
                      <a:pPr algn="l"/>
                      <a:r>
                        <a:rPr sz="919" b="0">
                          <a:solidFill>
                            <a:srgbClr val="0C1408"/>
                          </a:solidFill>
                          <a:latin typeface="Arial"/>
                        </a:rPr>
                        <a:t>2</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Whether the intermediary limb of the Anti-Money Laundering Act definition reaches Halqa</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Counsel, in writing</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530352">
                <a:tc>
                  <a:txBody>
                    <a:bodyPr wrap="square"/>
                    <a:lstStyle/>
                    <a:p>
                      <a:pPr algn="l"/>
                      <a:r>
                        <a:rPr sz="919" b="0">
                          <a:solidFill>
                            <a:srgbClr val="0C1408"/>
                          </a:solidFill>
                          <a:latin typeface="Arial"/>
                        </a:rPr>
                        <a:t>3</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Whether the partner can debit one member and credit another directly, split one debit three ways, and at what price</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The partner enquiry</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530352">
                <a:tc>
                  <a:txBody>
                    <a:bodyPr wrap="square"/>
                    <a:lstStyle/>
                    <a:p>
                      <a:pPr algn="l"/>
                      <a:r>
                        <a:rPr sz="919" b="0">
                          <a:solidFill>
                            <a:srgbClr val="0C1408"/>
                          </a:solidFill>
                          <a:latin typeface="Arial"/>
                        </a:rPr>
                        <a:t>4</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Whether any category of furnisher that is not a credit institution has been notified under section 11(1) of the Credit Bureaus Act</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The bureau and the State Bank</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530352">
                <a:tc>
                  <a:txBody>
                    <a:bodyPr wrap="square"/>
                    <a:lstStyle/>
                    <a:p>
                      <a:pPr algn="l"/>
                      <a:r>
                        <a:rPr sz="919" b="0">
                          <a:solidFill>
                            <a:srgbClr val="0C1408"/>
                          </a:solidFill>
                          <a:latin typeface="Arial"/>
                        </a:rPr>
                        <a:t>5</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Whether to reproduce the offline organiser’s habit of covering a defaulter, or rely on seat rules, the guarantee and cover</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A ruling by the chairman</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r h="530352">
                <a:tc>
                  <a:txBody>
                    <a:bodyPr wrap="square"/>
                    <a:lstStyle/>
                    <a:p>
                      <a:pPr algn="l"/>
                      <a:r>
                        <a:rPr sz="919" b="0">
                          <a:solidFill>
                            <a:srgbClr val="0C1408"/>
                          </a:solidFill>
                          <a:latin typeface="Arial"/>
                        </a:rPr>
                        <a:t>6</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The regulatory route. Halqa’s reading is that no approval is needed; an informal view on 22 September pointed to the State Bank’s sandbox</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c>
                  <a:txBody>
                    <a:bodyPr wrap="square"/>
                    <a:lstStyle/>
                    <a:p>
                      <a:pPr algn="l"/>
                      <a:r>
                        <a:rPr sz="919" b="0">
                          <a:solidFill>
                            <a:srgbClr val="0C1408"/>
                          </a:solidFill>
                          <a:latin typeface="Arial"/>
                        </a:rPr>
                        <a:t>The reading is put back for comment before any filing</a:t>
                      </a:r>
                    </a:p>
                  </a:txBody>
                  <a:tcPr marL="64008" marR="45720" marT="27432" marB="27432" anchor="ctr">
                    <a:solidFill>
                      <a:srgbClr val="FFFFFF"/>
                    </a:solidFill>
                    <a:lnL w="9525" cap="flat" cmpd="sng" algn="ctr">
                      <a:solidFill>
                        <a:srgbClr val="C9D6BF"/>
                      </a:solidFill>
                      <a:prstDash val="solid"/>
                    </a:lnL>
                    <a:lnR w="9525" cap="flat" cmpd="sng" algn="ctr">
                      <a:solidFill>
                        <a:srgbClr val="C9D6BF"/>
                      </a:solidFill>
                      <a:prstDash val="solid"/>
                    </a:lnR>
                    <a:lnT w="9525" cap="flat" cmpd="sng" algn="ctr">
                      <a:solidFill>
                        <a:srgbClr val="C9D6BF"/>
                      </a:solidFill>
                      <a:prstDash val="solid"/>
                    </a:lnT>
                    <a:lnB w="9525" cap="flat" cmpd="sng" algn="ctr">
                      <a:solidFill>
                        <a:srgbClr val="C9D6BF"/>
                      </a:solidFill>
                      <a:prstDash val="solid"/>
                    </a:lnB>
                  </a:tcP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124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lockup-light.png"/>
          <p:cNvPicPr>
            <a:picLocks noChangeAspect="1"/>
          </p:cNvPicPr>
          <p:nvPr/>
        </p:nvPicPr>
        <p:blipFill>
          <a:blip r:embed="rId2"/>
          <a:stretch>
            <a:fillRect/>
          </a:stretch>
        </p:blipFill>
        <p:spPr>
          <a:xfrm>
            <a:off x="1280160" y="1188720"/>
            <a:ext cx="1808018" cy="548640"/>
          </a:xfrm>
          <a:prstGeom prst="rect">
            <a:avLst/>
          </a:prstGeom>
        </p:spPr>
      </p:pic>
      <p:sp>
        <p:nvSpPr>
          <p:cNvPr id="5" name="TextBox 4"/>
          <p:cNvSpPr txBox="1"/>
          <p:nvPr/>
        </p:nvSpPr>
        <p:spPr>
          <a:xfrm>
            <a:off x="1280160" y="2286000"/>
            <a:ext cx="9509760" cy="2377440"/>
          </a:xfrm>
          <a:prstGeom prst="rect">
            <a:avLst/>
          </a:prstGeom>
          <a:noFill/>
        </p:spPr>
        <p:txBody>
          <a:bodyPr wrap="square" lIns="0" rIns="0" tIns="0" bIns="0" anchor="t">
            <a:spAutoFit/>
          </a:bodyPr>
          <a:lstStyle/>
          <a:p>
            <a:pPr algn="l">
              <a:lnSpc>
                <a:spcPct val="115000"/>
              </a:lnSpc>
              <a:spcAft>
                <a:spcPts val="1400"/>
              </a:spcAft>
            </a:pPr>
            <a:r>
              <a:rPr sz="2100" b="0" i="0">
                <a:solidFill>
                  <a:srgbClr val="F3FCE7"/>
                </a:solidFill>
                <a:latin typeface="Georgia"/>
              </a:rPr>
              <a:t>Every serious competitor in this market earns by holding money.</a:t>
            </a:r>
          </a:p>
          <a:p>
            <a:pPr algn="l">
              <a:lnSpc>
                <a:spcPct val="115000"/>
              </a:lnSpc>
              <a:spcAft>
                <a:spcPts val="1400"/>
              </a:spcAft>
            </a:pPr>
            <a:r>
              <a:rPr sz="2100" b="0" i="0">
                <a:solidFill>
                  <a:srgbClr val="F3FCE7"/>
                </a:solidFill>
                <a:latin typeface="Georgia"/>
              </a:rPr>
              <a:t>Halqa earns a stated fee for a service, and holds none.</a:t>
            </a:r>
          </a:p>
          <a:p>
            <a:pPr algn="l">
              <a:lnSpc>
                <a:spcPct val="115000"/>
              </a:lnSpc>
              <a:spcAft>
                <a:spcPts val="1400"/>
              </a:spcAft>
            </a:pPr>
            <a:r>
              <a:rPr sz="2100" b="0" i="0">
                <a:solidFill>
                  <a:srgbClr val="F3FCE7"/>
                </a:solidFill>
                <a:latin typeface="Georgia"/>
              </a:rPr>
              <a:t>That is a different business, with a different regulator, a different cost structure and a different failure mode.</a:t>
            </a:r>
          </a:p>
        </p:txBody>
      </p:sp>
      <p:sp>
        <p:nvSpPr>
          <p:cNvPr id="6" name="TextBox 5"/>
          <p:cNvSpPr txBox="1"/>
          <p:nvPr/>
        </p:nvSpPr>
        <p:spPr>
          <a:xfrm>
            <a:off x="1280160" y="6126480"/>
            <a:ext cx="9144000" cy="274320"/>
          </a:xfrm>
          <a:prstGeom prst="rect">
            <a:avLst/>
          </a:prstGeom>
          <a:noFill/>
        </p:spPr>
        <p:txBody>
          <a:bodyPr wrap="square" lIns="0" rIns="0" tIns="0" bIns="0" anchor="t">
            <a:spAutoFit/>
          </a:bodyPr>
          <a:lstStyle/>
          <a:p>
            <a:pPr algn="l">
              <a:lnSpc>
                <a:spcPct val="100000"/>
              </a:lnSpc>
              <a:spcAft>
                <a:spcPts val="400"/>
              </a:spcAft>
            </a:pPr>
            <a:r>
              <a:rPr sz="1000" b="0" i="0">
                <a:solidFill>
                  <a:srgbClr val="A9B4A3"/>
                </a:solidFill>
                <a:latin typeface="Arial"/>
              </a:rPr>
              <a:t>Halqa   ·   24 September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